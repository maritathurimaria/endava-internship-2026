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65"/>
  </p:notesMasterIdLst>
  <p:handoutMasterIdLst>
    <p:handoutMasterId r:id="rId66"/>
  </p:handoutMasterIdLst>
  <p:sldIdLst>
    <p:sldId id="256" r:id="rId18"/>
    <p:sldId id="257" r:id="rId19"/>
    <p:sldId id="258" r:id="rId20"/>
    <p:sldId id="259" r:id="rId21"/>
    <p:sldId id="260" r:id="rId22"/>
    <p:sldId id="261" r:id="rId23"/>
    <p:sldId id="262" r:id="rId24"/>
    <p:sldId id="263" r:id="rId25"/>
    <p:sldId id="264" r:id="rId26"/>
    <p:sldId id="265" r:id="rId27"/>
    <p:sldId id="266" r:id="rId28"/>
    <p:sldId id="267" r:id="rId29"/>
    <p:sldId id="268" r:id="rId30"/>
    <p:sldId id="269" r:id="rId31"/>
    <p:sldId id="270" r:id="rId32"/>
    <p:sldId id="271" r:id="rId33"/>
    <p:sldId id="272" r:id="rId34"/>
    <p:sldId id="273" r:id="rId35"/>
    <p:sldId id="274" r:id="rId36"/>
    <p:sldId id="275" r:id="rId37"/>
    <p:sldId id="276" r:id="rId38"/>
    <p:sldId id="277" r:id="rId39"/>
    <p:sldId id="278" r:id="rId40"/>
    <p:sldId id="279" r:id="rId41"/>
    <p:sldId id="280" r:id="rId42"/>
    <p:sldId id="281" r:id="rId43"/>
    <p:sldId id="282" r:id="rId44"/>
    <p:sldId id="283" r:id="rId45"/>
    <p:sldId id="284" r:id="rId46"/>
    <p:sldId id="285" r:id="rId47"/>
    <p:sldId id="286" r:id="rId48"/>
    <p:sldId id="287" r:id="rId49"/>
    <p:sldId id="288" r:id="rId50"/>
    <p:sldId id="289" r:id="rId51"/>
    <p:sldId id="290" r:id="rId52"/>
    <p:sldId id="291" r:id="rId53"/>
    <p:sldId id="292" r:id="rId54"/>
    <p:sldId id="293" r:id="rId55"/>
    <p:sldId id="294" r:id="rId56"/>
    <p:sldId id="295" r:id="rId57"/>
    <p:sldId id="296" r:id="rId58"/>
    <p:sldId id="297" r:id="rId59"/>
    <p:sldId id="298" r:id="rId60"/>
    <p:sldId id="299" r:id="rId61"/>
    <p:sldId id="300" r:id="rId62"/>
    <p:sldId id="301" r:id="rId63"/>
    <p:sldId id="302" r:id="rId64"/>
    <p:sldId id="303" r:id="rId17"/>
    <p:sldId id="304" r:id="rId16"/>
    <p:sldId id="305" r:id="rId15"/>
    <p:sldId id="306" r:id="rId14"/>
    <p:sldId id="307" r:id="rId13"/>
    <p:sldId id="308" r:id="rId12"/>
    <p:sldId id="309" r:id="rId11"/>
    <p:sldId id="310" r:id="rId10"/>
    <p:sldId id="311" r:id="rId9"/>
    <p:sldId id="312" r:id="rId8"/>
    <p:sldId id="313" r:id="rId7"/>
    <p:sldId id="314" r:id="rId6"/>
    <p:sldId id="315" r:id="rId5"/>
    <p:sldId id="316" r:id="rId78"/>
    <p:sldId id="317" r:id="rId79"/>
    <p:sldId id="318" r:id="rId80"/>
    <p:sldId id="319" r:id="rId81"/>
    <p:sldId id="320" r:id="rId82"/>
    <p:sldId id="321" r:id="rId83"/>
    <p:sldId id="322" r:id="rId84"/>
    <p:sldId id="323" r:id="rId85"/>
    <p:sldId id="324" r:id="rId86"/>
    <p:sldId id="325" r:id="rId87"/>
    <p:sldId id="326" r:id="rId88"/>
    <p:sldId id="327" r:id="rId89"/>
    <p:sldId id="328" r:id="rId90"/>
    <p:sldId id="329" r:id="rId91"/>
    <p:sldId id="330" r:id="rId92"/>
    <p:sldId id="331" r:id="rId93"/>
    <p:sldId id="332" r:id="rId94"/>
    <p:sldId id="333" r:id="rId95"/>
    <p:sldId id="334" r:id="rId96"/>
    <p:sldId id="335" r:id="rId97"/>
  </p:sldIdLst>
  <p:sldSz cx="24384000" cy="13716000"/>
  <p:notesSz cx="6858000" cy="9144000"/>
  <p:embeddedFontLst>
    <p:embeddedFont>
      <p:font typeface="Dava Sans" pitchFamily="2" charset="0"/>
      <p:regular r:id="rId67"/>
      <p:bold r:id="rId68"/>
      <p:italic r:id="rId69"/>
      <p:boldItalic r:id="rId70"/>
    </p:embeddedFont>
    <p:embeddedFont>
      <p:font typeface="Dava Sans Med" panose="020B0604020202020204" charset="0"/>
      <p:regular r:id="rId71"/>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1pPr>
    <a:lvl2pPr marL="0" marR="0" indent="2286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2pPr>
    <a:lvl3pPr marL="0" marR="0" indent="4572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3pPr>
    <a:lvl4pPr marL="0" marR="0" indent="6858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4pPr>
    <a:lvl5pPr marL="0" marR="0" indent="9144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5pPr>
    <a:lvl6pPr marL="0" marR="0" indent="11430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6pPr>
    <a:lvl7pPr marL="0" marR="0" indent="13716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7pPr>
    <a:lvl8pPr marL="0" marR="0" indent="16002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8pPr>
    <a:lvl9pPr marL="0" marR="0" indent="18288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8087"/>
    <a:srgbClr val="BABFC3"/>
    <a:srgbClr val="FFFFFF"/>
    <a:srgbClr val="30404B"/>
    <a:srgbClr val="8C959B"/>
    <a:srgbClr val="D1D5D7"/>
    <a:srgbClr val="122B38"/>
    <a:srgbClr val="FF4230"/>
    <a:srgbClr val="FF56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A61BFC-EF1F-4332-89C9-78C028213E3E}" v="2" dt="2026-09-25T13:26:18.151"/>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Poppins Bold"/>
          <a:ea typeface="Poppins Bold"/>
          <a:cs typeface="Poppins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Poppins Bold"/>
          <a:ea typeface="Poppins Bold"/>
          <a:cs typeface="Poppins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Poppins Bold"/>
          <a:ea typeface="Poppins Bold"/>
          <a:cs typeface="Poppins Bold"/>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Ref idx="minor">
          <a:srgbClr val="000000"/>
        </a:fontRef>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n" i="off">
        <a:font>
          <a:latin typeface="Poppins Bold"/>
          <a:ea typeface="Poppins Bold"/>
          <a:cs typeface="Poppins Bold"/>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n" i="off">
        <a:font>
          <a:latin typeface="Poppins Bold"/>
          <a:ea typeface="Poppins Bold"/>
          <a:cs typeface="Poppins Bold"/>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n" i="off">
        <a:font>
          <a:latin typeface="Poppins Bold"/>
          <a:ea typeface="Poppins Bold"/>
          <a:cs typeface="Poppins Bold"/>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n" i="off">
        <a:font>
          <a:latin typeface="Poppins Bold"/>
          <a:ea typeface="Poppins Bold"/>
          <a:cs typeface="Poppins Bold"/>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Poppins Bold"/>
          <a:ea typeface="Poppins Bold"/>
          <a:cs typeface="Poppins Bold"/>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Poppins Bold"/>
          <a:ea typeface="Poppins Bold"/>
          <a:cs typeface="Poppins Bold"/>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Poppins Bold"/>
          <a:ea typeface="Poppins Bold"/>
          <a:cs typeface="Poppins Bold"/>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Poppins Bold"/>
          <a:ea typeface="Poppins Bold"/>
          <a:cs typeface="Poppins Bold"/>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Poppins Bold"/>
          <a:ea typeface="Poppins Bold"/>
          <a:cs typeface="Poppins Bold"/>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Poppins Bold"/>
          <a:ea typeface="Poppins Bold"/>
          <a:cs typeface="Poppins Bold"/>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Poppins Bold"/>
          <a:ea typeface="Poppins Bold"/>
          <a:cs typeface="Poppins Bold"/>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Poppins Bold"/>
          <a:ea typeface="Poppins Bold"/>
          <a:cs typeface="Poppins Bold"/>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Poppins Bold"/>
          <a:ea typeface="Poppins Bold"/>
          <a:cs typeface="Poppins Bold"/>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45"/>
    <p:restoredTop sz="94640"/>
  </p:normalViewPr>
  <p:slideViewPr>
    <p:cSldViewPr snapToGrid="0">
      <p:cViewPr varScale="1">
        <p:scale>
          <a:sx n="52" d="100"/>
          <a:sy n="52" d="100"/>
        </p:scale>
        <p:origin x="516" y="96"/>
      </p:cViewPr>
      <p:guideLst>
        <p:guide orient="horz" pos="4320"/>
        <p:guide pos="7680"/>
      </p:guideLst>
    </p:cSldViewPr>
  </p:slideViewPr>
  <p:notesTextViewPr>
    <p:cViewPr>
      <p:scale>
        <a:sx n="1" d="1"/>
        <a:sy n="1" d="1"/>
      </p:scale>
      <p:origin x="0" y="0"/>
    </p:cViewPr>
  </p:notesTextViewPr>
  <p:notesViewPr>
    <p:cSldViewPr snapToGrid="0">
      <p:cViewPr varScale="1">
        <p:scale>
          <a:sx n="168" d="100"/>
          <a:sy n="168" d="100"/>
        </p:scale>
        <p:origin x="5432" y="21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60.xml"/><Relationship Id="rId6" Type="http://schemas.openxmlformats.org/officeDocument/2006/relationships/slide" Target="slides/slide59.xml"/><Relationship Id="rId7" Type="http://schemas.openxmlformats.org/officeDocument/2006/relationships/slide" Target="slides/slide58.xml"/><Relationship Id="rId8" Type="http://schemas.openxmlformats.org/officeDocument/2006/relationships/slide" Target="slides/slide57.xml"/><Relationship Id="rId9" Type="http://schemas.openxmlformats.org/officeDocument/2006/relationships/slide" Target="slides/slide56.xml"/><Relationship Id="rId10" Type="http://schemas.openxmlformats.org/officeDocument/2006/relationships/slide" Target="slides/slide55.xml"/><Relationship Id="rId11" Type="http://schemas.openxmlformats.org/officeDocument/2006/relationships/slide" Target="slides/slide54.xml"/><Relationship Id="rId12" Type="http://schemas.openxmlformats.org/officeDocument/2006/relationships/slide" Target="slides/slide53.xml"/><Relationship Id="rId13" Type="http://schemas.openxmlformats.org/officeDocument/2006/relationships/slide" Target="slides/slide52.xml"/><Relationship Id="rId14" Type="http://schemas.openxmlformats.org/officeDocument/2006/relationships/slide" Target="slides/slide51.xml"/><Relationship Id="rId15" Type="http://schemas.openxmlformats.org/officeDocument/2006/relationships/slide" Target="slides/slide50.xml"/><Relationship Id="rId16" Type="http://schemas.openxmlformats.org/officeDocument/2006/relationships/slide" Target="slides/slide49.xml"/><Relationship Id="rId17" Type="http://schemas.openxmlformats.org/officeDocument/2006/relationships/slide" Target="slides/slide48.xml"/><Relationship Id="rId18" Type="http://schemas.openxmlformats.org/officeDocument/2006/relationships/slide" Target="slides/slide1.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9.xml"/><Relationship Id="rId27" Type="http://schemas.openxmlformats.org/officeDocument/2006/relationships/slide" Target="slides/slide10.xml"/><Relationship Id="rId28" Type="http://schemas.openxmlformats.org/officeDocument/2006/relationships/slide" Target="slides/slide11.xml"/><Relationship Id="rId29" Type="http://schemas.openxmlformats.org/officeDocument/2006/relationships/slide" Target="slides/slide12.xml"/><Relationship Id="rId30" Type="http://schemas.openxmlformats.org/officeDocument/2006/relationships/slide" Target="slides/slide13.xml"/><Relationship Id="rId31" Type="http://schemas.openxmlformats.org/officeDocument/2006/relationships/slide" Target="slides/slide14.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 Id="rId37" Type="http://schemas.openxmlformats.org/officeDocument/2006/relationships/slide" Target="slides/slide20.xml"/><Relationship Id="rId38" Type="http://schemas.openxmlformats.org/officeDocument/2006/relationships/slide" Target="slides/slide21.xml"/><Relationship Id="rId39" Type="http://schemas.openxmlformats.org/officeDocument/2006/relationships/slide" Target="slides/slide22.xml"/><Relationship Id="rId40" Type="http://schemas.openxmlformats.org/officeDocument/2006/relationships/slide" Target="slides/slide23.xml"/><Relationship Id="rId41" Type="http://schemas.openxmlformats.org/officeDocument/2006/relationships/slide" Target="slides/slide24.xml"/><Relationship Id="rId42" Type="http://schemas.openxmlformats.org/officeDocument/2006/relationships/slide" Target="slides/slide25.xml"/><Relationship Id="rId43" Type="http://schemas.openxmlformats.org/officeDocument/2006/relationships/slide" Target="slides/slide26.xml"/><Relationship Id="rId44" Type="http://schemas.openxmlformats.org/officeDocument/2006/relationships/slide" Target="slides/slide27.xml"/><Relationship Id="rId45" Type="http://schemas.openxmlformats.org/officeDocument/2006/relationships/slide" Target="slides/slide28.xml"/><Relationship Id="rId46" Type="http://schemas.openxmlformats.org/officeDocument/2006/relationships/slide" Target="slides/slide29.xml"/><Relationship Id="rId47" Type="http://schemas.openxmlformats.org/officeDocument/2006/relationships/slide" Target="slides/slide30.xml"/><Relationship Id="rId48" Type="http://schemas.openxmlformats.org/officeDocument/2006/relationships/slide" Target="slides/slide31.xml"/><Relationship Id="rId49" Type="http://schemas.openxmlformats.org/officeDocument/2006/relationships/slide" Target="slides/slide32.xml"/><Relationship Id="rId50" Type="http://schemas.openxmlformats.org/officeDocument/2006/relationships/slide" Target="slides/slide33.xml"/><Relationship Id="rId51" Type="http://schemas.openxmlformats.org/officeDocument/2006/relationships/slide" Target="slides/slide34.xml"/><Relationship Id="rId52" Type="http://schemas.openxmlformats.org/officeDocument/2006/relationships/slide" Target="slides/slide35.xml"/><Relationship Id="rId53" Type="http://schemas.openxmlformats.org/officeDocument/2006/relationships/slide" Target="slides/slide36.xml"/><Relationship Id="rId54" Type="http://schemas.openxmlformats.org/officeDocument/2006/relationships/slide" Target="slides/slide37.xml"/><Relationship Id="rId55" Type="http://schemas.openxmlformats.org/officeDocument/2006/relationships/slide" Target="slides/slide38.xml"/><Relationship Id="rId56" Type="http://schemas.openxmlformats.org/officeDocument/2006/relationships/slide" Target="slides/slide39.xml"/><Relationship Id="rId57" Type="http://schemas.openxmlformats.org/officeDocument/2006/relationships/slide" Target="slides/slide40.xml"/><Relationship Id="rId58" Type="http://schemas.openxmlformats.org/officeDocument/2006/relationships/slide" Target="slides/slide41.xml"/><Relationship Id="rId59" Type="http://schemas.openxmlformats.org/officeDocument/2006/relationships/slide" Target="slides/slide42.xml"/><Relationship Id="rId60" Type="http://schemas.openxmlformats.org/officeDocument/2006/relationships/slide" Target="slides/slide43.xml"/><Relationship Id="rId61" Type="http://schemas.openxmlformats.org/officeDocument/2006/relationships/slide" Target="slides/slide44.xml"/><Relationship Id="rId62" Type="http://schemas.openxmlformats.org/officeDocument/2006/relationships/slide" Target="slides/slide45.xml"/><Relationship Id="rId63" Type="http://schemas.openxmlformats.org/officeDocument/2006/relationships/slide" Target="slides/slide46.xml"/><Relationship Id="rId64" Type="http://schemas.openxmlformats.org/officeDocument/2006/relationships/slide" Target="slides/slide47.xml"/><Relationship Id="rId65" Type="http://schemas.openxmlformats.org/officeDocument/2006/relationships/notesMaster" Target="notesMasters/notesMaster1.xml"/><Relationship Id="rId66" Type="http://schemas.openxmlformats.org/officeDocument/2006/relationships/handoutMaster" Target="handoutMasters/handoutMaster1.xml"/><Relationship Id="rId67" Type="http://schemas.openxmlformats.org/officeDocument/2006/relationships/font" Target="fonts/font1.fntdata"/><Relationship Id="rId68" Type="http://schemas.openxmlformats.org/officeDocument/2006/relationships/font" Target="fonts/font2.fntdata"/><Relationship Id="rId69" Type="http://schemas.openxmlformats.org/officeDocument/2006/relationships/font" Target="fonts/font3.fntdata"/><Relationship Id="rId70" Type="http://schemas.openxmlformats.org/officeDocument/2006/relationships/font" Target="fonts/font4.fntdata"/><Relationship Id="rId71" Type="http://schemas.openxmlformats.org/officeDocument/2006/relationships/font" Target="fonts/font5.fntdata"/><Relationship Id="rId72" Type="http://schemas.openxmlformats.org/officeDocument/2006/relationships/presProps" Target="presProps.xml"/><Relationship Id="rId73" Type="http://schemas.openxmlformats.org/officeDocument/2006/relationships/viewProps" Target="viewProps.xml"/><Relationship Id="rId74" Type="http://schemas.openxmlformats.org/officeDocument/2006/relationships/theme" Target="theme/theme1.xml"/><Relationship Id="rId75" Type="http://schemas.openxmlformats.org/officeDocument/2006/relationships/tableStyles" Target="tableStyles.xml"/><Relationship Id="rId76" Type="http://schemas.microsoft.com/office/2016/11/relationships/changesInfo" Target="changesInfos/changesInfo1.xml"/><Relationship Id="rId77" Type="http://schemas.microsoft.com/office/2015/10/relationships/revisionInfo" Target="revisionInfo.xml"/><Relationship Id="rId78" Type="http://schemas.openxmlformats.org/officeDocument/2006/relationships/slide" Target="slides/slide61.xml"/><Relationship Id="rId79" Type="http://schemas.openxmlformats.org/officeDocument/2006/relationships/slide" Target="slides/slide62.xml"/><Relationship Id="rId80" Type="http://schemas.openxmlformats.org/officeDocument/2006/relationships/slide" Target="slides/slide63.xml"/><Relationship Id="rId81" Type="http://schemas.openxmlformats.org/officeDocument/2006/relationships/slide" Target="slides/slide64.xml"/><Relationship Id="rId82" Type="http://schemas.openxmlformats.org/officeDocument/2006/relationships/slide" Target="slides/slide65.xml"/><Relationship Id="rId83" Type="http://schemas.openxmlformats.org/officeDocument/2006/relationships/slide" Target="slides/slide66.xml"/><Relationship Id="rId84" Type="http://schemas.openxmlformats.org/officeDocument/2006/relationships/slide" Target="slides/slide67.xml"/><Relationship Id="rId85" Type="http://schemas.openxmlformats.org/officeDocument/2006/relationships/slide" Target="slides/slide68.xml"/><Relationship Id="rId86" Type="http://schemas.openxmlformats.org/officeDocument/2006/relationships/slide" Target="slides/slide69.xml"/><Relationship Id="rId87" Type="http://schemas.openxmlformats.org/officeDocument/2006/relationships/slide" Target="slides/slide70.xml"/><Relationship Id="rId88" Type="http://schemas.openxmlformats.org/officeDocument/2006/relationships/slide" Target="slides/slide71.xml"/><Relationship Id="rId89" Type="http://schemas.openxmlformats.org/officeDocument/2006/relationships/slide" Target="slides/slide72.xml"/><Relationship Id="rId90" Type="http://schemas.openxmlformats.org/officeDocument/2006/relationships/slide" Target="slides/slide73.xml"/><Relationship Id="rId91" Type="http://schemas.openxmlformats.org/officeDocument/2006/relationships/slide" Target="slides/slide74.xml"/><Relationship Id="rId92" Type="http://schemas.openxmlformats.org/officeDocument/2006/relationships/slide" Target="slides/slide75.xml"/><Relationship Id="rId93" Type="http://schemas.openxmlformats.org/officeDocument/2006/relationships/slide" Target="slides/slide76.xml"/><Relationship Id="rId94" Type="http://schemas.openxmlformats.org/officeDocument/2006/relationships/slide" Target="slides/slide77.xml"/><Relationship Id="rId95" Type="http://schemas.openxmlformats.org/officeDocument/2006/relationships/slide" Target="slides/slide78.xml"/><Relationship Id="rId96" Type="http://schemas.openxmlformats.org/officeDocument/2006/relationships/slide" Target="slides/slide79.xml"/><Relationship Id="rId97" Type="http://schemas.openxmlformats.org/officeDocument/2006/relationships/slide" Target="slides/slide8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u Pandi" userId="8fa1406e-a338-4731-94d3-13a087c4bb69" providerId="ADAL" clId="{814D34CB-4BFD-4943-BFE1-95DD15EF3011}"/>
    <pc:docChg chg="delSld modSld">
      <pc:chgData name="Alexandru Pandi" userId="8fa1406e-a338-4731-94d3-13a087c4bb69" providerId="ADAL" clId="{814D34CB-4BFD-4943-BFE1-95DD15EF3011}" dt="2026-09-25T13:28:56.672" v="69" actId="1076"/>
      <pc:docMkLst>
        <pc:docMk/>
      </pc:docMkLst>
      <pc:sldChg chg="modSp mod">
        <pc:chgData name="Alexandru Pandi" userId="8fa1406e-a338-4731-94d3-13a087c4bb69" providerId="ADAL" clId="{814D34CB-4BFD-4943-BFE1-95DD15EF3011}" dt="2026-09-25T13:26:26.023" v="7" actId="20577"/>
        <pc:sldMkLst>
          <pc:docMk/>
          <pc:sldMk cId="0" sldId="256"/>
        </pc:sldMkLst>
        <pc:spChg chg="mod">
          <ac:chgData name="Alexandru Pandi" userId="8fa1406e-a338-4731-94d3-13a087c4bb69" providerId="ADAL" clId="{814D34CB-4BFD-4943-BFE1-95DD15EF3011}" dt="2026-09-25T13:26:26.023" v="7" actId="20577"/>
          <ac:spMkLst>
            <pc:docMk/>
            <pc:sldMk cId="0" sldId="256"/>
            <ac:spMk id="2" creationId="{00000000-0000-0000-0000-000000000000}"/>
          </ac:spMkLst>
        </pc:spChg>
      </pc:sldChg>
      <pc:sldChg chg="del">
        <pc:chgData name="Alexandru Pandi" userId="8fa1406e-a338-4731-94d3-13a087c4bb69" providerId="ADAL" clId="{814D34CB-4BFD-4943-BFE1-95DD15EF3011}" dt="2026-09-25T13:26:44.277" v="8" actId="2696"/>
        <pc:sldMkLst>
          <pc:docMk/>
          <pc:sldMk cId="0" sldId="260"/>
        </pc:sldMkLst>
      </pc:sldChg>
      <pc:sldChg chg="modSp mod">
        <pc:chgData name="Alexandru Pandi" userId="8fa1406e-a338-4731-94d3-13a087c4bb69" providerId="ADAL" clId="{814D34CB-4BFD-4943-BFE1-95DD15EF3011}" dt="2026-09-25T13:26:55.480" v="14" actId="20577"/>
        <pc:sldMkLst>
          <pc:docMk/>
          <pc:sldMk cId="0" sldId="263"/>
        </pc:sldMkLst>
        <pc:spChg chg="mod">
          <ac:chgData name="Alexandru Pandi" userId="8fa1406e-a338-4731-94d3-13a087c4bb69" providerId="ADAL" clId="{814D34CB-4BFD-4943-BFE1-95DD15EF3011}" dt="2026-09-25T13:26:55.480" v="14" actId="20577"/>
          <ac:spMkLst>
            <pc:docMk/>
            <pc:sldMk cId="0" sldId="263"/>
            <ac:spMk id="2" creationId="{00000000-0000-0000-0000-000000000000}"/>
          </ac:spMkLst>
        </pc:spChg>
      </pc:sldChg>
      <pc:sldChg chg="modSp mod">
        <pc:chgData name="Alexandru Pandi" userId="8fa1406e-a338-4731-94d3-13a087c4bb69" providerId="ADAL" clId="{814D34CB-4BFD-4943-BFE1-95DD15EF3011}" dt="2026-09-25T13:27:14.592" v="20" actId="20577"/>
        <pc:sldMkLst>
          <pc:docMk/>
          <pc:sldMk cId="0" sldId="266"/>
        </pc:sldMkLst>
        <pc:spChg chg="mod">
          <ac:chgData name="Alexandru Pandi" userId="8fa1406e-a338-4731-94d3-13a087c4bb69" providerId="ADAL" clId="{814D34CB-4BFD-4943-BFE1-95DD15EF3011}" dt="2026-09-25T13:27:14.592" v="20" actId="20577"/>
          <ac:spMkLst>
            <pc:docMk/>
            <pc:sldMk cId="0" sldId="266"/>
            <ac:spMk id="4" creationId="{00000000-0000-0000-0000-000000000000}"/>
          </ac:spMkLst>
        </pc:spChg>
      </pc:sldChg>
      <pc:sldChg chg="modSp mod">
        <pc:chgData name="Alexandru Pandi" userId="8fa1406e-a338-4731-94d3-13a087c4bb69" providerId="ADAL" clId="{814D34CB-4BFD-4943-BFE1-95DD15EF3011}" dt="2026-09-25T13:28:03.706" v="65" actId="20577"/>
        <pc:sldMkLst>
          <pc:docMk/>
          <pc:sldMk cId="0" sldId="272"/>
        </pc:sldMkLst>
        <pc:spChg chg="mod">
          <ac:chgData name="Alexandru Pandi" userId="8fa1406e-a338-4731-94d3-13a087c4bb69" providerId="ADAL" clId="{814D34CB-4BFD-4943-BFE1-95DD15EF3011}" dt="2026-09-25T13:28:03.706" v="65" actId="20577"/>
          <ac:spMkLst>
            <pc:docMk/>
            <pc:sldMk cId="0" sldId="272"/>
            <ac:spMk id="36" creationId="{00000000-0000-0000-0000-000000000000}"/>
          </ac:spMkLst>
        </pc:spChg>
      </pc:sldChg>
      <pc:sldChg chg="modNotes">
        <pc:chgData name="Alexandru Pandi" userId="8fa1406e-a338-4731-94d3-13a087c4bb69" providerId="ADAL" clId="{814D34CB-4BFD-4943-BFE1-95DD15EF3011}" dt="2026-09-25T13:26:18.149" v="0"/>
        <pc:sldMkLst>
          <pc:docMk/>
          <pc:sldMk cId="0" sldId="275"/>
        </pc:sldMkLst>
      </pc:sldChg>
      <pc:sldChg chg="modNotes">
        <pc:chgData name="Alexandru Pandi" userId="8fa1406e-a338-4731-94d3-13a087c4bb69" providerId="ADAL" clId="{814D34CB-4BFD-4943-BFE1-95DD15EF3011}" dt="2026-09-25T13:26:18.151" v="1"/>
        <pc:sldMkLst>
          <pc:docMk/>
          <pc:sldMk cId="0" sldId="276"/>
        </pc:sldMkLst>
      </pc:sldChg>
      <pc:sldChg chg="modSp mod">
        <pc:chgData name="Alexandru Pandi" userId="8fa1406e-a338-4731-94d3-13a087c4bb69" providerId="ADAL" clId="{814D34CB-4BFD-4943-BFE1-95DD15EF3011}" dt="2026-09-25T13:28:56.672" v="69" actId="1076"/>
        <pc:sldMkLst>
          <pc:docMk/>
          <pc:sldMk cId="0" sldId="313"/>
        </pc:sldMkLst>
        <pc:spChg chg="mod">
          <ac:chgData name="Alexandru Pandi" userId="8fa1406e-a338-4731-94d3-13a087c4bb69" providerId="ADAL" clId="{814D34CB-4BFD-4943-BFE1-95DD15EF3011}" dt="2026-09-25T13:28:38.508" v="66" actId="1076"/>
          <ac:spMkLst>
            <pc:docMk/>
            <pc:sldMk cId="0" sldId="313"/>
            <ac:spMk id="8" creationId="{00000000-0000-0000-0000-000000000000}"/>
          </ac:spMkLst>
        </pc:spChg>
        <pc:spChg chg="mod">
          <ac:chgData name="Alexandru Pandi" userId="8fa1406e-a338-4731-94d3-13a087c4bb69" providerId="ADAL" clId="{814D34CB-4BFD-4943-BFE1-95DD15EF3011}" dt="2026-09-25T13:28:42.111" v="67" actId="1076"/>
          <ac:spMkLst>
            <pc:docMk/>
            <pc:sldMk cId="0" sldId="313"/>
            <ac:spMk id="12" creationId="{00000000-0000-0000-0000-000000000000}"/>
          </ac:spMkLst>
        </pc:spChg>
        <pc:spChg chg="mod">
          <ac:chgData name="Alexandru Pandi" userId="8fa1406e-a338-4731-94d3-13a087c4bb69" providerId="ADAL" clId="{814D34CB-4BFD-4943-BFE1-95DD15EF3011}" dt="2026-09-25T13:28:44.790" v="68" actId="1076"/>
          <ac:spMkLst>
            <pc:docMk/>
            <pc:sldMk cId="0" sldId="313"/>
            <ac:spMk id="16" creationId="{00000000-0000-0000-0000-000000000000}"/>
          </ac:spMkLst>
        </pc:spChg>
        <pc:spChg chg="mod">
          <ac:chgData name="Alexandru Pandi" userId="8fa1406e-a338-4731-94d3-13a087c4bb69" providerId="ADAL" clId="{814D34CB-4BFD-4943-BFE1-95DD15EF3011}" dt="2026-09-25T13:28:56.672" v="69" actId="1076"/>
          <ac:spMkLst>
            <pc:docMk/>
            <pc:sldMk cId="0" sldId="313"/>
            <ac:spMk id="20"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radarChart>
        <c:radarStyle val="filled"/>
        <c:varyColors val="0"/>
        <c:ser>
          <c:idx val="0"/>
          <c:order val="0"/>
          <c:tx>
            <c:strRef>
              <c:f>Sheet1!$B$1</c:f>
              <c:strCache>
                <c:ptCount val="1"/>
                <c:pt idx="0">
                  <c:v>Target depth (1–5)</c:v>
                </c:pt>
              </c:strCache>
            </c:strRef>
          </c:tx>
          <c:spPr>
            <a:solidFill>
              <a:srgbClr val="FF5640">
                <a:alpha val="45000"/>
              </a:srgbClr>
            </a:solidFill>
            <a:ln>
              <a:solidFill>
                <a:srgbClr val="FF5640"/>
              </a:solidFill>
            </a:ln>
          </c:spPr>
          <c:cat>
            <c:strRef>
              <c:f>Sheet1!$A$2:$A$9</c:f>
              <c:strCache>
                <c:ptCount val="8"/>
                <c:pt idx="0">
                  <c:v>TypeScript &amp; FP</c:v>
                </c:pt>
                <c:pt idx="1">
                  <c:v>API testing</c:v>
                </c:pt>
                <c:pt idx="2">
                  <c:v>UI automation</c:v>
                </c:pt>
                <c:pt idx="3">
                  <c:v>Test data &amp; mocks</c:v>
                </c:pt>
                <c:pt idx="4">
                  <c:v>Debugging &amp; reports</c:v>
                </c:pt>
                <c:pt idx="5">
                  <c:v>API contracts</c:v>
                </c:pt>
                <c:pt idx="6">
                  <c:v>Agentic workflows</c:v>
                </c:pt>
                <c:pt idx="7">
                  <c:v>Critical review</c:v>
                </c:pt>
              </c:strCache>
            </c:strRef>
          </c:cat>
          <c:val>
            <c:numRef>
              <c:f>Sheet1!$B$2:$B$9</c:f>
              <c:numCache>
                <c:formatCode>General</c:formatCode>
                <c:ptCount val="8"/>
                <c:pt idx="0">
                  <c:v>4</c:v>
                </c:pt>
                <c:pt idx="1">
                  <c:v>4</c:v>
                </c:pt>
                <c:pt idx="2">
                  <c:v>4</c:v>
                </c:pt>
                <c:pt idx="3">
                  <c:v>3</c:v>
                </c:pt>
                <c:pt idx="4">
                  <c:v>4</c:v>
                </c:pt>
                <c:pt idx="5">
                  <c:v>3</c:v>
                </c:pt>
                <c:pt idx="6">
                  <c:v>3</c:v>
                </c:pt>
                <c:pt idx="7">
                  <c:v>5</c:v>
                </c:pt>
              </c:numCache>
            </c:numRef>
          </c:val>
          <c:smooth val="0"/>
        </c:ser>
        <c:axId val="2073612648"/>
        <c:axId val="-2112772216"/>
      </c:radarChart>
      <c:catAx>
        <c:axId val="2073612648"/>
        <c:scaling>
          <c:orientation val="minMax"/>
        </c:scaling>
        <c:delete val="0"/>
        <c:axPos val="b"/>
        <c:majorGridlines/>
        <c:numFmt formatCode="m/d/yy" sourceLinked="1"/>
        <c:majorTickMark val="out"/>
        <c:minorTickMark val="none"/>
        <c:tickLblPos val="nextTo"/>
        <c:txPr>
          <a:bodyPr/>
          <a:lstStyle/>
          <a:p>
            <a:pPr>
              <a:defRPr sz="1500"/>
            </a:pPr>
          </a:p>
        </c:txPr>
        <c:crossAx val="-2112772216"/>
        <c:crosses val="autoZero"/>
        <c:auto val="1"/>
        <c:lblAlgn val="ctr"/>
        <c:lblOffset val="100"/>
        <c:noMultiLvlLbl val="0"/>
      </c:catAx>
      <c:valAx>
        <c:axId val="-2112772216"/>
        <c:scaling>
          <c:orientation val="minMax"/>
          <c:max val="5.0"/>
          <c:min val="0.0"/>
        </c:scaling>
        <c:delete val="0"/>
        <c:axPos val="l"/>
        <c:majorGridlines>
          <c:spPr>
            <a:ln>
              <a:solidFill>
                <a:srgbClr val="D9E1E7"/>
              </a:solidFill>
            </a:ln>
          </c:spPr>
        </c:majorGridlines>
        <c:numFmt formatCode="General" sourceLinked="1"/>
        <c:majorTickMark val="cross"/>
        <c:minorTickMark val="none"/>
        <c:tickLblPos val="nextTo"/>
        <c:txPr>
          <a:bodyPr/>
          <a:lstStyle/>
          <a:p>
            <a:pPr>
              <a:defRPr sz="1100"/>
            </a:pPr>
          </a:p>
        </c:txPr>
        <c:crossAx val="2073612648"/>
        <c:crosses val="autoZero"/>
        <c:crossBetween val="between"/>
        <c:majorUnit val="1.0"/>
      </c:valAx>
    </c:plotArea>
    <c:plotVisOnly val="1"/>
    <c:dispBlanksAs val="gap"/>
    <c:showDLblsOverMax val="0"/>
  </c:chart>
  <c:txPr>
    <a:bodyPr/>
    <a:lstStyle/>
    <a:p>
      <a:pPr>
        <a:defRPr sz="1500">
          <a:solidFill>
            <a:srgbClr val="192B37"/>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ops</c:v>
                </c:pt>
              </c:strCache>
            </c:strRef>
          </c:tx>
          <c:spPr>
            <a:solidFill>
              <a:srgbClr val="3D9BC8"/>
            </a:solidFill>
          </c:spPr>
          <c:dPt>
            <c:idx val="0"/>
            <c:spPr>
              <a:solidFill>
                <a:srgbClr val="3D9BC8"/>
              </a:solidFill>
            </c:spPr>
          </c:dPt>
          <c:dPt>
            <c:idx val="1"/>
            <c:spPr>
              <a:solidFill>
                <a:srgbClr val="00A859"/>
              </a:solidFill>
            </c:spPr>
          </c:dPt>
          <c:dPt>
            <c:idx val="2"/>
            <c:spPr>
              <a:solidFill>
                <a:srgbClr val="FF5640"/>
              </a:solidFill>
            </c:spPr>
          </c:dPt>
          <c:dPt>
            <c:idx val="3"/>
            <c:spPr>
              <a:solidFill>
                <a:srgbClr val="8683C3"/>
              </a:solidFill>
            </c:spPr>
          </c:dPt>
          <c:dPt>
            <c:idx val="4"/>
            <c:spPr>
              <a:solidFill>
                <a:srgbClr val="DB7D00"/>
              </a:solidFill>
            </c:spPr>
          </c:dPt>
          <c:dPt>
            <c:idx val="5"/>
            <c:spPr>
              <a:solidFill>
                <a:srgbClr val="729A00"/>
              </a:solidFill>
            </c:spPr>
          </c:dPt>
          <c:dPt>
            <c:idx val="6"/>
            <c:spPr>
              <a:solidFill>
                <a:srgbClr val="3D9BC8"/>
              </a:solidFill>
            </c:spPr>
          </c:dPt>
          <c:dPt>
            <c:idx val="7"/>
            <c:spPr>
              <a:solidFill>
                <a:srgbClr val="00A859"/>
              </a:solidFill>
            </c:spPr>
          </c:dPt>
          <c:dPt>
            <c:idx val="8"/>
            <c:spPr>
              <a:solidFill>
                <a:srgbClr val="FF5640"/>
              </a:solidFill>
            </c:spPr>
          </c:dPt>
          <c:dPt>
            <c:idx val="9"/>
            <c:spPr>
              <a:solidFill>
                <a:srgbClr val="8683C3"/>
              </a:solidFill>
            </c:spPr>
          </c:dPt>
          <c:dPt>
            <c:idx val="10"/>
            <c:spPr>
              <a:solidFill>
                <a:srgbClr val="DB7D00"/>
              </a:solidFill>
            </c:spPr>
          </c:dPt>
          <c:dPt>
            <c:idx val="11"/>
            <c:spPr>
              <a:solidFill>
                <a:srgbClr val="729A00"/>
              </a:solidFill>
            </c:spPr>
          </c:dPt>
          <c:dLbls>
            <c:numFmt formatCode="#,##0" sourceLinked="0"/>
            <c:txPr>
              <a:bodyPr/>
              <a:lstStyle/>
              <a:p>
                <a:pPr>
                  <a:defRPr sz="1500" b="1">
                    <a:solidFill>
                      <a:srgbClr val="192B37"/>
                    </a:solidFill>
                  </a:defRPr>
                </a:pPr>
              </a:p>
            </c:txPr>
            <c:dLblPos val="outEnd"/>
            <c:showLegendKey val="0"/>
            <c:showVal val="1"/>
            <c:showCatName val="0"/>
            <c:showSerName val="0"/>
            <c:showPercent val="0"/>
            <c:showBubbleSize val="0"/>
            <c:showLeaderLines val="1"/>
          </c:dLbls>
          <c:cat>
            <c:strRef>
              <c:f>Sheet1!$A$2:$A$13</c:f>
              <c:strCache>
                <c:ptCount val="12"/>
                <c:pt idx="0">
                  <c:v>users</c:v>
                </c:pt>
                <c:pt idx="1">
                  <c:v>transactions</c:v>
                </c:pt>
                <c:pt idx="2">
                  <c:v>bankAccounts</c:v>
                </c:pt>
                <c:pt idx="3">
                  <c:v>auth</c:v>
                </c:pt>
                <c:pt idx="4">
                  <c:v>contacts</c:v>
                </c:pt>
                <c:pt idx="5">
                  <c:v>notifications</c:v>
                </c:pt>
                <c:pt idx="6">
                  <c:v>likes</c:v>
                </c:pt>
                <c:pt idx="7">
                  <c:v>comments</c:v>
                </c:pt>
                <c:pt idx="8">
                  <c:v>graphql</c:v>
                </c:pt>
                <c:pt idx="9">
                  <c:v>testData</c:v>
                </c:pt>
                <c:pt idx="10">
                  <c:v>bankTransfers</c:v>
                </c:pt>
                <c:pt idx="11">
                  <c:v>root</c:v>
                </c:pt>
              </c:strCache>
            </c:strRef>
          </c:cat>
          <c:val>
            <c:numRef>
              <c:f>Sheet1!$B$2:$B$13</c:f>
              <c:numCache>
                <c:formatCode>General</c:formatCode>
                <c:ptCount val="12"/>
                <c:pt idx="0">
                  <c:v>6</c:v>
                </c:pt>
                <c:pt idx="1">
                  <c:v>6</c:v>
                </c:pt>
                <c:pt idx="2">
                  <c:v>4</c:v>
                </c:pt>
                <c:pt idx="3">
                  <c:v>3</c:v>
                </c:pt>
                <c:pt idx="4">
                  <c:v>3</c:v>
                </c:pt>
                <c:pt idx="5">
                  <c:v>3</c:v>
                </c:pt>
                <c:pt idx="6">
                  <c:v>2</c:v>
                </c:pt>
                <c:pt idx="7">
                  <c:v>2</c:v>
                </c:pt>
                <c:pt idx="8">
                  <c:v>2</c:v>
                </c:pt>
                <c:pt idx="9">
                  <c:v>2</c:v>
                </c:pt>
                <c:pt idx="10">
                  <c:v>1</c:v>
                </c:pt>
                <c:pt idx="11">
                  <c:v>1</c:v>
                </c:pt>
              </c:numCache>
            </c:numRef>
          </c:val>
        </c:ser>
        <c:gapWidth val="45"/>
        <c:axId val="-2068027336"/>
        <c:axId val="-2113994440"/>
      </c:barChart>
      <c:catAx>
        <c:axId val="-2068027336"/>
        <c:scaling>
          <c:orientation val="maxMin"/>
        </c:scaling>
        <c:delete val="0"/>
        <c:axPos val="l"/>
        <c:majorTickMark val="out"/>
        <c:minorTickMark val="none"/>
        <c:tickLblPos val="nextTo"/>
        <c:spPr>
          <a:ln>
            <a:solidFill>
              <a:srgbClr val="D9E1E7"/>
            </a:solidFill>
          </a:ln>
        </c:spPr>
        <c:txPr>
          <a:bodyPr/>
          <a:lstStyle/>
          <a:p>
            <a:pPr>
              <a:defRPr sz="1500"/>
            </a:pPr>
          </a:p>
        </c:txPr>
        <c:crossAx val="-2113994440"/>
        <c:crosses val="autoZero"/>
        <c:auto val="1"/>
        <c:lblAlgn val="ctr"/>
        <c:lblOffset val="100"/>
        <c:noMultiLvlLbl val="0"/>
      </c:catAx>
      <c:valAx>
        <c:axId val="-2113994440"/>
        <c:scaling>
          <c:min val="0.0"/>
        </c:scaling>
        <c:delete/>
        <c:axPos val="b"/>
        <c:majorTickMark val="out"/>
        <c:minorTickMark val="none"/>
        <c:tickLblPos val="nextTo"/>
        <c:crossAx val="-2068027336"/>
        <c:crosses val="autoZero"/>
      </c:valAx>
    </c:plotArea>
    <c:dispBlanksAs val="gap"/>
  </c:chart>
  <c:txPr>
    <a:bodyPr/>
    <a:lstStyle/>
    <a:p>
      <a:pPr>
        <a:defRPr sz="1500">
          <a:solidFill>
            <a:srgbClr val="192B37"/>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seed</c:v>
                </c:pt>
              </c:strCache>
            </c:strRef>
          </c:tx>
          <c:spPr>
            <a:solidFill>
              <a:srgbClr val="8683C3"/>
            </a:solidFill>
          </c:spPr>
          <c:dPt>
            <c:idx val="0"/>
            <c:spPr>
              <a:solidFill>
                <a:srgbClr val="8683C3"/>
              </a:solidFill>
            </c:spPr>
          </c:dPt>
          <c:dPt>
            <c:idx val="1"/>
            <c:spPr>
              <a:solidFill>
                <a:srgbClr val="729A00"/>
              </a:solidFill>
            </c:spPr>
          </c:dPt>
          <c:dPt>
            <c:idx val="2"/>
            <c:spPr>
              <a:solidFill>
                <a:srgbClr val="3D9BC8"/>
              </a:solidFill>
            </c:spPr>
          </c:dPt>
          <c:dPt>
            <c:idx val="3"/>
            <c:spPr>
              <a:solidFill>
                <a:srgbClr val="FF5640"/>
              </a:solidFill>
            </c:spPr>
          </c:dPt>
          <c:dPt>
            <c:idx val="4"/>
            <c:spPr>
              <a:solidFill>
                <a:srgbClr val="DB7D00"/>
              </a:solidFill>
            </c:spPr>
          </c:dPt>
          <c:dPt>
            <c:idx val="5"/>
            <c:spPr>
              <a:solidFill>
                <a:srgbClr val="DB7D00"/>
              </a:solidFill>
            </c:spPr>
          </c:dPt>
          <c:dPt>
            <c:idx val="6"/>
            <c:spPr>
              <a:solidFill>
                <a:srgbClr val="3D9BC8"/>
              </a:solidFill>
            </c:spPr>
          </c:dPt>
          <c:dPt>
            <c:idx val="7"/>
            <c:spPr>
              <a:solidFill>
                <a:srgbClr val="00A859"/>
              </a:solidFill>
            </c:spPr>
          </c:dPt>
          <c:dLbls>
            <c:numFmt formatCode="#,##0" sourceLinked="0"/>
            <c:txPr>
              <a:bodyPr/>
              <a:lstStyle/>
              <a:p>
                <a:pPr>
                  <a:defRPr sz="1600" b="1">
                    <a:solidFill>
                      <a:srgbClr val="192B37"/>
                    </a:solidFill>
                  </a:defRPr>
                </a:pPr>
              </a:p>
            </c:txPr>
            <c:dLblPos val="outEnd"/>
            <c:showLegendKey val="0"/>
            <c:showVal val="1"/>
            <c:showCatName val="0"/>
            <c:showSerName val="0"/>
            <c:showPercent val="0"/>
            <c:showBubbleSize val="0"/>
            <c:showLeaderLines val="1"/>
          </c:dLbls>
          <c:cat>
            <c:strRef>
              <c:f>Sheet1!$A$2:$A$9</c:f>
              <c:strCache>
                <c:ptCount val="8"/>
                <c:pt idx="0">
                  <c:v>transactions</c:v>
                </c:pt>
                <c:pt idx="1">
                  <c:v>bank transfers</c:v>
                </c:pt>
                <c:pt idx="2">
                  <c:v>notifications</c:v>
                </c:pt>
                <c:pt idx="3">
                  <c:v>contacts</c:v>
                </c:pt>
                <c:pt idx="4">
                  <c:v>likes</c:v>
                </c:pt>
                <c:pt idx="5">
                  <c:v>comments</c:v>
                </c:pt>
                <c:pt idx="6">
                  <c:v>users</c:v>
                </c:pt>
                <c:pt idx="7">
                  <c:v>bank accounts</c:v>
                </c:pt>
              </c:strCache>
            </c:strRef>
          </c:cat>
          <c:val>
            <c:numRef>
              <c:f>Sheet1!$B$2:$B$9</c:f>
              <c:numCache>
                <c:formatCode>General</c:formatCode>
                <c:ptCount val="8"/>
                <c:pt idx="0">
                  <c:v>600</c:v>
                </c:pt>
                <c:pt idx="1">
                  <c:v>50</c:v>
                </c:pt>
                <c:pt idx="2">
                  <c:v>40</c:v>
                </c:pt>
                <c:pt idx="3">
                  <c:v>15</c:v>
                </c:pt>
                <c:pt idx="4">
                  <c:v>10</c:v>
                </c:pt>
                <c:pt idx="5">
                  <c:v>10</c:v>
                </c:pt>
                <c:pt idx="6">
                  <c:v>5</c:v>
                </c:pt>
                <c:pt idx="7">
                  <c:v>5</c:v>
                </c:pt>
              </c:numCache>
            </c:numRef>
          </c:val>
        </c:ser>
        <c:gapWidth val="40"/>
        <c:axId val="-2068027336"/>
        <c:axId val="-2113994440"/>
      </c:barChart>
      <c:catAx>
        <c:axId val="-2068027336"/>
        <c:scaling>
          <c:orientation val="maxMin"/>
        </c:scaling>
        <c:delete val="0"/>
        <c:axPos val="l"/>
        <c:majorTickMark val="out"/>
        <c:minorTickMark val="none"/>
        <c:tickLblPos val="nextTo"/>
        <c:spPr>
          <a:ln>
            <a:solidFill>
              <a:srgbClr val="D9E1E7"/>
            </a:solidFill>
          </a:ln>
        </c:spPr>
        <c:txPr>
          <a:bodyPr/>
          <a:lstStyle/>
          <a:p>
            <a:pPr>
              <a:defRPr sz="1600"/>
            </a:pPr>
          </a:p>
        </c:txPr>
        <c:crossAx val="-2113994440"/>
        <c:crosses val="autoZero"/>
        <c:auto val="1"/>
        <c:lblAlgn val="ctr"/>
        <c:lblOffset val="100"/>
        <c:noMultiLvlLbl val="0"/>
      </c:catAx>
      <c:valAx>
        <c:axId val="-2113994440"/>
        <c:scaling>
          <c:min val="0.0"/>
        </c:scaling>
        <c:delete/>
        <c:axPos val="b"/>
        <c:majorTickMark val="out"/>
        <c:minorTickMark val="none"/>
        <c:tickLblPos val="nextTo"/>
        <c:crossAx val="-2068027336"/>
        <c:crosses val="autoZero"/>
      </c:valAx>
    </c:plotArea>
    <c:dispBlanksAs val="gap"/>
  </c:chart>
  <c:txPr>
    <a:bodyPr/>
    <a:lstStyle/>
    <a:p>
      <a:pPr>
        <a:defRPr sz="1600">
          <a:solidFill>
            <a:srgbClr val="192B37"/>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c:v>
                </c:pt>
              </c:strCache>
            </c:strRef>
          </c:tx>
          <c:dPt>
            <c:idx val="0"/>
            <c:spPr>
              <a:solidFill>
                <a:srgbClr val="3D9BC8"/>
              </a:solidFill>
              <a:ln w="25400">
                <a:solidFill>
                  <a:srgbClr val="FFFFFF"/>
                </a:solidFill>
              </a:ln>
            </c:spPr>
          </c:dPt>
          <c:dPt>
            <c:idx val="1"/>
            <c:spPr>
              <a:solidFill>
                <a:srgbClr val="00A859"/>
              </a:solidFill>
              <a:ln w="25400">
                <a:solidFill>
                  <a:srgbClr val="FFFFFF"/>
                </a:solidFill>
              </a:ln>
            </c:spPr>
          </c:dPt>
          <c:dPt>
            <c:idx val="2"/>
            <c:spPr>
              <a:solidFill>
                <a:srgbClr val="DB7D00"/>
              </a:solidFill>
              <a:ln w="25400">
                <a:solidFill>
                  <a:srgbClr val="FFFFFF"/>
                </a:solidFill>
              </a:ln>
            </c:spPr>
          </c:dPt>
          <c:dPt>
            <c:idx val="3"/>
            <c:spPr>
              <a:solidFill>
                <a:srgbClr val="FF5640"/>
              </a:solidFill>
              <a:ln w="25400">
                <a:solidFill>
                  <a:srgbClr val="FFFFFF"/>
                </a:solidFill>
              </a:ln>
            </c:spPr>
          </c:dPt>
          <c:cat>
            <c:strRef>
              <c:f>Sheet1!$A$2:$A$5</c:f>
              <c:strCache>
                <c:ptCount val="4"/>
                <c:pt idx="0">
                  <c:v>GET</c:v>
                </c:pt>
                <c:pt idx="1">
                  <c:v>POST</c:v>
                </c:pt>
                <c:pt idx="2">
                  <c:v>PATCH</c:v>
                </c:pt>
                <c:pt idx="3">
                  <c:v>DELETE</c:v>
                </c:pt>
              </c:strCache>
            </c:strRef>
          </c:cat>
          <c:val>
            <c:numRef>
              <c:f>Sheet1!$B$2:$B$5</c:f>
              <c:numCache>
                <c:formatCode>General</c:formatCode>
                <c:ptCount val="4"/>
                <c:pt idx="0">
                  <c:v>19</c:v>
                </c:pt>
                <c:pt idx="1">
                  <c:v>11</c:v>
                </c:pt>
                <c:pt idx="2">
                  <c:v>3</c:v>
                </c:pt>
                <c:pt idx="3">
                  <c:v>2</c:v>
                </c:pt>
              </c:numCache>
            </c:numRef>
          </c:val>
        </c:ser>
        <c:dLbls>
          <c:txPr>
            <a:bodyPr/>
            <a:lstStyle/>
            <a:p>
              <a:pPr>
                <a:defRPr sz="1600" b="1">
                  <a:solidFill>
                    <a:srgbClr val="FFFFFF"/>
                  </a:solidFill>
                </a:defRPr>
              </a:pPr>
            </a:p>
          </c:txPr>
          <c:showLegendKey val="0"/>
          <c:showVal val="1"/>
          <c:showCatName val="0"/>
          <c:showSerName val="0"/>
          <c:showPercent val="0"/>
          <c:showBubbleSize val="0"/>
          <c:showLeaderLines val="1"/>
        </c:dLbls>
        <c:firstSliceAng val="0"/>
        <c:holeSize val="55"/>
      </c:doughnutChart>
    </c:plotArea>
    <c:plotVisOnly val="1"/>
    <c:dispBlanksAs val="gap"/>
    <c:showDLblsOverMax val="0"/>
  </c:chart>
  <c:txPr>
    <a:bodyPr/>
    <a:lstStyle/>
    <a:p>
      <a:pPr>
        <a:defRPr sz="1600">
          <a:solidFill>
            <a:srgbClr val="192B37"/>
          </a:solidFill>
        </a:defRPr>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tests</c:v>
                </c:pt>
              </c:strCache>
            </c:strRef>
          </c:tx>
          <c:spPr>
            <a:solidFill>
              <a:srgbClr val="00A859"/>
            </a:solidFill>
          </c:spPr>
          <c:dPt>
            <c:idx val="0"/>
            <c:spPr>
              <a:solidFill>
                <a:srgbClr val="8683C3"/>
              </a:solidFill>
            </c:spPr>
          </c:dPt>
          <c:dPt>
            <c:idx val="1"/>
            <c:spPr>
              <a:solidFill>
                <a:srgbClr val="00A859"/>
              </a:solidFill>
            </c:spPr>
          </c:dPt>
          <c:dPt>
            <c:idx val="2"/>
            <c:spPr>
              <a:solidFill>
                <a:srgbClr val="FF5640"/>
              </a:solidFill>
            </c:spPr>
          </c:dPt>
          <c:dPt>
            <c:idx val="3"/>
            <c:spPr>
              <a:solidFill>
                <a:srgbClr val="DB7D00"/>
              </a:solidFill>
            </c:spPr>
          </c:dPt>
          <c:dPt>
            <c:idx val="4"/>
            <c:spPr>
              <a:solidFill>
                <a:srgbClr val="3D9BC8"/>
              </a:solidFill>
            </c:spPr>
          </c:dPt>
          <c:dPt>
            <c:idx val="5"/>
            <c:spPr>
              <a:solidFill>
                <a:srgbClr val="729A00"/>
              </a:solidFill>
            </c:spPr>
          </c:dPt>
          <c:dLbls>
            <c:numFmt formatCode="#,##0" sourceLinked="0"/>
            <c:txPr>
              <a:bodyPr/>
              <a:lstStyle/>
              <a:p>
                <a:pPr>
                  <a:defRPr sz="1500" b="1">
                    <a:solidFill>
                      <a:srgbClr val="192B37"/>
                    </a:solidFill>
                  </a:defRPr>
                </a:pPr>
              </a:p>
            </c:txPr>
            <c:dLblPos val="outEnd"/>
            <c:showLegendKey val="0"/>
            <c:showVal val="1"/>
            <c:showCatName val="0"/>
            <c:showSerName val="0"/>
            <c:showPercent val="0"/>
            <c:showBubbleSize val="0"/>
            <c:showLeaderLines val="1"/>
          </c:dLbls>
          <c:cat>
            <c:strRef>
              <c:f>Sheet1!$A$2:$A$7</c:f>
              <c:strCache>
                <c:ptCount val="6"/>
                <c:pt idx="0">
                  <c:v>contract</c:v>
                </c:pt>
                <c:pt idx="1">
                  <c:v>users</c:v>
                </c:pt>
                <c:pt idx="2">
                  <c:v>social</c:v>
                </c:pt>
                <c:pt idx="3">
                  <c:v>testdata</c:v>
                </c:pt>
                <c:pt idx="4">
                  <c:v>transactions</c:v>
                </c:pt>
                <c:pt idx="5">
                  <c:v>bankaccounts</c:v>
                </c:pt>
              </c:strCache>
            </c:strRef>
          </c:cat>
          <c:val>
            <c:numRef>
              <c:f>Sheet1!$B$2:$B$7</c:f>
              <c:numCache>
                <c:formatCode>General</c:formatCode>
                <c:ptCount val="6"/>
                <c:pt idx="0">
                  <c:v>18</c:v>
                </c:pt>
                <c:pt idx="1">
                  <c:v>14</c:v>
                </c:pt>
                <c:pt idx="2">
                  <c:v>13</c:v>
                </c:pt>
                <c:pt idx="3">
                  <c:v>11</c:v>
                </c:pt>
                <c:pt idx="4">
                  <c:v>10</c:v>
                </c:pt>
                <c:pt idx="5">
                  <c:v>7</c:v>
                </c:pt>
              </c:numCache>
            </c:numRef>
          </c:val>
        </c:ser>
        <c:gapWidth val="40"/>
        <c:axId val="-2068027336"/>
        <c:axId val="-2113994440"/>
      </c:barChart>
      <c:catAx>
        <c:axId val="-2068027336"/>
        <c:scaling>
          <c:orientation val="maxMin"/>
        </c:scaling>
        <c:delete val="0"/>
        <c:axPos val="l"/>
        <c:majorTickMark val="out"/>
        <c:minorTickMark val="none"/>
        <c:tickLblPos val="nextTo"/>
        <c:spPr>
          <a:ln>
            <a:solidFill>
              <a:srgbClr val="D9E1E7"/>
            </a:solidFill>
          </a:ln>
        </c:spPr>
        <c:txPr>
          <a:bodyPr/>
          <a:lstStyle/>
          <a:p>
            <a:pPr>
              <a:defRPr sz="1500"/>
            </a:pPr>
          </a:p>
        </c:txPr>
        <c:crossAx val="-2113994440"/>
        <c:crosses val="autoZero"/>
        <c:auto val="1"/>
        <c:lblAlgn val="ctr"/>
        <c:lblOffset val="100"/>
        <c:noMultiLvlLbl val="0"/>
      </c:catAx>
      <c:valAx>
        <c:axId val="-2113994440"/>
        <c:scaling>
          <c:min val="0.0"/>
        </c:scaling>
        <c:delete/>
        <c:axPos val="b"/>
        <c:majorTickMark val="out"/>
        <c:minorTickMark val="none"/>
        <c:tickLblPos val="nextTo"/>
        <c:crossAx val="-2068027336"/>
        <c:crosses val="autoZero"/>
      </c:valAx>
    </c:plotArea>
    <c:dispBlanksAs val="gap"/>
  </c:chart>
  <c:txPr>
    <a:bodyPr/>
    <a:lstStyle/>
    <a:p>
      <a:pPr>
        <a:defRPr sz="1500">
          <a:solidFill>
            <a:srgbClr val="192B37"/>
          </a:solidFil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c:v>
                </c:pt>
              </c:strCache>
            </c:strRef>
          </c:tx>
          <c:dPt>
            <c:idx val="0"/>
            <c:spPr>
              <a:solidFill>
                <a:srgbClr val="FF5640"/>
              </a:solidFill>
              <a:ln w="25400">
                <a:solidFill>
                  <a:srgbClr val="FFFFFF"/>
                </a:solidFill>
              </a:ln>
            </c:spPr>
          </c:dPt>
          <c:dPt>
            <c:idx val="1"/>
            <c:spPr>
              <a:solidFill>
                <a:srgbClr val="DB7D00"/>
              </a:solidFill>
              <a:ln w="25400">
                <a:solidFill>
                  <a:srgbClr val="FFFFFF"/>
                </a:solidFill>
              </a:ln>
            </c:spPr>
          </c:dPt>
          <c:dPt>
            <c:idx val="2"/>
            <c:spPr>
              <a:solidFill>
                <a:srgbClr val="F2C94C"/>
              </a:solidFill>
              <a:ln w="25400">
                <a:solidFill>
                  <a:srgbClr val="FFFFFF"/>
                </a:solidFill>
              </a:ln>
            </c:spPr>
          </c:dPt>
          <c:cat>
            <c:strRef>
              <c:f>Sheet1!$A$2:$A$4</c:f>
              <c:strCache>
                <c:ptCount val="3"/>
                <c:pt idx="0">
                  <c:v>High</c:v>
                </c:pt>
                <c:pt idx="1">
                  <c:v>Medium</c:v>
                </c:pt>
                <c:pt idx="2">
                  <c:v>Low</c:v>
                </c:pt>
              </c:strCache>
            </c:strRef>
          </c:cat>
          <c:val>
            <c:numRef>
              <c:f>Sheet1!$B$2:$B$4</c:f>
              <c:numCache>
                <c:formatCode>General</c:formatCode>
                <c:ptCount val="3"/>
                <c:pt idx="0">
                  <c:v>8</c:v>
                </c:pt>
                <c:pt idx="1">
                  <c:v>11</c:v>
                </c:pt>
                <c:pt idx="2">
                  <c:v>18</c:v>
                </c:pt>
              </c:numCache>
            </c:numRef>
          </c:val>
        </c:ser>
        <c:dLbls>
          <c:txPr>
            <a:bodyPr/>
            <a:lstStyle/>
            <a:p>
              <a:pPr>
                <a:defRPr sz="1800" b="1">
                  <a:solidFill>
                    <a:srgbClr val="FFFFFF"/>
                  </a:solidFill>
                </a:defRPr>
              </a:pPr>
            </a:p>
          </c:txPr>
          <c:showLegendKey val="0"/>
          <c:showVal val="1"/>
          <c:showCatName val="0"/>
          <c:showSerName val="0"/>
          <c:showPercent val="0"/>
          <c:showBubbleSize val="0"/>
          <c:showLeaderLines val="1"/>
        </c:dLbls>
        <c:firstSliceAng val="0"/>
        <c:holeSize val="58"/>
      </c:doughnutChart>
    </c:plotArea>
    <c:plotVisOnly val="1"/>
    <c:dispBlanksAs val="gap"/>
    <c:showDLblsOverMax val="0"/>
  </c:chart>
  <c:txPr>
    <a:bodyPr/>
    <a:lstStyle/>
    <a:p>
      <a:pPr>
        <a:defRPr sz="1800">
          <a:solidFill>
            <a:srgbClr val="192B37"/>
          </a:solidFill>
        </a:defRPr>
      </a:pPr>
      <a:endParaR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tests</c:v>
                </c:pt>
              </c:strCache>
            </c:strRef>
          </c:tx>
          <c:spPr>
            <a:solidFill>
              <a:srgbClr val="00A859"/>
            </a:solidFill>
          </c:spPr>
          <c:dPt>
            <c:idx val="0"/>
            <c:spPr>
              <a:solidFill>
                <a:srgbClr val="3D9BC8"/>
              </a:solidFill>
            </c:spPr>
          </c:dPt>
          <c:dPt>
            <c:idx val="1"/>
            <c:spPr>
              <a:solidFill>
                <a:srgbClr val="00A859"/>
              </a:solidFill>
            </c:spPr>
          </c:dPt>
          <c:dPt>
            <c:idx val="2"/>
            <c:spPr>
              <a:solidFill>
                <a:srgbClr val="FF5640"/>
              </a:solidFill>
            </c:spPr>
          </c:dPt>
          <c:dPt>
            <c:idx val="3"/>
            <c:spPr>
              <a:solidFill>
                <a:srgbClr val="8683C3"/>
              </a:solidFill>
            </c:spPr>
          </c:dPt>
          <c:dPt>
            <c:idx val="4"/>
            <c:spPr>
              <a:solidFill>
                <a:srgbClr val="DB7D00"/>
              </a:solidFill>
            </c:spPr>
          </c:dPt>
          <c:dPt>
            <c:idx val="5"/>
            <c:spPr>
              <a:solidFill>
                <a:srgbClr val="729A00"/>
              </a:solidFill>
            </c:spPr>
          </c:dPt>
          <c:dPt>
            <c:idx val="6"/>
            <c:spPr>
              <a:solidFill>
                <a:srgbClr val="3D9BC8"/>
              </a:solidFill>
            </c:spPr>
          </c:dPt>
          <c:dPt>
            <c:idx val="7"/>
            <c:spPr>
              <a:solidFill>
                <a:srgbClr val="00A859"/>
              </a:solidFill>
            </c:spPr>
          </c:dPt>
          <c:dPt>
            <c:idx val="8"/>
            <c:spPr>
              <a:solidFill>
                <a:srgbClr val="FF5640"/>
              </a:solidFill>
            </c:spPr>
          </c:dPt>
          <c:dLbls>
            <c:numFmt formatCode="#,##0" sourceLinked="0"/>
            <c:txPr>
              <a:bodyPr/>
              <a:lstStyle/>
              <a:p>
                <a:pPr>
                  <a:defRPr sz="1400" b="1">
                    <a:solidFill>
                      <a:srgbClr val="192B37"/>
                    </a:solidFill>
                  </a:defRPr>
                </a:pPr>
              </a:p>
            </c:txPr>
            <c:dLblPos val="outEnd"/>
            <c:showLegendKey val="0"/>
            <c:showVal val="1"/>
            <c:showCatName val="0"/>
            <c:showSerName val="0"/>
            <c:showPercent val="0"/>
            <c:showBubbleSize val="0"/>
            <c:showLeaderLines val="1"/>
          </c:dLbls>
          <c:cat>
            <c:strRef>
              <c:f>Sheet1!$A$2:$A$10</c:f>
              <c:strCache>
                <c:ptCount val="9"/>
                <c:pt idx="0">
                  <c:v>transaction-feeds</c:v>
                </c:pt>
                <c:pt idx="1">
                  <c:v>new-transaction</c:v>
                </c:pt>
                <c:pt idx="2">
                  <c:v>mocked-states</c:v>
                </c:pt>
                <c:pt idx="3">
                  <c:v>auth</c:v>
                </c:pt>
                <c:pt idx="4">
                  <c:v>a11y</c:v>
                </c:pt>
                <c:pt idx="5">
                  <c:v>notifications</c:v>
                </c:pt>
                <c:pt idx="6">
                  <c:v>transaction-view</c:v>
                </c:pt>
                <c:pt idx="7">
                  <c:v>bankaccounts</c:v>
                </c:pt>
                <c:pt idx="8">
                  <c:v>user-settings</c:v>
                </c:pt>
              </c:strCache>
            </c:strRef>
          </c:cat>
          <c:val>
            <c:numRef>
              <c:f>Sheet1!$B$2:$B$10</c:f>
              <c:numCache>
                <c:formatCode>General</c:formatCode>
                <c:ptCount val="9"/>
                <c:pt idx="0">
                  <c:v>21</c:v>
                </c:pt>
                <c:pt idx="1">
                  <c:v>10</c:v>
                </c:pt>
                <c:pt idx="2">
                  <c:v>9</c:v>
                </c:pt>
                <c:pt idx="3">
                  <c:v>8</c:v>
                </c:pt>
                <c:pt idx="4">
                  <c:v>7</c:v>
                </c:pt>
                <c:pt idx="5">
                  <c:v>7</c:v>
                </c:pt>
                <c:pt idx="6">
                  <c:v>6</c:v>
                </c:pt>
                <c:pt idx="7">
                  <c:v>4</c:v>
                </c:pt>
                <c:pt idx="8">
                  <c:v>3</c:v>
                </c:pt>
              </c:numCache>
            </c:numRef>
          </c:val>
        </c:ser>
        <c:gapWidth val="35"/>
        <c:axId val="-2068027336"/>
        <c:axId val="-2113994440"/>
      </c:barChart>
      <c:catAx>
        <c:axId val="-2068027336"/>
        <c:scaling>
          <c:orientation val="maxMin"/>
        </c:scaling>
        <c:delete val="0"/>
        <c:axPos val="l"/>
        <c:majorTickMark val="out"/>
        <c:minorTickMark val="none"/>
        <c:tickLblPos val="nextTo"/>
        <c:spPr>
          <a:ln>
            <a:solidFill>
              <a:srgbClr val="D9E1E7"/>
            </a:solidFill>
          </a:ln>
        </c:spPr>
        <c:txPr>
          <a:bodyPr/>
          <a:lstStyle/>
          <a:p>
            <a:pPr>
              <a:defRPr sz="1400"/>
            </a:pPr>
          </a:p>
        </c:txPr>
        <c:crossAx val="-2113994440"/>
        <c:crosses val="autoZero"/>
        <c:auto val="1"/>
        <c:lblAlgn val="ctr"/>
        <c:lblOffset val="100"/>
        <c:noMultiLvlLbl val="0"/>
      </c:catAx>
      <c:valAx>
        <c:axId val="-2113994440"/>
        <c:scaling>
          <c:min val="0.0"/>
        </c:scaling>
        <c:delete/>
        <c:axPos val="b"/>
        <c:majorTickMark val="out"/>
        <c:minorTickMark val="none"/>
        <c:tickLblPos val="nextTo"/>
        <c:crossAx val="-2068027336"/>
        <c:crosses val="autoZero"/>
      </c:valAx>
    </c:plotArea>
    <c:dispBlanksAs val="gap"/>
  </c:chart>
  <c:txPr>
    <a:bodyPr/>
    <a:lstStyle/>
    <a:p>
      <a:pPr>
        <a:defRPr sz="1400">
          <a:solidFill>
            <a:srgbClr val="192B37"/>
          </a:solidFil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tests</c:v>
                </c:pt>
              </c:strCache>
            </c:strRef>
          </c:tx>
          <c:spPr>
            <a:solidFill>
              <a:srgbClr val="8683C3"/>
            </a:solidFill>
          </c:spPr>
          <c:dPt>
            <c:idx val="0"/>
            <c:spPr>
              <a:solidFill>
                <a:srgbClr val="00A859"/>
              </a:solidFill>
            </c:spPr>
          </c:dPt>
          <c:dPt>
            <c:idx val="1"/>
            <c:spPr>
              <a:solidFill>
                <a:srgbClr val="3D9BC8"/>
              </a:solidFill>
            </c:spPr>
          </c:dPt>
          <c:dPt>
            <c:idx val="2"/>
            <c:spPr>
              <a:solidFill>
                <a:srgbClr val="DB7D00"/>
              </a:solidFill>
            </c:spPr>
          </c:dPt>
          <c:dPt>
            <c:idx val="3"/>
            <c:spPr>
              <a:solidFill>
                <a:srgbClr val="FF5640"/>
              </a:solidFill>
            </c:spPr>
          </c:dPt>
          <c:dLbls>
            <c:numFmt formatCode="#,##0" sourceLinked="0"/>
            <c:txPr>
              <a:bodyPr/>
              <a:lstStyle/>
              <a:p>
                <a:pPr>
                  <a:defRPr sz="1400" b="1">
                    <a:solidFill>
                      <a:srgbClr val="192B37"/>
                    </a:solidFill>
                  </a:defRPr>
                </a:pPr>
              </a:p>
            </c:txPr>
            <c:dLblPos val="outEnd"/>
            <c:showLegendKey val="0"/>
            <c:showVal val="1"/>
            <c:showCatName val="0"/>
            <c:showSerName val="0"/>
            <c:showPercent val="0"/>
            <c:showBubbleSize val="0"/>
            <c:showLeaderLines val="1"/>
          </c:dLbls>
          <c:cat>
            <c:strRef>
              <c:f>Sheet1!$A$2:$A$5</c:f>
              <c:strCache>
                <c:ptCount val="4"/>
                <c:pt idx="0">
                  <c:v>api</c:v>
                </c:pt>
                <c:pt idx="1">
                  <c:v>ui-desktop</c:v>
                </c:pt>
                <c:pt idx="2">
                  <c:v>ui-mobile</c:v>
                </c:pt>
                <c:pt idx="3">
                  <c:v>e2e</c:v>
                </c:pt>
              </c:strCache>
            </c:strRef>
          </c:cat>
          <c:val>
            <c:numRef>
              <c:f>Sheet1!$B$2:$B$5</c:f>
              <c:numCache>
                <c:formatCode>General</c:formatCode>
                <c:ptCount val="4"/>
                <c:pt idx="0">
                  <c:v>73</c:v>
                </c:pt>
                <c:pt idx="1">
                  <c:v>75</c:v>
                </c:pt>
                <c:pt idx="2">
                  <c:v>75</c:v>
                </c:pt>
                <c:pt idx="3">
                  <c:v>1</c:v>
                </c:pt>
              </c:numCache>
            </c:numRef>
          </c:val>
        </c:ser>
        <c:gapWidth val="40"/>
        <c:axId val="-2068027336"/>
        <c:axId val="-2113994440"/>
      </c:barChart>
      <c:catAx>
        <c:axId val="-2068027336"/>
        <c:scaling>
          <c:orientation val="maxMin"/>
        </c:scaling>
        <c:delete val="0"/>
        <c:axPos val="l"/>
        <c:majorTickMark val="out"/>
        <c:minorTickMark val="none"/>
        <c:tickLblPos val="nextTo"/>
        <c:spPr>
          <a:ln>
            <a:solidFill>
              <a:srgbClr val="D9E1E7"/>
            </a:solidFill>
          </a:ln>
        </c:spPr>
        <c:txPr>
          <a:bodyPr/>
          <a:lstStyle/>
          <a:p>
            <a:pPr>
              <a:defRPr sz="1400"/>
            </a:pPr>
          </a:p>
        </c:txPr>
        <c:crossAx val="-2113994440"/>
        <c:crosses val="autoZero"/>
        <c:auto val="1"/>
        <c:lblAlgn val="ctr"/>
        <c:lblOffset val="100"/>
        <c:noMultiLvlLbl val="0"/>
      </c:catAx>
      <c:valAx>
        <c:axId val="-2113994440"/>
        <c:scaling>
          <c:min val="0.0"/>
        </c:scaling>
        <c:delete/>
        <c:axPos val="b"/>
        <c:majorTickMark val="out"/>
        <c:minorTickMark val="none"/>
        <c:tickLblPos val="nextTo"/>
        <c:crossAx val="-2068027336"/>
        <c:crosses val="autoZero"/>
      </c:valAx>
    </c:plotArea>
    <c:dispBlanksAs val="gap"/>
  </c:chart>
  <c:txPr>
    <a:bodyPr/>
    <a:lstStyle/>
    <a:p>
      <a:pPr>
        <a:defRPr sz="1400">
          <a:solidFill>
            <a:srgbClr val="192B37"/>
          </a:solidFil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tests</c:v>
                </c:pt>
              </c:strCache>
            </c:strRef>
          </c:tx>
          <c:spPr>
            <a:ln w="44450">
              <a:solidFill>
                <a:srgbClr val="8683C3"/>
              </a:solidFill>
            </a:ln>
          </c:spPr>
          <c:marker>
            <c:size val="10"/>
            <c:spPr>
              <a:solidFill>
                <a:srgbClr val="8683C3"/>
              </a:solidFill>
            </c:spPr>
          </c:marker>
          <c:dLbls>
            <c:txPr>
              <a:bodyPr/>
              <a:lstStyle/>
              <a:p>
                <a:pPr>
                  <a:defRPr sz="1500" b="1"/>
                </a:pPr>
              </a:p>
            </c:txPr>
            <c:dLblPos val="t"/>
            <c:showLegendKey val="0"/>
            <c:showVal val="1"/>
            <c:showCatName val="0"/>
            <c:showSerName val="0"/>
            <c:showPercent val="0"/>
            <c:showBubbleSize val="0"/>
            <c:showLeaderLines val="1"/>
          </c:dLbls>
          <c:cat>
            <c:strRef>
              <c:f>Sheet1!$A$2:$A$6</c:f>
              <c:strCache>
                <c:ptCount val="5"/>
                <c:pt idx="0">
                  <c:v>API port</c:v>
                </c:pt>
                <c:pt idx="1">
                  <c:v>+contract</c:v>
                </c:pt>
                <c:pt idx="2">
                  <c:v>+UI ×2</c:v>
                </c:pt>
                <c:pt idx="3">
                  <c:v>+mocks/a11y</c:v>
                </c:pt>
                <c:pt idx="4">
                  <c:v>+e2e</c:v>
                </c:pt>
              </c:strCache>
            </c:strRef>
          </c:cat>
          <c:val>
            <c:numRef>
              <c:f>Sheet1!$B$2:$B$6</c:f>
              <c:numCache>
                <c:formatCode>General</c:formatCode>
                <c:ptCount val="5"/>
                <c:pt idx="0">
                  <c:v>55</c:v>
                </c:pt>
                <c:pt idx="1">
                  <c:v>73</c:v>
                </c:pt>
                <c:pt idx="2">
                  <c:v>191</c:v>
                </c:pt>
                <c:pt idx="3">
                  <c:v>223</c:v>
                </c:pt>
                <c:pt idx="4">
                  <c:v>224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9E1E7"/>
            </a:solidFill>
          </a:ln>
        </c:spPr>
        <c:txPr>
          <a:bodyPr/>
          <a:lstStyle/>
          <a:p>
            <a:pPr>
              <a:defRPr sz="1500"/>
            </a:pPr>
          </a:p>
        </c:txPr>
        <c:crossAx val="2140495176"/>
        <c:crosses val="autoZero"/>
        <c:auto val="1"/>
        <c:lblAlgn val="ctr"/>
        <c:lblOffset val="100"/>
        <c:noMultiLvlLbl val="0"/>
      </c:catAx>
      <c:valAx>
        <c:axId val="2140495176"/>
        <c:scaling/>
        <c:delete/>
        <c:axPos val="l"/>
        <c:majorTickMark val="out"/>
        <c:minorTickMark val="none"/>
        <c:tickLblPos val="nextTo"/>
        <c:crossAx val="2118791784"/>
        <c:crosses val="autoZero"/>
      </c:valAx>
    </c:plotArea>
    <c:plotVisOnly val="1"/>
    <c:dispBlanksAs val="gap"/>
    <c:showDLblsOverMax val="0"/>
  </c:chart>
  <c:txPr>
    <a:bodyPr/>
    <a:lstStyle/>
    <a:p>
      <a:pPr>
        <a:defRPr sz="1500">
          <a:solidFill>
            <a:srgbClr val="192B37"/>
          </a:solidFil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p95</c:v>
                </c:pt>
              </c:strCache>
            </c:strRef>
          </c:tx>
          <c:spPr>
            <a:solidFill>
              <a:srgbClr val="DB7D00"/>
            </a:solidFill>
          </c:spPr>
          <c:dPt>
            <c:idx val="0"/>
            <c:spPr>
              <a:solidFill>
                <a:srgbClr val="FF5640"/>
              </a:solidFill>
            </c:spPr>
          </c:dPt>
          <c:dPt>
            <c:idx val="1"/>
            <c:spPr>
              <a:solidFill>
                <a:srgbClr val="DB7D00"/>
              </a:solidFill>
            </c:spPr>
          </c:dPt>
          <c:dPt>
            <c:idx val="2"/>
            <c:spPr>
              <a:solidFill>
                <a:srgbClr val="DB7D00"/>
              </a:solidFill>
            </c:spPr>
          </c:dPt>
          <c:dPt>
            <c:idx val="3"/>
            <c:spPr>
              <a:solidFill>
                <a:srgbClr val="00A859"/>
              </a:solidFill>
            </c:spPr>
          </c:dPt>
          <c:dPt>
            <c:idx val="4"/>
            <c:spPr>
              <a:solidFill>
                <a:srgbClr val="00A859"/>
              </a:solidFill>
            </c:spPr>
          </c:dPt>
          <c:dPt>
            <c:idx val="5"/>
            <c:spPr>
              <a:solidFill>
                <a:srgbClr val="00A859"/>
              </a:solidFill>
            </c:spPr>
          </c:dPt>
          <c:dLbls>
            <c:numFmt formatCode="0" sourceLinked="0"/>
            <c:txPr>
              <a:bodyPr/>
              <a:lstStyle/>
              <a:p>
                <a:pPr>
                  <a:defRPr sz="1400" b="1">
                    <a:solidFill>
                      <a:srgbClr val="192B37"/>
                    </a:solidFill>
                  </a:defRPr>
                </a:pPr>
              </a:p>
            </c:txPr>
            <c:dLblPos val="outEnd"/>
            <c:showLegendKey val="0"/>
            <c:showVal val="1"/>
            <c:showCatName val="0"/>
            <c:showSerName val="0"/>
            <c:showPercent val="0"/>
            <c:showBubbleSize val="0"/>
            <c:showLeaderLines val="1"/>
          </c:dLbls>
          <c:cat>
            <c:strRef>
              <c:f>Sheet1!$A$2:$A$7</c:f>
              <c:strCache>
                <c:ptCount val="6"/>
                <c:pt idx="0">
                  <c:v>/transactions/public</c:v>
                </c:pt>
                <c:pt idx="1">
                  <c:v>/transactions</c:v>
                </c:pt>
                <c:pt idx="2">
                  <c:v>/transactions/contacts</c:v>
                </c:pt>
                <c:pt idx="3">
                  <c:v>/notifications</c:v>
                </c:pt>
                <c:pt idx="4">
                  <c:v>/bankAccounts</c:v>
                </c:pt>
                <c:pt idx="5">
                  <c:v>/users</c:v>
                </c:pt>
              </c:strCache>
            </c:strRef>
          </c:cat>
          <c:val>
            <c:numRef>
              <c:f>Sheet1!$B$2:$B$7</c:f>
              <c:numCache>
                <c:formatCode>General</c:formatCode>
                <c:ptCount val="6"/>
                <c:pt idx="0">
                  <c:v>417.2</c:v>
                </c:pt>
                <c:pt idx="1">
                  <c:v>273</c:v>
                </c:pt>
                <c:pt idx="2">
                  <c:v>106.8</c:v>
                </c:pt>
                <c:pt idx="3">
                  <c:v>11.6</c:v>
                </c:pt>
                <c:pt idx="4">
                  <c:v>9.6</c:v>
                </c:pt>
                <c:pt idx="5">
                  <c:v>7.1</c:v>
                </c:pt>
              </c:numCache>
            </c:numRef>
          </c:val>
        </c:ser>
        <c:gapWidth val="35"/>
        <c:axId val="-2068027336"/>
        <c:axId val="-2113994440"/>
      </c:barChart>
      <c:catAx>
        <c:axId val="-2068027336"/>
        <c:scaling>
          <c:orientation val="maxMin"/>
        </c:scaling>
        <c:delete val="0"/>
        <c:axPos val="l"/>
        <c:majorTickMark val="out"/>
        <c:minorTickMark val="none"/>
        <c:tickLblPos val="nextTo"/>
        <c:spPr>
          <a:ln>
            <a:solidFill>
              <a:srgbClr val="D9E1E7"/>
            </a:solidFill>
          </a:ln>
        </c:spPr>
        <c:txPr>
          <a:bodyPr/>
          <a:lstStyle/>
          <a:p>
            <a:pPr>
              <a:defRPr sz="1400"/>
            </a:pPr>
          </a:p>
        </c:txPr>
        <c:crossAx val="-2113994440"/>
        <c:crosses val="autoZero"/>
        <c:auto val="1"/>
        <c:lblAlgn val="ctr"/>
        <c:lblOffset val="100"/>
        <c:noMultiLvlLbl val="0"/>
      </c:catAx>
      <c:valAx>
        <c:axId val="-2113994440"/>
        <c:scaling>
          <c:min val="0.0"/>
        </c:scaling>
        <c:delete/>
        <c:axPos val="b"/>
        <c:majorTickMark val="out"/>
        <c:minorTickMark val="none"/>
        <c:tickLblPos val="nextTo"/>
        <c:crossAx val="-2068027336"/>
        <c:crosses val="autoZero"/>
      </c:valAx>
    </c:plotArea>
    <c:dispBlanksAs val="gap"/>
  </c:chart>
  <c:txPr>
    <a:bodyPr/>
    <a:lstStyle/>
    <a:p>
      <a:pPr>
        <a:defRPr sz="1400">
          <a:solidFill>
            <a:srgbClr val="192B37"/>
          </a:solidFil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c:v>
                </c:pt>
              </c:strCache>
            </c:strRef>
          </c:tx>
          <c:spPr>
            <a:solidFill>
              <a:srgbClr val="DB7D00"/>
            </a:solidFill>
          </c:spPr>
          <c:dPt>
            <c:idx val="0"/>
            <c:spPr>
              <a:solidFill>
                <a:srgbClr val="DB7D00"/>
              </a:solidFill>
            </c:spPr>
          </c:dPt>
          <c:dPt>
            <c:idx val="1"/>
            <c:spPr>
              <a:solidFill>
                <a:srgbClr val="3D9BC8"/>
              </a:solidFill>
            </c:spPr>
          </c:dPt>
          <c:dLbls>
            <c:numFmt formatCode="0.0&quot;M&quot;" sourceLinked="0"/>
            <c:txPr>
              <a:bodyPr/>
              <a:lstStyle/>
              <a:p>
                <a:pPr>
                  <a:defRPr sz="1800" b="1">
                    <a:solidFill>
                      <a:srgbClr val="192B37"/>
                    </a:solidFill>
                  </a:defRPr>
                </a:pPr>
              </a:p>
            </c:txPr>
            <c:dLblPos val="outEnd"/>
            <c:showLegendKey val="0"/>
            <c:showVal val="1"/>
            <c:showCatName val="0"/>
            <c:showSerName val="0"/>
            <c:showPercent val="0"/>
            <c:showBubbleSize val="0"/>
            <c:showLeaderLines val="1"/>
          </c:dLbls>
          <c:cat>
            <c:strRef>
              <c:f>Sheet1!$A$2:$A$3</c:f>
              <c:strCache>
                <c:ptCount val="2"/>
                <c:pt idx="0">
                  <c:v>Playwright</c:v>
                </c:pt>
                <c:pt idx="1">
                  <c:v>Cypress</c:v>
                </c:pt>
              </c:strCache>
            </c:strRef>
          </c:cat>
          <c:val>
            <c:numRef>
              <c:f>Sheet1!$B$2:$B$3</c:f>
              <c:numCache>
                <c:formatCode>General</c:formatCode>
                <c:ptCount val="2"/>
                <c:pt idx="0">
                  <c:v>76.2</c:v>
                </c:pt>
                <c:pt idx="1">
                  <c:v>5.9</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D9E1E7"/>
            </a:solidFill>
          </a:ln>
        </c:spPr>
        <c:txPr>
          <a:bodyPr/>
          <a:lstStyle/>
          <a:p>
            <a:pPr>
              <a:defRPr sz="1800"/>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800">
          <a:solidFill>
            <a:srgbClr val="192B37"/>
          </a:solidFill>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k</c:v>
                </c:pt>
              </c:strCache>
            </c:strRef>
          </c:tx>
          <c:spPr>
            <a:solidFill>
              <a:srgbClr val="DB7D00"/>
            </a:solidFill>
          </c:spPr>
          <c:dPt>
            <c:idx val="0"/>
            <c:spPr>
              <a:solidFill>
                <a:srgbClr val="DB7D00"/>
              </a:solidFill>
            </c:spPr>
          </c:dPt>
          <c:dPt>
            <c:idx val="1"/>
            <c:spPr>
              <a:solidFill>
                <a:srgbClr val="3D9BC8"/>
              </a:solidFill>
            </c:spPr>
          </c:dPt>
          <c:dLbls>
            <c:numFmt formatCode="0.0&quot;k&quot;" sourceLinked="0"/>
            <c:txPr>
              <a:bodyPr/>
              <a:lstStyle/>
              <a:p>
                <a:pPr>
                  <a:defRPr sz="1800" b="1">
                    <a:solidFill>
                      <a:srgbClr val="192B37"/>
                    </a:solidFill>
                  </a:defRPr>
                </a:pPr>
              </a:p>
            </c:txPr>
            <c:dLblPos val="outEnd"/>
            <c:showLegendKey val="0"/>
            <c:showVal val="1"/>
            <c:showCatName val="0"/>
            <c:showSerName val="0"/>
            <c:showPercent val="0"/>
            <c:showBubbleSize val="0"/>
            <c:showLeaderLines val="1"/>
          </c:dLbls>
          <c:cat>
            <c:strRef>
              <c:f>Sheet1!$A$2:$A$3</c:f>
              <c:strCache>
                <c:ptCount val="2"/>
                <c:pt idx="0">
                  <c:v>Playwright</c:v>
                </c:pt>
                <c:pt idx="1">
                  <c:v>Cypress</c:v>
                </c:pt>
              </c:strCache>
            </c:strRef>
          </c:cat>
          <c:val>
            <c:numRef>
              <c:f>Sheet1!$B$2:$B$3</c:f>
              <c:numCache>
                <c:formatCode>General</c:formatCode>
                <c:ptCount val="2"/>
                <c:pt idx="0">
                  <c:v>96.9</c:v>
                </c:pt>
                <c:pt idx="1">
                  <c:v>51.0</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D9E1E7"/>
            </a:solidFill>
          </a:ln>
        </c:spPr>
        <c:txPr>
          <a:bodyPr/>
          <a:lstStyle/>
          <a:p>
            <a:pPr>
              <a:defRPr sz="1800"/>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800">
          <a:solidFill>
            <a:srgbClr val="192B37"/>
          </a:solidFill>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c:v>
                </c:pt>
              </c:strCache>
            </c:strRef>
          </c:tx>
          <c:spPr>
            <a:solidFill>
              <a:srgbClr val="DB7D00"/>
            </a:solidFill>
          </c:spPr>
          <c:dPt>
            <c:idx val="0"/>
            <c:spPr>
              <a:solidFill>
                <a:srgbClr val="DB7D00"/>
              </a:solidFill>
            </c:spPr>
          </c:dPt>
          <c:dPt>
            <c:idx val="1"/>
            <c:spPr>
              <a:solidFill>
                <a:srgbClr val="3D9BC8"/>
              </a:solidFill>
            </c:spPr>
          </c:dPt>
          <c:dLbls>
            <c:numFmt formatCode="#,##0" sourceLinked="0"/>
            <c:txPr>
              <a:bodyPr/>
              <a:lstStyle/>
              <a:p>
                <a:pPr>
                  <a:defRPr sz="1800" b="1">
                    <a:solidFill>
                      <a:srgbClr val="192B37"/>
                    </a:solidFill>
                  </a:defRPr>
                </a:pPr>
              </a:p>
            </c:txPr>
            <c:dLblPos val="outEnd"/>
            <c:showLegendKey val="0"/>
            <c:showVal val="1"/>
            <c:showCatName val="0"/>
            <c:showSerName val="0"/>
            <c:showPercent val="0"/>
            <c:showBubbleSize val="0"/>
            <c:showLeaderLines val="1"/>
          </c:dLbls>
          <c:cat>
            <c:strRef>
              <c:f>Sheet1!$A$2:$A$3</c:f>
              <c:strCache>
                <c:ptCount val="2"/>
                <c:pt idx="0">
                  <c:v>Playwright</c:v>
                </c:pt>
                <c:pt idx="1">
                  <c:v>Cypress</c:v>
                </c:pt>
              </c:strCache>
            </c:strRef>
          </c:cat>
          <c:val>
            <c:numRef>
              <c:f>Sheet1!$B$2:$B$3</c:f>
              <c:numCache>
                <c:formatCode>General</c:formatCode>
                <c:ptCount val="2"/>
                <c:pt idx="0">
                  <c:v>3674</c:v>
                </c:pt>
                <c:pt idx="1">
                  <c:v>3603</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D9E1E7"/>
            </a:solidFill>
          </a:ln>
        </c:spPr>
        <c:txPr>
          <a:bodyPr/>
          <a:lstStyle/>
          <a:p>
            <a:pPr>
              <a:defRPr sz="1800"/>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800">
          <a:solidFill>
            <a:srgbClr val="192B37"/>
          </a:solidFill>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tests</c:v>
                </c:pt>
              </c:strCache>
            </c:strRef>
          </c:tx>
          <c:spPr>
            <a:solidFill>
              <a:srgbClr val="DB7D00"/>
            </a:solidFill>
          </c:spPr>
          <c:dPt>
            <c:idx val="0"/>
            <c:spPr>
              <a:solidFill>
                <a:srgbClr val="3D9BC8"/>
              </a:solidFill>
            </c:spPr>
          </c:dPt>
          <c:dPt>
            <c:idx val="1"/>
            <c:spPr>
              <a:solidFill>
                <a:srgbClr val="DB7D00"/>
              </a:solidFill>
            </c:spPr>
          </c:dPt>
          <c:dPt>
            <c:idx val="2"/>
            <c:spPr>
              <a:solidFill>
                <a:srgbClr val="00A859"/>
              </a:solidFill>
            </c:spPr>
          </c:dPt>
          <c:dLbls>
            <c:numFmt formatCode="#,##0" sourceLinked="0"/>
            <c:txPr>
              <a:bodyPr/>
              <a:lstStyle/>
              <a:p>
                <a:pPr>
                  <a:defRPr sz="1600" b="1">
                    <a:solidFill>
                      <a:srgbClr val="192B37"/>
                    </a:solidFill>
                  </a:defRPr>
                </a:pPr>
              </a:p>
            </c:txPr>
            <c:dLblPos val="outEnd"/>
            <c:showLegendKey val="0"/>
            <c:showVal val="1"/>
            <c:showCatName val="0"/>
            <c:showSerName val="0"/>
            <c:showPercent val="0"/>
            <c:showBubbleSize val="0"/>
            <c:showLeaderLines val="1"/>
          </c:dLbls>
          <c:cat>
            <c:strRef>
              <c:f>Sheet1!$A$2:$A$4</c:f>
              <c:strCache>
                <c:ptCount val="3"/>
                <c:pt idx="0">
                  <c:v>Cypress e2e</c:v>
                </c:pt>
                <c:pt idx="1">
                  <c:v>PW static</c:v>
                </c:pt>
                <c:pt idx="2">
                  <c:v>PW runs</c:v>
                </c:pt>
              </c:strCache>
            </c:strRef>
          </c:cat>
          <c:val>
            <c:numRef>
              <c:f>Sheet1!$B$2:$B$4</c:f>
              <c:numCache>
                <c:formatCode>General</c:formatCode>
                <c:ptCount val="3"/>
                <c:pt idx="0">
                  <c:v>102</c:v>
                </c:pt>
                <c:pt idx="1">
                  <c:v>104</c:v>
                </c:pt>
                <c:pt idx="2">
                  <c:v>224</c:v>
                </c:pt>
              </c:numCache>
            </c:numRef>
          </c:val>
        </c:ser>
        <c:gapWidth val="45"/>
        <c:axId val="-2068027336"/>
        <c:axId val="-2113994440"/>
      </c:barChart>
      <c:catAx>
        <c:axId val="-2068027336"/>
        <c:scaling>
          <c:orientation val="minMax"/>
        </c:scaling>
        <c:delete val="0"/>
        <c:axPos val="b"/>
        <c:majorTickMark val="out"/>
        <c:minorTickMark val="none"/>
        <c:tickLblPos val="nextTo"/>
        <c:spPr>
          <a:ln>
            <a:solidFill>
              <a:srgbClr val="D9E1E7"/>
            </a:solidFill>
          </a:ln>
        </c:spPr>
        <c:txPr>
          <a:bodyPr/>
          <a:lstStyle/>
          <a:p>
            <a:pPr>
              <a:defRPr sz="1600"/>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600">
          <a:solidFill>
            <a:srgbClr val="192B37"/>
          </a:solidFill>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v>
                </c:pt>
              </c:strCache>
            </c:strRef>
          </c:tx>
          <c:spPr>
            <a:solidFill>
              <a:srgbClr val="00A859"/>
            </a:solidFill>
          </c:spPr>
          <c:dPt>
            <c:idx val="0"/>
            <c:spPr>
              <a:solidFill>
                <a:srgbClr val="00A859"/>
              </a:solidFill>
            </c:spPr>
          </c:dPt>
          <c:dPt>
            <c:idx val="1"/>
            <c:spPr>
              <a:solidFill>
                <a:srgbClr val="3D9BC8"/>
              </a:solidFill>
            </c:spPr>
          </c:dPt>
          <c:dPt>
            <c:idx val="2"/>
            <c:spPr>
              <a:solidFill>
                <a:srgbClr val="FF5640"/>
              </a:solidFill>
            </c:spPr>
          </c:dPt>
          <c:dLbls>
            <c:numFmt formatCode="+0&quot;%&quot;;-0&quot;%&quot;" sourceLinked="0"/>
            <c:txPr>
              <a:bodyPr/>
              <a:lstStyle/>
              <a:p>
                <a:pPr>
                  <a:defRPr sz="1600" b="1">
                    <a:solidFill>
                      <a:srgbClr val="192B37"/>
                    </a:solidFill>
                  </a:defRPr>
                </a:pPr>
              </a:p>
            </c:txPr>
            <c:dLblPos val="outEnd"/>
            <c:showLegendKey val="0"/>
            <c:showVal val="1"/>
            <c:showCatName val="0"/>
            <c:showSerName val="0"/>
            <c:showPercent val="0"/>
            <c:showBubbleSize val="0"/>
            <c:showLeaderLines val="1"/>
          </c:dLbls>
          <c:cat>
            <c:strRef>
              <c:f>Sheet1!$A$2:$A$4</c:f>
              <c:strCache>
                <c:ptCount val="3"/>
                <c:pt idx="0">
                  <c:v>Expected speed-up</c:v>
                </c:pt>
                <c:pt idx="1">
                  <c:v>Felt speed-up</c:v>
                </c:pt>
                <c:pt idx="2">
                  <c:v>Measured</c:v>
                </c:pt>
              </c:strCache>
            </c:strRef>
          </c:cat>
          <c:val>
            <c:numRef>
              <c:f>Sheet1!$B$2:$B$4</c:f>
              <c:numCache>
                <c:formatCode>General</c:formatCode>
                <c:ptCount val="3"/>
                <c:pt idx="0">
                  <c:v>24</c:v>
                </c:pt>
                <c:pt idx="1">
                  <c:v>20</c:v>
                </c:pt>
                <c:pt idx="2">
                  <c:v>-19</c:v>
                </c:pt>
              </c:numCache>
            </c:numRef>
          </c:val>
        </c:ser>
        <c:gapWidth val="50"/>
        <c:axId val="-2068027336"/>
        <c:axId val="-2113994440"/>
      </c:barChart>
      <c:catAx>
        <c:axId val="-2068027336"/>
        <c:scaling>
          <c:orientation val="maxMin"/>
        </c:scaling>
        <c:delete val="0"/>
        <c:axPos val="l"/>
        <c:majorTickMark val="out"/>
        <c:minorTickMark val="none"/>
        <c:tickLblPos val="nextTo"/>
        <c:spPr>
          <a:ln>
            <a:solidFill>
              <a:srgbClr val="D9E1E7"/>
            </a:solidFill>
          </a:ln>
        </c:spPr>
        <c:txPr>
          <a:bodyPr/>
          <a:lstStyle/>
          <a:p>
            <a:pPr>
              <a:defRPr sz="1600"/>
            </a:pPr>
          </a:p>
        </c:txPr>
        <c:crossAx val="-2113994440"/>
        <c:crosses val="autoZero"/>
        <c:auto val="1"/>
        <c:lblAlgn val="ctr"/>
        <c:lblOffset val="100"/>
        <c:noMultiLvlLbl val="0"/>
      </c:catAx>
      <c:valAx>
        <c:axId val="-2113994440"/>
        <c:scaling>
          <c:min val="-24.7"/>
        </c:scaling>
        <c:delete/>
        <c:axPos val="b"/>
        <c:majorTickMark val="out"/>
        <c:minorTickMark val="none"/>
        <c:tickLblPos val="nextTo"/>
        <c:crossAx val="-2068027336"/>
        <c:crosses val="autoZero"/>
      </c:valAx>
    </c:plotArea>
    <c:dispBlanksAs val="gap"/>
  </c:chart>
  <c:txPr>
    <a:bodyPr/>
    <a:lstStyle/>
    <a:p>
      <a:pPr>
        <a:defRPr sz="1600">
          <a:solidFill>
            <a:srgbClr val="192B37"/>
          </a:solidFil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E6D5C2-E810-C572-C13C-9D14F07696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O"/>
          </a:p>
        </p:txBody>
      </p:sp>
      <p:sp>
        <p:nvSpPr>
          <p:cNvPr id="3" name="Date Placeholder 2">
            <a:extLst>
              <a:ext uri="{FF2B5EF4-FFF2-40B4-BE49-F238E27FC236}">
                <a16:creationId xmlns:a16="http://schemas.microsoft.com/office/drawing/2014/main" id="{46FBF47C-D32B-CAA2-A5A4-50B6BEB4A9E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B2A5286-0306-B143-BA49-3E397476CCE1}" type="datetimeFigureOut">
              <a:rPr lang="en-RO" smtClean="0"/>
              <a:t>09/25/2026</a:t>
            </a:fld>
            <a:endParaRPr lang="en-RO"/>
          </a:p>
        </p:txBody>
      </p:sp>
      <p:sp>
        <p:nvSpPr>
          <p:cNvPr id="4" name="Footer Placeholder 3">
            <a:extLst>
              <a:ext uri="{FF2B5EF4-FFF2-40B4-BE49-F238E27FC236}">
                <a16:creationId xmlns:a16="http://schemas.microsoft.com/office/drawing/2014/main" id="{4589B6D8-A221-B327-F05B-6C599FD2A03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RO"/>
          </a:p>
        </p:txBody>
      </p:sp>
      <p:sp>
        <p:nvSpPr>
          <p:cNvPr id="5" name="Slide Number Placeholder 4">
            <a:extLst>
              <a:ext uri="{FF2B5EF4-FFF2-40B4-BE49-F238E27FC236}">
                <a16:creationId xmlns:a16="http://schemas.microsoft.com/office/drawing/2014/main" id="{48D1AC45-1C47-9DDA-6253-17E727D225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16B202A-81CE-954E-9ACC-87922C02C77C}" type="slidenum">
              <a:rPr lang="en-RO" smtClean="0"/>
              <a:t>‹#›</a:t>
            </a:fld>
            <a:endParaRPr lang="en-RO"/>
          </a:p>
        </p:txBody>
      </p:sp>
    </p:spTree>
    <p:extLst>
      <p:ext uri="{BB962C8B-B14F-4D97-AF65-F5344CB8AC3E}">
        <p14:creationId xmlns:p14="http://schemas.microsoft.com/office/powerpoint/2010/main" val="18499555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8" name="Shape 178"/>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9" name="Shape 179"/>
          <p:cNvSpPr>
            <a:spLocks noGrp="1"/>
          </p:cNvSpPr>
          <p:nvPr>
            <p:ph type="body" sz="quarter" idx="1"/>
          </p:nvPr>
        </p:nvSpPr>
        <p:spPr>
          <a:xfrm>
            <a:off x="914400" y="4343400"/>
            <a:ext cx="5029200" cy="4114800"/>
          </a:xfrm>
          <a:prstGeom prst="rect">
            <a:avLst/>
          </a:prstGeom>
        </p:spPr>
        <p:txBody>
          <a:bodyPr/>
          <a:lstStyle/>
          <a:p>
            <a:endParaRPr dirty="0"/>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Dava Sans" pitchFamily="2" charset="77"/>
        <a:ea typeface="+mn-ea"/>
        <a:cs typeface="+mn-cs"/>
        <a:sym typeface="Poppins Regular"/>
      </a:defRPr>
    </a:lvl1pPr>
    <a:lvl2pPr indent="228600" defTabSz="457200" latinLnBrk="0">
      <a:lnSpc>
        <a:spcPct val="117999"/>
      </a:lnSpc>
      <a:defRPr sz="2200">
        <a:latin typeface="+mn-lt"/>
        <a:ea typeface="+mn-ea"/>
        <a:cs typeface="+mn-cs"/>
        <a:sym typeface="Poppins Regular"/>
      </a:defRPr>
    </a:lvl2pPr>
    <a:lvl3pPr indent="457200" defTabSz="457200" latinLnBrk="0">
      <a:lnSpc>
        <a:spcPct val="117999"/>
      </a:lnSpc>
      <a:defRPr sz="2200">
        <a:latin typeface="+mn-lt"/>
        <a:ea typeface="+mn-ea"/>
        <a:cs typeface="+mn-cs"/>
        <a:sym typeface="Poppins Regular"/>
      </a:defRPr>
    </a:lvl3pPr>
    <a:lvl4pPr indent="685800" defTabSz="457200" latinLnBrk="0">
      <a:lnSpc>
        <a:spcPct val="117999"/>
      </a:lnSpc>
      <a:defRPr sz="2200">
        <a:latin typeface="+mn-lt"/>
        <a:ea typeface="+mn-ea"/>
        <a:cs typeface="+mn-cs"/>
        <a:sym typeface="Poppins Regular"/>
      </a:defRPr>
    </a:lvl4pPr>
    <a:lvl5pPr indent="914400" defTabSz="457200" latinLnBrk="0">
      <a:lnSpc>
        <a:spcPct val="117999"/>
      </a:lnSpc>
      <a:defRPr sz="2200">
        <a:latin typeface="+mn-lt"/>
        <a:ea typeface="+mn-ea"/>
        <a:cs typeface="+mn-cs"/>
        <a:sym typeface="Poppins Regular"/>
      </a:defRPr>
    </a:lvl5pPr>
    <a:lvl6pPr indent="1143000" defTabSz="457200" latinLnBrk="0">
      <a:lnSpc>
        <a:spcPct val="117999"/>
      </a:lnSpc>
      <a:defRPr sz="2200">
        <a:latin typeface="+mn-lt"/>
        <a:ea typeface="+mn-ea"/>
        <a:cs typeface="+mn-cs"/>
        <a:sym typeface="Poppins Regular"/>
      </a:defRPr>
    </a:lvl6pPr>
    <a:lvl7pPr indent="1371600" defTabSz="457200" latinLnBrk="0">
      <a:lnSpc>
        <a:spcPct val="117999"/>
      </a:lnSpc>
      <a:defRPr sz="2200">
        <a:latin typeface="+mn-lt"/>
        <a:ea typeface="+mn-ea"/>
        <a:cs typeface="+mn-cs"/>
        <a:sym typeface="Poppins Regular"/>
      </a:defRPr>
    </a:lvl7pPr>
    <a:lvl8pPr indent="1600200" defTabSz="457200" latinLnBrk="0">
      <a:lnSpc>
        <a:spcPct val="117999"/>
      </a:lnSpc>
      <a:defRPr sz="2200">
        <a:latin typeface="+mn-lt"/>
        <a:ea typeface="+mn-ea"/>
        <a:cs typeface="+mn-cs"/>
        <a:sym typeface="Poppins Regular"/>
      </a:defRPr>
    </a:lvl8pPr>
    <a:lvl9pPr indent="1828800" defTabSz="457200" latinLnBrk="0">
      <a:lnSpc>
        <a:spcPct val="117999"/>
      </a:lnSpc>
      <a:defRPr sz="2200">
        <a:latin typeface="+mn-lt"/>
        <a:ea typeface="+mn-ea"/>
        <a:cs typeface="+mn-cs"/>
        <a:sym typeface="Poppins Regular"/>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Welcome. Today: one real app, one functional Playwright framework, one agent cohort. Everything you see was built and run on the Cypress Real World App; every number on these slides comes from a real run.</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 session is a journey from the app, through the tests, to the agents that change both. We finish with hands-on work, real-world questions and homework.</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In scope: the local app, the functional framework, Cypress as reference, the agents. Out of scope: anything that touches real money, real users or real production.</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Radar shows the target depth (1–5) we aim for by the end of the TAP26 programme, not today alone. Verification (critical review) is the skill that makes AI help instead of hurt.</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Chapter 1: what the app is, how it is built, and how money moves through it.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 Cypress Real World App (MIT, ~5.9k stars) is a full-stack payments demo: React UI, Express API, lowdb JSON database. Seeded with 5 users and 600 transactions. Every user's password is s3cret.</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Real screenshots from our run: sign in, sign up, onboarding for a new user, new payment, transaction detail with a like and a comment, notifications, bank accounts, settings.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UI on :3000 talks to the API on :3001 with a session cookie (connect.sid). CORS only allows :3000. The API stores everything in lowdb (data/database.json). Our tooling plugs in around it: Playwright, Swagger proxy on :3100, mock API on :3101.</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Middleware order matters: CORS, session and passport, ensureAuthenticated, express-validator, then the handler that calls database.ts (lowdb). Validation is thin in places — e.g. bank account numbers are only checked to be strings (a /tap-ask be answer we use later).</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React components render; XState machines own the logic (auth, data loading, payments). When window.Cypress is set, 5 services are exposed on window — our Playwright framework sets it too, so tests can log in programmatically.</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Nine steps of the main journey. Each step maps to routes, machines and tests; the pay-a-friend e2e test covers steps 2, 5, 6 and 7 in one go.</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Sequence from the real e2e journey: the UI posts whole dollars, the API stores cents (x100), updates both balances, creates notifications; Bob's UI reads them later. Our e2e test verifies each arrow: the response, the db balances, the feeds and the notifications.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Seed counts from data/database-seed.json. Amounts are cents everywhere except the POST /transactions body, which takes whole dollars (KI-18).</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Chapter 2: the two layers we test, the flows through them, and what the tests found.</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 API flows the UI uses. Method mix from the OpenAPI spec: 19 GET, 11 POST, 3 PATCH, 2 DELETE.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api project: 55 functional tests ported from the Cypress API specs plus 18 OpenAPI contract tests. Each test re-seeds the DB via the auto seed fixture. Results from the full regression on 16.10.2026.</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tap26/openapi/openapi.yaml documents 25 paths / 35 operations, verified with 135 live checks. Swagger UI runs on :3100 and proxies /api so cookies work (Try it out → real 200). spec-drift compares the spec with the Express routes: IN SYNC.</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tap26/knowledge/known-issues.md: KI-01…KI-33, A11Y-01…04 — 8 high, 11 medium, 18 low. Per decision D-005 tests assert the CORRECT behaviour and are marked test.fail('KI-xx'), so the suite stays green and flips when a bug is fixed.</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Route map from tap26/knowledge/ui-map.md. Unknown routes while logged in render an empty layout (no 404) — gap G-13. scan-app.mjs found 106 data-test declarations, 102 unique, 10 never referenced by tests.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ui-desktop (1280×1000) and ui-mobile (375×667) run the same 75 tests; mobile helpers open and close the drawer. Spec counts per viewport from npx playwright test --list.</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Mocked states: stub the API with page.route to force 500s, latency and empty lists. KI-33: a 500 on the public feed shows the same 'No Transactions' empty state — the test asserts the correct behaviour under test.fail. A11y: axe-core baseline on every screen; one critical (aria-required-children on the virtualized feed) is allowlisted, serious ones are tracked as A11Y-02..04.</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Chapter 3: how the framework is built and why it is functional, then asserts, data, specs, debugging and reporting.</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Specs never call Playwright APIs for HTTP directly: they use fixtures and helpers. Helpers use the core. The runner config defines 4 projects. This keeps specs short and lets one helper fix many tests.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Path aliases make imports read like intent: @fixtures/api, @ui, @api, @mocks. Specs mirror app areas; helpers are one concern per file.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Page objects bundle state + behaviour in classes; we pass the page as the first argument to small pure-ish functions and compose them. Benefits: no hidden state, trivial reuse across projects, easier for agents to read and change. Trade-off: discipline in naming and folders.</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Every concept here is in the framework today. Ask the tutor agent (/tap-explain) to walk through any of them in the code.</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Web-first assertions retry until the timeout; generic assertions check a value once. API tests assert on the frozen result. Contract asserts validate the schema. test.fail marks known defects (D-005). toPass retries a whole block for flaky UI races (L-002).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 auto seed fixture resets lowdb before every test (like cy.task('db:seed')). db.find/db.filter read real seeded rows; factories build deterministic mock objects for stubs; Faker builds unique sign-up payloads. Lesson L-009: we byte-compared mock responses with the real API.</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Imports from fixtures and helpers, a tagged describe, fixtures destructured in the signature, one test.step per business step, waits started before actions, asserts on UI and data.</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waitForApi = cy.intercept().as() + cy.wait(). stubApi replaces a response (like cy.intercept with a fixture). transformApi lets the real request through and edits the JSON. Lesson L-004: start the wait before the action.</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Real trace of the e2e journey (step 'Bob likes and comments'). Tools: UI mode, --debug, trace on failure, VS Code extension. Real lessons from building the suite: L-002 blur swallowed the Sign Up click, L-003 re-clicking a selected tab doesn't refetch, L-005 pkill -f killed its own shell.</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HTML report from the full regression on 16.10.2026: 223 passed, 0 failed, 0 flaky, 1 skipped (expected), 12.1 min with workers: 1. The e2e journey report shows each test.step with timings.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How the suite grew during the build (real milestones): API port 55, +18 contract tests, UI 59 per viewport, +16 mocked/a11y per viewport, +1 e2e → 223 + 1 skip. Perf smoke (40 req/endpoint, c=5, as Heath93) and doctor output are real.</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Chapter 4: facts validated on 16.10.2026 from official docs, npm and GitHub. Cypress is a great tool — the RWA itself was built by Cypress — but Playwright fits our goals better.</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Versions from the npm registry on 16.10.2026: @playwright/test 1.64.1 (our framework pins 1.56.0), cypress 16.2.0 (13 Oct 2026). Licences: Playwright Apache-2.0, Cypress MIT. Sources: playwright.dev/docs/intro, docs.cypress.io trade-offs and launching-browsers pages.</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Cypress: 'Cypress tests run inside of the browser' — direct access to app objects, Node server for privileged tasks; one browser, one superdomain per test (cy.origin for more). Playwright: test code in Node, talks to browsers over a protocol; each test gets a fresh browser context (like a new profile); many pages/contexts per test.</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Pros/cons from official docs (validated 16.10.2026). Playwright cons are real: patched Firefox/WebKit builds, async/await discipline, more concepts up front. Cypress is excellent for beginners' first steps; Playwright scales better for our goals (multi-user, cross-browser, free parallelism, agents).</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 supported out of the box, ◐ = partial / plugin / paid / experimental, ✘ = not supported. Sources: playwright.dev (intro, browsers, pages, test-parallel, languages, test-agents) and docs.cypress.io (trade-offs, launching-browsers, origin, parallelization, pricing).</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npm weekly downloads 6–12 Oct 2026 (api.npmjs.org): @playwright/test 76,227,910 vs cypress 5,949,802 (≈13:1; downloads count CI installs, not people). GitHub stars 16.10.2026: microsoft/playwright 96.9k, cypress-io/cypress 51.0k. State of JS 2024 'used at work' counts: Playwright 3,674 vs Cypress 3,603 (of 11,667 answering).</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Both use the app's XState auth service; Cypress registers a global command on the cy chain, Playwright exports a typed function you import. Functions are discoverable, typed and composable; no global namespace augmentation.</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Cypress: register intercept with alias up front, then cy.wait('@alias'). Playwright: create the waiting promise before the action, then await it (lesson L-004). Same idea, but it's a real Promise you can pass around, combine with Promise.all and assert on.</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Playwright can open two isolated browser contexts in one test (Alice and Bob logged in at the same time). In Cypress you switch users sequentially (logout/login) because one browser = one session. Our e2e journey uses switchUser for parity with Cypress; the two-context version is homework #6.</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Cypress seeds with cy.task('db:seed') in beforeEach and reads the DB with cy.database (also a task). Playwright fixtures do setup/teardown around `use`, are lazy (only built when requested), and typed.</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scan-app.mjs: Cypress e2e 21 specs / 102 tests (+5 component specs / 10 tests). Playwright 16 specs / 104 static tests → 224 runs across 4 projects (desktop + mobile double the UI tests). The react-fiber hack for the amount slider was replaced by real keyboard input.</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Chapter 5: the agentic framework we built for you. Generic architecture first, then why agents, then what each role gets out of it.</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You talk to Claude Code in VS Code. CLAUDE.md makes the main chat the orchestrator; it answers simple questions and delegates real work to 24 specialist subagents (.claude/agents). Skills (/tap-*) are repeatable workflows; hooks enforce guardrails deterministically; shared memory and knowledge make every session start informed.</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Each agent is a markdown file with frontmatter (name, description, tools, model) and a body of instructions. Only orchestrator, qa-lead and e2e-architect may delegate further (depth ≤ 3, decision D-003). tutor and code-reviewer are read-only by hook.</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Skills live in .claude/skills/&lt;name&gt;/SKILL.md and are invoked as /name. They encode the steps, the agents to use and the quality gates. Full list: tap26/docs/04-skills.md.</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Shared memory in tap26/memory: facts (25), decisions D-001…D-007, learnings L-001…L-011, change ledger, open questions, glossary, journal. MEMORY.md is a generated digest imported by CLAUDE.md, so every new session starts with it. /tap-retro distills lessons; /tap-evolve proposes improvements to the framework itself.</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Hooks are deterministic scripts Claude Code runs at lifecycle points. guard-bash has 18 patterns (9 deny, 9 ask): force-push, rm -rf of roots, stash drop, branch -D… guard-edit asks before touching the seed, .env, lockfiles, CLAUDE.md and TAP26's own definitions; tutor and code-reviewer are read-only. Outputs below are real, captured from the Claude Code CLI.</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DORA 2025 (≈5,000 respondents): 90% use AI at work, &gt;80% report productivity gains, 30% have little or no trust in AI code; AI 'amplifies an organization's existing strengths and weaknesses'. DORA 2024: with more AI adoption, estimated throughput −1.5% and stability −7.2%. METR 2025 RCT (16 experienced devs, early-2025 tools): expected +24%, felt +20%, measured 19% slower; the 2026 update hints at speed-ups but calls its own data very weak evidence.</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be-dev, fe-dev, debugger and code-reviewer. Pipelines in .claude/agents/tap-orchestrator.md enforce: code + spec + tests + docs move together.</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Test agents write specs in the functional style, start waits before actions, assert correct behaviour (test.fail for known issues), and run new tests twice (flake gate).</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BA output feeds testers directly: Gherkin acceptance criteria become test cases and Playwright specs. Example: KI-29 privacy not enforced — the BA writes the rule, testers assert it.</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Seed: 5 users, 15 contacts, 5 bank accounts, 600 transactions, 10 likes, 10 comments, 40 notifications, 50 bank transfers. Mock API stateful mode was byte-compared with the real API (22/22 identical).</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TAP26 docs follow Diátaxis (diataxis.fr). The change ledger (memory/changes.md) is the source for release notes; spec-drift keeps API docs honest.</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Chapter 6: a delivery lifecycle (plan → learn) mapped to TAP26 agents, then the concrete how-tos: inquiries, changing the framework and the app, documenting, gaps, feature docs, bugs and innovation.</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Reference lifecycle from the research pack (DORA, Google SRE postmortems, shift-left). Under each stage: the TAP26 agents that act there. Humans own every gate: approve the plan, review the diff, decide the release. DORA's five delivery metrics close the loop.</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All numbers come from building this session's framework with TAP26-style agents: 9 parallel builders, an independent reviewer (1 blocker + 8 major findings, all fixed before delivery), 135 live checks of the OpenAPI spec, impact analysis in one command.</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/tap-ask &lt;role&gt; &lt;question&gt;: the orchestrator routes to that role's agent, which reads code, memory and knowledge before answering, cites files, and ends with 'how to test this'. The be answer below was verified live: POST /bankAccounts with accountNumber '123' returns 200.</a:t>
            </a:r>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Real impact.mjs report from a synthetic change in a clone: sidenav-user-balance renamed to sidenav-balance and /users/search moved to /users/find. It found 17 tests to run or review and 7 recommended actions. /tap-sync-tests then fixes references and re-runs the impacted specs twice.</a:t>
            </a:r>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Each lane is a skill with built-in gates. API: code → validator → OpenAPI → spec-drift → API tests ×2. UI: optional UX spec → React/XState → keep data-test → UI tests (desktop + mobile). Infra: env-ops for ports, scripts, VS Code tasks, CI ideas. Every app edit is written to the change ledger by a hook.</a:t>
            </a:r>
          </a:p>
        </p:txBody>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Docs are part of done (quality gate). The doc-writer reads the change ledger and the diff, updates the right Diátaxis page, release notes and glossary; contract-guardian owns the OpenAPI; knowledge-curator refreshes memory and generated inventories.</a:t>
            </a:r>
          </a:p>
        </p:txBody>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Two registries: known issues (tap26/knowledge/known-issues.md — defects in the app: KI, A11Y, TS) and coverage gaps (tap26/knowledge/test-map.md — G-01…G-22: things no test checks). Each gap has evidence, risk and a suggested test, so it can go straight to /tap-new-test. qa-lead and test-impact-analyst maintain them.</a:t>
            </a:r>
          </a:p>
        </p:txBody>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/tap-feature produces a feature slice: BA story with Gherkin, UX notes, API + UI change, tests and docs. The doc follows Diátaxis: tutorial (learn), how-to (do), reference (look up), explanation (understand). Outline below is what /tap-feature assembles (user-story.md template + docs).</a:t>
            </a:r>
          </a:p>
        </p:txBody>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/tap-bug reproduces on a clean seed, minimises steps, captures evidence (requests, responses, screenshots/trace), rates severity and links a failing test. The KI-01 evidence below was re-run live on 16.10.2026: contacts before 3, after 0; all 15 seeded contacts gone.</a:t>
            </a:r>
          </a:p>
        </p:txBody>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All eight are grounded in real, validated tools (sources in the research pack): Playwright test agents (planner/generator/healer), Playwright MCP (microsoft/playwright-mcp), Schemathesis, Faker + UK ICO synthetic-data guidance, axe-core (~57% of WCAG issues), toHaveScreenshot, Stryker mutation testing, Toxiproxy/page.route chaos.</a:t>
            </a:r>
          </a:p>
        </p:txBody>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Chapter 7: exercises map to the TAP26 labs (tap26/labs/lab-01…15). Work in pairs; one drives, one navigates — swap every exercise.</a:t>
            </a:r>
          </a:p>
        </p:txBody>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Exercises 1–5: setup. Expected results are on each card; if a check fails, run /tap-doctor or ask the tutor agent (/tap-explain).</a:t>
            </a:r>
          </a:p>
        </p:txBody>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Exercises 6–10: tests, debugging and agents. Running Playwright re-seeds the DB — manual data disappears (by design).</a:t>
            </a:r>
          </a:p>
        </p:txBody>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Sources validated on 16.10.2026 (research pack). Q1: testing.googleblog.com · 2016 &amp; 2017 | Q2: The Register 2021 · Menzies et al. arXiv:1609.04886 · NIST 2002</a:t>
            </a:r>
          </a:p>
        </p:txBody>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Sources validated on 16.10.2026 (research pack). Q3: SWE at Google ch.11 · martinfowler.com · learn.microsoft.com | Q4: Stack Overflow Survey 2025 · WEF Future of Jobs 2025</a:t>
            </a:r>
          </a:p>
        </p:txBody>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Sources validated on 16.10.2026 (research pack). Q5: abseil.io SWE book ch.11 · Netflix Tech Blog · principlesofchaos.org | Q6: CrowdStrike RCA 2024 · Microsoft blog · SEC 34-70694</a:t>
            </a:r>
          </a:p>
        </p:txBody>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Sources validated on 16.10.2026 (research pack). Q7: UK ICO — privacy-enhancing technologies: synthetic data · fakerjs.dev | Q8: WebAIM Million 2026 · github.com/dequelabs/axe-core</a:t>
            </a:r>
          </a:p>
        </p:txBody>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Sources validated on 16.10.2026 (research pack). Q9: OWASP API Security Top 10 2023 · CSO Online (ACMA allegations) | Q10: metr.org 2025 &amp; 2026 update · code.claude.com best practices</a:t>
            </a:r>
          </a:p>
        </p:txBody>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Chapter 8: homework and the curated study list. Every link was validated on 16.10.2026.</a:t>
            </a:r>
          </a:p>
        </p:txBody>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Deliver each task on a branch lab/hw-NN-&lt;name&gt; with a PR description from tap26/templates/pr-description.md. Quality bar: typecheck clean, new tests green twice, known defects as test.fail with the KI id, an independent /tap-review pass. Add five lines of reflection: where did an agent get it wrong, and how did you catch it?</a:t>
            </a:r>
          </a:p>
        </p:txBody>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All links validated (fetched) on 16.10.2026. Text docs, videos, a free book, a course, a paper and standards. Start with Playwright Best Practices and Building Effective Agents.</a:t>
            </a:r>
          </a:p>
        </p:txBody>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All links validated (fetched) on 16.10.2026. Text docs, videos, a free book, a course, a paper and standards. Start with Playwright Best Practices and Building Effective Agents.</a:t>
            </a:r>
          </a:p>
        </p:txBody>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Q&amp;A. Remind students: homework due Friday 23.10.2026; labs in tap26/labs; ask the tutor agent anytime (/tap-explain, /tap-lab hint).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resentation title">
    <p:spTree>
      <p:nvGrpSpPr>
        <p:cNvPr id="1" name=""/>
        <p:cNvGrpSpPr/>
        <p:nvPr/>
      </p:nvGrpSpPr>
      <p:grpSpPr>
        <a:xfrm>
          <a:off x="0" y="0"/>
          <a:ext cx="0" cy="0"/>
          <a:chOff x="0" y="0"/>
          <a:chExt cx="0" cy="0"/>
        </a:xfrm>
      </p:grpSpPr>
      <p:sp>
        <p:nvSpPr>
          <p:cNvPr id="18" name="Title Text"/>
          <p:cNvSpPr txBox="1">
            <a:spLocks noGrp="1"/>
          </p:cNvSpPr>
          <p:nvPr>
            <p:ph type="title"/>
          </p:nvPr>
        </p:nvSpPr>
        <p:spPr>
          <a:xfrm>
            <a:off x="2584896" y="6377282"/>
            <a:ext cx="19678204" cy="5957990"/>
          </a:xfrm>
          <a:prstGeom prst="rect">
            <a:avLst/>
          </a:prstGeom>
        </p:spPr>
        <p:txBody>
          <a:bodyPr lIns="0" tIns="0" rIns="0" bIns="0"/>
          <a:lstStyle>
            <a:lvl1pPr>
              <a:lnSpc>
                <a:spcPct val="80000"/>
              </a:lnSpc>
              <a:spcBef>
                <a:spcPts val="0"/>
              </a:spcBef>
              <a:defRPr sz="9600" spc="0">
                <a:latin typeface="+mj-lt"/>
                <a:ea typeface="+mj-ea"/>
                <a:cs typeface="+mj-cs"/>
                <a:sym typeface="Poppins Medium"/>
              </a:defRPr>
            </a:lvl1pPr>
          </a:lstStyle>
          <a:p>
            <a:r>
              <a:rPr dirty="0"/>
              <a:t>Title Text</a:t>
            </a:r>
          </a:p>
        </p:txBody>
      </p:sp>
      <p:pic>
        <p:nvPicPr>
          <p:cNvPr id="19" name="endava_logo_pos_RGB.svg" descr="endava_logo_pos_RGB.sv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593247" y="607284"/>
            <a:ext cx="2480228" cy="421640"/>
          </a:xfrm>
          <a:prstGeom prst="rect">
            <a:avLst/>
          </a:prstGeom>
          <a:ln w="12700">
            <a:miter lim="400000"/>
          </a:ln>
        </p:spPr>
      </p:pic>
      <p:sp>
        <p:nvSpPr>
          <p:cNvPr id="20" name="Slide Number"/>
          <p:cNvSpPr txBox="1">
            <a:spLocks noGrp="1"/>
          </p:cNvSpPr>
          <p:nvPr>
            <p:ph type="sldNum" sz="quarter" idx="2"/>
          </p:nvPr>
        </p:nvSpPr>
        <p:spPr>
          <a:xfrm>
            <a:off x="11878716" y="13081000"/>
            <a:ext cx="306935" cy="398779"/>
          </a:xfrm>
          <a:prstGeom prst="rect">
            <a:avLst/>
          </a:prstGeom>
        </p:spPr>
        <p:txBody>
          <a:bodyPr lIns="50800" tIns="50800" rIns="50800" bIns="50800"/>
          <a:lstStyle/>
          <a:p>
            <a:fld id="{86CB4B4D-7CA3-9044-876B-883B54F8677D}" type="slidenum">
              <a:rPr/>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Presentation title dark">
    <p:bg>
      <p:bgPr>
        <a:solidFill>
          <a:srgbClr val="192B37"/>
        </a:solidFill>
        <a:effectLst/>
      </p:bgPr>
    </p:bg>
    <p:spTree>
      <p:nvGrpSpPr>
        <p:cNvPr id="1" name=""/>
        <p:cNvGrpSpPr/>
        <p:nvPr/>
      </p:nvGrpSpPr>
      <p:grpSpPr>
        <a:xfrm>
          <a:off x="0" y="0"/>
          <a:ext cx="0" cy="0"/>
          <a:chOff x="0" y="0"/>
          <a:chExt cx="0" cy="0"/>
        </a:xfrm>
      </p:grpSpPr>
      <p:sp>
        <p:nvSpPr>
          <p:cNvPr id="27" name="Title Text"/>
          <p:cNvSpPr txBox="1">
            <a:spLocks noGrp="1"/>
          </p:cNvSpPr>
          <p:nvPr>
            <p:ph type="title"/>
          </p:nvPr>
        </p:nvSpPr>
        <p:spPr>
          <a:xfrm>
            <a:off x="2584896" y="6377282"/>
            <a:ext cx="19678204" cy="5957990"/>
          </a:xfrm>
          <a:prstGeom prst="rect">
            <a:avLst/>
          </a:prstGeom>
        </p:spPr>
        <p:txBody>
          <a:bodyPr lIns="0" tIns="0" rIns="0" bIns="0"/>
          <a:lstStyle>
            <a:lvl1pPr>
              <a:lnSpc>
                <a:spcPct val="80000"/>
              </a:lnSpc>
              <a:spcBef>
                <a:spcPts val="0"/>
              </a:spcBef>
              <a:defRPr sz="9600" spc="0">
                <a:solidFill>
                  <a:srgbClr val="FFFFFF"/>
                </a:solidFill>
                <a:latin typeface="+mj-lt"/>
                <a:ea typeface="+mj-ea"/>
                <a:cs typeface="+mj-cs"/>
                <a:sym typeface="Poppins Medium"/>
              </a:defRPr>
            </a:lvl1pPr>
          </a:lstStyle>
          <a:p>
            <a:r>
              <a:t>Title Text</a:t>
            </a:r>
          </a:p>
        </p:txBody>
      </p:sp>
      <p:pic>
        <p:nvPicPr>
          <p:cNvPr id="28" name="endava_logo_neg_RGB.png" descr="endava_logo_neg_RGB.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593247" y="607284"/>
            <a:ext cx="2480228" cy="421640"/>
          </a:xfrm>
          <a:prstGeom prst="rect">
            <a:avLst/>
          </a:prstGeom>
          <a:ln w="12700">
            <a:miter lim="400000"/>
          </a:ln>
        </p:spPr>
      </p:pic>
      <p:sp>
        <p:nvSpPr>
          <p:cNvPr id="29" name="Slide Number"/>
          <p:cNvSpPr txBox="1">
            <a:spLocks noGrp="1"/>
          </p:cNvSpPr>
          <p:nvPr>
            <p:ph type="sldNum" sz="quarter" idx="2"/>
          </p:nvPr>
        </p:nvSpPr>
        <p:spPr>
          <a:xfrm>
            <a:off x="11878716" y="13081000"/>
            <a:ext cx="306935" cy="398779"/>
          </a:xfrm>
          <a:prstGeom prst="rect">
            <a:avLst/>
          </a:prstGeom>
        </p:spPr>
        <p:txBody>
          <a:bodyPr lIns="50800" tIns="50800" rIns="50800" bIns="50800"/>
          <a:lstStyle/>
          <a:p>
            <a:fld id="{86CB4B4D-7CA3-9044-876B-883B54F8677D}" type="slidenum">
              <a:rPr/>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1_Presentation title dark">
    <p:bg>
      <p:bgPr>
        <a:solidFill>
          <a:srgbClr val="192B37"/>
        </a:solidFill>
        <a:effectLst/>
      </p:bgPr>
    </p:bg>
    <p:spTree>
      <p:nvGrpSpPr>
        <p:cNvPr id="1" name=""/>
        <p:cNvGrpSpPr/>
        <p:nvPr/>
      </p:nvGrpSpPr>
      <p:grpSpPr>
        <a:xfrm>
          <a:off x="0" y="0"/>
          <a:ext cx="0" cy="0"/>
          <a:chOff x="0" y="0"/>
          <a:chExt cx="0" cy="0"/>
        </a:xfrm>
      </p:grpSpPr>
      <p:sp>
        <p:nvSpPr>
          <p:cNvPr id="27" name="Title Text"/>
          <p:cNvSpPr txBox="1">
            <a:spLocks noGrp="1"/>
          </p:cNvSpPr>
          <p:nvPr>
            <p:ph type="title"/>
          </p:nvPr>
        </p:nvSpPr>
        <p:spPr>
          <a:xfrm>
            <a:off x="2584896" y="6377282"/>
            <a:ext cx="19678204" cy="5957990"/>
          </a:xfrm>
          <a:prstGeom prst="rect">
            <a:avLst/>
          </a:prstGeom>
        </p:spPr>
        <p:txBody>
          <a:bodyPr lIns="0" tIns="0" rIns="0" bIns="0"/>
          <a:lstStyle>
            <a:lvl1pPr>
              <a:lnSpc>
                <a:spcPct val="80000"/>
              </a:lnSpc>
              <a:spcBef>
                <a:spcPts val="0"/>
              </a:spcBef>
              <a:defRPr sz="9600" spc="0">
                <a:solidFill>
                  <a:srgbClr val="FFFFFF"/>
                </a:solidFill>
                <a:latin typeface="+mj-lt"/>
                <a:ea typeface="+mj-ea"/>
                <a:cs typeface="+mj-cs"/>
                <a:sym typeface="Poppins Medium"/>
              </a:defRPr>
            </a:lvl1pPr>
          </a:lstStyle>
          <a:p>
            <a:r>
              <a:t>Title Text</a:t>
            </a:r>
          </a:p>
        </p:txBody>
      </p:sp>
      <p:sp>
        <p:nvSpPr>
          <p:cNvPr id="29" name="Slide Number"/>
          <p:cNvSpPr txBox="1">
            <a:spLocks noGrp="1"/>
          </p:cNvSpPr>
          <p:nvPr>
            <p:ph type="sldNum" sz="quarter" idx="2"/>
          </p:nvPr>
        </p:nvSpPr>
        <p:spPr>
          <a:xfrm>
            <a:off x="11878716" y="13081000"/>
            <a:ext cx="306935" cy="398779"/>
          </a:xfrm>
          <a:prstGeom prst="rect">
            <a:avLst/>
          </a:prstGeom>
        </p:spPr>
        <p:txBody>
          <a:bodyPr lIns="50800" tIns="50800" rIns="50800" bIns="50800"/>
          <a:lstStyle/>
          <a:p>
            <a:fld id="{86CB4B4D-7CA3-9044-876B-883B54F8677D}" type="slidenum">
              <a:rPr/>
              <a:t>‹#›</a:t>
            </a:fld>
            <a:endParaRPr/>
          </a:p>
        </p:txBody>
      </p:sp>
    </p:spTree>
    <p:extLst>
      <p:ext uri="{BB962C8B-B14F-4D97-AF65-F5344CB8AC3E}">
        <p14:creationId xmlns:p14="http://schemas.microsoft.com/office/powerpoint/2010/main" val="387793320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pic>
        <p:nvPicPr>
          <p:cNvPr id="38" name="endava_brandshape_RGB_red.svg" descr="endava_brandshape_RGB_red.svg"/>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rot="16200000">
            <a:off x="5521569" y="2073270"/>
            <a:ext cx="609601" cy="243841"/>
          </a:xfrm>
          <a:prstGeom prst="rect">
            <a:avLst/>
          </a:prstGeom>
          <a:ln w="12700">
            <a:miter lim="400000"/>
          </a:ln>
        </p:spPr>
      </p:pic>
      <p:sp>
        <p:nvSpPr>
          <p:cNvPr id="39" name="Agenda"/>
          <p:cNvSpPr txBox="1"/>
          <p:nvPr/>
        </p:nvSpPr>
        <p:spPr>
          <a:xfrm>
            <a:off x="2590800" y="1700307"/>
            <a:ext cx="3357490" cy="96436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anchor="ctr">
            <a:spAutoFit/>
          </a:bodyPr>
          <a:lstStyle>
            <a:lvl1pPr defTabSz="470262">
              <a:lnSpc>
                <a:spcPct val="100000"/>
              </a:lnSpc>
              <a:spcBef>
                <a:spcPts val="3000"/>
              </a:spcBef>
              <a:defRPr sz="5600" spc="0"/>
            </a:lvl1pPr>
          </a:lstStyle>
          <a:p>
            <a:r>
              <a:rPr>
                <a:latin typeface="+mj-lt"/>
              </a:rPr>
              <a:t>Agenda</a:t>
            </a:r>
          </a:p>
        </p:txBody>
      </p:sp>
      <p:sp>
        <p:nvSpPr>
          <p:cNvPr id="40" name="Insert short chapter name…"/>
          <p:cNvSpPr txBox="1">
            <a:spLocks noGrp="1"/>
          </p:cNvSpPr>
          <p:nvPr>
            <p:ph type="body" sz="quarter" idx="21"/>
          </p:nvPr>
        </p:nvSpPr>
        <p:spPr>
          <a:xfrm>
            <a:off x="4566592" y="4389125"/>
            <a:ext cx="9263708" cy="4897113"/>
          </a:xfrm>
          <a:prstGeom prst="rect">
            <a:avLst/>
          </a:prstGeom>
        </p:spPr>
        <p:txBody>
          <a:bodyPr lIns="0" tIns="0" rIns="0" bIns="0" anchor="t">
            <a:spAutoFit/>
          </a:bodyPr>
          <a:lstStyle/>
          <a:p>
            <a:pPr marL="0" indent="0" defTabSz="470262">
              <a:lnSpc>
                <a:spcPct val="140000"/>
              </a:lnSpc>
              <a:spcBef>
                <a:spcPts val="0"/>
              </a:spcBef>
              <a:buClrTx/>
              <a:buSzTx/>
              <a:buNone/>
              <a:defRPr sz="4000"/>
            </a:pPr>
            <a:r>
              <a:rPr dirty="0"/>
              <a:t>Insert short chapter name</a:t>
            </a:r>
          </a:p>
          <a:p>
            <a:pPr marL="0" indent="0" defTabSz="470262">
              <a:lnSpc>
                <a:spcPct val="140000"/>
              </a:lnSpc>
              <a:spcBef>
                <a:spcPts val="0"/>
              </a:spcBef>
              <a:buClrTx/>
              <a:buSzTx/>
              <a:buNone/>
              <a:defRPr sz="4000"/>
            </a:pPr>
            <a:r>
              <a:rPr dirty="0"/>
              <a:t>Insert short chapter name</a:t>
            </a:r>
          </a:p>
          <a:p>
            <a:pPr marL="0" indent="0" defTabSz="470262">
              <a:lnSpc>
                <a:spcPct val="140000"/>
              </a:lnSpc>
              <a:spcBef>
                <a:spcPts val="0"/>
              </a:spcBef>
              <a:buClrTx/>
              <a:buSzTx/>
              <a:buNone/>
              <a:defRPr sz="4000"/>
            </a:pPr>
            <a:r>
              <a:rPr dirty="0"/>
              <a:t>Insert short chapter name</a:t>
            </a:r>
          </a:p>
          <a:p>
            <a:pPr marL="0" indent="0" defTabSz="470262">
              <a:lnSpc>
                <a:spcPct val="140000"/>
              </a:lnSpc>
              <a:spcBef>
                <a:spcPts val="0"/>
              </a:spcBef>
              <a:buClrTx/>
              <a:buSzTx/>
              <a:buNone/>
              <a:defRPr sz="4000"/>
            </a:pPr>
            <a:r>
              <a:rPr dirty="0"/>
              <a:t>Insert short chapter name</a:t>
            </a:r>
          </a:p>
          <a:p>
            <a:pPr marL="0" indent="0" defTabSz="470262">
              <a:lnSpc>
                <a:spcPct val="140000"/>
              </a:lnSpc>
              <a:spcBef>
                <a:spcPts val="0"/>
              </a:spcBef>
              <a:buClrTx/>
              <a:buSzTx/>
              <a:buNone/>
              <a:defRPr sz="4000"/>
            </a:pPr>
            <a:r>
              <a:rPr dirty="0"/>
              <a:t>Insert short chapter name</a:t>
            </a:r>
          </a:p>
        </p:txBody>
      </p:sp>
      <p:sp>
        <p:nvSpPr>
          <p:cNvPr id="41" name="Pag. 4…"/>
          <p:cNvSpPr txBox="1">
            <a:spLocks noGrp="1"/>
          </p:cNvSpPr>
          <p:nvPr>
            <p:ph type="body" sz="quarter" idx="22"/>
          </p:nvPr>
        </p:nvSpPr>
        <p:spPr>
          <a:xfrm>
            <a:off x="14478000" y="4630425"/>
            <a:ext cx="1217274" cy="4468867"/>
          </a:xfrm>
          <a:prstGeom prst="rect">
            <a:avLst/>
          </a:prstGeom>
        </p:spPr>
        <p:txBody>
          <a:bodyPr lIns="0" tIns="0" rIns="0" bIns="0" anchor="t">
            <a:spAutoFit/>
          </a:bodyPr>
          <a:lstStyle/>
          <a:p>
            <a:pPr marL="0" indent="0">
              <a:lnSpc>
                <a:spcPct val="280000"/>
              </a:lnSpc>
              <a:buClrTx/>
              <a:buSzTx/>
              <a:buNone/>
              <a:defRPr sz="1600"/>
            </a:pPr>
            <a:r>
              <a:rPr dirty="0"/>
              <a:t>Pag. 4</a:t>
            </a:r>
          </a:p>
          <a:p>
            <a:pPr marL="0" indent="0">
              <a:lnSpc>
                <a:spcPct val="280000"/>
              </a:lnSpc>
              <a:buClrTx/>
              <a:buSzTx/>
              <a:buNone/>
              <a:defRPr sz="1600"/>
            </a:pPr>
            <a:r>
              <a:rPr dirty="0"/>
              <a:t>Pag. 8</a:t>
            </a:r>
          </a:p>
          <a:p>
            <a:pPr marL="0" indent="0">
              <a:lnSpc>
                <a:spcPct val="280000"/>
              </a:lnSpc>
              <a:buClrTx/>
              <a:buSzTx/>
              <a:buNone/>
              <a:defRPr sz="1600"/>
            </a:pPr>
            <a:r>
              <a:rPr dirty="0"/>
              <a:t>Pag. 16</a:t>
            </a:r>
          </a:p>
          <a:p>
            <a:pPr marL="0" indent="0">
              <a:lnSpc>
                <a:spcPct val="280000"/>
              </a:lnSpc>
              <a:buClrTx/>
              <a:buSzTx/>
              <a:buNone/>
              <a:defRPr sz="1600"/>
            </a:pPr>
            <a:r>
              <a:rPr dirty="0"/>
              <a:t>Pag. 32</a:t>
            </a:r>
          </a:p>
          <a:p>
            <a:pPr marL="0" indent="0">
              <a:lnSpc>
                <a:spcPct val="280000"/>
              </a:lnSpc>
              <a:buClrTx/>
              <a:buSzTx/>
              <a:buNone/>
              <a:defRPr sz="1600"/>
            </a:pPr>
            <a:r>
              <a:rPr dirty="0"/>
              <a:t>Pag. 48</a:t>
            </a:r>
          </a:p>
        </p:txBody>
      </p:sp>
      <p:sp>
        <p:nvSpPr>
          <p:cNvPr id="42" name="01…"/>
          <p:cNvSpPr txBox="1">
            <a:spLocks noGrp="1"/>
          </p:cNvSpPr>
          <p:nvPr>
            <p:ph type="body" sz="quarter" idx="23"/>
          </p:nvPr>
        </p:nvSpPr>
        <p:spPr>
          <a:xfrm>
            <a:off x="2590800" y="4389125"/>
            <a:ext cx="1328093" cy="4897113"/>
          </a:xfrm>
          <a:prstGeom prst="rect">
            <a:avLst/>
          </a:prstGeom>
        </p:spPr>
        <p:txBody>
          <a:bodyPr lIns="0" tIns="0" rIns="0" bIns="0" anchor="t">
            <a:spAutoFit/>
          </a:bodyPr>
          <a:lstStyle/>
          <a:p>
            <a:pPr marL="0" indent="0" defTabSz="470262">
              <a:lnSpc>
                <a:spcPct val="140000"/>
              </a:lnSpc>
              <a:spcBef>
                <a:spcPts val="0"/>
              </a:spcBef>
              <a:buSzTx/>
              <a:buNone/>
              <a:defRPr sz="4000">
                <a:solidFill>
                  <a:srgbClr val="FF5640"/>
                </a:solidFill>
              </a:defRPr>
            </a:pPr>
            <a:r>
              <a:rPr dirty="0"/>
              <a:t>01</a:t>
            </a:r>
          </a:p>
          <a:p>
            <a:pPr marL="0" indent="0" defTabSz="470262">
              <a:lnSpc>
                <a:spcPct val="140000"/>
              </a:lnSpc>
              <a:spcBef>
                <a:spcPts val="0"/>
              </a:spcBef>
              <a:buSzTx/>
              <a:buNone/>
              <a:defRPr sz="4000">
                <a:solidFill>
                  <a:srgbClr val="FF5640"/>
                </a:solidFill>
              </a:defRPr>
            </a:pPr>
            <a:r>
              <a:rPr dirty="0"/>
              <a:t>02</a:t>
            </a:r>
          </a:p>
          <a:p>
            <a:pPr marL="0" indent="0" defTabSz="470262">
              <a:lnSpc>
                <a:spcPct val="140000"/>
              </a:lnSpc>
              <a:spcBef>
                <a:spcPts val="0"/>
              </a:spcBef>
              <a:buSzTx/>
              <a:buNone/>
              <a:defRPr sz="4000">
                <a:solidFill>
                  <a:srgbClr val="FF5640"/>
                </a:solidFill>
              </a:defRPr>
            </a:pPr>
            <a:r>
              <a:rPr dirty="0"/>
              <a:t>03</a:t>
            </a:r>
          </a:p>
          <a:p>
            <a:pPr marL="0" indent="0" defTabSz="470262">
              <a:lnSpc>
                <a:spcPct val="140000"/>
              </a:lnSpc>
              <a:spcBef>
                <a:spcPts val="0"/>
              </a:spcBef>
              <a:buSzTx/>
              <a:buNone/>
              <a:defRPr sz="4000">
                <a:solidFill>
                  <a:srgbClr val="FF5640"/>
                </a:solidFill>
              </a:defRPr>
            </a:pPr>
            <a:r>
              <a:rPr dirty="0"/>
              <a:t>04</a:t>
            </a:r>
          </a:p>
          <a:p>
            <a:pPr marL="0" indent="0" defTabSz="470262">
              <a:lnSpc>
                <a:spcPct val="140000"/>
              </a:lnSpc>
              <a:spcBef>
                <a:spcPts val="0"/>
              </a:spcBef>
              <a:buSzTx/>
              <a:buNone/>
              <a:defRPr sz="4000">
                <a:solidFill>
                  <a:srgbClr val="FF5640"/>
                </a:solidFill>
              </a:defRPr>
            </a:pPr>
            <a:r>
              <a:rPr dirty="0"/>
              <a:t>05</a:t>
            </a:r>
          </a:p>
        </p:txBody>
      </p:sp>
      <p:sp>
        <p:nvSpPr>
          <p:cNvPr id="43"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pic>
        <p:nvPicPr>
          <p:cNvPr id="2" name="endava_symbol_black_CMYK.pdf" descr="endava_symbol_black_CMYK.pdf">
            <a:extLst>
              <a:ext uri="{FF2B5EF4-FFF2-40B4-BE49-F238E27FC236}">
                <a16:creationId xmlns:a16="http://schemas.microsoft.com/office/drawing/2014/main" id="{46E5D2F0-15DA-2874-EAC3-5BB2891DDF60}"/>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rcRect/>
          <a:stretch>
            <a:fillRect/>
          </a:stretch>
        </p:blipFill>
        <p:spPr>
          <a:xfrm>
            <a:off x="23434135" y="251730"/>
            <a:ext cx="262850" cy="320676"/>
          </a:xfrm>
          <a:prstGeom prst="rect">
            <a:avLst/>
          </a:prstGeom>
          <a:ln w="12700">
            <a:miter lim="400000"/>
          </a:ln>
        </p:spPr>
      </p:pic>
      <p:sp>
        <p:nvSpPr>
          <p:cNvPr id="3" name="Insert presentation name">
            <a:extLst>
              <a:ext uri="{FF2B5EF4-FFF2-40B4-BE49-F238E27FC236}">
                <a16:creationId xmlns:a16="http://schemas.microsoft.com/office/drawing/2014/main" id="{B4EA5F31-CE77-51B2-4E0C-5100FC85B505}"/>
              </a:ext>
            </a:extLst>
          </p:cNvPr>
          <p:cNvSpPr txBox="1"/>
          <p:nvPr userDrawn="1"/>
        </p:nvSpPr>
        <p:spPr>
          <a:xfrm>
            <a:off x="16759829" y="236808"/>
            <a:ext cx="6570620" cy="35052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spAutoFit/>
          </a:bodyPr>
          <a:lstStyle>
            <a:lvl1pPr algn="r">
              <a:spcBef>
                <a:spcPts val="3000"/>
              </a:spcBef>
              <a:defRPr sz="1400"/>
            </a:lvl1pPr>
          </a:lstStyle>
          <a:p>
            <a:r>
              <a:rPr lang="en-US"/>
              <a:t>TAP26 Juniors · Scripting Session</a:t>
            </a:r>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Agenda Black">
    <p:bg>
      <p:bgPr>
        <a:solidFill>
          <a:srgbClr val="192B37"/>
        </a:solidFill>
        <a:effectLst/>
      </p:bgPr>
    </p:bg>
    <p:spTree>
      <p:nvGrpSpPr>
        <p:cNvPr id="1" name=""/>
        <p:cNvGrpSpPr/>
        <p:nvPr/>
      </p:nvGrpSpPr>
      <p:grpSpPr>
        <a:xfrm>
          <a:off x="0" y="0"/>
          <a:ext cx="0" cy="0"/>
          <a:chOff x="0" y="0"/>
          <a:chExt cx="0" cy="0"/>
        </a:xfrm>
      </p:grpSpPr>
      <p:pic>
        <p:nvPicPr>
          <p:cNvPr id="50" name="endava_symbol_black_CMYK.pdf" descr="endava_symbol_black_CMYK.pdf"/>
          <p:cNvPicPr>
            <a:picLocks noChangeAspect="1"/>
          </p:cNvPicPr>
          <p:nvPr/>
        </p:nvPicPr>
        <p:blipFill>
          <a:blip r:embed="rId2" cstate="screen">
            <a:alphaModFix amt="50000"/>
            <a:extLst>
              <a:ext uri="{28A0092B-C50C-407E-A947-70E740481C1C}">
                <a14:useLocalDpi xmlns:a14="http://schemas.microsoft.com/office/drawing/2010/main"/>
              </a:ext>
            </a:extLst>
          </a:blip>
          <a:srcRect/>
          <a:stretch>
            <a:fillRect/>
          </a:stretch>
        </p:blipFill>
        <p:spPr>
          <a:xfrm>
            <a:off x="23434135" y="251730"/>
            <a:ext cx="262850" cy="320676"/>
          </a:xfrm>
          <a:prstGeom prst="rect">
            <a:avLst/>
          </a:prstGeom>
          <a:ln w="12700">
            <a:miter lim="400000"/>
          </a:ln>
        </p:spPr>
      </p:pic>
      <p:sp>
        <p:nvSpPr>
          <p:cNvPr id="51" name="Insert presentation name"/>
          <p:cNvSpPr txBox="1"/>
          <p:nvPr userDrawn="1"/>
        </p:nvSpPr>
        <p:spPr>
          <a:xfrm>
            <a:off x="16759829" y="236808"/>
            <a:ext cx="6570620" cy="35052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spAutoFit/>
          </a:bodyPr>
          <a:lstStyle>
            <a:lvl1pPr algn="r">
              <a:spcBef>
                <a:spcPts val="3000"/>
              </a:spcBef>
              <a:defRPr sz="1400">
                <a:solidFill>
                  <a:srgbClr val="FFFFFF"/>
                </a:solidFill>
              </a:defRPr>
            </a:lvl1pPr>
          </a:lstStyle>
          <a:p>
            <a:r>
              <a:rPr lang="en-US"/>
              <a:t>TAP26 Juniors · Scripting Session</a:t>
            </a:r>
            <a:endParaRPr/>
          </a:p>
        </p:txBody>
      </p:sp>
      <p:pic>
        <p:nvPicPr>
          <p:cNvPr id="52" name="endava_brandshape_RGB_red.svg" descr="endava_brandshape_RGB_red.svg"/>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rot="16200000">
            <a:off x="5521569" y="2073270"/>
            <a:ext cx="609601" cy="243841"/>
          </a:xfrm>
          <a:prstGeom prst="rect">
            <a:avLst/>
          </a:prstGeom>
          <a:ln w="12700">
            <a:miter lim="400000"/>
          </a:ln>
        </p:spPr>
      </p:pic>
      <p:sp>
        <p:nvSpPr>
          <p:cNvPr id="53" name="Agenda"/>
          <p:cNvSpPr txBox="1"/>
          <p:nvPr/>
        </p:nvSpPr>
        <p:spPr>
          <a:xfrm>
            <a:off x="2590800" y="1700307"/>
            <a:ext cx="3357490" cy="96436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anchor="ctr">
            <a:spAutoFit/>
          </a:bodyPr>
          <a:lstStyle>
            <a:lvl1pPr defTabSz="470262">
              <a:lnSpc>
                <a:spcPct val="100000"/>
              </a:lnSpc>
              <a:spcBef>
                <a:spcPts val="3000"/>
              </a:spcBef>
              <a:defRPr sz="5600" spc="0">
                <a:solidFill>
                  <a:srgbClr val="FFFFFF"/>
                </a:solidFill>
              </a:defRPr>
            </a:lvl1pPr>
          </a:lstStyle>
          <a:p>
            <a:r>
              <a:rPr>
                <a:latin typeface="+mj-lt"/>
              </a:rPr>
              <a:t>Agenda</a:t>
            </a:r>
          </a:p>
        </p:txBody>
      </p:sp>
      <p:sp>
        <p:nvSpPr>
          <p:cNvPr id="54" name="Insert short chapter name…"/>
          <p:cNvSpPr txBox="1">
            <a:spLocks noGrp="1"/>
          </p:cNvSpPr>
          <p:nvPr>
            <p:ph type="body" sz="quarter" idx="21"/>
          </p:nvPr>
        </p:nvSpPr>
        <p:spPr>
          <a:xfrm>
            <a:off x="4566592" y="4389125"/>
            <a:ext cx="9263708" cy="4897113"/>
          </a:xfrm>
          <a:prstGeom prst="rect">
            <a:avLst/>
          </a:prstGeom>
        </p:spPr>
        <p:txBody>
          <a:bodyPr lIns="0" tIns="0" rIns="0" bIns="0" anchor="t">
            <a:spAutoFit/>
          </a:bodyPr>
          <a:lstStyle/>
          <a:p>
            <a:pPr marL="0" indent="0" defTabSz="470262">
              <a:lnSpc>
                <a:spcPct val="140000"/>
              </a:lnSpc>
              <a:spcBef>
                <a:spcPts val="0"/>
              </a:spcBef>
              <a:buClrTx/>
              <a:buSzTx/>
              <a:buNone/>
              <a:defRPr sz="4000">
                <a:solidFill>
                  <a:srgbClr val="FFFFFF"/>
                </a:solidFill>
              </a:defRPr>
            </a:pPr>
            <a:r>
              <a:t>Insert short chapter name</a:t>
            </a:r>
          </a:p>
          <a:p>
            <a:pPr marL="0" indent="0" defTabSz="470262">
              <a:lnSpc>
                <a:spcPct val="140000"/>
              </a:lnSpc>
              <a:spcBef>
                <a:spcPts val="0"/>
              </a:spcBef>
              <a:buClrTx/>
              <a:buSzTx/>
              <a:buNone/>
              <a:defRPr sz="4000">
                <a:solidFill>
                  <a:srgbClr val="FFFFFF"/>
                </a:solidFill>
              </a:defRPr>
            </a:pPr>
            <a:r>
              <a:t>Insert short chapter name</a:t>
            </a:r>
          </a:p>
          <a:p>
            <a:pPr marL="0" indent="0" defTabSz="470262">
              <a:lnSpc>
                <a:spcPct val="140000"/>
              </a:lnSpc>
              <a:spcBef>
                <a:spcPts val="0"/>
              </a:spcBef>
              <a:buClrTx/>
              <a:buSzTx/>
              <a:buNone/>
              <a:defRPr sz="4000">
                <a:solidFill>
                  <a:srgbClr val="FFFFFF"/>
                </a:solidFill>
              </a:defRPr>
            </a:pPr>
            <a:r>
              <a:t>Insert short chapter name</a:t>
            </a:r>
          </a:p>
          <a:p>
            <a:pPr marL="0" indent="0" defTabSz="470262">
              <a:lnSpc>
                <a:spcPct val="140000"/>
              </a:lnSpc>
              <a:spcBef>
                <a:spcPts val="0"/>
              </a:spcBef>
              <a:buClrTx/>
              <a:buSzTx/>
              <a:buNone/>
              <a:defRPr sz="4000">
                <a:solidFill>
                  <a:srgbClr val="FFFFFF"/>
                </a:solidFill>
              </a:defRPr>
            </a:pPr>
            <a:r>
              <a:t>Insert short chapter name</a:t>
            </a:r>
          </a:p>
          <a:p>
            <a:pPr marL="0" indent="0" defTabSz="470262">
              <a:lnSpc>
                <a:spcPct val="140000"/>
              </a:lnSpc>
              <a:spcBef>
                <a:spcPts val="0"/>
              </a:spcBef>
              <a:buClrTx/>
              <a:buSzTx/>
              <a:buNone/>
              <a:defRPr sz="4000">
                <a:solidFill>
                  <a:srgbClr val="FFFFFF"/>
                </a:solidFill>
              </a:defRPr>
            </a:pPr>
            <a:r>
              <a:t>Insert short chapter name</a:t>
            </a:r>
          </a:p>
        </p:txBody>
      </p:sp>
      <p:sp>
        <p:nvSpPr>
          <p:cNvPr id="55" name="Pag. 4…"/>
          <p:cNvSpPr txBox="1">
            <a:spLocks noGrp="1"/>
          </p:cNvSpPr>
          <p:nvPr>
            <p:ph type="body" sz="quarter" idx="22"/>
          </p:nvPr>
        </p:nvSpPr>
        <p:spPr>
          <a:xfrm>
            <a:off x="14478000" y="4630425"/>
            <a:ext cx="1217274" cy="4468867"/>
          </a:xfrm>
          <a:prstGeom prst="rect">
            <a:avLst/>
          </a:prstGeom>
        </p:spPr>
        <p:txBody>
          <a:bodyPr lIns="0" tIns="0" rIns="0" bIns="0" anchor="t">
            <a:spAutoFit/>
          </a:bodyPr>
          <a:lstStyle/>
          <a:p>
            <a:pPr marL="0" indent="0">
              <a:lnSpc>
                <a:spcPct val="280000"/>
              </a:lnSpc>
              <a:buClrTx/>
              <a:buSzTx/>
              <a:buNone/>
              <a:defRPr sz="1600">
                <a:solidFill>
                  <a:srgbClr val="FFFFFF"/>
                </a:solidFill>
              </a:defRPr>
            </a:pPr>
            <a:r>
              <a:t>Pag. 4</a:t>
            </a:r>
          </a:p>
          <a:p>
            <a:pPr marL="0" indent="0">
              <a:lnSpc>
                <a:spcPct val="280000"/>
              </a:lnSpc>
              <a:buClrTx/>
              <a:buSzTx/>
              <a:buNone/>
              <a:defRPr sz="1600">
                <a:solidFill>
                  <a:srgbClr val="FFFFFF"/>
                </a:solidFill>
              </a:defRPr>
            </a:pPr>
            <a:r>
              <a:t>Pag. 8</a:t>
            </a:r>
          </a:p>
          <a:p>
            <a:pPr marL="0" indent="0">
              <a:lnSpc>
                <a:spcPct val="280000"/>
              </a:lnSpc>
              <a:buClrTx/>
              <a:buSzTx/>
              <a:buNone/>
              <a:defRPr sz="1600">
                <a:solidFill>
                  <a:srgbClr val="FFFFFF"/>
                </a:solidFill>
              </a:defRPr>
            </a:pPr>
            <a:r>
              <a:t>Pag. 16</a:t>
            </a:r>
          </a:p>
          <a:p>
            <a:pPr marL="0" indent="0">
              <a:lnSpc>
                <a:spcPct val="280000"/>
              </a:lnSpc>
              <a:buClrTx/>
              <a:buSzTx/>
              <a:buNone/>
              <a:defRPr sz="1600">
                <a:solidFill>
                  <a:srgbClr val="FFFFFF"/>
                </a:solidFill>
              </a:defRPr>
            </a:pPr>
            <a:r>
              <a:t>Pag. 32</a:t>
            </a:r>
          </a:p>
          <a:p>
            <a:pPr marL="0" indent="0">
              <a:lnSpc>
                <a:spcPct val="280000"/>
              </a:lnSpc>
              <a:buClrTx/>
              <a:buSzTx/>
              <a:buNone/>
              <a:defRPr sz="1600">
                <a:solidFill>
                  <a:srgbClr val="FFFFFF"/>
                </a:solidFill>
              </a:defRPr>
            </a:pPr>
            <a:r>
              <a:t>Pag. 48</a:t>
            </a:r>
          </a:p>
        </p:txBody>
      </p:sp>
      <p:sp>
        <p:nvSpPr>
          <p:cNvPr id="56" name="01…"/>
          <p:cNvSpPr txBox="1">
            <a:spLocks noGrp="1"/>
          </p:cNvSpPr>
          <p:nvPr>
            <p:ph type="body" sz="quarter" idx="23"/>
          </p:nvPr>
        </p:nvSpPr>
        <p:spPr>
          <a:xfrm>
            <a:off x="2590800" y="4389125"/>
            <a:ext cx="1328093" cy="4897113"/>
          </a:xfrm>
          <a:prstGeom prst="rect">
            <a:avLst/>
          </a:prstGeom>
        </p:spPr>
        <p:txBody>
          <a:bodyPr lIns="0" tIns="0" rIns="0" bIns="0" anchor="t">
            <a:spAutoFit/>
          </a:bodyPr>
          <a:lstStyle/>
          <a:p>
            <a:pPr marL="0" indent="0" defTabSz="470262">
              <a:lnSpc>
                <a:spcPct val="140000"/>
              </a:lnSpc>
              <a:spcBef>
                <a:spcPts val="0"/>
              </a:spcBef>
              <a:buSzTx/>
              <a:buNone/>
              <a:defRPr sz="4000">
                <a:solidFill>
                  <a:srgbClr val="FF5640"/>
                </a:solidFill>
              </a:defRPr>
            </a:pPr>
            <a:r>
              <a:t>01</a:t>
            </a:r>
          </a:p>
          <a:p>
            <a:pPr marL="0" indent="0" defTabSz="470262">
              <a:lnSpc>
                <a:spcPct val="140000"/>
              </a:lnSpc>
              <a:spcBef>
                <a:spcPts val="0"/>
              </a:spcBef>
              <a:buSzTx/>
              <a:buNone/>
              <a:defRPr sz="4000">
                <a:solidFill>
                  <a:srgbClr val="FF5640"/>
                </a:solidFill>
              </a:defRPr>
            </a:pPr>
            <a:r>
              <a:t>02</a:t>
            </a:r>
          </a:p>
          <a:p>
            <a:pPr marL="0" indent="0" defTabSz="470262">
              <a:lnSpc>
                <a:spcPct val="140000"/>
              </a:lnSpc>
              <a:spcBef>
                <a:spcPts val="0"/>
              </a:spcBef>
              <a:buSzTx/>
              <a:buNone/>
              <a:defRPr sz="4000">
                <a:solidFill>
                  <a:srgbClr val="FF5640"/>
                </a:solidFill>
              </a:defRPr>
            </a:pPr>
            <a:r>
              <a:t>03</a:t>
            </a:r>
          </a:p>
          <a:p>
            <a:pPr marL="0" indent="0" defTabSz="470262">
              <a:lnSpc>
                <a:spcPct val="140000"/>
              </a:lnSpc>
              <a:spcBef>
                <a:spcPts val="0"/>
              </a:spcBef>
              <a:buSzTx/>
              <a:buNone/>
              <a:defRPr sz="4000">
                <a:solidFill>
                  <a:srgbClr val="FF5640"/>
                </a:solidFill>
              </a:defRPr>
            </a:pPr>
            <a:r>
              <a:t>04</a:t>
            </a:r>
          </a:p>
          <a:p>
            <a:pPr marL="0" indent="0" defTabSz="470262">
              <a:lnSpc>
                <a:spcPct val="140000"/>
              </a:lnSpc>
              <a:spcBef>
                <a:spcPts val="0"/>
              </a:spcBef>
              <a:buSzTx/>
              <a:buNone/>
              <a:defRPr sz="4000">
                <a:solidFill>
                  <a:srgbClr val="FF5640"/>
                </a:solidFill>
              </a:defRPr>
            </a:pPr>
            <a:r>
              <a:t>05</a:t>
            </a:r>
          </a:p>
        </p:txBody>
      </p:sp>
      <p:pic>
        <p:nvPicPr>
          <p:cNvPr id="57" name="endava_symbol_RGB 1.png" descr="endava_symbol_RGB 1.png"/>
          <p:cNvPicPr>
            <a:picLocks noChangeAspect="1"/>
          </p:cNvPicPr>
          <p:nvPr userDrawn="1"/>
        </p:nvPicPr>
        <p:blipFill>
          <a:blip r:embed="rId4" cstate="screen">
            <a:alphaModFix amt="50000"/>
            <a:extLst>
              <a:ext uri="{28A0092B-C50C-407E-A947-70E740481C1C}">
                <a14:useLocalDpi xmlns:a14="http://schemas.microsoft.com/office/drawing/2010/main"/>
              </a:ext>
            </a:extLst>
          </a:blip>
          <a:srcRect/>
          <a:stretch>
            <a:fillRect/>
          </a:stretch>
        </p:blipFill>
        <p:spPr>
          <a:xfrm>
            <a:off x="23434135" y="251730"/>
            <a:ext cx="262849" cy="320676"/>
          </a:xfrm>
          <a:prstGeom prst="rect">
            <a:avLst/>
          </a:prstGeom>
          <a:ln w="12700">
            <a:miter lim="400000"/>
          </a:ln>
        </p:spPr>
      </p:pic>
      <p:sp>
        <p:nvSpPr>
          <p:cNvPr id="58"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hapter">
    <p:spTree>
      <p:nvGrpSpPr>
        <p:cNvPr id="1" name=""/>
        <p:cNvGrpSpPr/>
        <p:nvPr/>
      </p:nvGrpSpPr>
      <p:grpSpPr>
        <a:xfrm>
          <a:off x="0" y="0"/>
          <a:ext cx="0" cy="0"/>
          <a:chOff x="0" y="0"/>
          <a:chExt cx="0" cy="0"/>
        </a:xfrm>
      </p:grpSpPr>
      <p:sp>
        <p:nvSpPr>
          <p:cNvPr id="65" name="Title Text"/>
          <p:cNvSpPr txBox="1">
            <a:spLocks noGrp="1"/>
          </p:cNvSpPr>
          <p:nvPr>
            <p:ph type="title"/>
          </p:nvPr>
        </p:nvSpPr>
        <p:spPr>
          <a:xfrm>
            <a:off x="5289996" y="2795882"/>
            <a:ext cx="14122401" cy="3352801"/>
          </a:xfrm>
          <a:prstGeom prst="rect">
            <a:avLst/>
          </a:prstGeom>
        </p:spPr>
        <p:txBody>
          <a:bodyPr lIns="0" tIns="0" rIns="0" bIns="0"/>
          <a:lstStyle>
            <a:lvl1pPr>
              <a:lnSpc>
                <a:spcPct val="100000"/>
              </a:lnSpc>
              <a:spcBef>
                <a:spcPts val="0"/>
              </a:spcBef>
              <a:defRPr sz="9600" spc="0">
                <a:latin typeface="+mj-lt"/>
                <a:ea typeface="+mj-ea"/>
                <a:cs typeface="+mj-cs"/>
                <a:sym typeface="Poppins Medium"/>
              </a:defRPr>
            </a:lvl1pPr>
          </a:lstStyle>
          <a:p>
            <a:r>
              <a:t>Title Text</a:t>
            </a:r>
          </a:p>
        </p:txBody>
      </p:sp>
      <p:sp>
        <p:nvSpPr>
          <p:cNvPr id="66" name="Chapter"/>
          <p:cNvSpPr txBox="1"/>
          <p:nvPr userDrawn="1"/>
        </p:nvSpPr>
        <p:spPr>
          <a:xfrm>
            <a:off x="609600" y="1224265"/>
            <a:ext cx="1615562" cy="3556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spAutoFit/>
          </a:bodyPr>
          <a:lstStyle>
            <a:lvl1pPr>
              <a:lnSpc>
                <a:spcPct val="100000"/>
              </a:lnSpc>
            </a:lvl1pPr>
          </a:lstStyle>
          <a:p>
            <a:r>
              <a:t>Chapter</a:t>
            </a:r>
          </a:p>
        </p:txBody>
      </p:sp>
      <p:sp>
        <p:nvSpPr>
          <p:cNvPr id="67" name="01"/>
          <p:cNvSpPr txBox="1">
            <a:spLocks noGrp="1"/>
          </p:cNvSpPr>
          <p:nvPr>
            <p:ph type="body" sz="quarter" idx="21" hasCustomPrompt="1"/>
          </p:nvPr>
        </p:nvSpPr>
        <p:spPr>
          <a:xfrm>
            <a:off x="609600" y="2795879"/>
            <a:ext cx="2284402" cy="1477328"/>
          </a:xfrm>
          <a:prstGeom prst="rect">
            <a:avLst/>
          </a:prstGeom>
        </p:spPr>
        <p:txBody>
          <a:bodyPr lIns="0" tIns="0" rIns="0" bIns="0" anchor="t">
            <a:spAutoFit/>
          </a:bodyPr>
          <a:lstStyle>
            <a:lvl1pPr marL="0" indent="0" defTabSz="470262">
              <a:lnSpc>
                <a:spcPct val="100000"/>
              </a:lnSpc>
              <a:spcBef>
                <a:spcPts val="0"/>
              </a:spcBef>
              <a:buClrTx/>
              <a:buSzTx/>
              <a:buNone/>
              <a:defRPr sz="9600">
                <a:latin typeface="+mj-lt"/>
                <a:ea typeface="+mj-ea"/>
                <a:cs typeface="+mj-cs"/>
                <a:sym typeface="Poppins Medium"/>
              </a:defRPr>
            </a:lvl1pPr>
          </a:lstStyle>
          <a:p>
            <a:r>
              <a:t>01</a:t>
            </a:r>
          </a:p>
        </p:txBody>
      </p:sp>
      <p:sp>
        <p:nvSpPr>
          <p:cNvPr id="68" name="Insert presentation name or subtitle here if needed"/>
          <p:cNvSpPr txBox="1">
            <a:spLocks noGrp="1"/>
          </p:cNvSpPr>
          <p:nvPr>
            <p:ph type="body" sz="quarter" idx="22" hasCustomPrompt="1"/>
          </p:nvPr>
        </p:nvSpPr>
        <p:spPr>
          <a:xfrm>
            <a:off x="5301233" y="1224265"/>
            <a:ext cx="7253966" cy="307777"/>
          </a:xfrm>
          <a:prstGeom prst="rect">
            <a:avLst/>
          </a:prstGeom>
        </p:spPr>
        <p:txBody>
          <a:bodyPr lIns="0" tIns="0" rIns="0" bIns="0" anchor="t">
            <a:spAutoFit/>
          </a:bodyPr>
          <a:lstStyle>
            <a:lvl1pPr marL="0" indent="0">
              <a:lnSpc>
                <a:spcPct val="100000"/>
              </a:lnSpc>
              <a:buClrTx/>
              <a:buSzTx/>
              <a:buNone/>
              <a:defRPr sz="2000"/>
            </a:lvl1pPr>
          </a:lstStyle>
          <a:p>
            <a:r>
              <a:rPr dirty="0"/>
              <a:t>Insert subtitle if needed</a:t>
            </a:r>
          </a:p>
        </p:txBody>
      </p:sp>
      <p:pic>
        <p:nvPicPr>
          <p:cNvPr id="69" name="endava_brandshape_RGB_red.svg" descr="endava_brandshape_RGB_red.svg"/>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916214" y="3241710"/>
            <a:ext cx="1142575" cy="457030"/>
          </a:xfrm>
          <a:prstGeom prst="rect">
            <a:avLst/>
          </a:prstGeom>
          <a:ln w="12700">
            <a:miter lim="400000"/>
          </a:ln>
        </p:spPr>
      </p:pic>
      <p:sp>
        <p:nvSpPr>
          <p:cNvPr id="70" name="Slide Number"/>
          <p:cNvSpPr txBox="1">
            <a:spLocks noGrp="1"/>
          </p:cNvSpPr>
          <p:nvPr>
            <p:ph type="sldNum" sz="quarter" idx="2"/>
          </p:nvPr>
        </p:nvSpPr>
        <p:spPr>
          <a:xfrm>
            <a:off x="11878716" y="13081000"/>
            <a:ext cx="306935" cy="398779"/>
          </a:xfrm>
          <a:prstGeom prst="rect">
            <a:avLst/>
          </a:prstGeom>
        </p:spPr>
        <p:txBody>
          <a:bodyPr lIns="50800" tIns="50800" rIns="50800" bIns="50800"/>
          <a:lstStyle/>
          <a:p>
            <a:fld id="{86CB4B4D-7CA3-9044-876B-883B54F8677D}" type="slidenum">
              <a:rPr/>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hapter dark">
    <p:bg>
      <p:bgPr>
        <a:solidFill>
          <a:srgbClr val="192B37"/>
        </a:solidFill>
        <a:effectLst/>
      </p:bgPr>
    </p:bg>
    <p:spTree>
      <p:nvGrpSpPr>
        <p:cNvPr id="1" name=""/>
        <p:cNvGrpSpPr/>
        <p:nvPr/>
      </p:nvGrpSpPr>
      <p:grpSpPr>
        <a:xfrm>
          <a:off x="0" y="0"/>
          <a:ext cx="0" cy="0"/>
          <a:chOff x="0" y="0"/>
          <a:chExt cx="0" cy="0"/>
        </a:xfrm>
      </p:grpSpPr>
      <p:sp>
        <p:nvSpPr>
          <p:cNvPr id="77" name="Title Text"/>
          <p:cNvSpPr txBox="1">
            <a:spLocks noGrp="1"/>
          </p:cNvSpPr>
          <p:nvPr>
            <p:ph type="title"/>
          </p:nvPr>
        </p:nvSpPr>
        <p:spPr>
          <a:xfrm>
            <a:off x="5289996" y="2795882"/>
            <a:ext cx="14122401" cy="3352801"/>
          </a:xfrm>
          <a:prstGeom prst="rect">
            <a:avLst/>
          </a:prstGeom>
        </p:spPr>
        <p:txBody>
          <a:bodyPr lIns="0" tIns="0" rIns="0" bIns="0"/>
          <a:lstStyle>
            <a:lvl1pPr>
              <a:lnSpc>
                <a:spcPct val="100000"/>
              </a:lnSpc>
              <a:spcBef>
                <a:spcPts val="0"/>
              </a:spcBef>
              <a:defRPr sz="9600" spc="0">
                <a:solidFill>
                  <a:srgbClr val="FFFFFF"/>
                </a:solidFill>
                <a:latin typeface="+mj-lt"/>
                <a:ea typeface="+mj-ea"/>
                <a:cs typeface="+mj-cs"/>
                <a:sym typeface="Poppins Medium"/>
              </a:defRPr>
            </a:lvl1pPr>
          </a:lstStyle>
          <a:p>
            <a:r>
              <a:t>Title Text</a:t>
            </a:r>
          </a:p>
        </p:txBody>
      </p:sp>
      <p:sp>
        <p:nvSpPr>
          <p:cNvPr id="79" name="Chapter"/>
          <p:cNvSpPr txBox="1"/>
          <p:nvPr/>
        </p:nvSpPr>
        <p:spPr>
          <a:xfrm>
            <a:off x="609600" y="1224265"/>
            <a:ext cx="1615562" cy="3556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spAutoFit/>
          </a:bodyPr>
          <a:lstStyle>
            <a:lvl1pPr>
              <a:defRPr>
                <a:solidFill>
                  <a:srgbClr val="FFFFFF"/>
                </a:solidFill>
              </a:defRPr>
            </a:lvl1pPr>
          </a:lstStyle>
          <a:p>
            <a:r>
              <a:t>Chapter</a:t>
            </a:r>
          </a:p>
        </p:txBody>
      </p:sp>
      <p:sp>
        <p:nvSpPr>
          <p:cNvPr id="80" name="01"/>
          <p:cNvSpPr txBox="1">
            <a:spLocks noGrp="1"/>
          </p:cNvSpPr>
          <p:nvPr>
            <p:ph type="body" sz="quarter" idx="21" hasCustomPrompt="1"/>
          </p:nvPr>
        </p:nvSpPr>
        <p:spPr>
          <a:xfrm>
            <a:off x="609600" y="2795879"/>
            <a:ext cx="2284402" cy="1477328"/>
          </a:xfrm>
          <a:prstGeom prst="rect">
            <a:avLst/>
          </a:prstGeom>
        </p:spPr>
        <p:txBody>
          <a:bodyPr lIns="0" tIns="0" rIns="0" bIns="0" anchor="t">
            <a:spAutoFit/>
          </a:bodyPr>
          <a:lstStyle>
            <a:lvl1pPr marL="0" indent="0" defTabSz="470262">
              <a:lnSpc>
                <a:spcPct val="100000"/>
              </a:lnSpc>
              <a:spcBef>
                <a:spcPts val="0"/>
              </a:spcBef>
              <a:buClrTx/>
              <a:buSzTx/>
              <a:buNone/>
              <a:defRPr sz="9600">
                <a:solidFill>
                  <a:srgbClr val="FFFFFF"/>
                </a:solidFill>
                <a:latin typeface="+mj-lt"/>
                <a:ea typeface="+mj-ea"/>
                <a:cs typeface="+mj-cs"/>
                <a:sym typeface="Poppins Medium"/>
              </a:defRPr>
            </a:lvl1pPr>
          </a:lstStyle>
          <a:p>
            <a:r>
              <a:t>01</a:t>
            </a:r>
          </a:p>
        </p:txBody>
      </p:sp>
      <p:sp>
        <p:nvSpPr>
          <p:cNvPr id="81" name="Insert presentation name or subtitle here if needed"/>
          <p:cNvSpPr txBox="1">
            <a:spLocks noGrp="1"/>
          </p:cNvSpPr>
          <p:nvPr>
            <p:ph type="body" sz="quarter" idx="22" hasCustomPrompt="1"/>
          </p:nvPr>
        </p:nvSpPr>
        <p:spPr>
          <a:xfrm>
            <a:off x="5301233" y="1224265"/>
            <a:ext cx="7253966" cy="355600"/>
          </a:xfrm>
          <a:prstGeom prst="rect">
            <a:avLst/>
          </a:prstGeom>
        </p:spPr>
        <p:txBody>
          <a:bodyPr lIns="0" tIns="0" rIns="0" bIns="0" anchor="t">
            <a:spAutoFit/>
          </a:bodyPr>
          <a:lstStyle>
            <a:lvl1pPr marL="0" indent="0">
              <a:buClrTx/>
              <a:buSzTx/>
              <a:buNone/>
              <a:defRPr sz="2000">
                <a:solidFill>
                  <a:srgbClr val="FFFFFF"/>
                </a:solidFill>
              </a:defRPr>
            </a:lvl1pPr>
          </a:lstStyle>
          <a:p>
            <a:r>
              <a:rPr dirty="0"/>
              <a:t>Insert subtitle if needed</a:t>
            </a:r>
          </a:p>
        </p:txBody>
      </p:sp>
      <p:sp>
        <p:nvSpPr>
          <p:cNvPr id="82" name="Slide Number"/>
          <p:cNvSpPr txBox="1">
            <a:spLocks noGrp="1"/>
          </p:cNvSpPr>
          <p:nvPr>
            <p:ph type="sldNum" sz="quarter" idx="2"/>
          </p:nvPr>
        </p:nvSpPr>
        <p:spPr>
          <a:xfrm>
            <a:off x="11878716" y="13081000"/>
            <a:ext cx="306935" cy="398779"/>
          </a:xfrm>
          <a:prstGeom prst="rect">
            <a:avLst/>
          </a:prstGeom>
        </p:spPr>
        <p:txBody>
          <a:bodyPr lIns="50800" tIns="50800" rIns="50800" bIns="50800"/>
          <a:lstStyle/>
          <a:p>
            <a:fld id="{86CB4B4D-7CA3-9044-876B-883B54F8677D}" type="slidenum">
              <a:rPr/>
              <a:t>‹#›</a:t>
            </a:fld>
            <a:endParaRPr/>
          </a:p>
        </p:txBody>
      </p:sp>
      <p:pic>
        <p:nvPicPr>
          <p:cNvPr id="2" name="endava_brandshape_RGB_red.svg" descr="endava_brandshape_RGB_red.svg">
            <a:extLst>
              <a:ext uri="{FF2B5EF4-FFF2-40B4-BE49-F238E27FC236}">
                <a16:creationId xmlns:a16="http://schemas.microsoft.com/office/drawing/2014/main" id="{A3C3B100-D67A-6A1F-71CF-0AE68AAFE9C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916214" y="3241710"/>
            <a:ext cx="1142575" cy="457030"/>
          </a:xfrm>
          <a:prstGeom prst="rect">
            <a:avLst/>
          </a:prstGeom>
          <a:ln w="12700">
            <a:miter lim="400000"/>
          </a:ln>
        </p:spPr>
      </p:pic>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Header and Footer">
    <p:spTree>
      <p:nvGrpSpPr>
        <p:cNvPr id="1" name=""/>
        <p:cNvGrpSpPr/>
        <p:nvPr/>
      </p:nvGrpSpPr>
      <p:grpSpPr>
        <a:xfrm>
          <a:off x="0" y="0"/>
          <a:ext cx="0" cy="0"/>
          <a:chOff x="0" y="0"/>
          <a:chExt cx="0" cy="0"/>
        </a:xfrm>
      </p:grpSpPr>
      <p:sp>
        <p:nvSpPr>
          <p:cNvPr id="90" name="© Copyright 2023 Endava  •  Confidential and Proprietary  •  Version 1.0"/>
          <p:cNvSpPr txBox="1"/>
          <p:nvPr/>
        </p:nvSpPr>
        <p:spPr>
          <a:xfrm>
            <a:off x="610588" y="13100216"/>
            <a:ext cx="11290258" cy="31496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spAutoFit/>
          </a:bodyPr>
          <a:lstStyle>
            <a:lvl1pPr>
              <a:lnSpc>
                <a:spcPct val="100000"/>
              </a:lnSpc>
              <a:spcBef>
                <a:spcPts val="0"/>
              </a:spcBef>
              <a:defRPr sz="1200" spc="0">
                <a:solidFill>
                  <a:srgbClr val="8C959B"/>
                </a:solidFill>
              </a:defRPr>
            </a:lvl1pPr>
          </a:lstStyle>
          <a:p>
            <a:r>
              <a:t>© Copyright 2026 Endava  •  Confidential and Proprietary  •  TAP26 Juniors training</a:t>
            </a:r>
          </a:p>
        </p:txBody>
      </p:sp>
      <p:sp>
        <p:nvSpPr>
          <p:cNvPr id="91" name="Insert chapter name"/>
          <p:cNvSpPr>
            <a:spLocks noGrp="1"/>
          </p:cNvSpPr>
          <p:nvPr>
            <p:ph type="body" sz="quarter" idx="21" hasCustomPrompt="1"/>
          </p:nvPr>
        </p:nvSpPr>
        <p:spPr>
          <a:xfrm>
            <a:off x="609599" y="207804"/>
            <a:ext cx="2154529" cy="405189"/>
          </a:xfrm>
          <a:prstGeom prst="roundRect">
            <a:avLst>
              <a:gd name="adj" fmla="val 50000"/>
            </a:avLst>
          </a:prstGeom>
          <a:solidFill>
            <a:srgbClr val="FFFFFF">
              <a:alpha val="0"/>
            </a:srgbClr>
          </a:solidFill>
          <a:ln>
            <a:solidFill>
              <a:srgbClr val="192B37"/>
            </a:solidFill>
          </a:ln>
        </p:spPr>
        <p:txBody>
          <a:bodyPr wrap="none" lIns="108000" tIns="36000" rIns="108000" bIns="36000">
            <a:spAutoFit/>
          </a:bodyPr>
          <a:lstStyle>
            <a:lvl1pPr marL="0" indent="0">
              <a:lnSpc>
                <a:spcPct val="100000"/>
              </a:lnSpc>
              <a:spcBef>
                <a:spcPts val="0"/>
              </a:spcBef>
              <a:buClrTx/>
              <a:buSzTx/>
              <a:buNone/>
              <a:defRPr sz="1400"/>
            </a:lvl1pPr>
          </a:lstStyle>
          <a:p>
            <a:endParaRPr/>
          </a:p>
        </p:txBody>
      </p:sp>
      <p:sp>
        <p:nvSpPr>
          <p:cNvPr id="93" name="Slide Number"/>
          <p:cNvSpPr txBox="1">
            <a:spLocks noGrp="1"/>
          </p:cNvSpPr>
          <p:nvPr>
            <p:ph type="sldNum" sz="quarter" idx="2"/>
          </p:nvPr>
        </p:nvSpPr>
        <p:spPr>
          <a:xfrm>
            <a:off x="23489402" y="13134586"/>
            <a:ext cx="288542" cy="246221"/>
          </a:xfrm>
          <a:prstGeom prst="rect">
            <a:avLst/>
          </a:prstGeom>
        </p:spPr>
        <p:txBody>
          <a:bodyPr anchor="ctr"/>
          <a:lstStyle/>
          <a:p>
            <a:fld id="{86CB4B4D-7CA3-9044-876B-883B54F8677D}" type="slidenum">
              <a:rPr/>
              <a:t>‹#›</a:t>
            </a:fld>
            <a:endParaRPr/>
          </a:p>
        </p:txBody>
      </p:sp>
      <p:pic>
        <p:nvPicPr>
          <p:cNvPr id="2" name="endava_symbol_black_CMYK.pdf" descr="endava_symbol_black_CMYK.pdf">
            <a:extLst>
              <a:ext uri="{FF2B5EF4-FFF2-40B4-BE49-F238E27FC236}">
                <a16:creationId xmlns:a16="http://schemas.microsoft.com/office/drawing/2014/main" id="{1C45B8D2-EBD5-5A95-3453-C9D68B49AA43}"/>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rcRect/>
          <a:stretch>
            <a:fillRect/>
          </a:stretch>
        </p:blipFill>
        <p:spPr>
          <a:xfrm>
            <a:off x="23434135" y="251730"/>
            <a:ext cx="262850" cy="320676"/>
          </a:xfrm>
          <a:prstGeom prst="rect">
            <a:avLst/>
          </a:prstGeom>
          <a:ln w="12700">
            <a:miter lim="400000"/>
          </a:ln>
        </p:spPr>
      </p:pic>
      <p:sp>
        <p:nvSpPr>
          <p:cNvPr id="3" name="Insert presentation name">
            <a:extLst>
              <a:ext uri="{FF2B5EF4-FFF2-40B4-BE49-F238E27FC236}">
                <a16:creationId xmlns:a16="http://schemas.microsoft.com/office/drawing/2014/main" id="{0EA579C2-A960-9895-D849-1816496962FF}"/>
              </a:ext>
            </a:extLst>
          </p:cNvPr>
          <p:cNvSpPr txBox="1"/>
          <p:nvPr userDrawn="1"/>
        </p:nvSpPr>
        <p:spPr>
          <a:xfrm>
            <a:off x="16759829" y="236808"/>
            <a:ext cx="6570620" cy="35052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spAutoFit/>
          </a:bodyPr>
          <a:lstStyle>
            <a:lvl1pPr algn="r">
              <a:spcBef>
                <a:spcPts val="3000"/>
              </a:spcBef>
              <a:defRPr sz="1400"/>
            </a:lvl1pPr>
          </a:lstStyle>
          <a:p>
            <a:r>
              <a:rPr lang="en-US"/>
              <a:t>TAP26 Juniors · Scripting Session</a:t>
            </a:r>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Header and Footer Black">
    <p:bg>
      <p:bgPr>
        <a:solidFill>
          <a:srgbClr val="192B37"/>
        </a:solidFill>
        <a:effectLst/>
      </p:bgPr>
    </p:bg>
    <p:spTree>
      <p:nvGrpSpPr>
        <p:cNvPr id="1" name=""/>
        <p:cNvGrpSpPr/>
        <p:nvPr/>
      </p:nvGrpSpPr>
      <p:grpSpPr>
        <a:xfrm>
          <a:off x="0" y="0"/>
          <a:ext cx="0" cy="0"/>
          <a:chOff x="0" y="0"/>
          <a:chExt cx="0" cy="0"/>
        </a:xfrm>
      </p:grpSpPr>
      <p:pic>
        <p:nvPicPr>
          <p:cNvPr id="100" name="endava_symbol_RGB 1.png" descr="endava_symbol_RGB 1.png"/>
          <p:cNvPicPr>
            <a:picLocks noChangeAspect="1"/>
          </p:cNvPicPr>
          <p:nvPr userDrawn="1"/>
        </p:nvPicPr>
        <p:blipFill>
          <a:blip r:embed="rId2" cstate="screen">
            <a:alphaModFix amt="50000"/>
            <a:extLst>
              <a:ext uri="{28A0092B-C50C-407E-A947-70E740481C1C}">
                <a14:useLocalDpi xmlns:a14="http://schemas.microsoft.com/office/drawing/2010/main"/>
              </a:ext>
            </a:extLst>
          </a:blip>
          <a:srcRect/>
          <a:stretch>
            <a:fillRect/>
          </a:stretch>
        </p:blipFill>
        <p:spPr>
          <a:xfrm>
            <a:off x="23434135" y="251730"/>
            <a:ext cx="262849" cy="320676"/>
          </a:xfrm>
          <a:prstGeom prst="rect">
            <a:avLst/>
          </a:prstGeom>
          <a:ln w="12700">
            <a:miter lim="400000"/>
          </a:ln>
        </p:spPr>
      </p:pic>
      <p:sp>
        <p:nvSpPr>
          <p:cNvPr id="101" name="© Copyright 2023 Endava  •  Confidential and Proprietary  •  Version 1.0"/>
          <p:cNvSpPr txBox="1"/>
          <p:nvPr/>
        </p:nvSpPr>
        <p:spPr>
          <a:xfrm>
            <a:off x="610588" y="13100216"/>
            <a:ext cx="11290258" cy="31496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spAutoFit/>
          </a:bodyPr>
          <a:lstStyle>
            <a:lvl1pPr>
              <a:lnSpc>
                <a:spcPct val="100000"/>
              </a:lnSpc>
              <a:spcBef>
                <a:spcPts val="0"/>
              </a:spcBef>
              <a:defRPr sz="1200" spc="0">
                <a:solidFill>
                  <a:srgbClr val="8C959B"/>
                </a:solidFill>
              </a:defRPr>
            </a:lvl1pPr>
          </a:lstStyle>
          <a:p>
            <a:r>
              <a:t>© Copyright 2026 Endava  •  Confidential and Proprietary  •  TAP26 Juniors training</a:t>
            </a:r>
          </a:p>
        </p:txBody>
      </p:sp>
      <p:sp>
        <p:nvSpPr>
          <p:cNvPr id="103" name="Insert presentation name"/>
          <p:cNvSpPr txBox="1"/>
          <p:nvPr/>
        </p:nvSpPr>
        <p:spPr>
          <a:xfrm>
            <a:off x="16759829" y="236808"/>
            <a:ext cx="6570620" cy="35052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spAutoFit/>
          </a:bodyPr>
          <a:lstStyle>
            <a:lvl1pPr algn="r">
              <a:spcBef>
                <a:spcPts val="3000"/>
              </a:spcBef>
              <a:defRPr sz="1400">
                <a:solidFill>
                  <a:srgbClr val="FFFFFF"/>
                </a:solidFill>
              </a:defRPr>
            </a:lvl1pPr>
          </a:lstStyle>
          <a:p>
            <a:r>
              <a:rPr lang="en-US"/>
              <a:t>TAP26 Juniors · Scripting Session</a:t>
            </a:r>
            <a:endParaRPr/>
          </a:p>
        </p:txBody>
      </p:sp>
      <p:sp>
        <p:nvSpPr>
          <p:cNvPr id="104" name="Slide Number"/>
          <p:cNvSpPr txBox="1">
            <a:spLocks noGrp="1"/>
          </p:cNvSpPr>
          <p:nvPr>
            <p:ph type="sldNum" sz="quarter" idx="2"/>
          </p:nvPr>
        </p:nvSpPr>
        <p:spPr>
          <a:xfrm>
            <a:off x="23489402" y="13134586"/>
            <a:ext cx="288542" cy="246221"/>
          </a:xfrm>
          <a:prstGeom prst="rect">
            <a:avLst/>
          </a:prstGeom>
        </p:spPr>
        <p:txBody>
          <a:bodyPr anchor="ctr"/>
          <a:lstStyle/>
          <a:p>
            <a:fld id="{86CB4B4D-7CA3-9044-876B-883B54F8677D}" type="slidenum">
              <a:rPr/>
              <a:t>‹#›</a:t>
            </a:fld>
            <a:endParaRPr/>
          </a:p>
        </p:txBody>
      </p:sp>
      <p:sp>
        <p:nvSpPr>
          <p:cNvPr id="2" name="Insert chapter name">
            <a:extLst>
              <a:ext uri="{FF2B5EF4-FFF2-40B4-BE49-F238E27FC236}">
                <a16:creationId xmlns:a16="http://schemas.microsoft.com/office/drawing/2014/main" id="{9F4D282D-D29D-3AED-1F6C-6CE2AE9FD156}"/>
              </a:ext>
            </a:extLst>
          </p:cNvPr>
          <p:cNvSpPr>
            <a:spLocks noGrp="1"/>
          </p:cNvSpPr>
          <p:nvPr>
            <p:ph type="body" sz="quarter" idx="21" hasCustomPrompt="1"/>
          </p:nvPr>
        </p:nvSpPr>
        <p:spPr>
          <a:xfrm>
            <a:off x="609599" y="207804"/>
            <a:ext cx="2154529" cy="405189"/>
          </a:xfrm>
          <a:prstGeom prst="roundRect">
            <a:avLst>
              <a:gd name="adj" fmla="val 50000"/>
            </a:avLst>
          </a:prstGeom>
          <a:solidFill>
            <a:srgbClr val="FFFFFF">
              <a:alpha val="0"/>
            </a:srgbClr>
          </a:solidFill>
          <a:ln>
            <a:solidFill>
              <a:srgbClr val="FFFFFF"/>
            </a:solidFill>
          </a:ln>
        </p:spPr>
        <p:txBody>
          <a:bodyPr wrap="none" lIns="108000" tIns="36000" rIns="108000" bIns="36000">
            <a:spAutoFit/>
          </a:bodyPr>
          <a:lstStyle>
            <a:lvl1pPr marL="0" indent="0">
              <a:lnSpc>
                <a:spcPct val="100000"/>
              </a:lnSpc>
              <a:spcBef>
                <a:spcPts val="0"/>
              </a:spcBef>
              <a:buClrTx/>
              <a:buSzTx/>
              <a:buNone/>
              <a:defRPr sz="1400">
                <a:solidFill>
                  <a:srgbClr val="FFFFFF"/>
                </a:solidFill>
              </a:defRPr>
            </a:lvl1pPr>
          </a:lstStyle>
          <a:p>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Header">
    <p:spTree>
      <p:nvGrpSpPr>
        <p:cNvPr id="1" name=""/>
        <p:cNvGrpSpPr/>
        <p:nvPr/>
      </p:nvGrpSpPr>
      <p:grpSpPr>
        <a:xfrm>
          <a:off x="0" y="0"/>
          <a:ext cx="0" cy="0"/>
          <a:chOff x="0" y="0"/>
          <a:chExt cx="0" cy="0"/>
        </a:xfrm>
      </p:grpSpPr>
      <p:sp>
        <p:nvSpPr>
          <p:cNvPr id="114" name="Slide Number"/>
          <p:cNvSpPr txBox="1">
            <a:spLocks noGrp="1"/>
          </p:cNvSpPr>
          <p:nvPr>
            <p:ph type="sldNum" sz="quarter" idx="2"/>
          </p:nvPr>
        </p:nvSpPr>
        <p:spPr>
          <a:xfrm>
            <a:off x="23489402" y="13132800"/>
            <a:ext cx="288542" cy="246221"/>
          </a:xfrm>
          <a:prstGeom prst="rect">
            <a:avLst/>
          </a:prstGeom>
        </p:spPr>
        <p:txBody>
          <a:bodyPr anchor="ctr"/>
          <a:lstStyle/>
          <a:p>
            <a:fld id="{86CB4B4D-7CA3-9044-876B-883B54F8677D}" type="slidenum">
              <a:rPr/>
              <a:t>‹#›</a:t>
            </a:fld>
            <a:endParaRPr/>
          </a:p>
        </p:txBody>
      </p:sp>
      <p:sp>
        <p:nvSpPr>
          <p:cNvPr id="2" name="Insert chapter name">
            <a:extLst>
              <a:ext uri="{FF2B5EF4-FFF2-40B4-BE49-F238E27FC236}">
                <a16:creationId xmlns:a16="http://schemas.microsoft.com/office/drawing/2014/main" id="{24775FF5-37AF-0C2F-8BA7-F619D9BD4521}"/>
              </a:ext>
            </a:extLst>
          </p:cNvPr>
          <p:cNvSpPr>
            <a:spLocks noGrp="1"/>
          </p:cNvSpPr>
          <p:nvPr>
            <p:ph type="body" sz="quarter" idx="21" hasCustomPrompt="1"/>
          </p:nvPr>
        </p:nvSpPr>
        <p:spPr>
          <a:xfrm>
            <a:off x="609599" y="207804"/>
            <a:ext cx="2154529" cy="405189"/>
          </a:xfrm>
          <a:prstGeom prst="roundRect">
            <a:avLst>
              <a:gd name="adj" fmla="val 50000"/>
            </a:avLst>
          </a:prstGeom>
          <a:solidFill>
            <a:srgbClr val="FFFFFF">
              <a:alpha val="0"/>
            </a:srgbClr>
          </a:solidFill>
          <a:ln>
            <a:solidFill>
              <a:srgbClr val="192B37"/>
            </a:solidFill>
          </a:ln>
        </p:spPr>
        <p:txBody>
          <a:bodyPr wrap="none" lIns="108000" tIns="36000" rIns="108000" bIns="36000">
            <a:spAutoFit/>
          </a:bodyPr>
          <a:lstStyle>
            <a:lvl1pPr marL="0" indent="0">
              <a:lnSpc>
                <a:spcPct val="100000"/>
              </a:lnSpc>
              <a:spcBef>
                <a:spcPts val="0"/>
              </a:spcBef>
              <a:buClrTx/>
              <a:buSzTx/>
              <a:buNone/>
              <a:defRPr sz="1400"/>
            </a:lvl1pPr>
          </a:lstStyle>
          <a:p>
            <a:endParaRPr/>
          </a:p>
        </p:txBody>
      </p:sp>
      <p:pic>
        <p:nvPicPr>
          <p:cNvPr id="3" name="endava_symbol_black_CMYK.pdf" descr="endava_symbol_black_CMYK.pdf">
            <a:extLst>
              <a:ext uri="{FF2B5EF4-FFF2-40B4-BE49-F238E27FC236}">
                <a16:creationId xmlns:a16="http://schemas.microsoft.com/office/drawing/2014/main" id="{4C390C19-143A-3839-48D1-DF330F53DC97}"/>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rcRect/>
          <a:stretch>
            <a:fillRect/>
          </a:stretch>
        </p:blipFill>
        <p:spPr>
          <a:xfrm>
            <a:off x="23434135" y="251730"/>
            <a:ext cx="262850" cy="320676"/>
          </a:xfrm>
          <a:prstGeom prst="rect">
            <a:avLst/>
          </a:prstGeom>
          <a:ln w="12700">
            <a:miter lim="400000"/>
          </a:ln>
        </p:spPr>
      </p:pic>
      <p:sp>
        <p:nvSpPr>
          <p:cNvPr id="4" name="Insert presentation name">
            <a:extLst>
              <a:ext uri="{FF2B5EF4-FFF2-40B4-BE49-F238E27FC236}">
                <a16:creationId xmlns:a16="http://schemas.microsoft.com/office/drawing/2014/main" id="{714B42F7-4105-9012-F91A-96C9765E2E42}"/>
              </a:ext>
            </a:extLst>
          </p:cNvPr>
          <p:cNvSpPr txBox="1"/>
          <p:nvPr userDrawn="1"/>
        </p:nvSpPr>
        <p:spPr>
          <a:xfrm>
            <a:off x="16759829" y="236808"/>
            <a:ext cx="6570620" cy="35052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spAutoFit/>
          </a:bodyPr>
          <a:lstStyle>
            <a:lvl1pPr algn="r">
              <a:spcBef>
                <a:spcPts val="3000"/>
              </a:spcBef>
              <a:defRPr sz="1400"/>
            </a:lvl1pPr>
          </a:lstStyle>
          <a:p>
            <a:r>
              <a:rPr lang="en-US"/>
              <a:t>TAP26 Juniors · Scripting Session</a:t>
            </a:r>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Header Black">
    <p:bg>
      <p:bgPr>
        <a:solidFill>
          <a:srgbClr val="192B37"/>
        </a:solidFill>
        <a:effectLst/>
      </p:bgPr>
    </p:bg>
    <p:spTree>
      <p:nvGrpSpPr>
        <p:cNvPr id="1" name=""/>
        <p:cNvGrpSpPr/>
        <p:nvPr/>
      </p:nvGrpSpPr>
      <p:grpSpPr>
        <a:xfrm>
          <a:off x="0" y="0"/>
          <a:ext cx="0" cy="0"/>
          <a:chOff x="0" y="0"/>
          <a:chExt cx="0" cy="0"/>
        </a:xfrm>
      </p:grpSpPr>
      <p:pic>
        <p:nvPicPr>
          <p:cNvPr id="121" name="endava_symbol_RGB 1.png" descr="endava_symbol_RGB 1.png"/>
          <p:cNvPicPr>
            <a:picLocks noChangeAspect="1"/>
          </p:cNvPicPr>
          <p:nvPr/>
        </p:nvPicPr>
        <p:blipFill>
          <a:blip r:embed="rId2" cstate="screen">
            <a:alphaModFix amt="50000"/>
            <a:extLst>
              <a:ext uri="{28A0092B-C50C-407E-A947-70E740481C1C}">
                <a14:useLocalDpi xmlns:a14="http://schemas.microsoft.com/office/drawing/2010/main"/>
              </a:ext>
            </a:extLst>
          </a:blip>
          <a:srcRect/>
          <a:stretch>
            <a:fillRect/>
          </a:stretch>
        </p:blipFill>
        <p:spPr>
          <a:xfrm>
            <a:off x="23434135" y="251730"/>
            <a:ext cx="262849" cy="320676"/>
          </a:xfrm>
          <a:prstGeom prst="rect">
            <a:avLst/>
          </a:prstGeom>
          <a:ln w="12700">
            <a:miter lim="400000"/>
          </a:ln>
        </p:spPr>
      </p:pic>
      <p:sp>
        <p:nvSpPr>
          <p:cNvPr id="123" name="Insert presentation name"/>
          <p:cNvSpPr txBox="1"/>
          <p:nvPr/>
        </p:nvSpPr>
        <p:spPr>
          <a:xfrm>
            <a:off x="16759829" y="236808"/>
            <a:ext cx="6570620" cy="35052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spAutoFit/>
          </a:bodyPr>
          <a:lstStyle>
            <a:lvl1pPr algn="r">
              <a:spcBef>
                <a:spcPts val="3000"/>
              </a:spcBef>
              <a:defRPr sz="1400">
                <a:solidFill>
                  <a:srgbClr val="FFFFFF"/>
                </a:solidFill>
              </a:defRPr>
            </a:lvl1pPr>
          </a:lstStyle>
          <a:p>
            <a:r>
              <a:rPr lang="en-US"/>
              <a:t>TAP26 Juniors · Scripting Session</a:t>
            </a:r>
            <a:endParaRPr/>
          </a:p>
        </p:txBody>
      </p:sp>
      <p:sp>
        <p:nvSpPr>
          <p:cNvPr id="124" name="Slide Number"/>
          <p:cNvSpPr txBox="1">
            <a:spLocks noGrp="1"/>
          </p:cNvSpPr>
          <p:nvPr>
            <p:ph type="sldNum" sz="quarter" idx="2"/>
          </p:nvPr>
        </p:nvSpPr>
        <p:spPr>
          <a:xfrm>
            <a:off x="23489402" y="13132800"/>
            <a:ext cx="288542" cy="246221"/>
          </a:xfrm>
          <a:prstGeom prst="rect">
            <a:avLst/>
          </a:prstGeom>
        </p:spPr>
        <p:txBody>
          <a:bodyPr anchor="ctr"/>
          <a:lstStyle/>
          <a:p>
            <a:fld id="{86CB4B4D-7CA3-9044-876B-883B54F8677D}" type="slidenum">
              <a:rPr/>
              <a:t>‹#›</a:t>
            </a:fld>
            <a:endParaRPr/>
          </a:p>
        </p:txBody>
      </p:sp>
      <p:sp>
        <p:nvSpPr>
          <p:cNvPr id="3" name="Insert chapter name">
            <a:extLst>
              <a:ext uri="{FF2B5EF4-FFF2-40B4-BE49-F238E27FC236}">
                <a16:creationId xmlns:a16="http://schemas.microsoft.com/office/drawing/2014/main" id="{F62A33C5-6FC7-36AC-AC44-63EAB33DE177}"/>
              </a:ext>
            </a:extLst>
          </p:cNvPr>
          <p:cNvSpPr>
            <a:spLocks noGrp="1"/>
          </p:cNvSpPr>
          <p:nvPr>
            <p:ph type="body" sz="quarter" idx="21" hasCustomPrompt="1"/>
          </p:nvPr>
        </p:nvSpPr>
        <p:spPr>
          <a:xfrm>
            <a:off x="609599" y="207804"/>
            <a:ext cx="2154529" cy="405189"/>
          </a:xfrm>
          <a:prstGeom prst="roundRect">
            <a:avLst>
              <a:gd name="adj" fmla="val 50000"/>
            </a:avLst>
          </a:prstGeom>
          <a:solidFill>
            <a:srgbClr val="FFFFFF">
              <a:alpha val="0"/>
            </a:srgbClr>
          </a:solidFill>
          <a:ln>
            <a:solidFill>
              <a:srgbClr val="FFFFFF"/>
            </a:solidFill>
          </a:ln>
        </p:spPr>
        <p:txBody>
          <a:bodyPr wrap="none" lIns="108000" tIns="36000" rIns="108000" bIns="36000">
            <a:spAutoFit/>
          </a:bodyPr>
          <a:lstStyle>
            <a:lvl1pPr marL="0" indent="0">
              <a:lnSpc>
                <a:spcPct val="100000"/>
              </a:lnSpc>
              <a:spcBef>
                <a:spcPts val="0"/>
              </a:spcBef>
              <a:buClrTx/>
              <a:buSzTx/>
              <a:buNone/>
              <a:defRPr sz="1400">
                <a:solidFill>
                  <a:srgbClr val="FFFFFF"/>
                </a:solidFill>
              </a:defRPr>
            </a:lvl1pPr>
          </a:lstStyle>
          <a:p>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Minimal Header">
    <p:spTree>
      <p:nvGrpSpPr>
        <p:cNvPr id="1" name=""/>
        <p:cNvGrpSpPr/>
        <p:nvPr/>
      </p:nvGrpSpPr>
      <p:grpSpPr>
        <a:xfrm>
          <a:off x="0" y="0"/>
          <a:ext cx="0" cy="0"/>
          <a:chOff x="0" y="0"/>
          <a:chExt cx="0" cy="0"/>
        </a:xfrm>
      </p:grpSpPr>
      <p:sp>
        <p:nvSpPr>
          <p:cNvPr id="133" name="Slide Number"/>
          <p:cNvSpPr txBox="1">
            <a:spLocks noGrp="1"/>
          </p:cNvSpPr>
          <p:nvPr>
            <p:ph type="sldNum" sz="quarter" idx="2"/>
          </p:nvPr>
        </p:nvSpPr>
        <p:spPr>
          <a:prstGeom prst="rect">
            <a:avLst/>
          </a:prstGeom>
        </p:spPr>
        <p:txBody>
          <a:bodyPr anchor="ctr"/>
          <a:lstStyle/>
          <a:p>
            <a:fld id="{86CB4B4D-7CA3-9044-876B-883B54F8677D}" type="slidenum">
              <a:rPr/>
              <a:t>‹#›</a:t>
            </a:fld>
            <a:endParaRPr/>
          </a:p>
        </p:txBody>
      </p:sp>
      <p:pic>
        <p:nvPicPr>
          <p:cNvPr id="2" name="endava_symbol_black_CMYK.pdf" descr="endava_symbol_black_CMYK.pdf">
            <a:extLst>
              <a:ext uri="{FF2B5EF4-FFF2-40B4-BE49-F238E27FC236}">
                <a16:creationId xmlns:a16="http://schemas.microsoft.com/office/drawing/2014/main" id="{199E5722-7095-A326-8B6A-78B64199A222}"/>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rcRect/>
          <a:stretch>
            <a:fillRect/>
          </a:stretch>
        </p:blipFill>
        <p:spPr>
          <a:xfrm>
            <a:off x="23434135" y="251730"/>
            <a:ext cx="262850" cy="320676"/>
          </a:xfrm>
          <a:prstGeom prst="rect">
            <a:avLst/>
          </a:prstGeom>
          <a:ln w="12700">
            <a:miter lim="400000"/>
          </a:ln>
        </p:spPr>
      </p:pic>
      <p:sp>
        <p:nvSpPr>
          <p:cNvPr id="3" name="Insert presentation name">
            <a:extLst>
              <a:ext uri="{FF2B5EF4-FFF2-40B4-BE49-F238E27FC236}">
                <a16:creationId xmlns:a16="http://schemas.microsoft.com/office/drawing/2014/main" id="{8F4B07C6-E120-7BFB-DD7F-A60BE01DC46D}"/>
              </a:ext>
            </a:extLst>
          </p:cNvPr>
          <p:cNvSpPr txBox="1"/>
          <p:nvPr userDrawn="1"/>
        </p:nvSpPr>
        <p:spPr>
          <a:xfrm>
            <a:off x="16759829" y="236808"/>
            <a:ext cx="6570620" cy="35052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spAutoFit/>
          </a:bodyPr>
          <a:lstStyle>
            <a:lvl1pPr algn="r">
              <a:spcBef>
                <a:spcPts val="3000"/>
              </a:spcBef>
              <a:defRPr sz="1400"/>
            </a:lvl1pPr>
          </a:lstStyle>
          <a:p>
            <a:r>
              <a:rPr lang="en-US"/>
              <a:t>TAP26 Juniors · Scripting Session</a:t>
            </a:r>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Minimal Header Black">
    <p:bg>
      <p:bgPr>
        <a:solidFill>
          <a:srgbClr val="192B37"/>
        </a:solidFill>
        <a:effectLst/>
      </p:bgPr>
    </p:bg>
    <p:spTree>
      <p:nvGrpSpPr>
        <p:cNvPr id="1" name=""/>
        <p:cNvGrpSpPr/>
        <p:nvPr/>
      </p:nvGrpSpPr>
      <p:grpSpPr>
        <a:xfrm>
          <a:off x="0" y="0"/>
          <a:ext cx="0" cy="0"/>
          <a:chOff x="0" y="0"/>
          <a:chExt cx="0" cy="0"/>
        </a:xfrm>
      </p:grpSpPr>
      <p:pic>
        <p:nvPicPr>
          <p:cNvPr id="140" name="endava_symbol_RGB 1.png" descr="endava_symbol_RGB 1.png"/>
          <p:cNvPicPr>
            <a:picLocks noChangeAspect="1"/>
          </p:cNvPicPr>
          <p:nvPr/>
        </p:nvPicPr>
        <p:blipFill>
          <a:blip r:embed="rId2" cstate="screen">
            <a:alphaModFix amt="50000"/>
            <a:extLst>
              <a:ext uri="{28A0092B-C50C-407E-A947-70E740481C1C}">
                <a14:useLocalDpi xmlns:a14="http://schemas.microsoft.com/office/drawing/2010/main"/>
              </a:ext>
            </a:extLst>
          </a:blip>
          <a:srcRect/>
          <a:stretch>
            <a:fillRect/>
          </a:stretch>
        </p:blipFill>
        <p:spPr>
          <a:xfrm>
            <a:off x="23434135" y="251730"/>
            <a:ext cx="262849" cy="320676"/>
          </a:xfrm>
          <a:prstGeom prst="rect">
            <a:avLst/>
          </a:prstGeom>
          <a:ln w="12700">
            <a:miter lim="400000"/>
          </a:ln>
        </p:spPr>
      </p:pic>
      <p:sp>
        <p:nvSpPr>
          <p:cNvPr id="141" name="Insert presentation name"/>
          <p:cNvSpPr txBox="1"/>
          <p:nvPr/>
        </p:nvSpPr>
        <p:spPr>
          <a:xfrm>
            <a:off x="16759829" y="236808"/>
            <a:ext cx="6570620" cy="35052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spAutoFit/>
          </a:bodyPr>
          <a:lstStyle>
            <a:lvl1pPr algn="r">
              <a:spcBef>
                <a:spcPts val="3000"/>
              </a:spcBef>
              <a:defRPr sz="1400">
                <a:solidFill>
                  <a:srgbClr val="FFFFFF"/>
                </a:solidFill>
              </a:defRPr>
            </a:lvl1pPr>
          </a:lstStyle>
          <a:p>
            <a:r>
              <a:rPr lang="en-US"/>
              <a:t>TAP26 Juniors · Scripting Session</a:t>
            </a:r>
            <a:endParaRPr/>
          </a:p>
        </p:txBody>
      </p:sp>
      <p:sp>
        <p:nvSpPr>
          <p:cNvPr id="142" name="Slide Number"/>
          <p:cNvSpPr txBox="1">
            <a:spLocks noGrp="1"/>
          </p:cNvSpPr>
          <p:nvPr>
            <p:ph type="sldNum" sz="quarter" idx="2"/>
          </p:nvPr>
        </p:nvSpPr>
        <p:spPr>
          <a:prstGeom prst="rect">
            <a:avLst/>
          </a:prstGeom>
        </p:spPr>
        <p:txBody>
          <a:bodyPr anchor="ctr"/>
          <a:lstStyle/>
          <a:p>
            <a:fld id="{86CB4B4D-7CA3-9044-876B-883B54F8677D}" type="slidenum">
              <a:rPr/>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Footer">
    <p:spTree>
      <p:nvGrpSpPr>
        <p:cNvPr id="1" name=""/>
        <p:cNvGrpSpPr/>
        <p:nvPr/>
      </p:nvGrpSpPr>
      <p:grpSpPr>
        <a:xfrm>
          <a:off x="0" y="0"/>
          <a:ext cx="0" cy="0"/>
          <a:chOff x="0" y="0"/>
          <a:chExt cx="0" cy="0"/>
        </a:xfrm>
      </p:grpSpPr>
      <p:sp>
        <p:nvSpPr>
          <p:cNvPr id="149" name="© Copyright 2023 Endava  •  Confidential and Proprietary  •  Version 1.0"/>
          <p:cNvSpPr txBox="1"/>
          <p:nvPr/>
        </p:nvSpPr>
        <p:spPr>
          <a:xfrm>
            <a:off x="610588" y="13100216"/>
            <a:ext cx="11290258" cy="3149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nSpc>
                <a:spcPct val="100000"/>
              </a:lnSpc>
              <a:spcBef>
                <a:spcPts val="0"/>
              </a:spcBef>
              <a:defRPr sz="1200" spc="0">
                <a:solidFill>
                  <a:srgbClr val="8C959B"/>
                </a:solidFill>
              </a:defRPr>
            </a:lvl1pPr>
          </a:lstStyle>
          <a:p>
            <a:r>
              <a:rPr dirty="0"/>
              <a:t>© Copyright 2026 Endava  •  Confidential and Proprietary  •  TAP26 Juniors training</a:t>
            </a:r>
          </a:p>
        </p:txBody>
      </p:sp>
      <p:sp>
        <p:nvSpPr>
          <p:cNvPr id="150" name="Slide Number"/>
          <p:cNvSpPr txBox="1">
            <a:spLocks noGrp="1"/>
          </p:cNvSpPr>
          <p:nvPr>
            <p:ph type="sldNum" sz="quarter" idx="2"/>
          </p:nvPr>
        </p:nvSpPr>
        <p:spPr>
          <a:prstGeom prst="rect">
            <a:avLst/>
          </a:prstGeom>
        </p:spPr>
        <p:txBody>
          <a:bodyPr anchor="ctr"/>
          <a:lstStyle/>
          <a:p>
            <a:fld id="{86CB4B4D-7CA3-9044-876B-883B54F8677D}" type="slidenum">
              <a:rPr/>
              <a:t>‹#›</a:t>
            </a:fld>
            <a:endParaRPr dirty="0"/>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Footer Black">
    <p:bg>
      <p:bgPr>
        <a:solidFill>
          <a:srgbClr val="192B37"/>
        </a:solidFill>
        <a:effectLst/>
      </p:bgPr>
    </p:bg>
    <p:spTree>
      <p:nvGrpSpPr>
        <p:cNvPr id="1" name=""/>
        <p:cNvGrpSpPr/>
        <p:nvPr/>
      </p:nvGrpSpPr>
      <p:grpSpPr>
        <a:xfrm>
          <a:off x="0" y="0"/>
          <a:ext cx="0" cy="0"/>
          <a:chOff x="0" y="0"/>
          <a:chExt cx="0" cy="0"/>
        </a:xfrm>
      </p:grpSpPr>
      <p:sp>
        <p:nvSpPr>
          <p:cNvPr id="157" name="© Copyright 2023 Endava  •  Confidential and Proprietary  •  Version 1.0"/>
          <p:cNvSpPr txBox="1"/>
          <p:nvPr/>
        </p:nvSpPr>
        <p:spPr>
          <a:xfrm>
            <a:off x="610588" y="13100216"/>
            <a:ext cx="11290258" cy="3149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nSpc>
                <a:spcPct val="100000"/>
              </a:lnSpc>
              <a:spcBef>
                <a:spcPts val="0"/>
              </a:spcBef>
              <a:defRPr sz="1200" spc="0">
                <a:solidFill>
                  <a:srgbClr val="8C959B"/>
                </a:solidFill>
              </a:defRPr>
            </a:lvl1pPr>
          </a:lstStyle>
          <a:p>
            <a:r>
              <a:rPr dirty="0"/>
              <a:t>© Copyright 2026 Endava  •  Confidential and Proprietary  •  TAP26 Juniors training</a:t>
            </a:r>
          </a:p>
        </p:txBody>
      </p:sp>
      <p:sp>
        <p:nvSpPr>
          <p:cNvPr id="158" name="Slide Number"/>
          <p:cNvSpPr txBox="1">
            <a:spLocks noGrp="1"/>
          </p:cNvSpPr>
          <p:nvPr>
            <p:ph type="sldNum" sz="quarter" idx="2"/>
          </p:nvPr>
        </p:nvSpPr>
        <p:spPr>
          <a:prstGeom prst="rect">
            <a:avLst/>
          </a:prstGeom>
        </p:spPr>
        <p:txBody>
          <a:bodyPr anchor="ctr"/>
          <a:lstStyle/>
          <a:p>
            <a:fld id="{86CB4B4D-7CA3-9044-876B-883B54F8677D}" type="slidenum">
              <a:rPr/>
              <a:t>‹#›</a:t>
            </a:fld>
            <a:endParaRPr dirty="0"/>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lide Number">
    <p:spTree>
      <p:nvGrpSpPr>
        <p:cNvPr id="1" name=""/>
        <p:cNvGrpSpPr/>
        <p:nvPr/>
      </p:nvGrpSpPr>
      <p:grpSpPr>
        <a:xfrm>
          <a:off x="0" y="0"/>
          <a:ext cx="0" cy="0"/>
          <a:chOff x="0" y="0"/>
          <a:chExt cx="0" cy="0"/>
        </a:xfrm>
      </p:grpSpPr>
      <p:sp>
        <p:nvSpPr>
          <p:cNvPr id="165"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Slide Number Black">
    <p:bg>
      <p:bgPr>
        <a:solidFill>
          <a:srgbClr val="192B37"/>
        </a:solidFill>
        <a:effectLst/>
      </p:bgPr>
    </p:bg>
    <p:spTree>
      <p:nvGrpSpPr>
        <p:cNvPr id="1" name=""/>
        <p:cNvGrpSpPr/>
        <p:nvPr/>
      </p:nvGrpSpPr>
      <p:grpSpPr>
        <a:xfrm>
          <a:off x="0" y="0"/>
          <a:ext cx="0" cy="0"/>
          <a:chOff x="0" y="0"/>
          <a:chExt cx="0" cy="0"/>
        </a:xfrm>
      </p:grpSpPr>
      <p:sp>
        <p:nvSpPr>
          <p:cNvPr id="172" name="Slide Number"/>
          <p:cNvSpPr txBox="1">
            <a:spLocks noGrp="1"/>
          </p:cNvSpPr>
          <p:nvPr>
            <p:ph type="sldNum" sz="quarter" idx="2"/>
          </p:nvPr>
        </p:nvSpPr>
        <p:spPr>
          <a:prstGeom prst="rect">
            <a:avLst/>
          </a:prstGeom>
        </p:spPr>
        <p:txBody>
          <a:bodyPr/>
          <a:lstStyle/>
          <a:p>
            <a:fld id="{86CB4B4D-7CA3-9044-876B-883B54F8677D}" type="slidenum">
              <a:rPr/>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609600" y="1625600"/>
            <a:ext cx="22085300" cy="22860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ormAutofit/>
          </a:bodyPr>
          <a:lstStyle/>
          <a:p>
            <a:r>
              <a:rPr dirty="0"/>
              <a:t>Title Text</a:t>
            </a:r>
          </a:p>
        </p:txBody>
      </p:sp>
      <p:sp>
        <p:nvSpPr>
          <p:cNvPr id="3" name="Body Level One…"/>
          <p:cNvSpPr txBox="1">
            <a:spLocks noGrp="1"/>
          </p:cNvSpPr>
          <p:nvPr>
            <p:ph type="body" idx="1"/>
          </p:nvPr>
        </p:nvSpPr>
        <p:spPr>
          <a:xfrm>
            <a:off x="609600" y="3911600"/>
            <a:ext cx="22085300" cy="85344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t">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RO" dirty="0"/>
          </a:p>
        </p:txBody>
      </p:sp>
      <p:sp>
        <p:nvSpPr>
          <p:cNvPr id="4" name="Slide Number"/>
          <p:cNvSpPr txBox="1">
            <a:spLocks noGrp="1"/>
          </p:cNvSpPr>
          <p:nvPr>
            <p:ph type="sldNum" sz="quarter" idx="2"/>
          </p:nvPr>
        </p:nvSpPr>
        <p:spPr>
          <a:xfrm>
            <a:off x="23489402" y="13132800"/>
            <a:ext cx="288542" cy="246221"/>
          </a:xfrm>
          <a:prstGeom prst="rect">
            <a:avLst/>
          </a:prstGeom>
          <a:ln w="12700">
            <a:miter lim="400000"/>
          </a:ln>
        </p:spPr>
        <p:txBody>
          <a:bodyPr wrap="none" lIns="0" tIns="0" rIns="0" bIns="0" anchor="ctr">
            <a:spAutoFit/>
          </a:bodyPr>
          <a:lstStyle>
            <a:lvl1pPr algn="r" defTabSz="825500">
              <a:lnSpc>
                <a:spcPct val="100000"/>
              </a:lnSpc>
              <a:spcBef>
                <a:spcPts val="0"/>
              </a:spcBef>
              <a:defRPr sz="1600">
                <a:solidFill>
                  <a:srgbClr val="8C959B"/>
                </a:solidFill>
              </a:defRPr>
            </a:lvl1pPr>
          </a:lstStyle>
          <a:p>
            <a:fld id="{86CB4B4D-7CA3-9044-876B-883B54F8677D}" type="slidenum">
              <a:rPr lang="en-RO" smtClean="0"/>
              <a:pPr/>
              <a:t>‹#›</a:t>
            </a:fld>
            <a:endParaRPr lang="en-RO"/>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6"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spd="med"/>
  <p:txStyles>
    <p:titleStyle>
      <a:lvl1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j-lt"/>
          <a:ea typeface="+mn-ea"/>
          <a:cs typeface="+mn-cs"/>
          <a:sym typeface="Poppins Regular"/>
        </a:defRPr>
      </a:lvl1pPr>
      <a:lvl2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2pPr>
      <a:lvl3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3pPr>
      <a:lvl4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4pPr>
      <a:lvl5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5pPr>
      <a:lvl6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6pPr>
      <a:lvl7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7pPr>
      <a:lvl8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8pPr>
      <a:lvl9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9pPr>
    </p:titleStyle>
    <p:bodyStyle>
      <a:lvl1pPr marL="342900" marR="0" indent="-342900" algn="l" defTabSz="821531" rtl="0" latinLnBrk="0">
        <a:lnSpc>
          <a:spcPct val="120000"/>
        </a:lnSpc>
        <a:spcBef>
          <a:spcPts val="1500"/>
        </a:spcBef>
        <a:spcAft>
          <a:spcPts val="0"/>
        </a:spcAft>
        <a:buClr>
          <a:srgbClr val="FF4230"/>
        </a:buClr>
        <a:buSzPct val="120000"/>
        <a:buFont typeface="Arial" panose="020B0604020202020204" pitchFamily="34" charset="0"/>
        <a:buChar char="•"/>
        <a:tabLst/>
        <a:defRPr lang="en-US" sz="2400" b="0" i="0" u="none" strike="noStrike" cap="none" spc="0" baseline="0" dirty="0">
          <a:solidFill>
            <a:srgbClr val="192B37"/>
          </a:solidFill>
          <a:uFillTx/>
          <a:latin typeface="+mn-lt"/>
          <a:ea typeface="+mn-ea"/>
          <a:cs typeface="+mn-cs"/>
          <a:sym typeface="Poppins Regular"/>
        </a:defRPr>
      </a:lvl1pPr>
      <a:lvl2pPr marL="899583" marR="0" indent="-252000" algn="l" defTabSz="821531" rtl="0" latinLnBrk="0">
        <a:lnSpc>
          <a:spcPct val="120000"/>
        </a:lnSpc>
        <a:spcBef>
          <a:spcPts val="1500"/>
        </a:spcBef>
        <a:spcAft>
          <a:spcPts val="0"/>
        </a:spcAft>
        <a:buClr>
          <a:srgbClr val="FF4230"/>
        </a:buClr>
        <a:buSzPct val="120000"/>
        <a:buFontTx/>
        <a:buChar char="•"/>
        <a:tabLst/>
        <a:defRPr sz="2000" b="0" i="0" u="none" strike="noStrike" cap="none" spc="0" baseline="0">
          <a:solidFill>
            <a:srgbClr val="192B37"/>
          </a:solidFill>
          <a:uFillTx/>
          <a:latin typeface="+mn-lt"/>
          <a:ea typeface="+mn-ea"/>
          <a:cs typeface="+mn-cs"/>
          <a:sym typeface="Poppins Regular"/>
        </a:defRPr>
      </a:lvl2pPr>
      <a:lvl3pPr marL="1534583" marR="0" indent="-252000" algn="l" defTabSz="821531" rtl="0" latinLnBrk="0">
        <a:lnSpc>
          <a:spcPct val="120000"/>
        </a:lnSpc>
        <a:spcBef>
          <a:spcPts val="1500"/>
        </a:spcBef>
        <a:spcAft>
          <a:spcPts val="0"/>
        </a:spcAft>
        <a:buClr>
          <a:srgbClr val="FF4230"/>
        </a:buClr>
        <a:buSzPct val="120000"/>
        <a:buFontTx/>
        <a:buChar char="•"/>
        <a:tabLst/>
        <a:defRPr sz="1600" b="0" i="0" u="none" strike="noStrike" cap="none" spc="0" baseline="0">
          <a:solidFill>
            <a:srgbClr val="192B37"/>
          </a:solidFill>
          <a:uFillTx/>
          <a:latin typeface="+mn-lt"/>
          <a:ea typeface="+mn-ea"/>
          <a:cs typeface="+mn-cs"/>
          <a:sym typeface="Poppins Regular"/>
        </a:defRPr>
      </a:lvl3pPr>
      <a:lvl4pPr marL="2169583" marR="0" indent="-252000" algn="l" defTabSz="821531" rtl="0" latinLnBrk="0">
        <a:lnSpc>
          <a:spcPct val="120000"/>
        </a:lnSpc>
        <a:spcBef>
          <a:spcPts val="1500"/>
        </a:spcBef>
        <a:spcAft>
          <a:spcPts val="0"/>
        </a:spcAft>
        <a:buClr>
          <a:srgbClr val="FF4230"/>
        </a:buClr>
        <a:buSzPct val="120000"/>
        <a:buFontTx/>
        <a:buChar char="•"/>
        <a:tabLst/>
        <a:defRPr sz="1600" b="0" i="0" u="none" strike="noStrike" cap="none" spc="0" baseline="0">
          <a:solidFill>
            <a:srgbClr val="192B37"/>
          </a:solidFill>
          <a:uFillTx/>
          <a:latin typeface="+mn-lt"/>
          <a:ea typeface="+mn-ea"/>
          <a:cs typeface="+mn-cs"/>
          <a:sym typeface="Poppins Regular"/>
        </a:defRPr>
      </a:lvl4pPr>
      <a:lvl5pPr marL="2804583" marR="0" indent="-252000" algn="l" defTabSz="821531" rtl="0" latinLnBrk="0">
        <a:lnSpc>
          <a:spcPct val="120000"/>
        </a:lnSpc>
        <a:spcBef>
          <a:spcPts val="1500"/>
        </a:spcBef>
        <a:spcAft>
          <a:spcPts val="0"/>
        </a:spcAft>
        <a:buClr>
          <a:srgbClr val="FF4230"/>
        </a:buClr>
        <a:buSzPct val="120000"/>
        <a:buFontTx/>
        <a:buChar char="•"/>
        <a:tabLst/>
        <a:defRPr sz="1600" b="0" i="0" u="none" strike="noStrike" cap="none" spc="0" baseline="0">
          <a:solidFill>
            <a:srgbClr val="192B37"/>
          </a:solidFill>
          <a:uFillTx/>
          <a:latin typeface="+mn-lt"/>
          <a:ea typeface="+mn-ea"/>
          <a:cs typeface="+mn-cs"/>
          <a:sym typeface="Poppins Regular"/>
        </a:defRPr>
      </a:lvl5pPr>
      <a:lvl6pPr marL="3439583" marR="0" indent="-264583" algn="l" defTabSz="821531" rtl="0" latinLnBrk="0">
        <a:lnSpc>
          <a:spcPct val="120000"/>
        </a:lnSpc>
        <a:spcBef>
          <a:spcPts val="1500"/>
        </a:spcBef>
        <a:spcAft>
          <a:spcPts val="0"/>
        </a:spcAft>
        <a:buClr>
          <a:srgbClr val="FF5640"/>
        </a:buClr>
        <a:buSzPct val="125000"/>
        <a:buFontTx/>
        <a:buChar char="•"/>
        <a:tabLst/>
        <a:defRPr sz="2000" b="0" i="0" u="none" strike="noStrike" cap="none" spc="0" baseline="0">
          <a:solidFill>
            <a:srgbClr val="192B37"/>
          </a:solidFill>
          <a:uFillTx/>
          <a:latin typeface="+mn-lt"/>
          <a:ea typeface="+mn-ea"/>
          <a:cs typeface="+mn-cs"/>
          <a:sym typeface="Poppins Regular"/>
        </a:defRPr>
      </a:lvl6pPr>
      <a:lvl7pPr marL="4074583" marR="0" indent="-264583" algn="l" defTabSz="821531" rtl="0" latinLnBrk="0">
        <a:lnSpc>
          <a:spcPct val="120000"/>
        </a:lnSpc>
        <a:spcBef>
          <a:spcPts val="1500"/>
        </a:spcBef>
        <a:spcAft>
          <a:spcPts val="0"/>
        </a:spcAft>
        <a:buClr>
          <a:srgbClr val="FF5640"/>
        </a:buClr>
        <a:buSzPct val="125000"/>
        <a:buFontTx/>
        <a:buChar char="•"/>
        <a:tabLst/>
        <a:defRPr sz="2000" b="0" i="0" u="none" strike="noStrike" cap="none" spc="0" baseline="0">
          <a:solidFill>
            <a:srgbClr val="192B37"/>
          </a:solidFill>
          <a:uFillTx/>
          <a:latin typeface="+mn-lt"/>
          <a:ea typeface="+mn-ea"/>
          <a:cs typeface="+mn-cs"/>
          <a:sym typeface="Poppins Regular"/>
        </a:defRPr>
      </a:lvl7pPr>
      <a:lvl8pPr marL="4709583" marR="0" indent="-264583" algn="l" defTabSz="821531" rtl="0" latinLnBrk="0">
        <a:lnSpc>
          <a:spcPct val="120000"/>
        </a:lnSpc>
        <a:spcBef>
          <a:spcPts val="1500"/>
        </a:spcBef>
        <a:spcAft>
          <a:spcPts val="0"/>
        </a:spcAft>
        <a:buClr>
          <a:srgbClr val="FF5640"/>
        </a:buClr>
        <a:buSzPct val="125000"/>
        <a:buFontTx/>
        <a:buChar char="•"/>
        <a:tabLst/>
        <a:defRPr sz="2000" b="0" i="0" u="none" strike="noStrike" cap="none" spc="0" baseline="0">
          <a:solidFill>
            <a:srgbClr val="192B37"/>
          </a:solidFill>
          <a:uFillTx/>
          <a:latin typeface="+mn-lt"/>
          <a:ea typeface="+mn-ea"/>
          <a:cs typeface="+mn-cs"/>
          <a:sym typeface="Poppins Regular"/>
        </a:defRPr>
      </a:lvl8pPr>
      <a:lvl9pPr marL="5344583" marR="0" indent="-264583" algn="l" defTabSz="821531" rtl="0" latinLnBrk="0">
        <a:lnSpc>
          <a:spcPct val="120000"/>
        </a:lnSpc>
        <a:spcBef>
          <a:spcPts val="1500"/>
        </a:spcBef>
        <a:spcAft>
          <a:spcPts val="0"/>
        </a:spcAft>
        <a:buClr>
          <a:srgbClr val="FF5640"/>
        </a:buClr>
        <a:buSzPct val="125000"/>
        <a:buFontTx/>
        <a:buChar char="•"/>
        <a:tabLst/>
        <a:defRPr sz="2000" b="0" i="0" u="none" strike="noStrike" cap="none" spc="0" baseline="0">
          <a:solidFill>
            <a:srgbClr val="192B37"/>
          </a:solidFill>
          <a:uFillTx/>
          <a:latin typeface="+mn-lt"/>
          <a:ea typeface="+mn-ea"/>
          <a:cs typeface="+mn-cs"/>
          <a:sym typeface="Poppins Regular"/>
        </a:defRPr>
      </a:lvl9pPr>
    </p:bodyStyle>
    <p:otherStyle>
      <a:lvl1pPr marL="0" marR="0" indent="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1pPr>
      <a:lvl2pPr marL="0" marR="0" indent="2286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2pPr>
      <a:lvl3pPr marL="0" marR="0" indent="4572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3pPr>
      <a:lvl4pPr marL="0" marR="0" indent="6858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4pPr>
      <a:lvl5pPr marL="0" marR="0" indent="9144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5pPr>
      <a:lvl6pPr marL="0" marR="0" indent="11430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6pPr>
      <a:lvl7pPr marL="0" marR="0" indent="13716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7pPr>
      <a:lvl8pPr marL="0" marR="0" indent="16002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8pPr>
      <a:lvl9pPr marL="0" marR="0" indent="18288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 Id="rId11" Type="http://schemas.openxmlformats.org/officeDocument/2006/relationships/image" Target="../media/image20.png"/><Relationship Id="rId12" Type="http://schemas.openxmlformats.org/officeDocument/2006/relationships/image" Target="../media/image21.png"/><Relationship Id="rId13" Type="http://schemas.openxmlformats.org/officeDocument/2006/relationships/image" Target="../media/image22.png"/><Relationship Id="rId14" Type="http://schemas.openxmlformats.org/officeDocument/2006/relationships/image" Target="../media/image23.png"/><Relationship Id="rId15"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11.png"/><Relationship Id="rId11" Type="http://schemas.openxmlformats.org/officeDocument/2006/relationships/image" Target="../media/image30.png"/><Relationship Id="rId12"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25.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12.png"/><Relationship Id="rId10"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 Id="rId10" Type="http://schemas.openxmlformats.org/officeDocument/2006/relationships/image" Target="../media/image43.png"/><Relationship Id="rId11"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44.png"/><Relationship Id="rId4" Type="http://schemas.openxmlformats.org/officeDocument/2006/relationships/image" Target="../media/image25.png"/><Relationship Id="rId5" Type="http://schemas.openxmlformats.org/officeDocument/2006/relationships/image" Target="../media/image27.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image" Target="../media/image48.png"/><Relationship Id="rId10"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chart" Target="../charts/char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49.png"/><Relationship Id="rId4" Type="http://schemas.openxmlformats.org/officeDocument/2006/relationships/image" Target="../media/image12.png"/><Relationship Id="rId5" Type="http://schemas.openxmlformats.org/officeDocument/2006/relationships/image" Target="../media/image35.png"/><Relationship Id="rId6"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54.png"/><Relationship Id="rId8" Type="http://schemas.openxmlformats.org/officeDocument/2006/relationships/image" Target="../media/image55.png"/><Relationship Id="rId9" Type="http://schemas.openxmlformats.org/officeDocument/2006/relationships/image" Target="../media/image56.png"/><Relationship Id="rId10" Type="http://schemas.openxmlformats.org/officeDocument/2006/relationships/image" Target="../media/image57.png"/><Relationship Id="rId11" Type="http://schemas.openxmlformats.org/officeDocument/2006/relationships/image" Target="../media/image58.png"/><Relationship Id="rId12"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chart" Target="../charts/chart3.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51.png"/><Relationship Id="rId4" Type="http://schemas.openxmlformats.org/officeDocument/2006/relationships/image" Target="../media/image54.png"/><Relationship Id="rId5" Type="http://schemas.openxmlformats.org/officeDocument/2006/relationships/image" Target="../media/image59.png"/><Relationship Id="rId6" Type="http://schemas.openxmlformats.org/officeDocument/2006/relationships/image" Target="../media/image55.png"/><Relationship Id="rId7" Type="http://schemas.openxmlformats.org/officeDocument/2006/relationships/image" Target="../media/image52.png"/><Relationship Id="rId8" Type="http://schemas.openxmlformats.org/officeDocument/2006/relationships/chart" Target="../charts/chart4.xml"/><Relationship Id="rId9"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29.png"/><Relationship Id="rId5" Type="http://schemas.openxmlformats.org/officeDocument/2006/relationships/image" Target="../media/image60.png"/><Relationship Id="rId6" Type="http://schemas.openxmlformats.org/officeDocument/2006/relationships/chart" Target="../charts/chart5.xml"/><Relationship Id="rId7"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61.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chart" Target="../charts/chart6.xml"/><Relationship Id="rId4" Type="http://schemas.openxmlformats.org/officeDocument/2006/relationships/image" Target="../media/image62.png"/><Relationship Id="rId5" Type="http://schemas.openxmlformats.org/officeDocument/2006/relationships/image" Target="../media/image21.png"/><Relationship Id="rId6" Type="http://schemas.openxmlformats.org/officeDocument/2006/relationships/image" Target="../media/image63.png"/><Relationship Id="rId7" Type="http://schemas.openxmlformats.org/officeDocument/2006/relationships/image" Target="../media/image64.png"/><Relationship Id="rId8" Type="http://schemas.openxmlformats.org/officeDocument/2006/relationships/image" Target="../media/image65.png"/><Relationship Id="rId9" Type="http://schemas.openxmlformats.org/officeDocument/2006/relationships/image" Target="../media/image66.png"/><Relationship Id="rId10"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chart" Target="../charts/chart7.xml"/><Relationship Id="rId6"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57.png"/><Relationship Id="rId8"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71.png"/><Relationship Id="rId7"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image" Target="../media/image80.png"/><Relationship Id="rId4" Type="http://schemas.openxmlformats.org/officeDocument/2006/relationships/image" Target="../media/image81.png"/><Relationship Id="rId5" Type="http://schemas.openxmlformats.org/officeDocument/2006/relationships/image" Target="../media/image8.png"/><Relationship Id="rId6" Type="http://schemas.openxmlformats.org/officeDocument/2006/relationships/image" Target="../media/image82.png"/><Relationship Id="rId7" Type="http://schemas.openxmlformats.org/officeDocument/2006/relationships/image" Target="../media/image83.png"/><Relationship Id="rId8" Type="http://schemas.openxmlformats.org/officeDocument/2006/relationships/image" Target="../media/image24.png"/><Relationship Id="rId9" Type="http://schemas.openxmlformats.org/officeDocument/2006/relationships/image" Target="../media/image74.png"/><Relationship Id="rId10" Type="http://schemas.openxmlformats.org/officeDocument/2006/relationships/image" Target="../media/image84.png"/><Relationship Id="rId11"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 Id="rId3" Type="http://schemas.openxmlformats.org/officeDocument/2006/relationships/image" Target="../media/image85.png"/><Relationship Id="rId4" Type="http://schemas.openxmlformats.org/officeDocument/2006/relationships/image" Target="../media/image86.png"/><Relationship Id="rId5" Type="http://schemas.openxmlformats.org/officeDocument/2006/relationships/image" Target="../media/image27.png"/><Relationship Id="rId6" Type="http://schemas.openxmlformats.org/officeDocument/2006/relationships/image" Target="../media/image29.png"/><Relationship Id="rId7" Type="http://schemas.openxmlformats.org/officeDocument/2006/relationships/image" Target="../media/image28.png"/><Relationship Id="rId8" Type="http://schemas.openxmlformats.org/officeDocument/2006/relationships/image" Target="../media/image87.png"/><Relationship Id="rId9"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 Id="rId3" Type="http://schemas.openxmlformats.org/officeDocument/2006/relationships/image" Target="../media/image85.png"/><Relationship Id="rId4" Type="http://schemas.openxmlformats.org/officeDocument/2006/relationships/image" Target="../media/image88.png"/><Relationship Id="rId5" Type="http://schemas.openxmlformats.org/officeDocument/2006/relationships/image" Target="../media/image89.png"/><Relationship Id="rId6" Type="http://schemas.openxmlformats.org/officeDocument/2006/relationships/image" Target="../media/image48.png"/><Relationship Id="rId7" Type="http://schemas.openxmlformats.org/officeDocument/2006/relationships/image" Target="../media/image90.png"/><Relationship Id="rId8"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 Id="rId3" Type="http://schemas.openxmlformats.org/officeDocument/2006/relationships/image" Target="../media/image83.png"/><Relationship Id="rId4" Type="http://schemas.openxmlformats.org/officeDocument/2006/relationships/image" Target="../media/image48.png"/><Relationship Id="rId5" Type="http://schemas.openxmlformats.org/officeDocument/2006/relationships/image" Target="../media/image89.png"/><Relationship Id="rId6"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 Id="rId3"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image" Target="../media/image28.png"/><Relationship Id="rId6" Type="http://schemas.openxmlformats.org/officeDocument/2006/relationships/image" Target="../media/image93.png"/><Relationship Id="rId7"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 Id="rId3" Type="http://schemas.openxmlformats.org/officeDocument/2006/relationships/image" Target="../media/image94.png"/><Relationship Id="rId4" Type="http://schemas.openxmlformats.org/officeDocument/2006/relationships/image" Target="../media/image95.png"/><Relationship Id="rId5" Type="http://schemas.openxmlformats.org/officeDocument/2006/relationships/chart" Target="../charts/chart8.xml"/><Relationship Id="rId6"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 Id="rId3" Type="http://schemas.openxmlformats.org/officeDocument/2006/relationships/chart" Target="../charts/chart9.xml"/><Relationship Id="rId4" Type="http://schemas.openxmlformats.org/officeDocument/2006/relationships/chart" Target="../charts/chart10.xml"/><Relationship Id="rId5"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 Id="rId3"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 Id="rId3" Type="http://schemas.openxmlformats.org/officeDocument/2006/relationships/image" Target="../media/image98.png"/><Relationship Id="rId4" Type="http://schemas.openxmlformats.org/officeDocument/2006/relationships/image" Target="../media/image99.png"/><Relationship Id="rId5"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 Id="rId3" Type="http://schemas.openxmlformats.org/officeDocument/2006/relationships/image" Target="../media/image86.png"/><Relationship Id="rId4" Type="http://schemas.openxmlformats.org/officeDocument/2006/relationships/image" Target="../media/image100.png"/><Relationship Id="rId5" Type="http://schemas.openxmlformats.org/officeDocument/2006/relationships/image" Target="../media/image101.png"/><Relationship Id="rId6"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chart" Target="../charts/chart13.xml"/><Relationship Id="rId6"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Relationship Id="rId3"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 Id="rId3"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 Id="rId3" Type="http://schemas.openxmlformats.org/officeDocument/2006/relationships/image" Target="../media/image32.png"/><Relationship Id="rId4" Type="http://schemas.openxmlformats.org/officeDocument/2006/relationships/image" Target="../media/image102.png"/><Relationship Id="rId5" Type="http://schemas.openxmlformats.org/officeDocument/2006/relationships/image" Target="../media/image1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3.xml"/><Relationship Id="rId3" Type="http://schemas.openxmlformats.org/officeDocument/2006/relationships/image" Target="../media/image103.png"/><Relationship Id="rId4" Type="http://schemas.openxmlformats.org/officeDocument/2006/relationships/image" Target="../media/image71.png"/><Relationship Id="rId5" Type="http://schemas.openxmlformats.org/officeDocument/2006/relationships/image" Target="../media/image104.png"/><Relationship Id="rId6" Type="http://schemas.openxmlformats.org/officeDocument/2006/relationships/image" Target="../media/image78.png"/><Relationship Id="rId7" Type="http://schemas.openxmlformats.org/officeDocument/2006/relationships/image" Target="../media/image1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 Id="rId3" Type="http://schemas.openxmlformats.org/officeDocument/2006/relationships/chart" Target="../charts/chart14.xml"/><Relationship Id="rId4" Type="http://schemas.openxmlformats.org/officeDocument/2006/relationships/image" Target="../media/image1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1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6.xml"/><Relationship Id="rId3" Type="http://schemas.openxmlformats.org/officeDocument/2006/relationships/image" Target="../media/image102.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89.png"/><Relationship Id="rId7" Type="http://schemas.openxmlformats.org/officeDocument/2006/relationships/image" Target="../media/image21.png"/><Relationship Id="rId8" Type="http://schemas.openxmlformats.org/officeDocument/2006/relationships/image" Target="../media/image105.png"/><Relationship Id="rId9" Type="http://schemas.openxmlformats.org/officeDocument/2006/relationships/image" Target="../media/image106.png"/><Relationship Id="rId10" Type="http://schemas.openxmlformats.org/officeDocument/2006/relationships/image" Target="../media/image17.png"/><Relationship Id="rId11" Type="http://schemas.openxmlformats.org/officeDocument/2006/relationships/image" Target="../media/image14.png"/><Relationship Id="rId12" Type="http://schemas.openxmlformats.org/officeDocument/2006/relationships/image" Target="../media/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7.xml"/><Relationship Id="rId3" Type="http://schemas.openxmlformats.org/officeDocument/2006/relationships/image" Target="../media/image107.png"/><Relationship Id="rId4" Type="http://schemas.openxmlformats.org/officeDocument/2006/relationships/image" Target="../media/image9.png"/><Relationship Id="rId5" Type="http://schemas.openxmlformats.org/officeDocument/2006/relationships/image" Target="../media/image45.png"/><Relationship Id="rId6" Type="http://schemas.openxmlformats.org/officeDocument/2006/relationships/image" Target="../media/image30.png"/><Relationship Id="rId7" Type="http://schemas.openxmlformats.org/officeDocument/2006/relationships/image" Target="../media/image27.png"/><Relationship Id="rId8" Type="http://schemas.openxmlformats.org/officeDocument/2006/relationships/image" Target="../media/image108.png"/><Relationship Id="rId9" Type="http://schemas.openxmlformats.org/officeDocument/2006/relationships/image" Target="../media/image1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8.xml"/><Relationship Id="rId3" Type="http://schemas.openxmlformats.org/officeDocument/2006/relationships/image" Target="../media/image109.png"/><Relationship Id="rId4" Type="http://schemas.openxmlformats.org/officeDocument/2006/relationships/image" Target="../media/image13.png"/><Relationship Id="rId5" Type="http://schemas.openxmlformats.org/officeDocument/2006/relationships/image" Target="../media/image45.png"/><Relationship Id="rId6" Type="http://schemas.openxmlformats.org/officeDocument/2006/relationships/image" Target="../media/image28.png"/><Relationship Id="rId7" Type="http://schemas.openxmlformats.org/officeDocument/2006/relationships/image" Target="../media/image14.png"/><Relationship Id="rId8" Type="http://schemas.openxmlformats.org/officeDocument/2006/relationships/image" Target="../media/image110.png"/><Relationship Id="rId9" Type="http://schemas.openxmlformats.org/officeDocument/2006/relationships/image" Target="../media/image1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9.xml"/><Relationship Id="rId3" Type="http://schemas.openxmlformats.org/officeDocument/2006/relationships/image" Target="../media/image13.png"/><Relationship Id="rId4" Type="http://schemas.openxmlformats.org/officeDocument/2006/relationships/image" Target="../media/image111.png"/><Relationship Id="rId5" Type="http://schemas.openxmlformats.org/officeDocument/2006/relationships/image" Target="../media/image112.png"/><Relationship Id="rId6" Type="http://schemas.openxmlformats.org/officeDocument/2006/relationships/image" Target="../media/image47.png"/><Relationship Id="rId7" Type="http://schemas.openxmlformats.org/officeDocument/2006/relationships/image" Target="../media/image93.png"/><Relationship Id="rId8" Type="http://schemas.openxmlformats.org/officeDocument/2006/relationships/image" Target="../media/image110.png"/><Relationship Id="rId9" Type="http://schemas.openxmlformats.org/officeDocument/2006/relationships/image" Target="../media/image1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0.xml"/><Relationship Id="rId3" Type="http://schemas.openxmlformats.org/officeDocument/2006/relationships/image" Target="../media/image92.png"/><Relationship Id="rId4" Type="http://schemas.openxmlformats.org/officeDocument/2006/relationships/image" Target="../media/image21.png"/><Relationship Id="rId5" Type="http://schemas.openxmlformats.org/officeDocument/2006/relationships/image" Target="../media/image81.png"/><Relationship Id="rId6" Type="http://schemas.openxmlformats.org/officeDocument/2006/relationships/image" Target="../media/image111.png"/><Relationship Id="rId7" Type="http://schemas.openxmlformats.org/officeDocument/2006/relationships/image" Target="../media/image93.png"/><Relationship Id="rId8" Type="http://schemas.openxmlformats.org/officeDocument/2006/relationships/image" Target="../media/image71.png"/><Relationship Id="rId9" Type="http://schemas.openxmlformats.org/officeDocument/2006/relationships/image" Target="../media/image1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1.xml"/><Relationship Id="rId3" Type="http://schemas.openxmlformats.org/officeDocument/2006/relationships/image" Target="../media/image3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image" Target="../media/image115.png"/><Relationship Id="rId7" Type="http://schemas.openxmlformats.org/officeDocument/2006/relationships/chart" Target="../charts/chart15.xml"/><Relationship Id="rId8" Type="http://schemas.openxmlformats.org/officeDocument/2006/relationships/image" Target="../media/image103.png"/><Relationship Id="rId9" Type="http://schemas.openxmlformats.org/officeDocument/2006/relationships/image" Target="../media/image30.png"/><Relationship Id="rId10" Type="http://schemas.openxmlformats.org/officeDocument/2006/relationships/image" Target="../media/image71.png"/><Relationship Id="rId11" Type="http://schemas.openxmlformats.org/officeDocument/2006/relationships/image" Target="../media/image14.png"/><Relationship Id="rId12" Type="http://schemas.openxmlformats.org/officeDocument/2006/relationships/image" Target="../media/image1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2.xml"/><Relationship Id="rId3" Type="http://schemas.openxmlformats.org/officeDocument/2006/relationships/image" Target="../media/image9.png"/><Relationship Id="rId4" Type="http://schemas.openxmlformats.org/officeDocument/2006/relationships/image" Target="../media/image116.png"/><Relationship Id="rId5" Type="http://schemas.openxmlformats.org/officeDocument/2006/relationships/image" Target="../media/image117.png"/><Relationship Id="rId6" Type="http://schemas.openxmlformats.org/officeDocument/2006/relationships/image" Target="../media/image45.png"/><Relationship Id="rId7" Type="http://schemas.openxmlformats.org/officeDocument/2006/relationships/image" Target="../media/image118.png"/><Relationship Id="rId8" Type="http://schemas.openxmlformats.org/officeDocument/2006/relationships/image" Target="../media/image111.png"/><Relationship Id="rId9" Type="http://schemas.openxmlformats.org/officeDocument/2006/relationships/image" Target="../media/image1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3.xml"/><Relationship Id="rId3" Type="http://schemas.openxmlformats.org/officeDocument/2006/relationships/image" Target="../media/image45.png"/><Relationship Id="rId4" Type="http://schemas.openxmlformats.org/officeDocument/2006/relationships/image" Target="../media/image116.png"/><Relationship Id="rId5" Type="http://schemas.openxmlformats.org/officeDocument/2006/relationships/image" Target="../media/image73.png"/><Relationship Id="rId6" Type="http://schemas.openxmlformats.org/officeDocument/2006/relationships/image" Target="../media/image119.png"/><Relationship Id="rId7" Type="http://schemas.openxmlformats.org/officeDocument/2006/relationships/image" Target="../media/image28.png"/><Relationship Id="rId8" Type="http://schemas.openxmlformats.org/officeDocument/2006/relationships/image" Target="../media/image120.png"/><Relationship Id="rId9" Type="http://schemas.openxmlformats.org/officeDocument/2006/relationships/image" Target="../media/image1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4.xml"/><Relationship Id="rId3" Type="http://schemas.openxmlformats.org/officeDocument/2006/relationships/image" Target="../media/image119.png"/><Relationship Id="rId4" Type="http://schemas.openxmlformats.org/officeDocument/2006/relationships/image" Target="../media/image116.png"/><Relationship Id="rId5" Type="http://schemas.openxmlformats.org/officeDocument/2006/relationships/image" Target="../media/image47.png"/><Relationship Id="rId6" Type="http://schemas.openxmlformats.org/officeDocument/2006/relationships/image" Target="../media/image12.png"/><Relationship Id="rId7" Type="http://schemas.openxmlformats.org/officeDocument/2006/relationships/image" Target="../media/image121.png"/><Relationship Id="rId8" Type="http://schemas.openxmlformats.org/officeDocument/2006/relationships/image" Target="../media/image114.png"/><Relationship Id="rId9" Type="http://schemas.openxmlformats.org/officeDocument/2006/relationships/image" Target="../media/image1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5.xml"/><Relationship Id="rId3" Type="http://schemas.openxmlformats.org/officeDocument/2006/relationships/image" Target="../media/image27.png"/><Relationship Id="rId4" Type="http://schemas.openxmlformats.org/officeDocument/2006/relationships/image" Target="../media/image116.png"/><Relationship Id="rId5" Type="http://schemas.openxmlformats.org/officeDocument/2006/relationships/image" Target="../media/image71.png"/><Relationship Id="rId6" Type="http://schemas.openxmlformats.org/officeDocument/2006/relationships/image" Target="../media/image48.png"/><Relationship Id="rId7" Type="http://schemas.openxmlformats.org/officeDocument/2006/relationships/image" Target="../media/image122.png"/><Relationship Id="rId8" Type="http://schemas.openxmlformats.org/officeDocument/2006/relationships/image" Target="../media/image29.png"/><Relationship Id="rId9" Type="http://schemas.openxmlformats.org/officeDocument/2006/relationships/image" Target="../media/image1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6.xml"/><Relationship Id="rId3" Type="http://schemas.openxmlformats.org/officeDocument/2006/relationships/image" Target="../media/image123.png"/><Relationship Id="rId4" Type="http://schemas.openxmlformats.org/officeDocument/2006/relationships/image" Target="../media/image116.png"/><Relationship Id="rId5" Type="http://schemas.openxmlformats.org/officeDocument/2006/relationships/image" Target="../media/image17.png"/><Relationship Id="rId6" Type="http://schemas.openxmlformats.org/officeDocument/2006/relationships/image" Target="../media/image47.png"/><Relationship Id="rId7" Type="http://schemas.openxmlformats.org/officeDocument/2006/relationships/image" Target="../media/image124.png"/><Relationship Id="rId8" Type="http://schemas.openxmlformats.org/officeDocument/2006/relationships/image" Target="../media/image125.png"/><Relationship Id="rId9" Type="http://schemas.openxmlformats.org/officeDocument/2006/relationships/image" Target="../media/image1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1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8.xml"/><Relationship Id="rId3" Type="http://schemas.openxmlformats.org/officeDocument/2006/relationships/image" Target="../media/image126.png"/><Relationship Id="rId4" Type="http://schemas.openxmlformats.org/officeDocument/2006/relationships/image" Target="../media/image119.png"/><Relationship Id="rId5" Type="http://schemas.openxmlformats.org/officeDocument/2006/relationships/image" Target="../media/image108.png"/><Relationship Id="rId6" Type="http://schemas.openxmlformats.org/officeDocument/2006/relationships/image" Target="../media/image13.png"/><Relationship Id="rId7" Type="http://schemas.openxmlformats.org/officeDocument/2006/relationships/image" Target="../media/image45.png"/><Relationship Id="rId8" Type="http://schemas.openxmlformats.org/officeDocument/2006/relationships/image" Target="../media/image30.png"/><Relationship Id="rId9" Type="http://schemas.openxmlformats.org/officeDocument/2006/relationships/image" Target="../media/image109.png"/><Relationship Id="rId10" Type="http://schemas.openxmlformats.org/officeDocument/2006/relationships/image" Target="../media/image127.png"/><Relationship Id="rId11" Type="http://schemas.openxmlformats.org/officeDocument/2006/relationships/image" Target="../media/image14.png"/><Relationship Id="rId12" Type="http://schemas.openxmlformats.org/officeDocument/2006/relationships/image" Target="../media/image1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9.xml"/><Relationship Id="rId3" Type="http://schemas.openxmlformats.org/officeDocument/2006/relationships/image" Target="../media/image16.png"/><Relationship Id="rId4" Type="http://schemas.openxmlformats.org/officeDocument/2006/relationships/image" Target="../media/image29.png"/><Relationship Id="rId5" Type="http://schemas.openxmlformats.org/officeDocument/2006/relationships/image" Target="../media/image28.png"/><Relationship Id="rId6" Type="http://schemas.openxmlformats.org/officeDocument/2006/relationships/image" Target="../media/image32.png"/><Relationship Id="rId7" Type="http://schemas.openxmlformats.org/officeDocument/2006/relationships/image" Target="../media/image30.png"/><Relationship Id="rId8" Type="http://schemas.openxmlformats.org/officeDocument/2006/relationships/image" Target="../media/image128.png"/><Relationship Id="rId9" Type="http://schemas.openxmlformats.org/officeDocument/2006/relationships/image" Target="../media/image1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0.xml"/><Relationship Id="rId3" Type="http://schemas.openxmlformats.org/officeDocument/2006/relationships/image" Target="../media/image116.png"/><Relationship Id="rId4" Type="http://schemas.openxmlformats.org/officeDocument/2006/relationships/image" Target="../media/image12.png"/><Relationship Id="rId5" Type="http://schemas.openxmlformats.org/officeDocument/2006/relationships/image" Target="../media/image30.png"/><Relationship Id="rId6" Type="http://schemas.openxmlformats.org/officeDocument/2006/relationships/image" Target="../media/image129.png"/><Relationship Id="rId7" Type="http://schemas.openxmlformats.org/officeDocument/2006/relationships/image" Target="../media/image45.png"/><Relationship Id="rId8" Type="http://schemas.openxmlformats.org/officeDocument/2006/relationships/image" Target="../media/image112.png"/><Relationship Id="rId9" Type="http://schemas.openxmlformats.org/officeDocument/2006/relationships/image" Target="../media/image1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1.xml"/><Relationship Id="rId3" Type="http://schemas.openxmlformats.org/officeDocument/2006/relationships/image" Target="../media/image1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2.xml"/><Relationship Id="rId3" Type="http://schemas.openxmlformats.org/officeDocument/2006/relationships/image" Target="../media/image25.png"/><Relationship Id="rId4" Type="http://schemas.openxmlformats.org/officeDocument/2006/relationships/image" Target="../media/image44.png"/><Relationship Id="rId5" Type="http://schemas.openxmlformats.org/officeDocument/2006/relationships/image" Target="../media/image130.png"/><Relationship Id="rId6" Type="http://schemas.openxmlformats.org/officeDocument/2006/relationships/image" Target="../media/image111.png"/><Relationship Id="rId7" Type="http://schemas.openxmlformats.org/officeDocument/2006/relationships/image" Target="../media/image1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3.xml"/><Relationship Id="rId3" Type="http://schemas.openxmlformats.org/officeDocument/2006/relationships/image" Target="../media/image29.png"/><Relationship Id="rId4" Type="http://schemas.openxmlformats.org/officeDocument/2006/relationships/image" Target="../media/image47.png"/><Relationship Id="rId5" Type="http://schemas.openxmlformats.org/officeDocument/2006/relationships/image" Target="../media/image124.png"/><Relationship Id="rId6" Type="http://schemas.openxmlformats.org/officeDocument/2006/relationships/image" Target="../media/image105.png"/><Relationship Id="rId7" Type="http://schemas.openxmlformats.org/officeDocument/2006/relationships/image" Target="../media/image131.png"/><Relationship Id="rId8" Type="http://schemas.openxmlformats.org/officeDocument/2006/relationships/image" Target="../media/image1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4.xml"/><Relationship Id="rId3" Type="http://schemas.openxmlformats.org/officeDocument/2006/relationships/image" Target="../media/image1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5.xml"/><Relationship Id="rId3" Type="http://schemas.openxmlformats.org/officeDocument/2006/relationships/image" Target="../media/image14.png"/><Relationship Id="rId4" Type="http://schemas.openxmlformats.org/officeDocument/2006/relationships/image" Target="../media/image75.png"/><Relationship Id="rId5" Type="http://schemas.openxmlformats.org/officeDocument/2006/relationships/image" Target="../media/image47.png"/><Relationship Id="rId6" Type="http://schemas.openxmlformats.org/officeDocument/2006/relationships/image" Target="../media/image132.png"/><Relationship Id="rId7" Type="http://schemas.openxmlformats.org/officeDocument/2006/relationships/image" Target="../media/image1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6.xml"/><Relationship Id="rId3" Type="http://schemas.openxmlformats.org/officeDocument/2006/relationships/image" Target="../media/image1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7.xml"/><Relationship Id="rId3" Type="http://schemas.openxmlformats.org/officeDocument/2006/relationships/image" Target="../media/image89.png"/><Relationship Id="rId4" Type="http://schemas.openxmlformats.org/officeDocument/2006/relationships/image" Target="../media/image11.png"/><Relationship Id="rId5" Type="http://schemas.openxmlformats.org/officeDocument/2006/relationships/image" Target="../media/image29.png"/><Relationship Id="rId6" Type="http://schemas.openxmlformats.org/officeDocument/2006/relationships/image" Target="../media/image90.png"/><Relationship Id="rId7" Type="http://schemas.openxmlformats.org/officeDocument/2006/relationships/image" Target="../media/image72.png"/><Relationship Id="rId8" Type="http://schemas.openxmlformats.org/officeDocument/2006/relationships/image" Target="../media/image133.png"/><Relationship Id="rId9" Type="http://schemas.openxmlformats.org/officeDocument/2006/relationships/image" Target="../media/image28.png"/><Relationship Id="rId10" Type="http://schemas.openxmlformats.org/officeDocument/2006/relationships/image" Target="../media/image134.png"/><Relationship Id="rId11" Type="http://schemas.openxmlformats.org/officeDocument/2006/relationships/image" Target="../media/image1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1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9.xml"/><Relationship Id="rId3" Type="http://schemas.openxmlformats.org/officeDocument/2006/relationships/image" Target="../media/image86.png"/><Relationship Id="rId4" Type="http://schemas.openxmlformats.org/officeDocument/2006/relationships/image" Target="../media/image1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0.xml"/><Relationship Id="rId3" Type="http://schemas.openxmlformats.org/officeDocument/2006/relationships/image" Target="../media/image86.png"/><Relationship Id="rId4" Type="http://schemas.openxmlformats.org/officeDocument/2006/relationships/image" Target="../media/image1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1.xml"/><Relationship Id="rId3" Type="http://schemas.openxmlformats.org/officeDocument/2006/relationships/image" Target="../media/image132.png"/><Relationship Id="rId4" Type="http://schemas.openxmlformats.org/officeDocument/2006/relationships/image" Target="../media/image1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2.xml"/><Relationship Id="rId3" Type="http://schemas.openxmlformats.org/officeDocument/2006/relationships/image" Target="../media/image132.png"/><Relationship Id="rId4" Type="http://schemas.openxmlformats.org/officeDocument/2006/relationships/image" Target="../media/image1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3.xml"/><Relationship Id="rId3" Type="http://schemas.openxmlformats.org/officeDocument/2006/relationships/image" Target="../media/image132.png"/><Relationship Id="rId4" Type="http://schemas.openxmlformats.org/officeDocument/2006/relationships/image" Target="../media/image1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4.xml"/><Relationship Id="rId3" Type="http://schemas.openxmlformats.org/officeDocument/2006/relationships/image" Target="../media/image132.png"/><Relationship Id="rId4" Type="http://schemas.openxmlformats.org/officeDocument/2006/relationships/image" Target="../media/image1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5.xml"/><Relationship Id="rId3" Type="http://schemas.openxmlformats.org/officeDocument/2006/relationships/image" Target="../media/image132.png"/><Relationship Id="rId4" Type="http://schemas.openxmlformats.org/officeDocument/2006/relationships/image" Target="../media/image1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1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7.xml"/><Relationship Id="rId3" Type="http://schemas.openxmlformats.org/officeDocument/2006/relationships/image" Target="../media/image25.png"/><Relationship Id="rId4" Type="http://schemas.openxmlformats.org/officeDocument/2006/relationships/image" Target="../media/image28.png"/><Relationship Id="rId5" Type="http://schemas.openxmlformats.org/officeDocument/2006/relationships/image" Target="../media/image44.png"/><Relationship Id="rId6" Type="http://schemas.openxmlformats.org/officeDocument/2006/relationships/image" Target="../media/image72.png"/><Relationship Id="rId7" Type="http://schemas.openxmlformats.org/officeDocument/2006/relationships/image" Target="../media/image27.png"/><Relationship Id="rId8" Type="http://schemas.openxmlformats.org/officeDocument/2006/relationships/image" Target="../media/image32.png"/><Relationship Id="rId9" Type="http://schemas.openxmlformats.org/officeDocument/2006/relationships/image" Target="../media/image135.png"/><Relationship Id="rId10" Type="http://schemas.openxmlformats.org/officeDocument/2006/relationships/image" Target="../media/image110.png"/><Relationship Id="rId11" Type="http://schemas.openxmlformats.org/officeDocument/2006/relationships/image" Target="../media/image1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8.xml"/><Relationship Id="rId3" Type="http://schemas.openxmlformats.org/officeDocument/2006/relationships/image" Target="../media/image17.png"/><Relationship Id="rId4" Type="http://schemas.openxmlformats.org/officeDocument/2006/relationships/image" Target="../media/image136.png"/><Relationship Id="rId5" Type="http://schemas.openxmlformats.org/officeDocument/2006/relationships/image" Target="../media/image137.png"/><Relationship Id="rId6" Type="http://schemas.openxmlformats.org/officeDocument/2006/relationships/image" Target="../media/image47.png"/><Relationship Id="rId7" Type="http://schemas.openxmlformats.org/officeDocument/2006/relationships/image" Target="../media/image124.png"/><Relationship Id="rId8" Type="http://schemas.openxmlformats.org/officeDocument/2006/relationships/image" Target="../media/image14.png"/><Relationship Id="rId9" Type="http://schemas.openxmlformats.org/officeDocument/2006/relationships/image" Target="../media/image1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9.xml"/><Relationship Id="rId3" Type="http://schemas.openxmlformats.org/officeDocument/2006/relationships/image" Target="../media/image29.png"/><Relationship Id="rId4" Type="http://schemas.openxmlformats.org/officeDocument/2006/relationships/image" Target="../media/image17.png"/><Relationship Id="rId5" Type="http://schemas.openxmlformats.org/officeDocument/2006/relationships/image" Target="../media/image138.png"/><Relationship Id="rId6" Type="http://schemas.openxmlformats.org/officeDocument/2006/relationships/image" Target="../media/image75.png"/><Relationship Id="rId7" Type="http://schemas.openxmlformats.org/officeDocument/2006/relationships/image" Target="../media/image8.png"/><Relationship Id="rId8" Type="http://schemas.openxmlformats.org/officeDocument/2006/relationships/image" Target="../media/image124.png"/><Relationship Id="rId9" Type="http://schemas.openxmlformats.org/officeDocument/2006/relationships/image" Target="../media/image139.png"/><Relationship Id="rId10" Type="http://schemas.openxmlformats.org/officeDocument/2006/relationships/image" Target="../media/image140.png"/><Relationship Id="rId11" Type="http://schemas.openxmlformats.org/officeDocument/2006/relationships/image" Target="../media/image47.png"/><Relationship Id="rId12" Type="http://schemas.openxmlformats.org/officeDocument/2006/relationships/image" Target="../media/image120.png"/><Relationship Id="rId13" Type="http://schemas.openxmlformats.org/officeDocument/2006/relationships/image" Target="../media/image1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8000"/>
              <a:t>TAP26 Juniors</a:t>
            </a:r>
            <a:br/>
            <a:r>
              <a:rPr sz="8000"/>
              <a:t>Scripting Session</a:t>
            </a:r>
          </a:p>
        </p:txBody>
      </p:sp>
      <p:sp>
        <p:nvSpPr>
          <p:cNvPr id="3" name="TextBox 2"/>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1</a:t>
            </a:r>
          </a:p>
        </p:txBody>
      </p:sp>
      <p:sp>
        <p:nvSpPr>
          <p:cNvPr id="4" name="TextBox 3"/>
          <p:cNvSpPr txBox="1"/>
          <p:nvPr/>
        </p:nvSpPr>
        <p:spPr>
          <a:xfrm>
            <a:off x="2606040" y="10744200"/>
            <a:ext cx="182880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400" b="0" i="0">
                <a:solidFill>
                  <a:srgbClr val="5E6A73"/>
                </a:solidFill>
              </a:rPr>
              <a:t>16.10.2026  ·  Alex Pandi, RO Discipline &amp; Automation Centre Lead</a:t>
            </a:r>
          </a:p>
        </p:txBody>
      </p:sp>
      <p:sp>
        <p:nvSpPr>
          <p:cNvPr id="5" name="TextBox 4"/>
          <p:cNvSpPr txBox="1"/>
          <p:nvPr/>
        </p:nvSpPr>
        <p:spPr>
          <a:xfrm>
            <a:off x="2606040" y="11384280"/>
            <a:ext cx="182880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FF5640"/>
                </a:solidFill>
              </a:rPr>
              <a:t>Playwright + TypeScript  ·  Cypress Real World App  ·  TAP26-Junior agents</a:t>
            </a:r>
          </a:p>
        </p:txBody>
      </p:sp>
      <p:sp>
        <p:nvSpPr>
          <p:cNvPr id="6" name="Oval 5"/>
          <p:cNvSpPr/>
          <p:nvPr/>
        </p:nvSpPr>
        <p:spPr>
          <a:xfrm>
            <a:off x="17647920" y="1737360"/>
            <a:ext cx="1097280" cy="109728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9065240" y="1737360"/>
            <a:ext cx="1097280" cy="1097280"/>
          </a:xfrm>
          <a:prstGeom prst="ellipse">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0482560" y="1737360"/>
            <a:ext cx="1097280" cy="109728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7647920" y="3154679"/>
            <a:ext cx="1097280" cy="1097280"/>
          </a:xfrm>
          <a:prstGeom prst="ellipse">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065240" y="3154679"/>
            <a:ext cx="1097280" cy="109728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0482560" y="3154679"/>
            <a:ext cx="1097280" cy="1097280"/>
          </a:xfrm>
          <a:prstGeom prst="ellipse">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606040" y="12115800"/>
            <a:ext cx="14264640" cy="566928"/>
          </a:xfrm>
          <a:prstGeom prst="roundRect">
            <a:avLst>
              <a:gd name="adj" fmla="val 50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97480" y="12115800"/>
            <a:ext cx="14081760"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Warning: contains Playwright, 24 AI agents and puns with 100% test coverage.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Kick-off</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FF5640"/>
                </a:solidFill>
              </a:rPr>
              <a:t>SESSION OUTLINE</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Eight stops on today's line</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2</a:t>
            </a:r>
          </a:p>
        </p:txBody>
      </p:sp>
      <p:sp>
        <p:nvSpPr>
          <p:cNvPr id="6" name="Rounded Rectangle 5"/>
          <p:cNvSpPr/>
          <p:nvPr/>
        </p:nvSpPr>
        <p:spPr>
          <a:xfrm>
            <a:off x="1371600" y="5989320"/>
            <a:ext cx="20381976" cy="146304"/>
          </a:xfrm>
          <a:prstGeom prst="roundRect">
            <a:avLst>
              <a:gd name="adj" fmla="val 50000"/>
            </a:avLst>
          </a:prstGeom>
          <a:solidFill>
            <a:srgbClr val="E6E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3246120"/>
            <a:ext cx="237744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5400" b="0" i="0">
                <a:solidFill>
                  <a:srgbClr val="3D9BC8"/>
                </a:solidFill>
                <a:latin typeface="+mj-lt"/>
              </a:rPr>
              <a:t>01</a:t>
            </a:r>
          </a:p>
        </p:txBody>
      </p:sp>
      <p:sp>
        <p:nvSpPr>
          <p:cNvPr id="8" name="Oval 7"/>
          <p:cNvSpPr/>
          <p:nvPr/>
        </p:nvSpPr>
        <p:spPr>
          <a:xfrm>
            <a:off x="822960" y="5440680"/>
            <a:ext cx="1234440" cy="1234440"/>
          </a:xfrm>
          <a:prstGeom prst="ellipse">
            <a:avLst/>
          </a:prstGeom>
          <a:solidFill>
            <a:srgbClr val="FFFFFF"/>
          </a:solidFill>
          <a:ln w="254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5550408"/>
            <a:ext cx="1014984" cy="1014984"/>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uMonitorSmartphone.png"/>
          <p:cNvPicPr>
            <a:picLocks noChangeAspect="1"/>
          </p:cNvPicPr>
          <p:nvPr/>
        </p:nvPicPr>
        <p:blipFill>
          <a:blip r:embed="rId3"/>
          <a:stretch>
            <a:fillRect/>
          </a:stretch>
        </p:blipFill>
        <p:spPr>
          <a:xfrm>
            <a:off x="1176284" y="5794004"/>
            <a:ext cx="527791" cy="527791"/>
          </a:xfrm>
          <a:prstGeom prst="rect">
            <a:avLst/>
          </a:prstGeom>
        </p:spPr>
      </p:pic>
      <p:sp>
        <p:nvSpPr>
          <p:cNvPr id="11" name="TextBox 10"/>
          <p:cNvSpPr txBox="1"/>
          <p:nvPr/>
        </p:nvSpPr>
        <p:spPr>
          <a:xfrm>
            <a:off x="137160" y="6995160"/>
            <a:ext cx="260604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2100" b="1" i="0">
                <a:solidFill>
                  <a:srgbClr val="192B37"/>
                </a:solidFill>
              </a:rPr>
              <a:t>The app</a:t>
            </a:r>
          </a:p>
        </p:txBody>
      </p:sp>
      <p:sp>
        <p:nvSpPr>
          <p:cNvPr id="12" name="TextBox 11"/>
          <p:cNvSpPr txBox="1"/>
          <p:nvPr/>
        </p:nvSpPr>
        <p:spPr>
          <a:xfrm>
            <a:off x="137160" y="7863840"/>
            <a:ext cx="2606040" cy="10972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0" i="0">
                <a:solidFill>
                  <a:srgbClr val="5E6A73"/>
                </a:solidFill>
              </a:rPr>
              <a:t>RWA tour &amp; architecture</a:t>
            </a:r>
          </a:p>
        </p:txBody>
      </p:sp>
      <p:sp>
        <p:nvSpPr>
          <p:cNvPr id="13" name="TextBox 12"/>
          <p:cNvSpPr txBox="1"/>
          <p:nvPr/>
        </p:nvSpPr>
        <p:spPr>
          <a:xfrm>
            <a:off x="3447288" y="3246120"/>
            <a:ext cx="237744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5400" b="0" i="0">
                <a:solidFill>
                  <a:srgbClr val="00A859"/>
                </a:solidFill>
                <a:latin typeface="+mj-lt"/>
              </a:rPr>
              <a:t>02</a:t>
            </a:r>
          </a:p>
        </p:txBody>
      </p:sp>
      <p:sp>
        <p:nvSpPr>
          <p:cNvPr id="14" name="Oval 13"/>
          <p:cNvSpPr/>
          <p:nvPr/>
        </p:nvSpPr>
        <p:spPr>
          <a:xfrm>
            <a:off x="3721608" y="5440680"/>
            <a:ext cx="1234440" cy="1234440"/>
          </a:xfrm>
          <a:prstGeom prst="ellipse">
            <a:avLst/>
          </a:prstGeom>
          <a:solidFill>
            <a:srgbClr val="FFFFFF"/>
          </a:solidFill>
          <a:ln w="254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831336" y="5550408"/>
            <a:ext cx="1014984" cy="101498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uLayers.png"/>
          <p:cNvPicPr>
            <a:picLocks noChangeAspect="1"/>
          </p:cNvPicPr>
          <p:nvPr/>
        </p:nvPicPr>
        <p:blipFill>
          <a:blip r:embed="rId4"/>
          <a:stretch>
            <a:fillRect/>
          </a:stretch>
        </p:blipFill>
        <p:spPr>
          <a:xfrm>
            <a:off x="4074932" y="5794004"/>
            <a:ext cx="527791" cy="527791"/>
          </a:xfrm>
          <a:prstGeom prst="rect">
            <a:avLst/>
          </a:prstGeom>
        </p:spPr>
      </p:pic>
      <p:sp>
        <p:nvSpPr>
          <p:cNvPr id="17" name="TextBox 16"/>
          <p:cNvSpPr txBox="1"/>
          <p:nvPr/>
        </p:nvSpPr>
        <p:spPr>
          <a:xfrm>
            <a:off x="3035808" y="6995160"/>
            <a:ext cx="260604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2100" b="1" i="0">
                <a:solidFill>
                  <a:srgbClr val="192B37"/>
                </a:solidFill>
              </a:rPr>
              <a:t>API &amp; UI layers</a:t>
            </a:r>
          </a:p>
        </p:txBody>
      </p:sp>
      <p:sp>
        <p:nvSpPr>
          <p:cNvPr id="18" name="TextBox 17"/>
          <p:cNvSpPr txBox="1"/>
          <p:nvPr/>
        </p:nvSpPr>
        <p:spPr>
          <a:xfrm>
            <a:off x="3035808" y="7863840"/>
            <a:ext cx="2606040" cy="10972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0" i="0">
                <a:solidFill>
                  <a:srgbClr val="5E6A73"/>
                </a:solidFill>
              </a:rPr>
              <a:t>flows, tests, defects</a:t>
            </a:r>
          </a:p>
        </p:txBody>
      </p:sp>
      <p:sp>
        <p:nvSpPr>
          <p:cNvPr id="19" name="TextBox 18"/>
          <p:cNvSpPr txBox="1"/>
          <p:nvPr/>
        </p:nvSpPr>
        <p:spPr>
          <a:xfrm>
            <a:off x="6345936" y="3246120"/>
            <a:ext cx="237744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5400" b="0" i="0">
                <a:solidFill>
                  <a:srgbClr val="8683C3"/>
                </a:solidFill>
                <a:latin typeface="+mj-lt"/>
              </a:rPr>
              <a:t>03</a:t>
            </a:r>
          </a:p>
        </p:txBody>
      </p:sp>
      <p:sp>
        <p:nvSpPr>
          <p:cNvPr id="20" name="Oval 19"/>
          <p:cNvSpPr/>
          <p:nvPr/>
        </p:nvSpPr>
        <p:spPr>
          <a:xfrm>
            <a:off x="6620256" y="5440680"/>
            <a:ext cx="1234440" cy="1234440"/>
          </a:xfrm>
          <a:prstGeom prst="ellipse">
            <a:avLst/>
          </a:prstGeom>
          <a:solidFill>
            <a:srgbClr val="FFFFFF"/>
          </a:solidFill>
          <a:ln w="254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729984" y="5550408"/>
            <a:ext cx="1014984" cy="1014984"/>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LuCode.png"/>
          <p:cNvPicPr>
            <a:picLocks noChangeAspect="1"/>
          </p:cNvPicPr>
          <p:nvPr/>
        </p:nvPicPr>
        <p:blipFill>
          <a:blip r:embed="rId5"/>
          <a:stretch>
            <a:fillRect/>
          </a:stretch>
        </p:blipFill>
        <p:spPr>
          <a:xfrm>
            <a:off x="6973580" y="5794004"/>
            <a:ext cx="527791" cy="527791"/>
          </a:xfrm>
          <a:prstGeom prst="rect">
            <a:avLst/>
          </a:prstGeom>
        </p:spPr>
      </p:pic>
      <p:sp>
        <p:nvSpPr>
          <p:cNvPr id="23" name="TextBox 22"/>
          <p:cNvSpPr txBox="1"/>
          <p:nvPr/>
        </p:nvSpPr>
        <p:spPr>
          <a:xfrm>
            <a:off x="5934456" y="6995160"/>
            <a:ext cx="260604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2100" b="1" i="0">
                <a:solidFill>
                  <a:srgbClr val="192B37"/>
                </a:solidFill>
              </a:rPr>
              <a:t>Automation suite</a:t>
            </a:r>
          </a:p>
        </p:txBody>
      </p:sp>
      <p:sp>
        <p:nvSpPr>
          <p:cNvPr id="24" name="TextBox 23"/>
          <p:cNvSpPr txBox="1"/>
          <p:nvPr/>
        </p:nvSpPr>
        <p:spPr>
          <a:xfrm>
            <a:off x="5934456" y="7863840"/>
            <a:ext cx="2606040" cy="10972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0" i="0">
                <a:solidFill>
                  <a:srgbClr val="5E6A73"/>
                </a:solidFill>
              </a:rPr>
              <a:t>functional Playwright + TS</a:t>
            </a:r>
          </a:p>
        </p:txBody>
      </p:sp>
      <p:sp>
        <p:nvSpPr>
          <p:cNvPr id="25" name="TextBox 24"/>
          <p:cNvSpPr txBox="1"/>
          <p:nvPr/>
        </p:nvSpPr>
        <p:spPr>
          <a:xfrm>
            <a:off x="9244584" y="3246120"/>
            <a:ext cx="237744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5400" b="0" i="0">
                <a:solidFill>
                  <a:srgbClr val="DB7D00"/>
                </a:solidFill>
                <a:latin typeface="+mj-lt"/>
              </a:rPr>
              <a:t>04</a:t>
            </a:r>
          </a:p>
        </p:txBody>
      </p:sp>
      <p:sp>
        <p:nvSpPr>
          <p:cNvPr id="26" name="Oval 25"/>
          <p:cNvSpPr/>
          <p:nvPr/>
        </p:nvSpPr>
        <p:spPr>
          <a:xfrm>
            <a:off x="9518904" y="5440680"/>
            <a:ext cx="1234440" cy="1234440"/>
          </a:xfrm>
          <a:prstGeom prst="ellipse">
            <a:avLst/>
          </a:prstGeom>
          <a:solidFill>
            <a:srgbClr val="FFFFFF"/>
          </a:solidFill>
          <a:ln w="2540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628632" y="5550408"/>
            <a:ext cx="1014984" cy="1014984"/>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LuGitCompare.png"/>
          <p:cNvPicPr>
            <a:picLocks noChangeAspect="1"/>
          </p:cNvPicPr>
          <p:nvPr/>
        </p:nvPicPr>
        <p:blipFill>
          <a:blip r:embed="rId6"/>
          <a:stretch>
            <a:fillRect/>
          </a:stretch>
        </p:blipFill>
        <p:spPr>
          <a:xfrm>
            <a:off x="9872228" y="5794004"/>
            <a:ext cx="527791" cy="527791"/>
          </a:xfrm>
          <a:prstGeom prst="rect">
            <a:avLst/>
          </a:prstGeom>
        </p:spPr>
      </p:pic>
      <p:sp>
        <p:nvSpPr>
          <p:cNvPr id="29" name="TextBox 28"/>
          <p:cNvSpPr txBox="1"/>
          <p:nvPr/>
        </p:nvSpPr>
        <p:spPr>
          <a:xfrm>
            <a:off x="8833104" y="6995160"/>
            <a:ext cx="260604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2100" b="1" i="0">
                <a:solidFill>
                  <a:srgbClr val="192B37"/>
                </a:solidFill>
              </a:rPr>
              <a:t>Cypress vs Playwright</a:t>
            </a:r>
          </a:p>
        </p:txBody>
      </p:sp>
      <p:sp>
        <p:nvSpPr>
          <p:cNvPr id="30" name="TextBox 29"/>
          <p:cNvSpPr txBox="1"/>
          <p:nvPr/>
        </p:nvSpPr>
        <p:spPr>
          <a:xfrm>
            <a:off x="8833104" y="7863840"/>
            <a:ext cx="2606040" cy="10972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0" i="0">
                <a:solidFill>
                  <a:srgbClr val="5E6A73"/>
                </a:solidFill>
              </a:rPr>
              <a:t>pros, cons, code side by side</a:t>
            </a:r>
          </a:p>
        </p:txBody>
      </p:sp>
      <p:sp>
        <p:nvSpPr>
          <p:cNvPr id="31" name="TextBox 30"/>
          <p:cNvSpPr txBox="1"/>
          <p:nvPr/>
        </p:nvSpPr>
        <p:spPr>
          <a:xfrm>
            <a:off x="12143232" y="3246120"/>
            <a:ext cx="237744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5400" b="0" i="0">
                <a:solidFill>
                  <a:srgbClr val="FF5640"/>
                </a:solidFill>
                <a:latin typeface="+mj-lt"/>
              </a:rPr>
              <a:t>05</a:t>
            </a:r>
          </a:p>
        </p:txBody>
      </p:sp>
      <p:sp>
        <p:nvSpPr>
          <p:cNvPr id="32" name="Oval 31"/>
          <p:cNvSpPr/>
          <p:nvPr/>
        </p:nvSpPr>
        <p:spPr>
          <a:xfrm>
            <a:off x="12417552" y="5440680"/>
            <a:ext cx="1234440" cy="1234440"/>
          </a:xfrm>
          <a:prstGeom prst="ellipse">
            <a:avLst/>
          </a:prstGeom>
          <a:solidFill>
            <a:srgbClr val="FFFFFF"/>
          </a:solidFill>
          <a:ln w="254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2527280" y="5550408"/>
            <a:ext cx="1014984" cy="1014984"/>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LuBot.png"/>
          <p:cNvPicPr>
            <a:picLocks noChangeAspect="1"/>
          </p:cNvPicPr>
          <p:nvPr/>
        </p:nvPicPr>
        <p:blipFill>
          <a:blip r:embed="rId7"/>
          <a:stretch>
            <a:fillRect/>
          </a:stretch>
        </p:blipFill>
        <p:spPr>
          <a:xfrm>
            <a:off x="12770876" y="5794004"/>
            <a:ext cx="527791" cy="527791"/>
          </a:xfrm>
          <a:prstGeom prst="rect">
            <a:avLst/>
          </a:prstGeom>
        </p:spPr>
      </p:pic>
      <p:sp>
        <p:nvSpPr>
          <p:cNvPr id="35" name="TextBox 34"/>
          <p:cNvSpPr txBox="1"/>
          <p:nvPr/>
        </p:nvSpPr>
        <p:spPr>
          <a:xfrm>
            <a:off x="11731752" y="6995160"/>
            <a:ext cx="260604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2100" b="1" i="0">
                <a:solidFill>
                  <a:srgbClr val="192B37"/>
                </a:solidFill>
              </a:rPr>
              <a:t>TAP26-Junior</a:t>
            </a:r>
          </a:p>
        </p:txBody>
      </p:sp>
      <p:sp>
        <p:nvSpPr>
          <p:cNvPr id="36" name="TextBox 35"/>
          <p:cNvSpPr txBox="1"/>
          <p:nvPr/>
        </p:nvSpPr>
        <p:spPr>
          <a:xfrm>
            <a:off x="11731752" y="7863840"/>
            <a:ext cx="2606040" cy="10972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0" i="0">
                <a:solidFill>
                  <a:srgbClr val="5E6A73"/>
                </a:solidFill>
              </a:rPr>
              <a:t>24 agents · 31 skills · memory</a:t>
            </a:r>
          </a:p>
        </p:txBody>
      </p:sp>
      <p:sp>
        <p:nvSpPr>
          <p:cNvPr id="37" name="TextBox 36"/>
          <p:cNvSpPr txBox="1"/>
          <p:nvPr/>
        </p:nvSpPr>
        <p:spPr>
          <a:xfrm>
            <a:off x="15041880" y="3246120"/>
            <a:ext cx="237744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5400" b="0" i="0">
                <a:solidFill>
                  <a:srgbClr val="729A00"/>
                </a:solidFill>
                <a:latin typeface="+mj-lt"/>
              </a:rPr>
              <a:t>06</a:t>
            </a:r>
          </a:p>
        </p:txBody>
      </p:sp>
      <p:sp>
        <p:nvSpPr>
          <p:cNvPr id="38" name="Oval 37"/>
          <p:cNvSpPr/>
          <p:nvPr/>
        </p:nvSpPr>
        <p:spPr>
          <a:xfrm>
            <a:off x="15316200" y="5440680"/>
            <a:ext cx="1234440" cy="1234440"/>
          </a:xfrm>
          <a:prstGeom prst="ellipse">
            <a:avLst/>
          </a:prstGeom>
          <a:solidFill>
            <a:srgbClr val="FFFFFF"/>
          </a:solidFill>
          <a:ln w="25400">
            <a:solidFill>
              <a:srgbClr val="729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5425928" y="5550408"/>
            <a:ext cx="1014984" cy="1014984"/>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LuWorkflow.png"/>
          <p:cNvPicPr>
            <a:picLocks noChangeAspect="1"/>
          </p:cNvPicPr>
          <p:nvPr/>
        </p:nvPicPr>
        <p:blipFill>
          <a:blip r:embed="rId8"/>
          <a:stretch>
            <a:fillRect/>
          </a:stretch>
        </p:blipFill>
        <p:spPr>
          <a:xfrm>
            <a:off x="15669524" y="5794004"/>
            <a:ext cx="527791" cy="527791"/>
          </a:xfrm>
          <a:prstGeom prst="rect">
            <a:avLst/>
          </a:prstGeom>
        </p:spPr>
      </p:pic>
      <p:sp>
        <p:nvSpPr>
          <p:cNvPr id="41" name="TextBox 40"/>
          <p:cNvSpPr txBox="1"/>
          <p:nvPr/>
        </p:nvSpPr>
        <p:spPr>
          <a:xfrm>
            <a:off x="14630400" y="6995160"/>
            <a:ext cx="260604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2100" b="1" i="0">
                <a:solidFill>
                  <a:srgbClr val="192B37"/>
                </a:solidFill>
              </a:rPr>
              <a:t>Agents at work</a:t>
            </a:r>
          </a:p>
        </p:txBody>
      </p:sp>
      <p:sp>
        <p:nvSpPr>
          <p:cNvPr id="42" name="TextBox 41"/>
          <p:cNvSpPr txBox="1"/>
          <p:nvPr/>
        </p:nvSpPr>
        <p:spPr>
          <a:xfrm>
            <a:off x="14630400" y="7863840"/>
            <a:ext cx="2606040" cy="10972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0" i="0">
                <a:solidFill>
                  <a:srgbClr val="5E6A73"/>
                </a:solidFill>
              </a:rPr>
              <a:t>production cycle, gaps, bugs</a:t>
            </a:r>
          </a:p>
        </p:txBody>
      </p:sp>
      <p:sp>
        <p:nvSpPr>
          <p:cNvPr id="43" name="TextBox 42"/>
          <p:cNvSpPr txBox="1"/>
          <p:nvPr/>
        </p:nvSpPr>
        <p:spPr>
          <a:xfrm>
            <a:off x="17940527" y="3246120"/>
            <a:ext cx="237744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5400" b="0" i="0">
                <a:solidFill>
                  <a:srgbClr val="3D9BC8"/>
                </a:solidFill>
                <a:latin typeface="+mj-lt"/>
              </a:rPr>
              <a:t>07</a:t>
            </a:r>
          </a:p>
        </p:txBody>
      </p:sp>
      <p:sp>
        <p:nvSpPr>
          <p:cNvPr id="44" name="Oval 43"/>
          <p:cNvSpPr/>
          <p:nvPr/>
        </p:nvSpPr>
        <p:spPr>
          <a:xfrm>
            <a:off x="18214848" y="5440680"/>
            <a:ext cx="1234440" cy="1234440"/>
          </a:xfrm>
          <a:prstGeom prst="ellipse">
            <a:avLst/>
          </a:prstGeom>
          <a:solidFill>
            <a:srgbClr val="FFFFFF"/>
          </a:solidFill>
          <a:ln w="254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8324576" y="5550408"/>
            <a:ext cx="1014984" cy="1014984"/>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LuHammer.png"/>
          <p:cNvPicPr>
            <a:picLocks noChangeAspect="1"/>
          </p:cNvPicPr>
          <p:nvPr/>
        </p:nvPicPr>
        <p:blipFill>
          <a:blip r:embed="rId9"/>
          <a:stretch>
            <a:fillRect/>
          </a:stretch>
        </p:blipFill>
        <p:spPr>
          <a:xfrm>
            <a:off x="18568172" y="5794004"/>
            <a:ext cx="527791" cy="527791"/>
          </a:xfrm>
          <a:prstGeom prst="rect">
            <a:avLst/>
          </a:prstGeom>
        </p:spPr>
      </p:pic>
      <p:sp>
        <p:nvSpPr>
          <p:cNvPr id="47" name="TextBox 46"/>
          <p:cNvSpPr txBox="1"/>
          <p:nvPr/>
        </p:nvSpPr>
        <p:spPr>
          <a:xfrm>
            <a:off x="17529048" y="6995160"/>
            <a:ext cx="260604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2100" b="1" i="0">
                <a:solidFill>
                  <a:srgbClr val="192B37"/>
                </a:solidFill>
              </a:rPr>
              <a:t>Hands-on</a:t>
            </a:r>
          </a:p>
        </p:txBody>
      </p:sp>
      <p:sp>
        <p:nvSpPr>
          <p:cNvPr id="48" name="TextBox 47"/>
          <p:cNvSpPr txBox="1"/>
          <p:nvPr/>
        </p:nvSpPr>
        <p:spPr>
          <a:xfrm>
            <a:off x="17529048" y="7863840"/>
            <a:ext cx="2606040" cy="10972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0" i="0">
                <a:solidFill>
                  <a:srgbClr val="5E6A73"/>
                </a:solidFill>
              </a:rPr>
              <a:t>10 exercises · 10 real questions</a:t>
            </a:r>
          </a:p>
        </p:txBody>
      </p:sp>
      <p:sp>
        <p:nvSpPr>
          <p:cNvPr id="49" name="TextBox 48"/>
          <p:cNvSpPr txBox="1"/>
          <p:nvPr/>
        </p:nvSpPr>
        <p:spPr>
          <a:xfrm>
            <a:off x="20839175" y="3246120"/>
            <a:ext cx="237744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5400" b="0" i="0">
                <a:solidFill>
                  <a:srgbClr val="00A859"/>
                </a:solidFill>
                <a:latin typeface="+mj-lt"/>
              </a:rPr>
              <a:t>08</a:t>
            </a:r>
          </a:p>
        </p:txBody>
      </p:sp>
      <p:sp>
        <p:nvSpPr>
          <p:cNvPr id="50" name="Oval 49"/>
          <p:cNvSpPr/>
          <p:nvPr/>
        </p:nvSpPr>
        <p:spPr>
          <a:xfrm>
            <a:off x="21113495" y="5440680"/>
            <a:ext cx="1234440" cy="1234440"/>
          </a:xfrm>
          <a:prstGeom prst="ellipse">
            <a:avLst/>
          </a:prstGeom>
          <a:solidFill>
            <a:srgbClr val="FFFFFF"/>
          </a:solidFill>
          <a:ln w="254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21223223" y="5550408"/>
            <a:ext cx="1014984" cy="101498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LuGraduationCap.png"/>
          <p:cNvPicPr>
            <a:picLocks noChangeAspect="1"/>
          </p:cNvPicPr>
          <p:nvPr/>
        </p:nvPicPr>
        <p:blipFill>
          <a:blip r:embed="rId10"/>
          <a:stretch>
            <a:fillRect/>
          </a:stretch>
        </p:blipFill>
        <p:spPr>
          <a:xfrm>
            <a:off x="21466820" y="5794004"/>
            <a:ext cx="527791" cy="527791"/>
          </a:xfrm>
          <a:prstGeom prst="rect">
            <a:avLst/>
          </a:prstGeom>
        </p:spPr>
      </p:pic>
      <p:sp>
        <p:nvSpPr>
          <p:cNvPr id="53" name="TextBox 52"/>
          <p:cNvSpPr txBox="1"/>
          <p:nvPr/>
        </p:nvSpPr>
        <p:spPr>
          <a:xfrm>
            <a:off x="20427695" y="6995160"/>
            <a:ext cx="260604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2100" b="1" i="0">
                <a:solidFill>
                  <a:srgbClr val="192B37"/>
                </a:solidFill>
              </a:rPr>
              <a:t>Homework</a:t>
            </a:r>
          </a:p>
        </p:txBody>
      </p:sp>
      <p:sp>
        <p:nvSpPr>
          <p:cNvPr id="54" name="TextBox 53"/>
          <p:cNvSpPr txBox="1"/>
          <p:nvPr/>
        </p:nvSpPr>
        <p:spPr>
          <a:xfrm>
            <a:off x="20427695" y="7863840"/>
            <a:ext cx="2606040" cy="10972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0" i="0">
                <a:solidFill>
                  <a:srgbClr val="5E6A73"/>
                </a:solidFill>
              </a:rPr>
              <a:t>8 tasks + study kit</a:t>
            </a:r>
          </a:p>
        </p:txBody>
      </p:sp>
      <p:sp>
        <p:nvSpPr>
          <p:cNvPr id="55" name="Rounded Rectangle 54"/>
          <p:cNvSpPr/>
          <p:nvPr/>
        </p:nvSpPr>
        <p:spPr>
          <a:xfrm>
            <a:off x="612648" y="9281160"/>
            <a:ext cx="22860000" cy="1051560"/>
          </a:xfrm>
          <a:prstGeom prst="roundRect">
            <a:avLst>
              <a:gd name="adj" fmla="val 20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914400" y="9281160"/>
            <a:ext cx="22311360" cy="1051560"/>
          </a:xfrm>
          <a:prstGeom prst="rect">
            <a:avLst/>
          </a:prstGeom>
          <a:noFill/>
        </p:spPr>
        <p:txBody>
          <a:bodyPr wrap="square" lIns="0" rIns="0" tIns="18288" bIns="18288" anchor="ctr">
            <a:noAutofit/>
          </a:bodyPr>
          <a:lstStyle/>
          <a:p>
            <a:pPr algn="ctr">
              <a:lnSpc>
                <a:spcPct val="100000"/>
              </a:lnSpc>
              <a:spcBef>
                <a:spcPts val="0"/>
              </a:spcBef>
              <a:spcAft>
                <a:spcPts val="0"/>
              </a:spcAft>
            </a:pPr>
            <a:r>
              <a:rPr sz="1900" b="0" i="0">
                <a:solidFill>
                  <a:srgbClr val="192B37"/>
                </a:solidFill>
              </a:rPr>
              <a:t>Every screenshot, report and number in this deck comes from a </a:t>
            </a:r>
            <a:r>
              <a:rPr sz="1900" b="1" i="0">
                <a:solidFill>
                  <a:srgbClr val="192B37"/>
                </a:solidFill>
              </a:rPr>
              <a:t>real run</a:t>
            </a:r>
            <a:r>
              <a:rPr sz="1900" b="0" i="0">
                <a:solidFill>
                  <a:srgbClr val="192B37"/>
                </a:solidFill>
              </a:rPr>
              <a:t> on our machine — 223 tests, 35 endpoints, 24 agents.</a:t>
            </a:r>
          </a:p>
        </p:txBody>
      </p:sp>
      <p:sp>
        <p:nvSpPr>
          <p:cNvPr id="57" name="Rounded Rectangle 56"/>
          <p:cNvSpPr/>
          <p:nvPr/>
        </p:nvSpPr>
        <p:spPr>
          <a:xfrm>
            <a:off x="612648" y="10789920"/>
            <a:ext cx="22860000" cy="960120"/>
          </a:xfrm>
          <a:prstGeom prst="roundRect">
            <a:avLst>
              <a:gd name="adj" fmla="val 1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Oval 57"/>
          <p:cNvSpPr/>
          <p:nvPr/>
        </p:nvSpPr>
        <p:spPr>
          <a:xfrm>
            <a:off x="886968" y="10927080"/>
            <a:ext cx="685800" cy="6858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Picture 58" descr="LuLaugh.png"/>
          <p:cNvPicPr>
            <a:picLocks noChangeAspect="1"/>
          </p:cNvPicPr>
          <p:nvPr/>
        </p:nvPicPr>
        <p:blipFill>
          <a:blip r:embed="rId11"/>
          <a:stretch>
            <a:fillRect/>
          </a:stretch>
        </p:blipFill>
        <p:spPr>
          <a:xfrm>
            <a:off x="1051560" y="11091672"/>
            <a:ext cx="356616" cy="356616"/>
          </a:xfrm>
          <a:prstGeom prst="rect">
            <a:avLst/>
          </a:prstGeom>
        </p:spPr>
      </p:pic>
      <p:sp>
        <p:nvSpPr>
          <p:cNvPr id="60" name="TextBox 59"/>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Eight stops, no delays. Mind the gap — we'll even register it properly in chapter 06.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Kick-off</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FF5640"/>
                </a:solidFill>
              </a:rPr>
              <a:t>SCOPE</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What we cover today — and what we politely ignore</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3</a:t>
            </a:r>
          </a:p>
        </p:txBody>
      </p:sp>
      <p:sp>
        <p:nvSpPr>
          <p:cNvPr id="6" name="Rounded Rectangle 5"/>
          <p:cNvSpPr/>
          <p:nvPr/>
        </p:nvSpPr>
        <p:spPr>
          <a:xfrm>
            <a:off x="612648" y="2926080"/>
            <a:ext cx="11155680" cy="7452360"/>
          </a:xfrm>
          <a:prstGeom prst="roundRect">
            <a:avLst>
              <a:gd name="adj" fmla="val 3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32688" y="3200400"/>
            <a:ext cx="868680" cy="86868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CircleCheck.png"/>
          <p:cNvPicPr>
            <a:picLocks noChangeAspect="1"/>
          </p:cNvPicPr>
          <p:nvPr/>
        </p:nvPicPr>
        <p:blipFill>
          <a:blip r:embed="rId3"/>
          <a:stretch>
            <a:fillRect/>
          </a:stretch>
        </p:blipFill>
        <p:spPr>
          <a:xfrm>
            <a:off x="1141171" y="3408883"/>
            <a:ext cx="451713" cy="451713"/>
          </a:xfrm>
          <a:prstGeom prst="rect">
            <a:avLst/>
          </a:prstGeom>
        </p:spPr>
      </p:pic>
      <p:sp>
        <p:nvSpPr>
          <p:cNvPr id="9" name="TextBox 8"/>
          <p:cNvSpPr txBox="1"/>
          <p:nvPr/>
        </p:nvSpPr>
        <p:spPr>
          <a:xfrm>
            <a:off x="2029968" y="3200400"/>
            <a:ext cx="9144000" cy="868680"/>
          </a:xfrm>
          <a:prstGeom prst="rect">
            <a:avLst/>
          </a:prstGeom>
          <a:noFill/>
        </p:spPr>
        <p:txBody>
          <a:bodyPr wrap="square" lIns="0" rIns="0" tIns="18288" bIns="18288" anchor="ctr">
            <a:noAutofit/>
          </a:bodyPr>
          <a:lstStyle/>
          <a:p>
            <a:pPr algn="l">
              <a:lnSpc>
                <a:spcPct val="100000"/>
              </a:lnSpc>
              <a:spcBef>
                <a:spcPts val="0"/>
              </a:spcBef>
              <a:spcAft>
                <a:spcPts val="0"/>
              </a:spcAft>
            </a:pPr>
            <a:r>
              <a:rPr sz="3000" b="1" i="0">
                <a:solidFill>
                  <a:srgbClr val="192B37"/>
                </a:solidFill>
              </a:rPr>
              <a:t>In scope</a:t>
            </a:r>
          </a:p>
        </p:txBody>
      </p:sp>
      <p:sp>
        <p:nvSpPr>
          <p:cNvPr id="10" name="Rounded Rectangle 9"/>
          <p:cNvSpPr/>
          <p:nvPr/>
        </p:nvSpPr>
        <p:spPr>
          <a:xfrm>
            <a:off x="932688" y="4434840"/>
            <a:ext cx="10515600" cy="97840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15568" y="4590288"/>
            <a:ext cx="667512" cy="667512"/>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uMonitorSmartphone.png"/>
          <p:cNvPicPr>
            <a:picLocks noChangeAspect="1"/>
          </p:cNvPicPr>
          <p:nvPr/>
        </p:nvPicPr>
        <p:blipFill>
          <a:blip r:embed="rId4"/>
          <a:stretch>
            <a:fillRect/>
          </a:stretch>
        </p:blipFill>
        <p:spPr>
          <a:xfrm>
            <a:off x="1275770" y="4750490"/>
            <a:ext cx="347106" cy="347106"/>
          </a:xfrm>
          <a:prstGeom prst="rect">
            <a:avLst/>
          </a:prstGeom>
        </p:spPr>
      </p:pic>
      <p:sp>
        <p:nvSpPr>
          <p:cNvPr id="13" name="TextBox 12"/>
          <p:cNvSpPr txBox="1"/>
          <p:nvPr/>
        </p:nvSpPr>
        <p:spPr>
          <a:xfrm>
            <a:off x="1984248" y="4434840"/>
            <a:ext cx="9326880" cy="978408"/>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1" i="0">
                <a:solidFill>
                  <a:srgbClr val="192B37"/>
                </a:solidFill>
              </a:rPr>
              <a:t>Cypress Real World App</a:t>
            </a:r>
            <a:r>
              <a:rPr sz="1900" b="0" i="0">
                <a:solidFill>
                  <a:srgbClr val="192B37"/>
                </a:solidFill>
              </a:rPr>
              <a:t> running locally (UI :3000 · API :3001)</a:t>
            </a:r>
          </a:p>
        </p:txBody>
      </p:sp>
      <p:sp>
        <p:nvSpPr>
          <p:cNvPr id="14" name="Rounded Rectangle 13"/>
          <p:cNvSpPr/>
          <p:nvPr/>
        </p:nvSpPr>
        <p:spPr>
          <a:xfrm>
            <a:off x="932688" y="5596127"/>
            <a:ext cx="10515600" cy="97840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5568" y="5751575"/>
            <a:ext cx="667512" cy="667512"/>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uCode.png"/>
          <p:cNvPicPr>
            <a:picLocks noChangeAspect="1"/>
          </p:cNvPicPr>
          <p:nvPr/>
        </p:nvPicPr>
        <p:blipFill>
          <a:blip r:embed="rId5"/>
          <a:stretch>
            <a:fillRect/>
          </a:stretch>
        </p:blipFill>
        <p:spPr>
          <a:xfrm>
            <a:off x="1275770" y="5911778"/>
            <a:ext cx="347106" cy="347106"/>
          </a:xfrm>
          <a:prstGeom prst="rect">
            <a:avLst/>
          </a:prstGeom>
        </p:spPr>
      </p:pic>
      <p:sp>
        <p:nvSpPr>
          <p:cNvPr id="17" name="TextBox 16"/>
          <p:cNvSpPr txBox="1"/>
          <p:nvPr/>
        </p:nvSpPr>
        <p:spPr>
          <a:xfrm>
            <a:off x="1984248" y="5596127"/>
            <a:ext cx="9326880" cy="978408"/>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1" i="0">
                <a:solidFill>
                  <a:srgbClr val="192B37"/>
                </a:solidFill>
              </a:rPr>
              <a:t>Playwright + TypeScript</a:t>
            </a:r>
            <a:r>
              <a:rPr sz="1900" b="0" i="0">
                <a:solidFill>
                  <a:srgbClr val="192B37"/>
                </a:solidFill>
              </a:rPr>
              <a:t> framework, functional style — API, UI, e2e</a:t>
            </a:r>
          </a:p>
        </p:txBody>
      </p:sp>
      <p:sp>
        <p:nvSpPr>
          <p:cNvPr id="18" name="Rounded Rectangle 17"/>
          <p:cNvSpPr/>
          <p:nvPr/>
        </p:nvSpPr>
        <p:spPr>
          <a:xfrm>
            <a:off x="932688" y="6757416"/>
            <a:ext cx="10515600" cy="97840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5568" y="6912864"/>
            <a:ext cx="667512" cy="667512"/>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uGitCompare.png"/>
          <p:cNvPicPr>
            <a:picLocks noChangeAspect="1"/>
          </p:cNvPicPr>
          <p:nvPr/>
        </p:nvPicPr>
        <p:blipFill>
          <a:blip r:embed="rId6"/>
          <a:stretch>
            <a:fillRect/>
          </a:stretch>
        </p:blipFill>
        <p:spPr>
          <a:xfrm>
            <a:off x="1275770" y="7073066"/>
            <a:ext cx="347106" cy="347106"/>
          </a:xfrm>
          <a:prstGeom prst="rect">
            <a:avLst/>
          </a:prstGeom>
        </p:spPr>
      </p:pic>
      <p:sp>
        <p:nvSpPr>
          <p:cNvPr id="21" name="TextBox 20"/>
          <p:cNvSpPr txBox="1"/>
          <p:nvPr/>
        </p:nvSpPr>
        <p:spPr>
          <a:xfrm>
            <a:off x="1984248" y="6757416"/>
            <a:ext cx="9326880" cy="978408"/>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1" i="0">
                <a:solidFill>
                  <a:srgbClr val="192B37"/>
                </a:solidFill>
              </a:rPr>
              <a:t>Cypress suite</a:t>
            </a:r>
            <a:r>
              <a:rPr sz="1900" b="0" i="0">
                <a:solidFill>
                  <a:srgbClr val="192B37"/>
                </a:solidFill>
              </a:rPr>
              <a:t> as the reference we ported from</a:t>
            </a:r>
          </a:p>
        </p:txBody>
      </p:sp>
      <p:sp>
        <p:nvSpPr>
          <p:cNvPr id="22" name="Rounded Rectangle 21"/>
          <p:cNvSpPr/>
          <p:nvPr/>
        </p:nvSpPr>
        <p:spPr>
          <a:xfrm>
            <a:off x="932688" y="7918704"/>
            <a:ext cx="10515600" cy="97840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115568" y="8074152"/>
            <a:ext cx="667512" cy="667512"/>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LuBot.png"/>
          <p:cNvPicPr>
            <a:picLocks noChangeAspect="1"/>
          </p:cNvPicPr>
          <p:nvPr/>
        </p:nvPicPr>
        <p:blipFill>
          <a:blip r:embed="rId7"/>
          <a:stretch>
            <a:fillRect/>
          </a:stretch>
        </p:blipFill>
        <p:spPr>
          <a:xfrm>
            <a:off x="1275770" y="8234354"/>
            <a:ext cx="347106" cy="347106"/>
          </a:xfrm>
          <a:prstGeom prst="rect">
            <a:avLst/>
          </a:prstGeom>
        </p:spPr>
      </p:pic>
      <p:sp>
        <p:nvSpPr>
          <p:cNvPr id="25" name="TextBox 24"/>
          <p:cNvSpPr txBox="1"/>
          <p:nvPr/>
        </p:nvSpPr>
        <p:spPr>
          <a:xfrm>
            <a:off x="1984248" y="7918704"/>
            <a:ext cx="9326880" cy="978408"/>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1" i="0">
                <a:solidFill>
                  <a:srgbClr val="192B37"/>
                </a:solidFill>
              </a:rPr>
              <a:t>TAP26-Junior</a:t>
            </a:r>
            <a:r>
              <a:rPr sz="1900" b="0" i="0">
                <a:solidFill>
                  <a:srgbClr val="192B37"/>
                </a:solidFill>
              </a:rPr>
              <a:t> agents, skills and memory inside VS Code</a:t>
            </a:r>
          </a:p>
        </p:txBody>
      </p:sp>
      <p:sp>
        <p:nvSpPr>
          <p:cNvPr id="26" name="Rounded Rectangle 25"/>
          <p:cNvSpPr/>
          <p:nvPr/>
        </p:nvSpPr>
        <p:spPr>
          <a:xfrm>
            <a:off x="932688" y="9079992"/>
            <a:ext cx="10515600" cy="97840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1115568" y="9235440"/>
            <a:ext cx="667512" cy="667512"/>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LuFileText.png"/>
          <p:cNvPicPr>
            <a:picLocks noChangeAspect="1"/>
          </p:cNvPicPr>
          <p:nvPr/>
        </p:nvPicPr>
        <p:blipFill>
          <a:blip r:embed="rId8"/>
          <a:stretch>
            <a:fillRect/>
          </a:stretch>
        </p:blipFill>
        <p:spPr>
          <a:xfrm>
            <a:off x="1275770" y="9395642"/>
            <a:ext cx="347106" cy="347106"/>
          </a:xfrm>
          <a:prstGeom prst="rect">
            <a:avLst/>
          </a:prstGeom>
        </p:spPr>
      </p:pic>
      <p:sp>
        <p:nvSpPr>
          <p:cNvPr id="29" name="TextBox 28"/>
          <p:cNvSpPr txBox="1"/>
          <p:nvPr/>
        </p:nvSpPr>
        <p:spPr>
          <a:xfrm>
            <a:off x="1984248" y="9079992"/>
            <a:ext cx="9326880" cy="978408"/>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0" i="0">
                <a:solidFill>
                  <a:srgbClr val="192B37"/>
                </a:solidFill>
              </a:rPr>
              <a:t>Docs, </a:t>
            </a:r>
            <a:r>
              <a:rPr sz="1900" b="1" i="0">
                <a:solidFill>
                  <a:srgbClr val="192B37"/>
                </a:solidFill>
              </a:rPr>
              <a:t>Swagger UI</a:t>
            </a:r>
            <a:r>
              <a:rPr sz="1900" b="0" i="0">
                <a:solidFill>
                  <a:srgbClr val="192B37"/>
                </a:solidFill>
              </a:rPr>
              <a:t>, mocks, stubs, gap registry, bug reports</a:t>
            </a:r>
          </a:p>
        </p:txBody>
      </p:sp>
      <p:sp>
        <p:nvSpPr>
          <p:cNvPr id="30" name="Rounded Rectangle 29"/>
          <p:cNvSpPr/>
          <p:nvPr/>
        </p:nvSpPr>
        <p:spPr>
          <a:xfrm>
            <a:off x="12316968" y="2926080"/>
            <a:ext cx="11155680" cy="7452360"/>
          </a:xfrm>
          <a:prstGeom prst="roundRect">
            <a:avLst>
              <a:gd name="adj" fmla="val 3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12637008" y="3200400"/>
            <a:ext cx="868680" cy="86868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LuCircleX.png"/>
          <p:cNvPicPr>
            <a:picLocks noChangeAspect="1"/>
          </p:cNvPicPr>
          <p:nvPr/>
        </p:nvPicPr>
        <p:blipFill>
          <a:blip r:embed="rId9"/>
          <a:stretch>
            <a:fillRect/>
          </a:stretch>
        </p:blipFill>
        <p:spPr>
          <a:xfrm>
            <a:off x="12845491" y="3408883"/>
            <a:ext cx="451713" cy="451713"/>
          </a:xfrm>
          <a:prstGeom prst="rect">
            <a:avLst/>
          </a:prstGeom>
        </p:spPr>
      </p:pic>
      <p:sp>
        <p:nvSpPr>
          <p:cNvPr id="33" name="TextBox 32"/>
          <p:cNvSpPr txBox="1"/>
          <p:nvPr/>
        </p:nvSpPr>
        <p:spPr>
          <a:xfrm>
            <a:off x="13734288" y="3200400"/>
            <a:ext cx="9144000" cy="868680"/>
          </a:xfrm>
          <a:prstGeom prst="rect">
            <a:avLst/>
          </a:prstGeom>
          <a:noFill/>
        </p:spPr>
        <p:txBody>
          <a:bodyPr wrap="square" lIns="0" rIns="0" tIns="18288" bIns="18288" anchor="ctr">
            <a:noAutofit/>
          </a:bodyPr>
          <a:lstStyle/>
          <a:p>
            <a:pPr algn="l">
              <a:lnSpc>
                <a:spcPct val="100000"/>
              </a:lnSpc>
              <a:spcBef>
                <a:spcPts val="0"/>
              </a:spcBef>
              <a:spcAft>
                <a:spcPts val="0"/>
              </a:spcAft>
            </a:pPr>
            <a:r>
              <a:rPr sz="3000" b="1" i="0">
                <a:solidFill>
                  <a:srgbClr val="192B37"/>
                </a:solidFill>
              </a:rPr>
              <a:t>Out of scope</a:t>
            </a:r>
          </a:p>
        </p:txBody>
      </p:sp>
      <p:sp>
        <p:nvSpPr>
          <p:cNvPr id="34" name="Rounded Rectangle 33"/>
          <p:cNvSpPr/>
          <p:nvPr/>
        </p:nvSpPr>
        <p:spPr>
          <a:xfrm>
            <a:off x="12637008" y="4434840"/>
            <a:ext cx="10515600" cy="97840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12819888" y="4590288"/>
            <a:ext cx="667512" cy="667512"/>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LuCloud.png"/>
          <p:cNvPicPr>
            <a:picLocks noChangeAspect="1"/>
          </p:cNvPicPr>
          <p:nvPr/>
        </p:nvPicPr>
        <p:blipFill>
          <a:blip r:embed="rId10"/>
          <a:stretch>
            <a:fillRect/>
          </a:stretch>
        </p:blipFill>
        <p:spPr>
          <a:xfrm>
            <a:off x="12980090" y="4750490"/>
            <a:ext cx="347106" cy="347106"/>
          </a:xfrm>
          <a:prstGeom prst="rect">
            <a:avLst/>
          </a:prstGeom>
        </p:spPr>
      </p:pic>
      <p:sp>
        <p:nvSpPr>
          <p:cNvPr id="37" name="TextBox 36"/>
          <p:cNvSpPr txBox="1"/>
          <p:nvPr/>
        </p:nvSpPr>
        <p:spPr>
          <a:xfrm>
            <a:off x="13688568" y="4434840"/>
            <a:ext cx="9326880" cy="978408"/>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0" i="0">
                <a:solidFill>
                  <a:srgbClr val="192B37"/>
                </a:solidFill>
              </a:rPr>
              <a:t>Production deploys, cloud CI pipelines and real environments</a:t>
            </a:r>
          </a:p>
        </p:txBody>
      </p:sp>
      <p:sp>
        <p:nvSpPr>
          <p:cNvPr id="38" name="Rounded Rectangle 37"/>
          <p:cNvSpPr/>
          <p:nvPr/>
        </p:nvSpPr>
        <p:spPr>
          <a:xfrm>
            <a:off x="12637008" y="5596127"/>
            <a:ext cx="10515600" cy="97840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12819888" y="5751575"/>
            <a:ext cx="667512" cy="667512"/>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LuCreditCard.png"/>
          <p:cNvPicPr>
            <a:picLocks noChangeAspect="1"/>
          </p:cNvPicPr>
          <p:nvPr/>
        </p:nvPicPr>
        <p:blipFill>
          <a:blip r:embed="rId11"/>
          <a:stretch>
            <a:fillRect/>
          </a:stretch>
        </p:blipFill>
        <p:spPr>
          <a:xfrm>
            <a:off x="12980090" y="5911778"/>
            <a:ext cx="347106" cy="347106"/>
          </a:xfrm>
          <a:prstGeom prst="rect">
            <a:avLst/>
          </a:prstGeom>
        </p:spPr>
      </p:pic>
      <p:sp>
        <p:nvSpPr>
          <p:cNvPr id="41" name="TextBox 40"/>
          <p:cNvSpPr txBox="1"/>
          <p:nvPr/>
        </p:nvSpPr>
        <p:spPr>
          <a:xfrm>
            <a:off x="13688568" y="5596127"/>
            <a:ext cx="9326880" cy="978408"/>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0" i="0">
                <a:solidFill>
                  <a:srgbClr val="192B37"/>
                </a:solidFill>
              </a:rPr>
              <a:t>Real money, real users, real personal data — synthetic only</a:t>
            </a:r>
          </a:p>
        </p:txBody>
      </p:sp>
      <p:sp>
        <p:nvSpPr>
          <p:cNvPr id="42" name="Rounded Rectangle 41"/>
          <p:cNvSpPr/>
          <p:nvPr/>
        </p:nvSpPr>
        <p:spPr>
          <a:xfrm>
            <a:off x="12637008" y="6757416"/>
            <a:ext cx="10515600" cy="97840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2819888" y="6912864"/>
            <a:ext cx="667512" cy="667512"/>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LuShield.png"/>
          <p:cNvPicPr>
            <a:picLocks noChangeAspect="1"/>
          </p:cNvPicPr>
          <p:nvPr/>
        </p:nvPicPr>
        <p:blipFill>
          <a:blip r:embed="rId12"/>
          <a:stretch>
            <a:fillRect/>
          </a:stretch>
        </p:blipFill>
        <p:spPr>
          <a:xfrm>
            <a:off x="12980090" y="7073066"/>
            <a:ext cx="347106" cy="347106"/>
          </a:xfrm>
          <a:prstGeom prst="rect">
            <a:avLst/>
          </a:prstGeom>
        </p:spPr>
      </p:pic>
      <p:sp>
        <p:nvSpPr>
          <p:cNvPr id="45" name="TextBox 44"/>
          <p:cNvSpPr txBox="1"/>
          <p:nvPr/>
        </p:nvSpPr>
        <p:spPr>
          <a:xfrm>
            <a:off x="13688568" y="6757416"/>
            <a:ext cx="9326880" cy="978408"/>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0" i="0">
                <a:solidFill>
                  <a:srgbClr val="192B37"/>
                </a:solidFill>
              </a:rPr>
              <a:t>Pentesting beyond our </a:t>
            </a:r>
            <a:r>
              <a:rPr sz="1900" b="1" i="0">
                <a:solidFill>
                  <a:srgbClr val="192B37"/>
                </a:solidFill>
              </a:rPr>
              <a:t>local</a:t>
            </a:r>
            <a:r>
              <a:rPr sz="1900" b="0" i="0">
                <a:solidFill>
                  <a:srgbClr val="192B37"/>
                </a:solidFill>
              </a:rPr>
              <a:t> app (security checks stay on localhost)</a:t>
            </a:r>
          </a:p>
        </p:txBody>
      </p:sp>
      <p:sp>
        <p:nvSpPr>
          <p:cNvPr id="46" name="Rounded Rectangle 45"/>
          <p:cNvSpPr/>
          <p:nvPr/>
        </p:nvSpPr>
        <p:spPr>
          <a:xfrm>
            <a:off x="12637008" y="7918704"/>
            <a:ext cx="10515600" cy="97840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12819888" y="8074152"/>
            <a:ext cx="667512" cy="667512"/>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LuGauge.png"/>
          <p:cNvPicPr>
            <a:picLocks noChangeAspect="1"/>
          </p:cNvPicPr>
          <p:nvPr/>
        </p:nvPicPr>
        <p:blipFill>
          <a:blip r:embed="rId13"/>
          <a:stretch>
            <a:fillRect/>
          </a:stretch>
        </p:blipFill>
        <p:spPr>
          <a:xfrm>
            <a:off x="12980090" y="8234354"/>
            <a:ext cx="347106" cy="347106"/>
          </a:xfrm>
          <a:prstGeom prst="rect">
            <a:avLst/>
          </a:prstGeom>
        </p:spPr>
      </p:pic>
      <p:sp>
        <p:nvSpPr>
          <p:cNvPr id="49" name="TextBox 48"/>
          <p:cNvSpPr txBox="1"/>
          <p:nvPr/>
        </p:nvSpPr>
        <p:spPr>
          <a:xfrm>
            <a:off x="13688568" y="7918704"/>
            <a:ext cx="9326880" cy="978408"/>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0" i="0">
                <a:solidFill>
                  <a:srgbClr val="192B37"/>
                </a:solidFill>
              </a:rPr>
              <a:t>Load testing at scale — we only run a </a:t>
            </a:r>
            <a:r>
              <a:rPr sz="1900" b="1" i="0">
                <a:solidFill>
                  <a:srgbClr val="192B37"/>
                </a:solidFill>
              </a:rPr>
              <a:t>perf smoke</a:t>
            </a:r>
          </a:p>
        </p:txBody>
      </p:sp>
      <p:sp>
        <p:nvSpPr>
          <p:cNvPr id="50" name="Rounded Rectangle 49"/>
          <p:cNvSpPr/>
          <p:nvPr/>
        </p:nvSpPr>
        <p:spPr>
          <a:xfrm>
            <a:off x="12637008" y="9079992"/>
            <a:ext cx="10515600" cy="97840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12819888" y="9235440"/>
            <a:ext cx="667512" cy="667512"/>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LuSmartphone.png"/>
          <p:cNvPicPr>
            <a:picLocks noChangeAspect="1"/>
          </p:cNvPicPr>
          <p:nvPr/>
        </p:nvPicPr>
        <p:blipFill>
          <a:blip r:embed="rId14"/>
          <a:stretch>
            <a:fillRect/>
          </a:stretch>
        </p:blipFill>
        <p:spPr>
          <a:xfrm>
            <a:off x="12980090" y="9395642"/>
            <a:ext cx="347106" cy="347106"/>
          </a:xfrm>
          <a:prstGeom prst="rect">
            <a:avLst/>
          </a:prstGeom>
        </p:spPr>
      </p:pic>
      <p:sp>
        <p:nvSpPr>
          <p:cNvPr id="53" name="TextBox 52"/>
          <p:cNvSpPr txBox="1"/>
          <p:nvPr/>
        </p:nvSpPr>
        <p:spPr>
          <a:xfrm>
            <a:off x="13688568" y="9079992"/>
            <a:ext cx="9326880" cy="978408"/>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0" i="0">
                <a:solidFill>
                  <a:srgbClr val="192B37"/>
                </a:solidFill>
              </a:rPr>
              <a:t>Native mobile apps — we test the </a:t>
            </a:r>
            <a:r>
              <a:rPr sz="1900" b="1" i="0">
                <a:solidFill>
                  <a:srgbClr val="192B37"/>
                </a:solidFill>
              </a:rPr>
              <a:t>mobile viewport</a:t>
            </a:r>
            <a:r>
              <a:rPr sz="1900" b="0" i="0">
                <a:solidFill>
                  <a:srgbClr val="192B37"/>
                </a:solidFill>
              </a:rPr>
              <a:t> instead</a:t>
            </a:r>
          </a:p>
        </p:txBody>
      </p:sp>
      <p:sp>
        <p:nvSpPr>
          <p:cNvPr id="54" name="Rounded Rectangle 53"/>
          <p:cNvSpPr/>
          <p:nvPr/>
        </p:nvSpPr>
        <p:spPr>
          <a:xfrm>
            <a:off x="612648" y="10789920"/>
            <a:ext cx="22860000" cy="960120"/>
          </a:xfrm>
          <a:prstGeom prst="roundRect">
            <a:avLst>
              <a:gd name="adj" fmla="val 1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886968" y="10927080"/>
            <a:ext cx="685800" cy="6858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LuLaugh.png"/>
          <p:cNvPicPr>
            <a:picLocks noChangeAspect="1"/>
          </p:cNvPicPr>
          <p:nvPr/>
        </p:nvPicPr>
        <p:blipFill>
          <a:blip r:embed="rId15"/>
          <a:stretch>
            <a:fillRect/>
          </a:stretch>
        </p:blipFill>
        <p:spPr>
          <a:xfrm>
            <a:off x="1051560" y="11091672"/>
            <a:ext cx="356616" cy="356616"/>
          </a:xfrm>
          <a:prstGeom prst="rect">
            <a:avLst/>
          </a:prstGeom>
        </p:spPr>
      </p:pic>
      <p:sp>
        <p:nvSpPr>
          <p:cNvPr id="57" name="TextBox 56"/>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Scope creep tried to join today's session. We asserted it </a:t>
            </a:r>
            <a:r>
              <a:rPr sz="1840" b="0" i="1">
                <a:solidFill>
                  <a:srgbClr val="C2410C"/>
                </a:solidFill>
                <a:latin typeface="Consolas"/>
              </a:rPr>
              <a:t>toBeFalsy()</a:t>
            </a:r>
            <a:r>
              <a:rPr sz="2000" b="0" i="1">
                <a:solidFill>
                  <a:srgbClr val="192B37"/>
                </a:solidFill>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Kick-off</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FF5640"/>
                </a:solidFill>
              </a:rPr>
              <a:t>COMPETENCIES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Eight skills you leave with</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4</a:t>
            </a:r>
          </a:p>
        </p:txBody>
      </p:sp>
      <p:sp>
        <p:nvSpPr>
          <p:cNvPr id="6" name="TextBox 5"/>
          <p:cNvSpPr txBox="1"/>
          <p:nvPr/>
        </p:nvSpPr>
        <p:spPr>
          <a:xfrm>
            <a:off x="612648" y="2926080"/>
            <a:ext cx="950976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FF5640"/>
                </a:solidFill>
              </a:rPr>
              <a:t>TARGET DEPTH BY THE END OF TAP26 (1–5)</a:t>
            </a:r>
          </a:p>
        </p:txBody>
      </p:sp>
      <p:graphicFrame>
        <p:nvGraphicFramePr>
          <p:cNvPr id="7" name="Chart 6"/>
          <p:cNvGraphicFramePr>
            <a:graphicFrameLocks noGrp="1"/>
          </p:cNvGraphicFramePr>
          <p:nvPr/>
        </p:nvGraphicFramePr>
        <p:xfrm>
          <a:off x="457200" y="3291840"/>
          <a:ext cx="9692640" cy="7223760"/>
        </p:xfrm>
        <a:graphic>
          <a:graphicData uri="http://schemas.openxmlformats.org/drawingml/2006/chart">
            <c:chart xmlns:c="http://schemas.openxmlformats.org/drawingml/2006/chart" r:id="rId3"/>
          </a:graphicData>
        </a:graphic>
      </p:graphicFrame>
      <p:sp>
        <p:nvSpPr>
          <p:cNvPr id="8" name="Rounded Rectangle 7"/>
          <p:cNvSpPr/>
          <p:nvPr/>
        </p:nvSpPr>
        <p:spPr>
          <a:xfrm>
            <a:off x="10607040" y="2926080"/>
            <a:ext cx="6217920" cy="1691640"/>
          </a:xfrm>
          <a:prstGeom prst="roundRect">
            <a:avLst>
              <a:gd name="adj" fmla="val 12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881360" y="3310128"/>
            <a:ext cx="914400" cy="9144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uBraces.png"/>
          <p:cNvPicPr>
            <a:picLocks noChangeAspect="1"/>
          </p:cNvPicPr>
          <p:nvPr/>
        </p:nvPicPr>
        <p:blipFill>
          <a:blip r:embed="rId4"/>
          <a:stretch>
            <a:fillRect/>
          </a:stretch>
        </p:blipFill>
        <p:spPr>
          <a:xfrm>
            <a:off x="11100816" y="3529584"/>
            <a:ext cx="475488" cy="475488"/>
          </a:xfrm>
          <a:prstGeom prst="rect">
            <a:avLst/>
          </a:prstGeom>
        </p:spPr>
      </p:pic>
      <p:sp>
        <p:nvSpPr>
          <p:cNvPr id="11" name="TextBox 10"/>
          <p:cNvSpPr txBox="1"/>
          <p:nvPr/>
        </p:nvSpPr>
        <p:spPr>
          <a:xfrm>
            <a:off x="12024360" y="3154680"/>
            <a:ext cx="45720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100" b="1" i="0">
                <a:solidFill>
                  <a:srgbClr val="192B37"/>
                </a:solidFill>
              </a:rPr>
              <a:t>TypeScript &amp; FP</a:t>
            </a:r>
          </a:p>
        </p:txBody>
      </p:sp>
      <p:sp>
        <p:nvSpPr>
          <p:cNvPr id="12" name="TextBox 11"/>
          <p:cNvSpPr txBox="1"/>
          <p:nvPr/>
        </p:nvSpPr>
        <p:spPr>
          <a:xfrm>
            <a:off x="12024360" y="3703320"/>
            <a:ext cx="45720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5E6A73"/>
                </a:solidFill>
              </a:rPr>
              <a:t>pure functions, types, async</a:t>
            </a:r>
          </a:p>
        </p:txBody>
      </p:sp>
      <p:sp>
        <p:nvSpPr>
          <p:cNvPr id="13" name="Oval 12"/>
          <p:cNvSpPr/>
          <p:nvPr/>
        </p:nvSpPr>
        <p:spPr>
          <a:xfrm>
            <a:off x="12051792" y="4187952"/>
            <a:ext cx="237744" cy="237744"/>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435840" y="4187952"/>
            <a:ext cx="237744" cy="237744"/>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2819888" y="4187952"/>
            <a:ext cx="237744" cy="237744"/>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203936" y="4187952"/>
            <a:ext cx="237744" cy="237744"/>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3587984" y="4187952"/>
            <a:ext cx="237744" cy="237744"/>
          </a:xfrm>
          <a:prstGeom prst="ellipse">
            <a:avLst/>
          </a:prstGeom>
          <a:solidFill>
            <a:srgbClr val="FFFFFF"/>
          </a:solidFill>
          <a:ln w="254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7099280" y="2926080"/>
            <a:ext cx="6217920" cy="1691640"/>
          </a:xfrm>
          <a:prstGeom prst="roundRect">
            <a:avLst>
              <a:gd name="adj" fmla="val 12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7373600" y="3310128"/>
            <a:ext cx="914400" cy="9144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uServer.png"/>
          <p:cNvPicPr>
            <a:picLocks noChangeAspect="1"/>
          </p:cNvPicPr>
          <p:nvPr/>
        </p:nvPicPr>
        <p:blipFill>
          <a:blip r:embed="rId5"/>
          <a:stretch>
            <a:fillRect/>
          </a:stretch>
        </p:blipFill>
        <p:spPr>
          <a:xfrm>
            <a:off x="17593056" y="3529584"/>
            <a:ext cx="475488" cy="475488"/>
          </a:xfrm>
          <a:prstGeom prst="rect">
            <a:avLst/>
          </a:prstGeom>
        </p:spPr>
      </p:pic>
      <p:sp>
        <p:nvSpPr>
          <p:cNvPr id="21" name="TextBox 20"/>
          <p:cNvSpPr txBox="1"/>
          <p:nvPr/>
        </p:nvSpPr>
        <p:spPr>
          <a:xfrm>
            <a:off x="18516600" y="3154680"/>
            <a:ext cx="45720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100" b="1" i="0">
                <a:solidFill>
                  <a:srgbClr val="192B37"/>
                </a:solidFill>
              </a:rPr>
              <a:t>API testing</a:t>
            </a:r>
          </a:p>
        </p:txBody>
      </p:sp>
      <p:sp>
        <p:nvSpPr>
          <p:cNvPr id="22" name="TextBox 21"/>
          <p:cNvSpPr txBox="1"/>
          <p:nvPr/>
        </p:nvSpPr>
        <p:spPr>
          <a:xfrm>
            <a:off x="18516600" y="3703320"/>
            <a:ext cx="45720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5E6A73"/>
                </a:solidFill>
              </a:rPr>
              <a:t>status, body, contract</a:t>
            </a:r>
          </a:p>
        </p:txBody>
      </p:sp>
      <p:sp>
        <p:nvSpPr>
          <p:cNvPr id="23" name="Oval 22"/>
          <p:cNvSpPr/>
          <p:nvPr/>
        </p:nvSpPr>
        <p:spPr>
          <a:xfrm>
            <a:off x="18544032" y="4187952"/>
            <a:ext cx="237744" cy="23774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8928080" y="4187952"/>
            <a:ext cx="237744" cy="23774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9312128" y="4187952"/>
            <a:ext cx="237744" cy="23774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9696176" y="4187952"/>
            <a:ext cx="237744" cy="23774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0080224" y="4187952"/>
            <a:ext cx="237744" cy="237744"/>
          </a:xfrm>
          <a:prstGeom prst="ellipse">
            <a:avLst/>
          </a:prstGeom>
          <a:solidFill>
            <a:srgbClr val="FFFFFF"/>
          </a:solidFill>
          <a:ln w="254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607040" y="4800600"/>
            <a:ext cx="6217920" cy="1691640"/>
          </a:xfrm>
          <a:prstGeom prst="roundRect">
            <a:avLst>
              <a:gd name="adj" fmla="val 12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881360" y="5184648"/>
            <a:ext cx="914400" cy="9144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LuMousePointerClick.png"/>
          <p:cNvPicPr>
            <a:picLocks noChangeAspect="1"/>
          </p:cNvPicPr>
          <p:nvPr/>
        </p:nvPicPr>
        <p:blipFill>
          <a:blip r:embed="rId6"/>
          <a:stretch>
            <a:fillRect/>
          </a:stretch>
        </p:blipFill>
        <p:spPr>
          <a:xfrm>
            <a:off x="11100816" y="5404104"/>
            <a:ext cx="475488" cy="475488"/>
          </a:xfrm>
          <a:prstGeom prst="rect">
            <a:avLst/>
          </a:prstGeom>
        </p:spPr>
      </p:pic>
      <p:sp>
        <p:nvSpPr>
          <p:cNvPr id="31" name="TextBox 30"/>
          <p:cNvSpPr txBox="1"/>
          <p:nvPr/>
        </p:nvSpPr>
        <p:spPr>
          <a:xfrm>
            <a:off x="12024360" y="5029200"/>
            <a:ext cx="45720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100" b="1" i="0">
                <a:solidFill>
                  <a:srgbClr val="192B37"/>
                </a:solidFill>
              </a:rPr>
              <a:t>UI automation</a:t>
            </a:r>
          </a:p>
        </p:txBody>
      </p:sp>
      <p:sp>
        <p:nvSpPr>
          <p:cNvPr id="32" name="TextBox 31"/>
          <p:cNvSpPr txBox="1"/>
          <p:nvPr/>
        </p:nvSpPr>
        <p:spPr>
          <a:xfrm>
            <a:off x="12024360" y="5577840"/>
            <a:ext cx="45720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5E6A73"/>
                </a:solidFill>
              </a:rPr>
              <a:t>locators, web-first asserts</a:t>
            </a:r>
          </a:p>
        </p:txBody>
      </p:sp>
      <p:sp>
        <p:nvSpPr>
          <p:cNvPr id="33" name="Oval 32"/>
          <p:cNvSpPr/>
          <p:nvPr/>
        </p:nvSpPr>
        <p:spPr>
          <a:xfrm>
            <a:off x="12051792" y="6062472"/>
            <a:ext cx="237744" cy="237744"/>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2435840" y="6062472"/>
            <a:ext cx="237744" cy="237744"/>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2819888" y="6062472"/>
            <a:ext cx="237744" cy="237744"/>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3203936" y="6062472"/>
            <a:ext cx="237744" cy="237744"/>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3587984" y="6062472"/>
            <a:ext cx="237744" cy="237744"/>
          </a:xfrm>
          <a:prstGeom prst="ellipse">
            <a:avLst/>
          </a:prstGeom>
          <a:solidFill>
            <a:srgbClr val="FFFFFF"/>
          </a:solidFill>
          <a:ln w="254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7099280" y="4800600"/>
            <a:ext cx="6217920" cy="1691640"/>
          </a:xfrm>
          <a:prstGeom prst="roundRect">
            <a:avLst>
              <a:gd name="adj" fmla="val 12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17373600" y="5184648"/>
            <a:ext cx="914400" cy="9144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LuDatabase.png"/>
          <p:cNvPicPr>
            <a:picLocks noChangeAspect="1"/>
          </p:cNvPicPr>
          <p:nvPr/>
        </p:nvPicPr>
        <p:blipFill>
          <a:blip r:embed="rId7"/>
          <a:stretch>
            <a:fillRect/>
          </a:stretch>
        </p:blipFill>
        <p:spPr>
          <a:xfrm>
            <a:off x="17593056" y="5404104"/>
            <a:ext cx="475488" cy="475488"/>
          </a:xfrm>
          <a:prstGeom prst="rect">
            <a:avLst/>
          </a:prstGeom>
        </p:spPr>
      </p:pic>
      <p:sp>
        <p:nvSpPr>
          <p:cNvPr id="41" name="TextBox 40"/>
          <p:cNvSpPr txBox="1"/>
          <p:nvPr/>
        </p:nvSpPr>
        <p:spPr>
          <a:xfrm>
            <a:off x="18516600" y="5029200"/>
            <a:ext cx="45720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100" b="1" i="0">
                <a:solidFill>
                  <a:srgbClr val="192B37"/>
                </a:solidFill>
              </a:rPr>
              <a:t>Test data &amp; mocks</a:t>
            </a:r>
          </a:p>
        </p:txBody>
      </p:sp>
      <p:sp>
        <p:nvSpPr>
          <p:cNvPr id="42" name="TextBox 41"/>
          <p:cNvSpPr txBox="1"/>
          <p:nvPr/>
        </p:nvSpPr>
        <p:spPr>
          <a:xfrm>
            <a:off x="18516600" y="5577840"/>
            <a:ext cx="45720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5E6A73"/>
                </a:solidFill>
              </a:rPr>
              <a:t>seed, factories, stubs</a:t>
            </a:r>
          </a:p>
        </p:txBody>
      </p:sp>
      <p:sp>
        <p:nvSpPr>
          <p:cNvPr id="43" name="Oval 42"/>
          <p:cNvSpPr/>
          <p:nvPr/>
        </p:nvSpPr>
        <p:spPr>
          <a:xfrm>
            <a:off x="18544032" y="6062472"/>
            <a:ext cx="237744" cy="237744"/>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8928080" y="6062472"/>
            <a:ext cx="237744" cy="237744"/>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9312128" y="6062472"/>
            <a:ext cx="237744" cy="237744"/>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9696176" y="6062472"/>
            <a:ext cx="237744" cy="237744"/>
          </a:xfrm>
          <a:prstGeom prst="ellipse">
            <a:avLst/>
          </a:prstGeom>
          <a:solidFill>
            <a:srgbClr val="FFFFFF"/>
          </a:solidFill>
          <a:ln w="254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0080224" y="6062472"/>
            <a:ext cx="237744" cy="237744"/>
          </a:xfrm>
          <a:prstGeom prst="ellipse">
            <a:avLst/>
          </a:prstGeom>
          <a:solidFill>
            <a:srgbClr val="FFFFFF"/>
          </a:solidFill>
          <a:ln w="254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0607040" y="6675120"/>
            <a:ext cx="6217920" cy="1691640"/>
          </a:xfrm>
          <a:prstGeom prst="roundRect">
            <a:avLst>
              <a:gd name="adj" fmla="val 12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10881360" y="7059168"/>
            <a:ext cx="914400" cy="91440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LuBug.png"/>
          <p:cNvPicPr>
            <a:picLocks noChangeAspect="1"/>
          </p:cNvPicPr>
          <p:nvPr/>
        </p:nvPicPr>
        <p:blipFill>
          <a:blip r:embed="rId8"/>
          <a:stretch>
            <a:fillRect/>
          </a:stretch>
        </p:blipFill>
        <p:spPr>
          <a:xfrm>
            <a:off x="11100816" y="7278624"/>
            <a:ext cx="475488" cy="475488"/>
          </a:xfrm>
          <a:prstGeom prst="rect">
            <a:avLst/>
          </a:prstGeom>
        </p:spPr>
      </p:pic>
      <p:sp>
        <p:nvSpPr>
          <p:cNvPr id="51" name="TextBox 50"/>
          <p:cNvSpPr txBox="1"/>
          <p:nvPr/>
        </p:nvSpPr>
        <p:spPr>
          <a:xfrm>
            <a:off x="12024360" y="6903720"/>
            <a:ext cx="45720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100" b="1" i="0">
                <a:solidFill>
                  <a:srgbClr val="192B37"/>
                </a:solidFill>
              </a:rPr>
              <a:t>Debugging &amp; reports</a:t>
            </a:r>
          </a:p>
        </p:txBody>
      </p:sp>
      <p:sp>
        <p:nvSpPr>
          <p:cNvPr id="52" name="TextBox 51"/>
          <p:cNvSpPr txBox="1"/>
          <p:nvPr/>
        </p:nvSpPr>
        <p:spPr>
          <a:xfrm>
            <a:off x="12024360" y="7452360"/>
            <a:ext cx="45720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5E6A73"/>
                </a:solidFill>
              </a:rPr>
              <a:t>trace, UI mode, HTML report</a:t>
            </a:r>
          </a:p>
        </p:txBody>
      </p:sp>
      <p:sp>
        <p:nvSpPr>
          <p:cNvPr id="53" name="Oval 52"/>
          <p:cNvSpPr/>
          <p:nvPr/>
        </p:nvSpPr>
        <p:spPr>
          <a:xfrm>
            <a:off x="12051792" y="7936992"/>
            <a:ext cx="237744" cy="237744"/>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2435840" y="7936992"/>
            <a:ext cx="237744" cy="237744"/>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2819888" y="7936992"/>
            <a:ext cx="237744" cy="237744"/>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3203936" y="7936992"/>
            <a:ext cx="237744" cy="237744"/>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3587984" y="7936992"/>
            <a:ext cx="237744" cy="237744"/>
          </a:xfrm>
          <a:prstGeom prst="ellipse">
            <a:avLst/>
          </a:prstGeom>
          <a:solidFill>
            <a:srgbClr val="FFFFFF"/>
          </a:solidFill>
          <a:ln w="2540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17099280" y="6675120"/>
            <a:ext cx="6217920" cy="1691640"/>
          </a:xfrm>
          <a:prstGeom prst="roundRect">
            <a:avLst>
              <a:gd name="adj" fmla="val 12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Oval 58"/>
          <p:cNvSpPr/>
          <p:nvPr/>
        </p:nvSpPr>
        <p:spPr>
          <a:xfrm>
            <a:off x="17373600" y="7059168"/>
            <a:ext cx="914400" cy="91440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LuFileCode.png"/>
          <p:cNvPicPr>
            <a:picLocks noChangeAspect="1"/>
          </p:cNvPicPr>
          <p:nvPr/>
        </p:nvPicPr>
        <p:blipFill>
          <a:blip r:embed="rId9"/>
          <a:stretch>
            <a:fillRect/>
          </a:stretch>
        </p:blipFill>
        <p:spPr>
          <a:xfrm>
            <a:off x="17593056" y="7278624"/>
            <a:ext cx="475488" cy="475488"/>
          </a:xfrm>
          <a:prstGeom prst="rect">
            <a:avLst/>
          </a:prstGeom>
        </p:spPr>
      </p:pic>
      <p:sp>
        <p:nvSpPr>
          <p:cNvPr id="61" name="TextBox 60"/>
          <p:cNvSpPr txBox="1"/>
          <p:nvPr/>
        </p:nvSpPr>
        <p:spPr>
          <a:xfrm>
            <a:off x="18516600" y="6903720"/>
            <a:ext cx="45720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100" b="1" i="0">
                <a:solidFill>
                  <a:srgbClr val="192B37"/>
                </a:solidFill>
              </a:rPr>
              <a:t>API contracts</a:t>
            </a:r>
          </a:p>
        </p:txBody>
      </p:sp>
      <p:sp>
        <p:nvSpPr>
          <p:cNvPr id="62" name="TextBox 61"/>
          <p:cNvSpPr txBox="1"/>
          <p:nvPr/>
        </p:nvSpPr>
        <p:spPr>
          <a:xfrm>
            <a:off x="18516600" y="7452360"/>
            <a:ext cx="45720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5E6A73"/>
                </a:solidFill>
              </a:rPr>
              <a:t>OpenAPI, Swagger, drift</a:t>
            </a:r>
          </a:p>
        </p:txBody>
      </p:sp>
      <p:sp>
        <p:nvSpPr>
          <p:cNvPr id="63" name="Oval 62"/>
          <p:cNvSpPr/>
          <p:nvPr/>
        </p:nvSpPr>
        <p:spPr>
          <a:xfrm>
            <a:off x="18544032" y="7936992"/>
            <a:ext cx="237744" cy="237744"/>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8928080" y="7936992"/>
            <a:ext cx="237744" cy="237744"/>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9312128" y="7936992"/>
            <a:ext cx="237744" cy="237744"/>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9696176" y="7936992"/>
            <a:ext cx="237744" cy="237744"/>
          </a:xfrm>
          <a:prstGeom prst="ellipse">
            <a:avLst/>
          </a:prstGeom>
          <a:solidFill>
            <a:srgbClr val="FFFFFF"/>
          </a:solidFill>
          <a:ln w="25400">
            <a:solidFill>
              <a:srgbClr val="729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20080224" y="7936992"/>
            <a:ext cx="237744" cy="237744"/>
          </a:xfrm>
          <a:prstGeom prst="ellipse">
            <a:avLst/>
          </a:prstGeom>
          <a:solidFill>
            <a:srgbClr val="FFFFFF"/>
          </a:solidFill>
          <a:ln w="25400">
            <a:solidFill>
              <a:srgbClr val="729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10607040" y="8549640"/>
            <a:ext cx="6217920" cy="1691640"/>
          </a:xfrm>
          <a:prstGeom prst="roundRect">
            <a:avLst>
              <a:gd name="adj" fmla="val 12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Oval 68"/>
          <p:cNvSpPr/>
          <p:nvPr/>
        </p:nvSpPr>
        <p:spPr>
          <a:xfrm>
            <a:off x="10881360" y="8933688"/>
            <a:ext cx="914400" cy="9144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LuBot.png"/>
          <p:cNvPicPr>
            <a:picLocks noChangeAspect="1"/>
          </p:cNvPicPr>
          <p:nvPr/>
        </p:nvPicPr>
        <p:blipFill>
          <a:blip r:embed="rId10"/>
          <a:stretch>
            <a:fillRect/>
          </a:stretch>
        </p:blipFill>
        <p:spPr>
          <a:xfrm>
            <a:off x="11100816" y="9153144"/>
            <a:ext cx="475488" cy="475488"/>
          </a:xfrm>
          <a:prstGeom prst="rect">
            <a:avLst/>
          </a:prstGeom>
        </p:spPr>
      </p:pic>
      <p:sp>
        <p:nvSpPr>
          <p:cNvPr id="71" name="TextBox 70"/>
          <p:cNvSpPr txBox="1"/>
          <p:nvPr/>
        </p:nvSpPr>
        <p:spPr>
          <a:xfrm>
            <a:off x="12024360" y="8778240"/>
            <a:ext cx="45720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100" b="1" i="0">
                <a:solidFill>
                  <a:srgbClr val="192B37"/>
                </a:solidFill>
              </a:rPr>
              <a:t>Agentic workflows</a:t>
            </a:r>
          </a:p>
        </p:txBody>
      </p:sp>
      <p:sp>
        <p:nvSpPr>
          <p:cNvPr id="72" name="TextBox 71"/>
          <p:cNvSpPr txBox="1"/>
          <p:nvPr/>
        </p:nvSpPr>
        <p:spPr>
          <a:xfrm>
            <a:off x="12024360" y="9326880"/>
            <a:ext cx="45720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5E6A73"/>
                </a:solidFill>
              </a:rPr>
              <a:t>agents, skills, memory</a:t>
            </a:r>
          </a:p>
        </p:txBody>
      </p:sp>
      <p:sp>
        <p:nvSpPr>
          <p:cNvPr id="73" name="Oval 72"/>
          <p:cNvSpPr/>
          <p:nvPr/>
        </p:nvSpPr>
        <p:spPr>
          <a:xfrm>
            <a:off x="12051792" y="9811512"/>
            <a:ext cx="237744" cy="237744"/>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2435840" y="9811512"/>
            <a:ext cx="237744" cy="237744"/>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12819888" y="9811512"/>
            <a:ext cx="237744" cy="237744"/>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3203936" y="9811512"/>
            <a:ext cx="237744" cy="237744"/>
          </a:xfrm>
          <a:prstGeom prst="ellipse">
            <a:avLst/>
          </a:prstGeom>
          <a:solidFill>
            <a:srgbClr val="FFFFFF"/>
          </a:solidFill>
          <a:ln w="254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13587984" y="9811512"/>
            <a:ext cx="237744" cy="237744"/>
          </a:xfrm>
          <a:prstGeom prst="ellipse">
            <a:avLst/>
          </a:prstGeom>
          <a:solidFill>
            <a:srgbClr val="FFFFFF"/>
          </a:solidFill>
          <a:ln w="254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17099280" y="8549640"/>
            <a:ext cx="6217920" cy="1691640"/>
          </a:xfrm>
          <a:prstGeom prst="roundRect">
            <a:avLst>
              <a:gd name="adj" fmla="val 12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Oval 78"/>
          <p:cNvSpPr/>
          <p:nvPr/>
        </p:nvSpPr>
        <p:spPr>
          <a:xfrm>
            <a:off x="17373600" y="8933688"/>
            <a:ext cx="914400" cy="9144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0" name="Picture 79" descr="LuScanSearch.png"/>
          <p:cNvPicPr>
            <a:picLocks noChangeAspect="1"/>
          </p:cNvPicPr>
          <p:nvPr/>
        </p:nvPicPr>
        <p:blipFill>
          <a:blip r:embed="rId11"/>
          <a:stretch>
            <a:fillRect/>
          </a:stretch>
        </p:blipFill>
        <p:spPr>
          <a:xfrm>
            <a:off x="17593056" y="9153144"/>
            <a:ext cx="475488" cy="475488"/>
          </a:xfrm>
          <a:prstGeom prst="rect">
            <a:avLst/>
          </a:prstGeom>
        </p:spPr>
      </p:pic>
      <p:sp>
        <p:nvSpPr>
          <p:cNvPr id="81" name="TextBox 80"/>
          <p:cNvSpPr txBox="1"/>
          <p:nvPr/>
        </p:nvSpPr>
        <p:spPr>
          <a:xfrm>
            <a:off x="18516600" y="8778240"/>
            <a:ext cx="45720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100" b="1" i="0">
                <a:solidFill>
                  <a:srgbClr val="192B37"/>
                </a:solidFill>
              </a:rPr>
              <a:t>Critical review</a:t>
            </a:r>
          </a:p>
        </p:txBody>
      </p:sp>
      <p:sp>
        <p:nvSpPr>
          <p:cNvPr id="82" name="TextBox 81"/>
          <p:cNvSpPr txBox="1"/>
          <p:nvPr/>
        </p:nvSpPr>
        <p:spPr>
          <a:xfrm>
            <a:off x="18516600" y="9326880"/>
            <a:ext cx="45720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5E6A73"/>
                </a:solidFill>
              </a:rPr>
              <a:t>verify before you trust</a:t>
            </a:r>
          </a:p>
        </p:txBody>
      </p:sp>
      <p:sp>
        <p:nvSpPr>
          <p:cNvPr id="83" name="Oval 82"/>
          <p:cNvSpPr/>
          <p:nvPr/>
        </p:nvSpPr>
        <p:spPr>
          <a:xfrm>
            <a:off x="18544032" y="9811512"/>
            <a:ext cx="237744" cy="23774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8928080" y="9811512"/>
            <a:ext cx="237744" cy="23774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9312128" y="9811512"/>
            <a:ext cx="237744" cy="23774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9696176" y="9811512"/>
            <a:ext cx="237744" cy="23774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20080224" y="9811512"/>
            <a:ext cx="237744" cy="23774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612648" y="10789920"/>
            <a:ext cx="22860000" cy="960120"/>
          </a:xfrm>
          <a:prstGeom prst="roundRect">
            <a:avLst>
              <a:gd name="adj" fmla="val 1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Oval 88"/>
          <p:cNvSpPr/>
          <p:nvPr/>
        </p:nvSpPr>
        <p:spPr>
          <a:xfrm>
            <a:off x="886968" y="10927080"/>
            <a:ext cx="685800" cy="6858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0" name="Picture 89" descr="LuLaugh.png"/>
          <p:cNvPicPr>
            <a:picLocks noChangeAspect="1"/>
          </p:cNvPicPr>
          <p:nvPr/>
        </p:nvPicPr>
        <p:blipFill>
          <a:blip r:embed="rId12"/>
          <a:stretch>
            <a:fillRect/>
          </a:stretch>
        </p:blipFill>
        <p:spPr>
          <a:xfrm>
            <a:off x="1051560" y="11091672"/>
            <a:ext cx="356616" cy="356616"/>
          </a:xfrm>
          <a:prstGeom prst="rect">
            <a:avLst/>
          </a:prstGeom>
        </p:spPr>
      </p:pic>
      <p:sp>
        <p:nvSpPr>
          <p:cNvPr id="91" name="TextBox 90"/>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By the end you'll be fluent in three languages: TypeScript, HTTP status codes and sarcastic commit messages.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application</a:t>
            </a:r>
          </a:p>
        </p:txBody>
      </p:sp>
      <p:sp>
        <p:nvSpPr>
          <p:cNvPr id="3" name="Text Placeholder 2"/>
          <p:cNvSpPr>
            <a:spLocks noGrp="1"/>
          </p:cNvSpPr>
          <p:nvPr>
            <p:ph type="body" idx="21" sz="quarter"/>
          </p:nvPr>
        </p:nvSpPr>
        <p:spPr/>
        <p:txBody>
          <a:bodyPr/>
          <a:lstStyle/>
          <a:p>
            <a:r>
              <a:t>01</a:t>
            </a:r>
          </a:p>
        </p:txBody>
      </p:sp>
      <p:sp>
        <p:nvSpPr>
          <p:cNvPr id="4" name="Text Placeholder 3"/>
          <p:cNvSpPr>
            <a:spLocks noGrp="1"/>
          </p:cNvSpPr>
          <p:nvPr>
            <p:ph type="body" idx="22" sz="quarter"/>
          </p:nvPr>
        </p:nvSpPr>
        <p:spPr/>
        <p:txBody>
          <a:bodyPr/>
          <a:lstStyle/>
          <a:p>
            <a:r>
              <a:t>Cypress Real World App — a Venmo-style payments demo</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5</a:t>
            </a:r>
          </a:p>
        </p:txBody>
      </p:sp>
      <p:sp>
        <p:nvSpPr>
          <p:cNvPr id="6" name="Rounded Rectangle 5"/>
          <p:cNvSpPr/>
          <p:nvPr/>
        </p:nvSpPr>
        <p:spPr>
          <a:xfrm>
            <a:off x="5303520" y="7086600"/>
            <a:ext cx="17007840" cy="1143000"/>
          </a:xfrm>
          <a:prstGeom prst="roundRect">
            <a:avLst>
              <a:gd name="adj" fmla="val 20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532120" y="7287768"/>
            <a:ext cx="731520" cy="73152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Laugh.png"/>
          <p:cNvPicPr>
            <a:picLocks noChangeAspect="1"/>
          </p:cNvPicPr>
          <p:nvPr/>
        </p:nvPicPr>
        <p:blipFill>
          <a:blip r:embed="rId3"/>
          <a:stretch>
            <a:fillRect/>
          </a:stretch>
        </p:blipFill>
        <p:spPr>
          <a:xfrm>
            <a:off x="5707684" y="7463332"/>
            <a:ext cx="380390" cy="380390"/>
          </a:xfrm>
          <a:prstGeom prst="rect">
            <a:avLst/>
          </a:prstGeom>
        </p:spPr>
      </p:pic>
      <p:sp>
        <p:nvSpPr>
          <p:cNvPr id="9" name="TextBox 8"/>
          <p:cNvSpPr txBox="1"/>
          <p:nvPr/>
        </p:nvSpPr>
        <p:spPr>
          <a:xfrm>
            <a:off x="6492240" y="7086600"/>
            <a:ext cx="15636240" cy="114300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0" i="1">
                <a:solidFill>
                  <a:srgbClr val="192B37"/>
                </a:solidFill>
              </a:rPr>
              <a:t>Meet the RWA: a payments app where nobody actually gets paid — not even the testers.</a:t>
            </a:r>
          </a:p>
        </p:txBody>
      </p:sp>
      <p:sp>
        <p:nvSpPr>
          <p:cNvPr id="10" name="TextBox 9"/>
          <p:cNvSpPr txBox="1"/>
          <p:nvPr/>
        </p:nvSpPr>
        <p:spPr>
          <a:xfrm>
            <a:off x="5303520" y="8915400"/>
            <a:ext cx="91440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3D9BC8"/>
                </a:solidFill>
              </a:rPr>
              <a:t>IN THIS CHAPTER</a:t>
            </a:r>
          </a:p>
        </p:txBody>
      </p:sp>
      <p:sp>
        <p:nvSpPr>
          <p:cNvPr id="11" name="Rounded Rectangle 10"/>
          <p:cNvSpPr/>
          <p:nvPr/>
        </p:nvSpPr>
        <p:spPr>
          <a:xfrm>
            <a:off x="5303520" y="9464040"/>
            <a:ext cx="1152144" cy="640080"/>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94959" y="9464040"/>
            <a:ext cx="969264"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Tour</a:t>
            </a:r>
          </a:p>
        </p:txBody>
      </p:sp>
      <p:sp>
        <p:nvSpPr>
          <p:cNvPr id="13" name="Rounded Rectangle 12"/>
          <p:cNvSpPr/>
          <p:nvPr/>
        </p:nvSpPr>
        <p:spPr>
          <a:xfrm>
            <a:off x="6729983" y="9464040"/>
            <a:ext cx="2359152" cy="640080"/>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21423" y="9464040"/>
            <a:ext cx="2176272"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Architecture</a:t>
            </a:r>
          </a:p>
        </p:txBody>
      </p:sp>
      <p:sp>
        <p:nvSpPr>
          <p:cNvPr id="15" name="Rounded Rectangle 14"/>
          <p:cNvSpPr/>
          <p:nvPr/>
        </p:nvSpPr>
        <p:spPr>
          <a:xfrm>
            <a:off x="9363455" y="9464040"/>
            <a:ext cx="1906524" cy="640080"/>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454895" y="9464040"/>
            <a:ext cx="1723644"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API layer</a:t>
            </a:r>
          </a:p>
        </p:txBody>
      </p:sp>
      <p:sp>
        <p:nvSpPr>
          <p:cNvPr id="17" name="Rounded Rectangle 16"/>
          <p:cNvSpPr/>
          <p:nvPr/>
        </p:nvSpPr>
        <p:spPr>
          <a:xfrm>
            <a:off x="11544299" y="9464040"/>
            <a:ext cx="1755648" cy="640080"/>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635739" y="9464040"/>
            <a:ext cx="1572768"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UI layer</a:t>
            </a:r>
          </a:p>
        </p:txBody>
      </p:sp>
      <p:sp>
        <p:nvSpPr>
          <p:cNvPr id="19" name="Rounded Rectangle 18"/>
          <p:cNvSpPr/>
          <p:nvPr/>
        </p:nvSpPr>
        <p:spPr>
          <a:xfrm>
            <a:off x="13574267" y="9464040"/>
            <a:ext cx="1303020" cy="640080"/>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3665707" y="9464040"/>
            <a:ext cx="1120140"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Flows</a:t>
            </a:r>
          </a:p>
        </p:txBody>
      </p:sp>
      <p:sp>
        <p:nvSpPr>
          <p:cNvPr id="21" name="Rounded Rectangle 20"/>
          <p:cNvSpPr/>
          <p:nvPr/>
        </p:nvSpPr>
        <p:spPr>
          <a:xfrm>
            <a:off x="15151608" y="9464040"/>
            <a:ext cx="2057400" cy="640080"/>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5243048" y="9464040"/>
            <a:ext cx="1874519"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Data model</a:t>
            </a:r>
          </a:p>
        </p:txBody>
      </p:sp>
      <p:sp>
        <p:nvSpPr>
          <p:cNvPr id="23" name="Oval 22"/>
          <p:cNvSpPr/>
          <p:nvPr/>
        </p:nvSpPr>
        <p:spPr>
          <a:xfrm>
            <a:off x="20162520" y="8915400"/>
            <a:ext cx="731520" cy="73152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1122640" y="8915400"/>
            <a:ext cx="731520" cy="731520"/>
          </a:xfrm>
          <a:prstGeom prst="ellipse">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2082760" y="8915400"/>
            <a:ext cx="731520" cy="73152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0162520" y="9875520"/>
            <a:ext cx="731520" cy="731520"/>
          </a:xfrm>
          <a:prstGeom prst="ellipse">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1122640" y="9875520"/>
            <a:ext cx="731520" cy="73152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2082760" y="9875520"/>
            <a:ext cx="731520" cy="731520"/>
          </a:xfrm>
          <a:prstGeom prst="ellipse">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The app</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3D9BC8"/>
                </a:solidFill>
              </a:rPr>
              <a:t>APPLICATION · GENERIC</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A Venmo-style app built to be tested</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6</a:t>
            </a:r>
          </a:p>
        </p:txBody>
      </p:sp>
      <p:sp>
        <p:nvSpPr>
          <p:cNvPr id="6" name="Rounded Rectangle 5"/>
          <p:cNvSpPr/>
          <p:nvPr/>
        </p:nvSpPr>
        <p:spPr>
          <a:xfrm>
            <a:off x="1559966" y="2926080"/>
            <a:ext cx="11455603" cy="7543800"/>
          </a:xfrm>
          <a:prstGeom prst="roundRect">
            <a:avLst>
              <a:gd name="adj" fmla="val 1454"/>
            </a:avLst>
          </a:prstGeom>
          <a:solidFill>
            <a:srgbClr val="F1F4F7"/>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724558" y="3044952"/>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962302" y="3044952"/>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200046" y="3044952"/>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520086" y="2990088"/>
            <a:ext cx="5486400" cy="256031"/>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611526" y="2990088"/>
            <a:ext cx="5303520" cy="256031"/>
          </a:xfrm>
          <a:prstGeom prst="rect">
            <a:avLst/>
          </a:prstGeom>
          <a:noFill/>
        </p:spPr>
        <p:txBody>
          <a:bodyPr wrap="square" lIns="0" rIns="0" tIns="18288" bIns="18288" anchor="ctr">
            <a:noAutofit/>
          </a:bodyPr>
          <a:lstStyle/>
          <a:p>
            <a:pPr algn="l">
              <a:lnSpc>
                <a:spcPct val="100000"/>
              </a:lnSpc>
              <a:spcBef>
                <a:spcPts val="0"/>
              </a:spcBef>
              <a:spcAft>
                <a:spcPts val="0"/>
              </a:spcAft>
            </a:pPr>
            <a:r>
              <a:rPr sz="1200" b="0" i="0">
                <a:solidFill>
                  <a:srgbClr val="5E6A73"/>
                </a:solidFill>
              </a:rPr>
              <a:t>localhost:3000  ·  signed in as Heath93</a:t>
            </a:r>
          </a:p>
        </p:txBody>
      </p:sp>
      <p:pic>
        <p:nvPicPr>
          <p:cNvPr id="12" name="Picture 11" descr="app-home-public.png"/>
          <p:cNvPicPr>
            <a:picLocks noChangeAspect="1"/>
          </p:cNvPicPr>
          <p:nvPr/>
        </p:nvPicPr>
        <p:blipFill>
          <a:blip r:embed="rId3"/>
          <a:stretch>
            <a:fillRect/>
          </a:stretch>
        </p:blipFill>
        <p:spPr>
          <a:xfrm>
            <a:off x="1559966" y="3310128"/>
            <a:ext cx="11455603" cy="7159752"/>
          </a:xfrm>
          <a:prstGeom prst="rect">
            <a:avLst/>
          </a:prstGeom>
          <a:ln w="12700">
            <a:solidFill>
              <a:srgbClr val="D9E1E7"/>
            </a:solidFill>
          </a:ln>
        </p:spPr>
      </p:pic>
      <p:sp>
        <p:nvSpPr>
          <p:cNvPr id="13" name="Rounded Rectangle 12"/>
          <p:cNvSpPr/>
          <p:nvPr/>
        </p:nvSpPr>
        <p:spPr>
          <a:xfrm>
            <a:off x="14401800" y="2926080"/>
            <a:ext cx="4343400" cy="2331720"/>
          </a:xfrm>
          <a:prstGeom prst="roundRect">
            <a:avLst>
              <a:gd name="adj" fmla="val 10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7739360" y="3154680"/>
            <a:ext cx="731520" cy="73152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LuUsers.png"/>
          <p:cNvPicPr>
            <a:picLocks noChangeAspect="1"/>
          </p:cNvPicPr>
          <p:nvPr/>
        </p:nvPicPr>
        <p:blipFill>
          <a:blip r:embed="rId4"/>
          <a:stretch>
            <a:fillRect/>
          </a:stretch>
        </p:blipFill>
        <p:spPr>
          <a:xfrm>
            <a:off x="17914924" y="3330244"/>
            <a:ext cx="380390" cy="380390"/>
          </a:xfrm>
          <a:prstGeom prst="rect">
            <a:avLst/>
          </a:prstGeom>
        </p:spPr>
      </p:pic>
      <p:sp>
        <p:nvSpPr>
          <p:cNvPr id="16" name="TextBox 15"/>
          <p:cNvSpPr txBox="1"/>
          <p:nvPr/>
        </p:nvSpPr>
        <p:spPr>
          <a:xfrm>
            <a:off x="14676120" y="3035808"/>
            <a:ext cx="3108960" cy="1051560"/>
          </a:xfrm>
          <a:prstGeom prst="rect">
            <a:avLst/>
          </a:prstGeom>
          <a:noFill/>
        </p:spPr>
        <p:txBody>
          <a:bodyPr wrap="square" lIns="0" rIns="0" tIns="18288" bIns="18288" anchor="ctr">
            <a:noAutofit/>
          </a:bodyPr>
          <a:lstStyle/>
          <a:p>
            <a:pPr algn="l">
              <a:lnSpc>
                <a:spcPct val="100000"/>
              </a:lnSpc>
              <a:spcBef>
                <a:spcPts val="0"/>
              </a:spcBef>
              <a:spcAft>
                <a:spcPts val="0"/>
              </a:spcAft>
            </a:pPr>
            <a:r>
              <a:rPr sz="5000" b="0" i="0">
                <a:solidFill>
                  <a:srgbClr val="3D9BC8"/>
                </a:solidFill>
                <a:latin typeface="+mj-lt"/>
              </a:rPr>
              <a:t>5</a:t>
            </a:r>
          </a:p>
        </p:txBody>
      </p:sp>
      <p:sp>
        <p:nvSpPr>
          <p:cNvPr id="17" name="TextBox 16"/>
          <p:cNvSpPr txBox="1"/>
          <p:nvPr/>
        </p:nvSpPr>
        <p:spPr>
          <a:xfrm>
            <a:off x="14676120" y="4087368"/>
            <a:ext cx="393192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seeded users</a:t>
            </a:r>
          </a:p>
        </p:txBody>
      </p:sp>
      <p:sp>
        <p:nvSpPr>
          <p:cNvPr id="18" name="TextBox 17"/>
          <p:cNvSpPr txBox="1"/>
          <p:nvPr/>
        </p:nvSpPr>
        <p:spPr>
          <a:xfrm>
            <a:off x="14676120" y="4572000"/>
            <a:ext cx="393192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500" b="0" i="0">
                <a:solidFill>
                  <a:srgbClr val="5E6A73"/>
                </a:solidFill>
              </a:rPr>
              <a:t>password: s3cret</a:t>
            </a:r>
          </a:p>
        </p:txBody>
      </p:sp>
      <p:sp>
        <p:nvSpPr>
          <p:cNvPr id="19" name="Rounded Rectangle 18"/>
          <p:cNvSpPr/>
          <p:nvPr/>
        </p:nvSpPr>
        <p:spPr>
          <a:xfrm>
            <a:off x="18973800" y="2926080"/>
            <a:ext cx="4343400" cy="2331720"/>
          </a:xfrm>
          <a:prstGeom prst="roundRect">
            <a:avLst>
              <a:gd name="adj" fmla="val 10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22311360" y="3154680"/>
            <a:ext cx="731520" cy="73152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uWallet.png"/>
          <p:cNvPicPr>
            <a:picLocks noChangeAspect="1"/>
          </p:cNvPicPr>
          <p:nvPr/>
        </p:nvPicPr>
        <p:blipFill>
          <a:blip r:embed="rId5"/>
          <a:stretch>
            <a:fillRect/>
          </a:stretch>
        </p:blipFill>
        <p:spPr>
          <a:xfrm>
            <a:off x="22486924" y="3330244"/>
            <a:ext cx="380390" cy="380390"/>
          </a:xfrm>
          <a:prstGeom prst="rect">
            <a:avLst/>
          </a:prstGeom>
        </p:spPr>
      </p:pic>
      <p:sp>
        <p:nvSpPr>
          <p:cNvPr id="22" name="TextBox 21"/>
          <p:cNvSpPr txBox="1"/>
          <p:nvPr/>
        </p:nvSpPr>
        <p:spPr>
          <a:xfrm>
            <a:off x="19248120" y="3035808"/>
            <a:ext cx="3108960" cy="1051560"/>
          </a:xfrm>
          <a:prstGeom prst="rect">
            <a:avLst/>
          </a:prstGeom>
          <a:noFill/>
        </p:spPr>
        <p:txBody>
          <a:bodyPr wrap="square" lIns="0" rIns="0" tIns="18288" bIns="18288" anchor="ctr">
            <a:noAutofit/>
          </a:bodyPr>
          <a:lstStyle/>
          <a:p>
            <a:pPr algn="l">
              <a:lnSpc>
                <a:spcPct val="100000"/>
              </a:lnSpc>
              <a:spcBef>
                <a:spcPts val="0"/>
              </a:spcBef>
              <a:spcAft>
                <a:spcPts val="0"/>
              </a:spcAft>
            </a:pPr>
            <a:r>
              <a:rPr sz="5000" b="0" i="0">
                <a:solidFill>
                  <a:srgbClr val="00A859"/>
                </a:solidFill>
                <a:latin typeface="+mj-lt"/>
              </a:rPr>
              <a:t>600</a:t>
            </a:r>
          </a:p>
        </p:txBody>
      </p:sp>
      <p:sp>
        <p:nvSpPr>
          <p:cNvPr id="23" name="TextBox 22"/>
          <p:cNvSpPr txBox="1"/>
          <p:nvPr/>
        </p:nvSpPr>
        <p:spPr>
          <a:xfrm>
            <a:off x="19248120" y="4087368"/>
            <a:ext cx="393192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transactions</a:t>
            </a:r>
          </a:p>
        </p:txBody>
      </p:sp>
      <p:sp>
        <p:nvSpPr>
          <p:cNvPr id="24" name="TextBox 23"/>
          <p:cNvSpPr txBox="1"/>
          <p:nvPr/>
        </p:nvSpPr>
        <p:spPr>
          <a:xfrm>
            <a:off x="19248120" y="4572000"/>
            <a:ext cx="393192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500" b="0" i="0">
                <a:solidFill>
                  <a:srgbClr val="5E6A73"/>
                </a:solidFill>
              </a:rPr>
              <a:t>pay · request · like · comment</a:t>
            </a:r>
          </a:p>
        </p:txBody>
      </p:sp>
      <p:sp>
        <p:nvSpPr>
          <p:cNvPr id="25" name="Rounded Rectangle 24"/>
          <p:cNvSpPr/>
          <p:nvPr/>
        </p:nvSpPr>
        <p:spPr>
          <a:xfrm>
            <a:off x="14401800" y="5486400"/>
            <a:ext cx="4343400" cy="2331720"/>
          </a:xfrm>
          <a:prstGeom prst="roundRect">
            <a:avLst>
              <a:gd name="adj" fmla="val 10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17739360" y="5715000"/>
            <a:ext cx="731520" cy="73152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LuServer.png"/>
          <p:cNvPicPr>
            <a:picLocks noChangeAspect="1"/>
          </p:cNvPicPr>
          <p:nvPr/>
        </p:nvPicPr>
        <p:blipFill>
          <a:blip r:embed="rId6"/>
          <a:stretch>
            <a:fillRect/>
          </a:stretch>
        </p:blipFill>
        <p:spPr>
          <a:xfrm>
            <a:off x="17914924" y="5890564"/>
            <a:ext cx="380390" cy="380390"/>
          </a:xfrm>
          <a:prstGeom prst="rect">
            <a:avLst/>
          </a:prstGeom>
        </p:spPr>
      </p:pic>
      <p:sp>
        <p:nvSpPr>
          <p:cNvPr id="28" name="TextBox 27"/>
          <p:cNvSpPr txBox="1"/>
          <p:nvPr/>
        </p:nvSpPr>
        <p:spPr>
          <a:xfrm>
            <a:off x="14676120" y="5596128"/>
            <a:ext cx="3108960" cy="1051560"/>
          </a:xfrm>
          <a:prstGeom prst="rect">
            <a:avLst/>
          </a:prstGeom>
          <a:noFill/>
        </p:spPr>
        <p:txBody>
          <a:bodyPr wrap="square" lIns="0" rIns="0" tIns="18288" bIns="18288" anchor="ctr">
            <a:noAutofit/>
          </a:bodyPr>
          <a:lstStyle/>
          <a:p>
            <a:pPr algn="l">
              <a:lnSpc>
                <a:spcPct val="100000"/>
              </a:lnSpc>
              <a:spcBef>
                <a:spcPts val="0"/>
              </a:spcBef>
              <a:spcAft>
                <a:spcPts val="0"/>
              </a:spcAft>
            </a:pPr>
            <a:r>
              <a:rPr sz="5000" b="0" i="0">
                <a:solidFill>
                  <a:srgbClr val="FF5640"/>
                </a:solidFill>
                <a:latin typeface="+mj-lt"/>
              </a:rPr>
              <a:t>35</a:t>
            </a:r>
          </a:p>
        </p:txBody>
      </p:sp>
      <p:sp>
        <p:nvSpPr>
          <p:cNvPr id="29" name="TextBox 28"/>
          <p:cNvSpPr txBox="1"/>
          <p:nvPr/>
        </p:nvSpPr>
        <p:spPr>
          <a:xfrm>
            <a:off x="14676120" y="6647688"/>
            <a:ext cx="393192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API operations</a:t>
            </a:r>
          </a:p>
        </p:txBody>
      </p:sp>
      <p:sp>
        <p:nvSpPr>
          <p:cNvPr id="30" name="TextBox 29"/>
          <p:cNvSpPr txBox="1"/>
          <p:nvPr/>
        </p:nvSpPr>
        <p:spPr>
          <a:xfrm>
            <a:off x="14676120" y="7132320"/>
            <a:ext cx="393192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500" b="0" i="0">
                <a:solidFill>
                  <a:srgbClr val="5E6A73"/>
                </a:solidFill>
              </a:rPr>
              <a:t>REST + GraphQL</a:t>
            </a:r>
          </a:p>
        </p:txBody>
      </p:sp>
      <p:sp>
        <p:nvSpPr>
          <p:cNvPr id="31" name="Rounded Rectangle 30"/>
          <p:cNvSpPr/>
          <p:nvPr/>
        </p:nvSpPr>
        <p:spPr>
          <a:xfrm>
            <a:off x="18973800" y="5486400"/>
            <a:ext cx="4343400" cy="2331720"/>
          </a:xfrm>
          <a:prstGeom prst="roundRect">
            <a:avLst>
              <a:gd name="adj" fmla="val 10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22311360" y="5715000"/>
            <a:ext cx="731520" cy="73152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LuRoute.png"/>
          <p:cNvPicPr>
            <a:picLocks noChangeAspect="1"/>
          </p:cNvPicPr>
          <p:nvPr/>
        </p:nvPicPr>
        <p:blipFill>
          <a:blip r:embed="rId7"/>
          <a:stretch>
            <a:fillRect/>
          </a:stretch>
        </p:blipFill>
        <p:spPr>
          <a:xfrm>
            <a:off x="22486924" y="5890564"/>
            <a:ext cx="380390" cy="380390"/>
          </a:xfrm>
          <a:prstGeom prst="rect">
            <a:avLst/>
          </a:prstGeom>
        </p:spPr>
      </p:pic>
      <p:sp>
        <p:nvSpPr>
          <p:cNvPr id="34" name="TextBox 33"/>
          <p:cNvSpPr txBox="1"/>
          <p:nvPr/>
        </p:nvSpPr>
        <p:spPr>
          <a:xfrm>
            <a:off x="19248120" y="5596128"/>
            <a:ext cx="3108960" cy="1051560"/>
          </a:xfrm>
          <a:prstGeom prst="rect">
            <a:avLst/>
          </a:prstGeom>
          <a:noFill/>
        </p:spPr>
        <p:txBody>
          <a:bodyPr wrap="square" lIns="0" rIns="0" tIns="18288" bIns="18288" anchor="ctr">
            <a:noAutofit/>
          </a:bodyPr>
          <a:lstStyle/>
          <a:p>
            <a:pPr algn="l">
              <a:lnSpc>
                <a:spcPct val="100000"/>
              </a:lnSpc>
              <a:spcBef>
                <a:spcPts val="0"/>
              </a:spcBef>
              <a:spcAft>
                <a:spcPts val="0"/>
              </a:spcAft>
            </a:pPr>
            <a:r>
              <a:rPr sz="5000" b="0" i="0">
                <a:solidFill>
                  <a:srgbClr val="8683C3"/>
                </a:solidFill>
                <a:latin typeface="+mj-lt"/>
              </a:rPr>
              <a:t>14</a:t>
            </a:r>
          </a:p>
        </p:txBody>
      </p:sp>
      <p:sp>
        <p:nvSpPr>
          <p:cNvPr id="35" name="TextBox 34"/>
          <p:cNvSpPr txBox="1"/>
          <p:nvPr/>
        </p:nvSpPr>
        <p:spPr>
          <a:xfrm>
            <a:off x="19248120" y="6647688"/>
            <a:ext cx="393192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UI routes</a:t>
            </a:r>
          </a:p>
        </p:txBody>
      </p:sp>
      <p:sp>
        <p:nvSpPr>
          <p:cNvPr id="36" name="TextBox 35"/>
          <p:cNvSpPr txBox="1"/>
          <p:nvPr/>
        </p:nvSpPr>
        <p:spPr>
          <a:xfrm>
            <a:off x="19248120" y="7132320"/>
            <a:ext cx="393192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500" b="0" i="0">
                <a:solidFill>
                  <a:srgbClr val="5E6A73"/>
                </a:solidFill>
              </a:rPr>
              <a:t>React Router v5</a:t>
            </a:r>
          </a:p>
        </p:txBody>
      </p:sp>
      <p:sp>
        <p:nvSpPr>
          <p:cNvPr id="37" name="Rounded Rectangle 36"/>
          <p:cNvSpPr/>
          <p:nvPr/>
        </p:nvSpPr>
        <p:spPr>
          <a:xfrm>
            <a:off x="14401800" y="8046720"/>
            <a:ext cx="4343400" cy="2331720"/>
          </a:xfrm>
          <a:prstGeom prst="roundRect">
            <a:avLst>
              <a:gd name="adj" fmla="val 10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7739360" y="8275320"/>
            <a:ext cx="731520" cy="73152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LuCrosshair.png"/>
          <p:cNvPicPr>
            <a:picLocks noChangeAspect="1"/>
          </p:cNvPicPr>
          <p:nvPr/>
        </p:nvPicPr>
        <p:blipFill>
          <a:blip r:embed="rId8"/>
          <a:stretch>
            <a:fillRect/>
          </a:stretch>
        </p:blipFill>
        <p:spPr>
          <a:xfrm>
            <a:off x="17914924" y="8450884"/>
            <a:ext cx="380390" cy="380390"/>
          </a:xfrm>
          <a:prstGeom prst="rect">
            <a:avLst/>
          </a:prstGeom>
        </p:spPr>
      </p:pic>
      <p:sp>
        <p:nvSpPr>
          <p:cNvPr id="40" name="TextBox 39"/>
          <p:cNvSpPr txBox="1"/>
          <p:nvPr/>
        </p:nvSpPr>
        <p:spPr>
          <a:xfrm>
            <a:off x="14676120" y="8156448"/>
            <a:ext cx="3108960" cy="1051560"/>
          </a:xfrm>
          <a:prstGeom prst="rect">
            <a:avLst/>
          </a:prstGeom>
          <a:noFill/>
        </p:spPr>
        <p:txBody>
          <a:bodyPr wrap="square" lIns="0" rIns="0" tIns="18288" bIns="18288" anchor="ctr">
            <a:noAutofit/>
          </a:bodyPr>
          <a:lstStyle/>
          <a:p>
            <a:pPr algn="l">
              <a:lnSpc>
                <a:spcPct val="100000"/>
              </a:lnSpc>
              <a:spcBef>
                <a:spcPts val="0"/>
              </a:spcBef>
              <a:spcAft>
                <a:spcPts val="0"/>
              </a:spcAft>
            </a:pPr>
            <a:r>
              <a:rPr sz="5000" b="0" i="0">
                <a:solidFill>
                  <a:srgbClr val="DB7D00"/>
                </a:solidFill>
                <a:latin typeface="+mj-lt"/>
              </a:rPr>
              <a:t>106</a:t>
            </a:r>
          </a:p>
        </p:txBody>
      </p:sp>
      <p:sp>
        <p:nvSpPr>
          <p:cNvPr id="41" name="TextBox 40"/>
          <p:cNvSpPr txBox="1"/>
          <p:nvPr/>
        </p:nvSpPr>
        <p:spPr>
          <a:xfrm>
            <a:off x="14676120" y="9208008"/>
            <a:ext cx="393192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data-test hooks</a:t>
            </a:r>
          </a:p>
        </p:txBody>
      </p:sp>
      <p:sp>
        <p:nvSpPr>
          <p:cNvPr id="42" name="TextBox 41"/>
          <p:cNvSpPr txBox="1"/>
          <p:nvPr/>
        </p:nvSpPr>
        <p:spPr>
          <a:xfrm>
            <a:off x="14676120" y="9692640"/>
            <a:ext cx="393192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500" b="0" i="0">
                <a:solidFill>
                  <a:srgbClr val="5E6A73"/>
                </a:solidFill>
              </a:rPr>
              <a:t>the selector contract</a:t>
            </a:r>
          </a:p>
        </p:txBody>
      </p:sp>
      <p:sp>
        <p:nvSpPr>
          <p:cNvPr id="43" name="Rounded Rectangle 42"/>
          <p:cNvSpPr/>
          <p:nvPr/>
        </p:nvSpPr>
        <p:spPr>
          <a:xfrm>
            <a:off x="18973800" y="8046720"/>
            <a:ext cx="4343400" cy="2331720"/>
          </a:xfrm>
          <a:prstGeom prst="roundRect">
            <a:avLst>
              <a:gd name="adj" fmla="val 10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22311360" y="8275320"/>
            <a:ext cx="731520" cy="73152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LuWorkflow.png"/>
          <p:cNvPicPr>
            <a:picLocks noChangeAspect="1"/>
          </p:cNvPicPr>
          <p:nvPr/>
        </p:nvPicPr>
        <p:blipFill>
          <a:blip r:embed="rId9"/>
          <a:stretch>
            <a:fillRect/>
          </a:stretch>
        </p:blipFill>
        <p:spPr>
          <a:xfrm>
            <a:off x="22486924" y="8450884"/>
            <a:ext cx="380390" cy="380390"/>
          </a:xfrm>
          <a:prstGeom prst="rect">
            <a:avLst/>
          </a:prstGeom>
        </p:spPr>
      </p:pic>
      <p:sp>
        <p:nvSpPr>
          <p:cNvPr id="46" name="TextBox 45"/>
          <p:cNvSpPr txBox="1"/>
          <p:nvPr/>
        </p:nvSpPr>
        <p:spPr>
          <a:xfrm>
            <a:off x="19248120" y="8156448"/>
            <a:ext cx="3108960" cy="1051560"/>
          </a:xfrm>
          <a:prstGeom prst="rect">
            <a:avLst/>
          </a:prstGeom>
          <a:noFill/>
        </p:spPr>
        <p:txBody>
          <a:bodyPr wrap="square" lIns="0" rIns="0" tIns="18288" bIns="18288" anchor="ctr">
            <a:noAutofit/>
          </a:bodyPr>
          <a:lstStyle/>
          <a:p>
            <a:pPr algn="l">
              <a:lnSpc>
                <a:spcPct val="100000"/>
              </a:lnSpc>
              <a:spcBef>
                <a:spcPts val="0"/>
              </a:spcBef>
              <a:spcAft>
                <a:spcPts val="0"/>
              </a:spcAft>
            </a:pPr>
            <a:r>
              <a:rPr sz="5000" b="0" i="0">
                <a:solidFill>
                  <a:srgbClr val="729A00"/>
                </a:solidFill>
                <a:latin typeface="+mj-lt"/>
              </a:rPr>
              <a:t>14</a:t>
            </a:r>
          </a:p>
        </p:txBody>
      </p:sp>
      <p:sp>
        <p:nvSpPr>
          <p:cNvPr id="47" name="TextBox 46"/>
          <p:cNvSpPr txBox="1"/>
          <p:nvPr/>
        </p:nvSpPr>
        <p:spPr>
          <a:xfrm>
            <a:off x="19248120" y="9208008"/>
            <a:ext cx="393192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XState machines</a:t>
            </a:r>
          </a:p>
        </p:txBody>
      </p:sp>
      <p:sp>
        <p:nvSpPr>
          <p:cNvPr id="48" name="TextBox 47"/>
          <p:cNvSpPr txBox="1"/>
          <p:nvPr/>
        </p:nvSpPr>
        <p:spPr>
          <a:xfrm>
            <a:off x="19248120" y="9692640"/>
            <a:ext cx="393192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500" b="0" i="0">
                <a:solidFill>
                  <a:srgbClr val="5E6A73"/>
                </a:solidFill>
              </a:rPr>
              <a:t>app logic as states</a:t>
            </a:r>
          </a:p>
        </p:txBody>
      </p:sp>
      <p:sp>
        <p:nvSpPr>
          <p:cNvPr id="49" name="Rounded Rectangle 48"/>
          <p:cNvSpPr/>
          <p:nvPr/>
        </p:nvSpPr>
        <p:spPr>
          <a:xfrm>
            <a:off x="612648" y="10789920"/>
            <a:ext cx="22860000" cy="960120"/>
          </a:xfrm>
          <a:prstGeom prst="roundRect">
            <a:avLst>
              <a:gd name="adj" fmla="val 1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886968" y="10927080"/>
            <a:ext cx="685800" cy="6858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LuLaugh.png"/>
          <p:cNvPicPr>
            <a:picLocks noChangeAspect="1"/>
          </p:cNvPicPr>
          <p:nvPr/>
        </p:nvPicPr>
        <p:blipFill>
          <a:blip r:embed="rId10"/>
          <a:stretch>
            <a:fillRect/>
          </a:stretch>
        </p:blipFill>
        <p:spPr>
          <a:xfrm>
            <a:off x="1051560" y="11091672"/>
            <a:ext cx="356616" cy="356616"/>
          </a:xfrm>
          <a:prstGeom prst="rect">
            <a:avLst/>
          </a:prstGeom>
        </p:spPr>
      </p:pic>
      <p:sp>
        <p:nvSpPr>
          <p:cNvPr id="52" name="TextBox 51"/>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Every user's password is </a:t>
            </a:r>
            <a:r>
              <a:rPr sz="1840" b="0" i="1">
                <a:solidFill>
                  <a:srgbClr val="C2410C"/>
                </a:solidFill>
                <a:latin typeface="Consolas"/>
              </a:rPr>
              <a:t>s3cret</a:t>
            </a:r>
            <a:r>
              <a:rPr sz="2000" b="0" i="1">
                <a:solidFill>
                  <a:srgbClr val="192B37"/>
                </a:solidFill>
              </a:rPr>
              <a:t>. It's the worst-kept secret in QA — and that's the point.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The app</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3D9BC8"/>
                </a:solidFill>
              </a:rPr>
              <a:t>APPLICATION · SCREENS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Eight screens, one happy path (and a few unhappy ones)</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7</a:t>
            </a:r>
          </a:p>
        </p:txBody>
      </p:sp>
      <p:sp>
        <p:nvSpPr>
          <p:cNvPr id="6" name="Rounded Rectangle 5"/>
          <p:cNvSpPr/>
          <p:nvPr/>
        </p:nvSpPr>
        <p:spPr>
          <a:xfrm>
            <a:off x="612648" y="2880360"/>
            <a:ext cx="5532120" cy="3611880"/>
          </a:xfrm>
          <a:prstGeom prst="roundRect">
            <a:avLst>
              <a:gd name="adj" fmla="val 6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app-signin.png"/>
          <p:cNvPicPr>
            <a:picLocks noChangeAspect="1"/>
          </p:cNvPicPr>
          <p:nvPr/>
        </p:nvPicPr>
        <p:blipFill>
          <a:blip r:embed="rId3"/>
          <a:stretch>
            <a:fillRect/>
          </a:stretch>
        </p:blipFill>
        <p:spPr>
          <a:xfrm>
            <a:off x="1512163" y="3108960"/>
            <a:ext cx="3733088" cy="2651760"/>
          </a:xfrm>
          <a:prstGeom prst="rect">
            <a:avLst/>
          </a:prstGeom>
          <a:ln w="12700">
            <a:solidFill>
              <a:srgbClr val="D9E1E7"/>
            </a:solidFill>
          </a:ln>
        </p:spPr>
      </p:pic>
      <p:sp>
        <p:nvSpPr>
          <p:cNvPr id="8" name="Rounded Rectangle 7"/>
          <p:cNvSpPr/>
          <p:nvPr/>
        </p:nvSpPr>
        <p:spPr>
          <a:xfrm>
            <a:off x="841248" y="5870448"/>
            <a:ext cx="2651760" cy="457200"/>
          </a:xfrm>
          <a:prstGeom prst="roundRect">
            <a:avLst>
              <a:gd name="adj" fmla="val 50000"/>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5870448"/>
            <a:ext cx="2468879" cy="457200"/>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1" i="0">
                <a:solidFill>
                  <a:srgbClr val="FFFFFF"/>
                </a:solidFill>
              </a:rPr>
              <a:t>01  Sign in</a:t>
            </a:r>
          </a:p>
        </p:txBody>
      </p:sp>
      <p:sp>
        <p:nvSpPr>
          <p:cNvPr id="10" name="Rounded Rectangle 9"/>
          <p:cNvSpPr/>
          <p:nvPr/>
        </p:nvSpPr>
        <p:spPr>
          <a:xfrm>
            <a:off x="6373368" y="2880360"/>
            <a:ext cx="5532120" cy="3611880"/>
          </a:xfrm>
          <a:prstGeom prst="roundRect">
            <a:avLst>
              <a:gd name="adj" fmla="val 6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app-onboarding.png"/>
          <p:cNvPicPr>
            <a:picLocks noChangeAspect="1"/>
          </p:cNvPicPr>
          <p:nvPr/>
        </p:nvPicPr>
        <p:blipFill>
          <a:blip r:embed="rId4"/>
          <a:stretch>
            <a:fillRect/>
          </a:stretch>
        </p:blipFill>
        <p:spPr>
          <a:xfrm>
            <a:off x="7654442" y="3108960"/>
            <a:ext cx="2969971" cy="2651760"/>
          </a:xfrm>
          <a:prstGeom prst="rect">
            <a:avLst/>
          </a:prstGeom>
          <a:ln w="12700">
            <a:solidFill>
              <a:srgbClr val="D9E1E7"/>
            </a:solidFill>
          </a:ln>
        </p:spPr>
      </p:pic>
      <p:sp>
        <p:nvSpPr>
          <p:cNvPr id="12" name="Rounded Rectangle 11"/>
          <p:cNvSpPr/>
          <p:nvPr/>
        </p:nvSpPr>
        <p:spPr>
          <a:xfrm>
            <a:off x="6601968" y="5870448"/>
            <a:ext cx="2651760" cy="457200"/>
          </a:xfrm>
          <a:prstGeom prst="roundRect">
            <a:avLst>
              <a:gd name="adj" fmla="val 50000"/>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693407" y="5870448"/>
            <a:ext cx="2468879" cy="457200"/>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1" i="0">
                <a:solidFill>
                  <a:srgbClr val="FFFFFF"/>
                </a:solidFill>
              </a:rPr>
              <a:t>02  Onboarding</a:t>
            </a:r>
          </a:p>
        </p:txBody>
      </p:sp>
      <p:sp>
        <p:nvSpPr>
          <p:cNvPr id="14" name="Rounded Rectangle 13"/>
          <p:cNvSpPr/>
          <p:nvPr/>
        </p:nvSpPr>
        <p:spPr>
          <a:xfrm>
            <a:off x="12134088" y="2880360"/>
            <a:ext cx="5532120" cy="3611880"/>
          </a:xfrm>
          <a:prstGeom prst="roundRect">
            <a:avLst>
              <a:gd name="adj" fmla="val 6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app-new-tx-form.png"/>
          <p:cNvPicPr>
            <a:picLocks noChangeAspect="1"/>
          </p:cNvPicPr>
          <p:nvPr/>
        </p:nvPicPr>
        <p:blipFill>
          <a:blip r:embed="rId5"/>
          <a:stretch>
            <a:fillRect/>
          </a:stretch>
        </p:blipFill>
        <p:spPr>
          <a:xfrm>
            <a:off x="12362688" y="3288684"/>
            <a:ext cx="5074920" cy="2292310"/>
          </a:xfrm>
          <a:prstGeom prst="rect">
            <a:avLst/>
          </a:prstGeom>
          <a:ln w="12700">
            <a:solidFill>
              <a:srgbClr val="D9E1E7"/>
            </a:solidFill>
          </a:ln>
        </p:spPr>
      </p:pic>
      <p:sp>
        <p:nvSpPr>
          <p:cNvPr id="16" name="Rounded Rectangle 15"/>
          <p:cNvSpPr/>
          <p:nvPr/>
        </p:nvSpPr>
        <p:spPr>
          <a:xfrm>
            <a:off x="12362688" y="5870448"/>
            <a:ext cx="2651760" cy="457200"/>
          </a:xfrm>
          <a:prstGeom prst="roundRect">
            <a:avLst>
              <a:gd name="adj" fmla="val 50000"/>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454128" y="5870448"/>
            <a:ext cx="2468879" cy="457200"/>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1" i="0">
                <a:solidFill>
                  <a:srgbClr val="FFFFFF"/>
                </a:solidFill>
              </a:rPr>
              <a:t>03  New payment</a:t>
            </a:r>
          </a:p>
        </p:txBody>
      </p:sp>
      <p:sp>
        <p:nvSpPr>
          <p:cNvPr id="18" name="Rounded Rectangle 17"/>
          <p:cNvSpPr/>
          <p:nvPr/>
        </p:nvSpPr>
        <p:spPr>
          <a:xfrm>
            <a:off x="17894808" y="2880360"/>
            <a:ext cx="5532120" cy="3611880"/>
          </a:xfrm>
          <a:prstGeom prst="roundRect">
            <a:avLst>
              <a:gd name="adj" fmla="val 6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app-new-tx-done.png"/>
          <p:cNvPicPr>
            <a:picLocks noChangeAspect="1"/>
          </p:cNvPicPr>
          <p:nvPr/>
        </p:nvPicPr>
        <p:blipFill>
          <a:blip r:embed="rId6"/>
          <a:stretch>
            <a:fillRect/>
          </a:stretch>
        </p:blipFill>
        <p:spPr>
          <a:xfrm>
            <a:off x="18123408" y="3479710"/>
            <a:ext cx="5074920" cy="1910258"/>
          </a:xfrm>
          <a:prstGeom prst="rect">
            <a:avLst/>
          </a:prstGeom>
          <a:ln w="12700">
            <a:solidFill>
              <a:srgbClr val="D9E1E7"/>
            </a:solidFill>
          </a:ln>
        </p:spPr>
      </p:pic>
      <p:sp>
        <p:nvSpPr>
          <p:cNvPr id="20" name="Rounded Rectangle 19"/>
          <p:cNvSpPr/>
          <p:nvPr/>
        </p:nvSpPr>
        <p:spPr>
          <a:xfrm>
            <a:off x="18123408" y="5870448"/>
            <a:ext cx="2651760" cy="457200"/>
          </a:xfrm>
          <a:prstGeom prst="roundRect">
            <a:avLst>
              <a:gd name="adj" fmla="val 50000"/>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8214848" y="5870448"/>
            <a:ext cx="2468879" cy="457200"/>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1" i="0">
                <a:solidFill>
                  <a:srgbClr val="FFFFFF"/>
                </a:solidFill>
              </a:rPr>
              <a:t>04  Payment sent</a:t>
            </a:r>
          </a:p>
        </p:txBody>
      </p:sp>
      <p:sp>
        <p:nvSpPr>
          <p:cNvPr id="22" name="Rounded Rectangle 21"/>
          <p:cNvSpPr/>
          <p:nvPr/>
        </p:nvSpPr>
        <p:spPr>
          <a:xfrm>
            <a:off x="612648" y="6720840"/>
            <a:ext cx="5532120" cy="3611880"/>
          </a:xfrm>
          <a:prstGeom prst="roundRect">
            <a:avLst>
              <a:gd name="adj" fmla="val 6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app-tx-detail.png"/>
          <p:cNvPicPr>
            <a:picLocks noChangeAspect="1"/>
          </p:cNvPicPr>
          <p:nvPr/>
        </p:nvPicPr>
        <p:blipFill>
          <a:blip r:embed="rId7"/>
          <a:stretch>
            <a:fillRect/>
          </a:stretch>
        </p:blipFill>
        <p:spPr>
          <a:xfrm>
            <a:off x="1030427" y="6949440"/>
            <a:ext cx="4696561" cy="2651760"/>
          </a:xfrm>
          <a:prstGeom prst="rect">
            <a:avLst/>
          </a:prstGeom>
          <a:ln w="12700">
            <a:solidFill>
              <a:srgbClr val="D9E1E7"/>
            </a:solidFill>
          </a:ln>
        </p:spPr>
      </p:pic>
      <p:sp>
        <p:nvSpPr>
          <p:cNvPr id="24" name="Rounded Rectangle 23"/>
          <p:cNvSpPr/>
          <p:nvPr/>
        </p:nvSpPr>
        <p:spPr>
          <a:xfrm>
            <a:off x="841248" y="9710928"/>
            <a:ext cx="2651760" cy="457200"/>
          </a:xfrm>
          <a:prstGeom prst="roundRect">
            <a:avLst>
              <a:gd name="adj" fmla="val 50000"/>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9710928"/>
            <a:ext cx="2468879" cy="457200"/>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1" i="0">
                <a:solidFill>
                  <a:srgbClr val="FFFFFF"/>
                </a:solidFill>
              </a:rPr>
              <a:t>05  Like &amp; comment</a:t>
            </a:r>
          </a:p>
        </p:txBody>
      </p:sp>
      <p:sp>
        <p:nvSpPr>
          <p:cNvPr id="26" name="Rounded Rectangle 25"/>
          <p:cNvSpPr/>
          <p:nvPr/>
        </p:nvSpPr>
        <p:spPr>
          <a:xfrm>
            <a:off x="6373368" y="6720840"/>
            <a:ext cx="5532120" cy="3611880"/>
          </a:xfrm>
          <a:prstGeom prst="roundRect">
            <a:avLst>
              <a:gd name="adj" fmla="val 6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app-notifications.png"/>
          <p:cNvPicPr>
            <a:picLocks noChangeAspect="1"/>
          </p:cNvPicPr>
          <p:nvPr/>
        </p:nvPicPr>
        <p:blipFill>
          <a:blip r:embed="rId8"/>
          <a:stretch>
            <a:fillRect/>
          </a:stretch>
        </p:blipFill>
        <p:spPr>
          <a:xfrm>
            <a:off x="6791147" y="6949440"/>
            <a:ext cx="4696561" cy="2651760"/>
          </a:xfrm>
          <a:prstGeom prst="rect">
            <a:avLst/>
          </a:prstGeom>
          <a:ln w="12700">
            <a:solidFill>
              <a:srgbClr val="D9E1E7"/>
            </a:solidFill>
          </a:ln>
        </p:spPr>
      </p:pic>
      <p:sp>
        <p:nvSpPr>
          <p:cNvPr id="28" name="Rounded Rectangle 27"/>
          <p:cNvSpPr/>
          <p:nvPr/>
        </p:nvSpPr>
        <p:spPr>
          <a:xfrm>
            <a:off x="6601968" y="9710928"/>
            <a:ext cx="2651760" cy="457200"/>
          </a:xfrm>
          <a:prstGeom prst="roundRect">
            <a:avLst>
              <a:gd name="adj" fmla="val 50000"/>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693407" y="9710928"/>
            <a:ext cx="2468879" cy="457200"/>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1" i="0">
                <a:solidFill>
                  <a:srgbClr val="FFFFFF"/>
                </a:solidFill>
              </a:rPr>
              <a:t>06  Notifications</a:t>
            </a:r>
          </a:p>
        </p:txBody>
      </p:sp>
      <p:sp>
        <p:nvSpPr>
          <p:cNvPr id="30" name="Rounded Rectangle 29"/>
          <p:cNvSpPr/>
          <p:nvPr/>
        </p:nvSpPr>
        <p:spPr>
          <a:xfrm>
            <a:off x="12134088" y="6720840"/>
            <a:ext cx="5532120" cy="3611880"/>
          </a:xfrm>
          <a:prstGeom prst="roundRect">
            <a:avLst>
              <a:gd name="adj" fmla="val 6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app-bankaccounts.png"/>
          <p:cNvPicPr>
            <a:picLocks noChangeAspect="1"/>
          </p:cNvPicPr>
          <p:nvPr/>
        </p:nvPicPr>
        <p:blipFill>
          <a:blip r:embed="rId9"/>
          <a:stretch>
            <a:fillRect/>
          </a:stretch>
        </p:blipFill>
        <p:spPr>
          <a:xfrm>
            <a:off x="12362688" y="7511216"/>
            <a:ext cx="5074920" cy="1528206"/>
          </a:xfrm>
          <a:prstGeom prst="rect">
            <a:avLst/>
          </a:prstGeom>
          <a:ln w="12700">
            <a:solidFill>
              <a:srgbClr val="D9E1E7"/>
            </a:solidFill>
          </a:ln>
        </p:spPr>
      </p:pic>
      <p:sp>
        <p:nvSpPr>
          <p:cNvPr id="32" name="Rounded Rectangle 31"/>
          <p:cNvSpPr/>
          <p:nvPr/>
        </p:nvSpPr>
        <p:spPr>
          <a:xfrm>
            <a:off x="12362688" y="9710928"/>
            <a:ext cx="2651760" cy="457200"/>
          </a:xfrm>
          <a:prstGeom prst="roundRect">
            <a:avLst>
              <a:gd name="adj" fmla="val 50000"/>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2454128" y="9710928"/>
            <a:ext cx="2468879" cy="457200"/>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1" i="0">
                <a:solidFill>
                  <a:srgbClr val="FFFFFF"/>
                </a:solidFill>
              </a:rPr>
              <a:t>07  Bank accounts</a:t>
            </a:r>
          </a:p>
        </p:txBody>
      </p:sp>
      <p:sp>
        <p:nvSpPr>
          <p:cNvPr id="34" name="Rounded Rectangle 33"/>
          <p:cNvSpPr/>
          <p:nvPr/>
        </p:nvSpPr>
        <p:spPr>
          <a:xfrm>
            <a:off x="17894808" y="6720840"/>
            <a:ext cx="5532120" cy="3611880"/>
          </a:xfrm>
          <a:prstGeom prst="roundRect">
            <a:avLst>
              <a:gd name="adj" fmla="val 6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app-settings.png"/>
          <p:cNvPicPr>
            <a:picLocks noChangeAspect="1"/>
          </p:cNvPicPr>
          <p:nvPr/>
        </p:nvPicPr>
        <p:blipFill>
          <a:blip r:embed="rId10"/>
          <a:stretch>
            <a:fillRect/>
          </a:stretch>
        </p:blipFill>
        <p:spPr>
          <a:xfrm>
            <a:off x="18123408" y="7129164"/>
            <a:ext cx="5074920" cy="2292310"/>
          </a:xfrm>
          <a:prstGeom prst="rect">
            <a:avLst/>
          </a:prstGeom>
          <a:ln w="12700">
            <a:solidFill>
              <a:srgbClr val="D9E1E7"/>
            </a:solidFill>
          </a:ln>
        </p:spPr>
      </p:pic>
      <p:sp>
        <p:nvSpPr>
          <p:cNvPr id="36" name="Rounded Rectangle 35"/>
          <p:cNvSpPr/>
          <p:nvPr/>
        </p:nvSpPr>
        <p:spPr>
          <a:xfrm>
            <a:off x="18123408" y="9710928"/>
            <a:ext cx="2651760" cy="457200"/>
          </a:xfrm>
          <a:prstGeom prst="roundRect">
            <a:avLst>
              <a:gd name="adj" fmla="val 50000"/>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8214848" y="9710928"/>
            <a:ext cx="2468879" cy="457200"/>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1" i="0">
                <a:solidFill>
                  <a:srgbClr val="FFFFFF"/>
                </a:solidFill>
              </a:rPr>
              <a:t>08  Settings</a:t>
            </a:r>
          </a:p>
        </p:txBody>
      </p:sp>
      <p:sp>
        <p:nvSpPr>
          <p:cNvPr id="38" name="Rounded Rectangle 37"/>
          <p:cNvSpPr/>
          <p:nvPr/>
        </p:nvSpPr>
        <p:spPr>
          <a:xfrm>
            <a:off x="612648" y="10789920"/>
            <a:ext cx="22860000" cy="960120"/>
          </a:xfrm>
          <a:prstGeom prst="roundRect">
            <a:avLst>
              <a:gd name="adj" fmla="val 1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886968" y="10927080"/>
            <a:ext cx="685800" cy="6858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LuLaugh.png"/>
          <p:cNvPicPr>
            <a:picLocks noChangeAspect="1"/>
          </p:cNvPicPr>
          <p:nvPr/>
        </p:nvPicPr>
        <p:blipFill>
          <a:blip r:embed="rId11"/>
          <a:stretch>
            <a:fillRect/>
          </a:stretch>
        </p:blipFill>
        <p:spPr>
          <a:xfrm>
            <a:off x="1051560" y="11091672"/>
            <a:ext cx="356616" cy="356616"/>
          </a:xfrm>
          <a:prstGeom prst="rect">
            <a:avLst/>
          </a:prstGeom>
        </p:spPr>
      </p:pic>
      <p:sp>
        <p:nvSpPr>
          <p:cNvPr id="41" name="TextBox 40"/>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Every screen here has </a:t>
            </a:r>
            <a:r>
              <a:rPr sz="1840" b="0" i="1">
                <a:solidFill>
                  <a:srgbClr val="C2410C"/>
                </a:solidFill>
                <a:latin typeface="Consolas"/>
              </a:rPr>
              <a:t>data-test</a:t>
            </a:r>
            <a:r>
              <a:rPr sz="2000" b="0" i="1">
                <a:solidFill>
                  <a:srgbClr val="192B37"/>
                </a:solidFill>
              </a:rPr>
              <a:t> attributes. Our selectors don't play hide-and-seek.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The app</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3D9BC8"/>
                </a:solidFill>
              </a:rPr>
              <a:t>ARCHITECTURE · OVERVIEW</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Three tiers, two ports, one JSON file</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8</a:t>
            </a:r>
          </a:p>
        </p:txBody>
      </p:sp>
      <p:sp>
        <p:nvSpPr>
          <p:cNvPr id="6" name="Rounded Rectangle 5"/>
          <p:cNvSpPr/>
          <p:nvPr/>
        </p:nvSpPr>
        <p:spPr>
          <a:xfrm>
            <a:off x="612648" y="2926080"/>
            <a:ext cx="6949440" cy="4480560"/>
          </a:xfrm>
          <a:prstGeom prst="roundRect">
            <a:avLst>
              <a:gd name="adj" fmla="val 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612648" y="2926080"/>
            <a:ext cx="6949440" cy="1005840"/>
          </a:xfrm>
          <a:prstGeom prst="roundRect">
            <a:avLst>
              <a:gd name="adj" fmla="val 25000"/>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12648" y="3474720"/>
            <a:ext cx="6949440" cy="457200"/>
          </a:xfrm>
          <a:prstGeom prst="rect">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LuMonitor.png"/>
          <p:cNvPicPr>
            <a:picLocks noChangeAspect="1"/>
          </p:cNvPicPr>
          <p:nvPr/>
        </p:nvPicPr>
        <p:blipFill>
          <a:blip r:embed="rId3"/>
          <a:stretch>
            <a:fillRect/>
          </a:stretch>
        </p:blipFill>
        <p:spPr>
          <a:xfrm>
            <a:off x="932688" y="3154680"/>
            <a:ext cx="548640" cy="548640"/>
          </a:xfrm>
          <a:prstGeom prst="rect">
            <a:avLst/>
          </a:prstGeom>
        </p:spPr>
      </p:pic>
      <p:sp>
        <p:nvSpPr>
          <p:cNvPr id="10" name="TextBox 9"/>
          <p:cNvSpPr txBox="1"/>
          <p:nvPr/>
        </p:nvSpPr>
        <p:spPr>
          <a:xfrm>
            <a:off x="1755648" y="2926080"/>
            <a:ext cx="4023359" cy="100584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1" i="0">
                <a:solidFill>
                  <a:srgbClr val="FFFFFF"/>
                </a:solidFill>
              </a:rPr>
              <a:t>React UI</a:t>
            </a:r>
          </a:p>
        </p:txBody>
      </p:sp>
      <p:sp>
        <p:nvSpPr>
          <p:cNvPr id="11" name="Rounded Rectangle 10"/>
          <p:cNvSpPr/>
          <p:nvPr/>
        </p:nvSpPr>
        <p:spPr>
          <a:xfrm>
            <a:off x="5779007" y="3172968"/>
            <a:ext cx="1554480" cy="51206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870447" y="3172968"/>
            <a:ext cx="1371600" cy="512064"/>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1" i="0">
                <a:solidFill>
                  <a:srgbClr val="3D9BC8"/>
                </a:solidFill>
              </a:rPr>
              <a:t>:3000</a:t>
            </a:r>
          </a:p>
        </p:txBody>
      </p:sp>
      <p:sp>
        <p:nvSpPr>
          <p:cNvPr id="13" name="TextBox 12"/>
          <p:cNvSpPr txBox="1"/>
          <p:nvPr/>
        </p:nvSpPr>
        <p:spPr>
          <a:xfrm>
            <a:off x="932688" y="4206240"/>
            <a:ext cx="6309359" cy="3108960"/>
          </a:xfrm>
          <a:prstGeom prst="rect">
            <a:avLst/>
          </a:prstGeom>
          <a:noFill/>
        </p:spPr>
        <p:txBody>
          <a:bodyPr wrap="square" lIns="0" rIns="0" tIns="18288" bIns="18288" anchor="t">
            <a:noAutofit/>
          </a:bodyPr>
          <a:lstStyle/>
          <a:p>
            <a:pPr algn="l">
              <a:lnSpc>
                <a:spcPct val="100000"/>
              </a:lnSpc>
              <a:spcBef>
                <a:spcPts val="0"/>
              </a:spcBef>
              <a:spcAft>
                <a:spcPts val="0"/>
              </a:spcAft>
            </a:pPr>
            <a:r>
              <a:rPr sz="1260">
                <a:solidFill>
                  <a:srgbClr val="3D9BC8"/>
                </a:solidFill>
              </a:rPr>
              <a:t>●  </a:t>
            </a:r>
            <a:r>
              <a:rPr sz="2100" b="0" i="0">
                <a:solidFill>
                  <a:srgbClr val="192B37"/>
                </a:solidFill>
              </a:rPr>
              <a:t>React 18 + </a:t>
            </a:r>
            <a:r>
              <a:rPr sz="2100" b="1" i="0">
                <a:solidFill>
                  <a:srgbClr val="192B37"/>
                </a:solidFill>
              </a:rPr>
              <a:t>Vite</a:t>
            </a:r>
          </a:p>
          <a:p>
            <a:pPr algn="l">
              <a:lnSpc>
                <a:spcPct val="100000"/>
              </a:lnSpc>
              <a:spcBef>
                <a:spcPts val="1200"/>
              </a:spcBef>
              <a:spcAft>
                <a:spcPts val="0"/>
              </a:spcAft>
            </a:pPr>
            <a:r>
              <a:rPr sz="1260">
                <a:solidFill>
                  <a:srgbClr val="3D9BC8"/>
                </a:solidFill>
              </a:rPr>
              <a:t>●  </a:t>
            </a:r>
            <a:r>
              <a:rPr sz="2100" b="1" i="0">
                <a:solidFill>
                  <a:srgbClr val="192B37"/>
                </a:solidFill>
              </a:rPr>
              <a:t>MUI 5</a:t>
            </a:r>
            <a:r>
              <a:rPr sz="2100" b="0" i="0">
                <a:solidFill>
                  <a:srgbClr val="192B37"/>
                </a:solidFill>
              </a:rPr>
              <a:t> components</a:t>
            </a:r>
          </a:p>
          <a:p>
            <a:pPr algn="l">
              <a:lnSpc>
                <a:spcPct val="100000"/>
              </a:lnSpc>
              <a:spcBef>
                <a:spcPts val="1200"/>
              </a:spcBef>
              <a:spcAft>
                <a:spcPts val="0"/>
              </a:spcAft>
            </a:pPr>
            <a:r>
              <a:rPr sz="1260">
                <a:solidFill>
                  <a:srgbClr val="3D9BC8"/>
                </a:solidFill>
              </a:rPr>
              <a:t>●  </a:t>
            </a:r>
            <a:r>
              <a:rPr sz="2100" b="1" i="0">
                <a:solidFill>
                  <a:srgbClr val="192B37"/>
                </a:solidFill>
              </a:rPr>
              <a:t>XState v4</a:t>
            </a:r>
            <a:r>
              <a:rPr sz="2100" b="0" i="0">
                <a:solidFill>
                  <a:srgbClr val="192B37"/>
                </a:solidFill>
              </a:rPr>
              <a:t> — 14 machines</a:t>
            </a:r>
          </a:p>
          <a:p>
            <a:pPr algn="l">
              <a:lnSpc>
                <a:spcPct val="100000"/>
              </a:lnSpc>
              <a:spcBef>
                <a:spcPts val="1200"/>
              </a:spcBef>
              <a:spcAft>
                <a:spcPts val="0"/>
              </a:spcAft>
            </a:pPr>
            <a:r>
              <a:rPr sz="1260">
                <a:solidFill>
                  <a:srgbClr val="3D9BC8"/>
                </a:solidFill>
              </a:rPr>
              <a:t>●  </a:t>
            </a:r>
            <a:r>
              <a:rPr sz="2100" b="0" i="0">
                <a:solidFill>
                  <a:srgbClr val="192B37"/>
                </a:solidFill>
              </a:rPr>
              <a:t>Formik + Yup forms</a:t>
            </a:r>
          </a:p>
          <a:p>
            <a:pPr algn="l">
              <a:lnSpc>
                <a:spcPct val="100000"/>
              </a:lnSpc>
              <a:spcBef>
                <a:spcPts val="1200"/>
              </a:spcBef>
              <a:spcAft>
                <a:spcPts val="0"/>
              </a:spcAft>
            </a:pPr>
            <a:r>
              <a:rPr sz="1260">
                <a:solidFill>
                  <a:srgbClr val="3D9BC8"/>
                </a:solidFill>
              </a:rPr>
              <a:t>●  </a:t>
            </a:r>
            <a:r>
              <a:rPr sz="2100" b="0" i="0">
                <a:solidFill>
                  <a:srgbClr val="192B37"/>
                </a:solidFill>
              </a:rPr>
              <a:t>React Router v5 · 14 routes</a:t>
            </a:r>
          </a:p>
        </p:txBody>
      </p:sp>
      <p:sp>
        <p:nvSpPr>
          <p:cNvPr id="14" name="Rounded Rectangle 13"/>
          <p:cNvSpPr/>
          <p:nvPr/>
        </p:nvSpPr>
        <p:spPr>
          <a:xfrm>
            <a:off x="8732520" y="2926080"/>
            <a:ext cx="6949440" cy="4480560"/>
          </a:xfrm>
          <a:prstGeom prst="roundRect">
            <a:avLst>
              <a:gd name="adj" fmla="val 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8732520" y="2926080"/>
            <a:ext cx="6949440" cy="1005840"/>
          </a:xfrm>
          <a:prstGeom prst="roundRect">
            <a:avLst>
              <a:gd name="adj" fmla="val 25000"/>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732520" y="3474720"/>
            <a:ext cx="6949440" cy="457200"/>
          </a:xfrm>
          <a:prstGeom prst="rect">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LuServer.png"/>
          <p:cNvPicPr>
            <a:picLocks noChangeAspect="1"/>
          </p:cNvPicPr>
          <p:nvPr/>
        </p:nvPicPr>
        <p:blipFill>
          <a:blip r:embed="rId4"/>
          <a:stretch>
            <a:fillRect/>
          </a:stretch>
        </p:blipFill>
        <p:spPr>
          <a:xfrm>
            <a:off x="9052560" y="3154680"/>
            <a:ext cx="548640" cy="548640"/>
          </a:xfrm>
          <a:prstGeom prst="rect">
            <a:avLst/>
          </a:prstGeom>
        </p:spPr>
      </p:pic>
      <p:sp>
        <p:nvSpPr>
          <p:cNvPr id="18" name="TextBox 17"/>
          <p:cNvSpPr txBox="1"/>
          <p:nvPr/>
        </p:nvSpPr>
        <p:spPr>
          <a:xfrm>
            <a:off x="9875520" y="2926080"/>
            <a:ext cx="4023359" cy="100584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1" i="0">
                <a:solidFill>
                  <a:srgbClr val="FFFFFF"/>
                </a:solidFill>
              </a:rPr>
              <a:t>Express API</a:t>
            </a:r>
          </a:p>
        </p:txBody>
      </p:sp>
      <p:sp>
        <p:nvSpPr>
          <p:cNvPr id="19" name="Rounded Rectangle 18"/>
          <p:cNvSpPr/>
          <p:nvPr/>
        </p:nvSpPr>
        <p:spPr>
          <a:xfrm>
            <a:off x="13898880" y="3172968"/>
            <a:ext cx="1554480" cy="51206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3990319" y="3172968"/>
            <a:ext cx="1371600" cy="512064"/>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1" i="0">
                <a:solidFill>
                  <a:srgbClr val="00A859"/>
                </a:solidFill>
              </a:rPr>
              <a:t>:3001</a:t>
            </a:r>
          </a:p>
        </p:txBody>
      </p:sp>
      <p:sp>
        <p:nvSpPr>
          <p:cNvPr id="21" name="TextBox 20"/>
          <p:cNvSpPr txBox="1"/>
          <p:nvPr/>
        </p:nvSpPr>
        <p:spPr>
          <a:xfrm>
            <a:off x="9052560" y="4206240"/>
            <a:ext cx="6309359" cy="3108960"/>
          </a:xfrm>
          <a:prstGeom prst="rect">
            <a:avLst/>
          </a:prstGeom>
          <a:noFill/>
        </p:spPr>
        <p:txBody>
          <a:bodyPr wrap="square" lIns="0" rIns="0" tIns="18288" bIns="18288" anchor="t">
            <a:noAutofit/>
          </a:bodyPr>
          <a:lstStyle/>
          <a:p>
            <a:pPr algn="l">
              <a:lnSpc>
                <a:spcPct val="100000"/>
              </a:lnSpc>
              <a:spcBef>
                <a:spcPts val="0"/>
              </a:spcBef>
              <a:spcAft>
                <a:spcPts val="0"/>
              </a:spcAft>
            </a:pPr>
            <a:r>
              <a:rPr sz="1260">
                <a:solidFill>
                  <a:srgbClr val="00A859"/>
                </a:solidFill>
              </a:rPr>
              <a:t>●  </a:t>
            </a:r>
            <a:r>
              <a:rPr sz="2100" b="1" i="0">
                <a:solidFill>
                  <a:srgbClr val="192B37"/>
                </a:solidFill>
              </a:rPr>
              <a:t>REST</a:t>
            </a:r>
            <a:r>
              <a:rPr sz="2100" b="0" i="0">
                <a:solidFill>
                  <a:srgbClr val="192B37"/>
                </a:solidFill>
              </a:rPr>
              <a:t> routers + </a:t>
            </a:r>
            <a:r>
              <a:rPr sz="2100" b="1" i="0">
                <a:solidFill>
                  <a:srgbClr val="192B37"/>
                </a:solidFill>
              </a:rPr>
              <a:t>GraphQL</a:t>
            </a:r>
            <a:r>
              <a:rPr sz="2100" b="0" i="0">
                <a:solidFill>
                  <a:srgbClr val="192B37"/>
                </a:solidFill>
              </a:rPr>
              <a:t> (graphql-http)</a:t>
            </a:r>
          </a:p>
          <a:p>
            <a:pPr algn="l">
              <a:lnSpc>
                <a:spcPct val="100000"/>
              </a:lnSpc>
              <a:spcBef>
                <a:spcPts val="1200"/>
              </a:spcBef>
              <a:spcAft>
                <a:spcPts val="0"/>
              </a:spcAft>
            </a:pPr>
            <a:r>
              <a:rPr sz="1260">
                <a:solidFill>
                  <a:srgbClr val="00A859"/>
                </a:solidFill>
              </a:rPr>
              <a:t>●  </a:t>
            </a:r>
            <a:r>
              <a:rPr sz="2100" b="0" i="0">
                <a:solidFill>
                  <a:srgbClr val="192B37"/>
                </a:solidFill>
              </a:rPr>
              <a:t>Passport local + </a:t>
            </a:r>
            <a:r>
              <a:rPr sz="1932" b="0" i="0">
                <a:solidFill>
                  <a:srgbClr val="C2410C"/>
                </a:solidFill>
                <a:latin typeface="Consolas"/>
              </a:rPr>
              <a:t>express-session</a:t>
            </a:r>
          </a:p>
          <a:p>
            <a:pPr algn="l">
              <a:lnSpc>
                <a:spcPct val="100000"/>
              </a:lnSpc>
              <a:spcBef>
                <a:spcPts val="1200"/>
              </a:spcBef>
              <a:spcAft>
                <a:spcPts val="0"/>
              </a:spcAft>
            </a:pPr>
            <a:r>
              <a:rPr sz="1260">
                <a:solidFill>
                  <a:srgbClr val="00A859"/>
                </a:solidFill>
              </a:rPr>
              <a:t>●  </a:t>
            </a:r>
            <a:r>
              <a:rPr sz="1932" b="0" i="0">
                <a:solidFill>
                  <a:srgbClr val="C2410C"/>
                </a:solidFill>
                <a:latin typeface="Consolas"/>
              </a:rPr>
              <a:t>express-validator</a:t>
            </a:r>
            <a:r>
              <a:rPr sz="2100" b="0" i="0">
                <a:solidFill>
                  <a:srgbClr val="192B37"/>
                </a:solidFill>
              </a:rPr>
              <a:t> rules</a:t>
            </a:r>
          </a:p>
          <a:p>
            <a:pPr algn="l">
              <a:lnSpc>
                <a:spcPct val="100000"/>
              </a:lnSpc>
              <a:spcBef>
                <a:spcPts val="1200"/>
              </a:spcBef>
              <a:spcAft>
                <a:spcPts val="0"/>
              </a:spcAft>
            </a:pPr>
            <a:r>
              <a:rPr sz="1260">
                <a:solidFill>
                  <a:srgbClr val="00A859"/>
                </a:solidFill>
              </a:rPr>
              <a:t>●  </a:t>
            </a:r>
            <a:r>
              <a:rPr sz="2100" b="0" i="0">
                <a:solidFill>
                  <a:srgbClr val="192B37"/>
                </a:solidFill>
              </a:rPr>
              <a:t>CORS: origin </a:t>
            </a:r>
            <a:r>
              <a:rPr sz="2100" b="1" i="0">
                <a:solidFill>
                  <a:srgbClr val="192B37"/>
                </a:solidFill>
              </a:rPr>
              <a:t>:3000</a:t>
            </a:r>
            <a:r>
              <a:rPr sz="2100" b="0" i="0">
                <a:solidFill>
                  <a:srgbClr val="192B37"/>
                </a:solidFill>
              </a:rPr>
              <a:t> only</a:t>
            </a:r>
          </a:p>
          <a:p>
            <a:pPr algn="l">
              <a:lnSpc>
                <a:spcPct val="100000"/>
              </a:lnSpc>
              <a:spcBef>
                <a:spcPts val="1200"/>
              </a:spcBef>
              <a:spcAft>
                <a:spcPts val="0"/>
              </a:spcAft>
            </a:pPr>
            <a:r>
              <a:rPr sz="1260">
                <a:solidFill>
                  <a:srgbClr val="00A859"/>
                </a:solidFill>
              </a:rPr>
              <a:t>●  </a:t>
            </a:r>
            <a:r>
              <a:rPr sz="2100" b="0" i="0">
                <a:solidFill>
                  <a:srgbClr val="192B37"/>
                </a:solidFill>
              </a:rPr>
              <a:t>35 operations · nodemon reload</a:t>
            </a:r>
          </a:p>
        </p:txBody>
      </p:sp>
      <p:sp>
        <p:nvSpPr>
          <p:cNvPr id="22" name="Rounded Rectangle 21"/>
          <p:cNvSpPr/>
          <p:nvPr/>
        </p:nvSpPr>
        <p:spPr>
          <a:xfrm>
            <a:off x="16852392" y="2926080"/>
            <a:ext cx="6620256" cy="4480560"/>
          </a:xfrm>
          <a:prstGeom prst="roundRect">
            <a:avLst>
              <a:gd name="adj" fmla="val 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16852392" y="2926080"/>
            <a:ext cx="6620256" cy="1005840"/>
          </a:xfrm>
          <a:prstGeom prst="roundRect">
            <a:avLst>
              <a:gd name="adj" fmla="val 25000"/>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6852392" y="3474720"/>
            <a:ext cx="6620256" cy="457200"/>
          </a:xfrm>
          <a:prstGeom prst="rect">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uDatabase.png"/>
          <p:cNvPicPr>
            <a:picLocks noChangeAspect="1"/>
          </p:cNvPicPr>
          <p:nvPr/>
        </p:nvPicPr>
        <p:blipFill>
          <a:blip r:embed="rId5"/>
          <a:stretch>
            <a:fillRect/>
          </a:stretch>
        </p:blipFill>
        <p:spPr>
          <a:xfrm>
            <a:off x="17172432" y="3154680"/>
            <a:ext cx="548640" cy="548640"/>
          </a:xfrm>
          <a:prstGeom prst="rect">
            <a:avLst/>
          </a:prstGeom>
        </p:spPr>
      </p:pic>
      <p:sp>
        <p:nvSpPr>
          <p:cNvPr id="26" name="TextBox 25"/>
          <p:cNvSpPr txBox="1"/>
          <p:nvPr/>
        </p:nvSpPr>
        <p:spPr>
          <a:xfrm>
            <a:off x="17995392" y="2926080"/>
            <a:ext cx="3694176" cy="100584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1" i="0">
                <a:solidFill>
                  <a:srgbClr val="FFFFFF"/>
                </a:solidFill>
              </a:rPr>
              <a:t>lowdb</a:t>
            </a:r>
          </a:p>
        </p:txBody>
      </p:sp>
      <p:sp>
        <p:nvSpPr>
          <p:cNvPr id="27" name="Rounded Rectangle 26"/>
          <p:cNvSpPr/>
          <p:nvPr/>
        </p:nvSpPr>
        <p:spPr>
          <a:xfrm>
            <a:off x="21689568" y="3172968"/>
            <a:ext cx="1554480" cy="51206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21781008" y="3172968"/>
            <a:ext cx="1371600" cy="512064"/>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1" i="0">
                <a:solidFill>
                  <a:srgbClr val="DB7D00"/>
                </a:solidFill>
              </a:rPr>
              <a:t>JSON</a:t>
            </a:r>
          </a:p>
        </p:txBody>
      </p:sp>
      <p:sp>
        <p:nvSpPr>
          <p:cNvPr id="29" name="TextBox 28"/>
          <p:cNvSpPr txBox="1"/>
          <p:nvPr/>
        </p:nvSpPr>
        <p:spPr>
          <a:xfrm>
            <a:off x="17172432" y="4206240"/>
            <a:ext cx="5980176" cy="3108960"/>
          </a:xfrm>
          <a:prstGeom prst="rect">
            <a:avLst/>
          </a:prstGeom>
          <a:noFill/>
        </p:spPr>
        <p:txBody>
          <a:bodyPr wrap="square" lIns="0" rIns="0" tIns="18288" bIns="18288" anchor="t">
            <a:noAutofit/>
          </a:bodyPr>
          <a:lstStyle/>
          <a:p>
            <a:pPr algn="l">
              <a:lnSpc>
                <a:spcPct val="100000"/>
              </a:lnSpc>
              <a:spcBef>
                <a:spcPts val="0"/>
              </a:spcBef>
              <a:spcAft>
                <a:spcPts val="0"/>
              </a:spcAft>
            </a:pPr>
            <a:r>
              <a:rPr sz="1260">
                <a:solidFill>
                  <a:srgbClr val="DB7D00"/>
                </a:solidFill>
              </a:rPr>
              <a:t>●  </a:t>
            </a:r>
            <a:r>
              <a:rPr sz="1932" b="0" i="0">
                <a:solidFill>
                  <a:srgbClr val="C2410C"/>
                </a:solidFill>
                <a:latin typeface="Consolas"/>
              </a:rPr>
              <a:t>data/database.json</a:t>
            </a:r>
          </a:p>
          <a:p>
            <a:pPr algn="l">
              <a:lnSpc>
                <a:spcPct val="100000"/>
              </a:lnSpc>
              <a:spcBef>
                <a:spcPts val="1200"/>
              </a:spcBef>
              <a:spcAft>
                <a:spcPts val="0"/>
              </a:spcAft>
            </a:pPr>
            <a:r>
              <a:rPr sz="1260">
                <a:solidFill>
                  <a:srgbClr val="DB7D00"/>
                </a:solidFill>
              </a:rPr>
              <a:t>●  </a:t>
            </a:r>
            <a:r>
              <a:rPr sz="2100" b="0" i="0">
                <a:solidFill>
                  <a:srgbClr val="192B37"/>
                </a:solidFill>
              </a:rPr>
              <a:t>seed: </a:t>
            </a:r>
            <a:r>
              <a:rPr sz="1932" b="0" i="0">
                <a:solidFill>
                  <a:srgbClr val="C2410C"/>
                </a:solidFill>
                <a:latin typeface="Consolas"/>
              </a:rPr>
              <a:t>database-seed.json</a:t>
            </a:r>
          </a:p>
          <a:p>
            <a:pPr algn="l">
              <a:lnSpc>
                <a:spcPct val="100000"/>
              </a:lnSpc>
              <a:spcBef>
                <a:spcPts val="1200"/>
              </a:spcBef>
              <a:spcAft>
                <a:spcPts val="0"/>
              </a:spcAft>
            </a:pPr>
            <a:r>
              <a:rPr sz="1260">
                <a:solidFill>
                  <a:srgbClr val="DB7D00"/>
                </a:solidFill>
              </a:rPr>
              <a:t>●  </a:t>
            </a:r>
            <a:r>
              <a:rPr sz="2100" b="0" i="0">
                <a:solidFill>
                  <a:srgbClr val="192B37"/>
                </a:solidFill>
              </a:rPr>
              <a:t>users · transactions · likes…</a:t>
            </a:r>
          </a:p>
          <a:p>
            <a:pPr algn="l">
              <a:lnSpc>
                <a:spcPct val="100000"/>
              </a:lnSpc>
              <a:spcBef>
                <a:spcPts val="1200"/>
              </a:spcBef>
              <a:spcAft>
                <a:spcPts val="0"/>
              </a:spcAft>
            </a:pPr>
            <a:r>
              <a:rPr sz="1260">
                <a:solidFill>
                  <a:srgbClr val="DB7D00"/>
                </a:solidFill>
              </a:rPr>
              <a:t>●  </a:t>
            </a:r>
            <a:r>
              <a:rPr sz="2100" b="0" i="0">
                <a:solidFill>
                  <a:srgbClr val="192B37"/>
                </a:solidFill>
              </a:rPr>
              <a:t>reset: </a:t>
            </a:r>
            <a:r>
              <a:rPr sz="1932" b="0" i="0">
                <a:solidFill>
                  <a:srgbClr val="C2410C"/>
                </a:solidFill>
                <a:latin typeface="Consolas"/>
              </a:rPr>
              <a:t>POST /testData/seed</a:t>
            </a:r>
          </a:p>
          <a:p>
            <a:pPr algn="l">
              <a:lnSpc>
                <a:spcPct val="100000"/>
              </a:lnSpc>
              <a:spcBef>
                <a:spcPts val="1200"/>
              </a:spcBef>
              <a:spcAft>
                <a:spcPts val="0"/>
              </a:spcAft>
            </a:pPr>
            <a:r>
              <a:rPr sz="1260">
                <a:solidFill>
                  <a:srgbClr val="DB7D00"/>
                </a:solidFill>
              </a:rPr>
              <a:t>●  </a:t>
            </a:r>
            <a:r>
              <a:rPr sz="2100" b="0" i="0">
                <a:solidFill>
                  <a:srgbClr val="192B37"/>
                </a:solidFill>
              </a:rPr>
              <a:t>money stored in </a:t>
            </a:r>
            <a:r>
              <a:rPr sz="2100" b="1" i="0">
                <a:solidFill>
                  <a:srgbClr val="192B37"/>
                </a:solidFill>
              </a:rPr>
              <a:t>cents</a:t>
            </a:r>
          </a:p>
        </p:txBody>
      </p:sp>
      <p:cxnSp>
        <p:nvCxnSpPr>
          <p:cNvPr id="30" name="Connector 29"/>
          <p:cNvCxnSpPr/>
          <p:nvPr/>
        </p:nvCxnSpPr>
        <p:spPr>
          <a:xfrm>
            <a:off x="7589520" y="4846320"/>
            <a:ext cx="1097280" cy="0"/>
          </a:xfrm>
          <a:prstGeom prst="line">
            <a:avLst/>
          </a:prstGeom>
          <a:ln w="38100">
            <a:solidFill>
              <a:srgbClr val="3D9BC8"/>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5727680" y="4846320"/>
            <a:ext cx="1078992" cy="0"/>
          </a:xfrm>
          <a:prstGeom prst="line">
            <a:avLst/>
          </a:prstGeom>
          <a:ln w="38100">
            <a:solidFill>
              <a:srgbClr val="00A859"/>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223760" y="4983480"/>
            <a:ext cx="1828800" cy="1005840"/>
          </a:xfrm>
          <a:prstGeom prst="rect">
            <a:avLst/>
          </a:prstGeom>
          <a:noFill/>
        </p:spPr>
        <p:txBody>
          <a:bodyPr wrap="square" lIns="0" rIns="0" tIns="18288" bIns="18288" anchor="t">
            <a:noAutofit/>
          </a:bodyPr>
          <a:lstStyle/>
          <a:p>
            <a:pPr algn="ctr">
              <a:lnSpc>
                <a:spcPct val="100000"/>
              </a:lnSpc>
              <a:spcBef>
                <a:spcPts val="0"/>
              </a:spcBef>
              <a:spcAft>
                <a:spcPts val="0"/>
              </a:spcAft>
            </a:pPr>
            <a:r>
              <a:rPr sz="1300" b="0" i="0">
                <a:solidFill>
                  <a:srgbClr val="5E6A73"/>
                </a:solidFill>
              </a:rPr>
              <a:t>HTTP + cookie</a:t>
            </a:r>
          </a:p>
          <a:p>
            <a:pPr algn="ctr">
              <a:lnSpc>
                <a:spcPct val="100000"/>
              </a:lnSpc>
              <a:spcBef>
                <a:spcPts val="0"/>
              </a:spcBef>
              <a:spcAft>
                <a:spcPts val="0"/>
              </a:spcAft>
            </a:pPr>
            <a:r>
              <a:rPr sz="1196" b="0" i="0">
                <a:solidFill>
                  <a:srgbClr val="C2410C"/>
                </a:solidFill>
                <a:latin typeface="Consolas"/>
              </a:rPr>
              <a:t>connect.sid</a:t>
            </a:r>
          </a:p>
        </p:txBody>
      </p:sp>
      <p:sp>
        <p:nvSpPr>
          <p:cNvPr id="33" name="TextBox 32"/>
          <p:cNvSpPr txBox="1"/>
          <p:nvPr/>
        </p:nvSpPr>
        <p:spPr>
          <a:xfrm>
            <a:off x="15453359" y="4983480"/>
            <a:ext cx="1645920" cy="731520"/>
          </a:xfrm>
          <a:prstGeom prst="rect">
            <a:avLst/>
          </a:prstGeom>
          <a:noFill/>
        </p:spPr>
        <p:txBody>
          <a:bodyPr wrap="square" lIns="0" rIns="0" tIns="18288" bIns="18288" anchor="t">
            <a:noAutofit/>
          </a:bodyPr>
          <a:lstStyle/>
          <a:p>
            <a:pPr algn="ctr">
              <a:lnSpc>
                <a:spcPct val="100000"/>
              </a:lnSpc>
              <a:spcBef>
                <a:spcPts val="0"/>
              </a:spcBef>
              <a:spcAft>
                <a:spcPts val="0"/>
              </a:spcAft>
            </a:pPr>
            <a:r>
              <a:rPr sz="1300" b="0" i="0">
                <a:solidFill>
                  <a:srgbClr val="5E6A73"/>
                </a:solidFill>
              </a:rPr>
              <a:t>read /</a:t>
            </a:r>
          </a:p>
          <a:p>
            <a:pPr algn="ctr">
              <a:lnSpc>
                <a:spcPct val="100000"/>
              </a:lnSpc>
              <a:spcBef>
                <a:spcPts val="0"/>
              </a:spcBef>
              <a:spcAft>
                <a:spcPts val="0"/>
              </a:spcAft>
            </a:pPr>
            <a:r>
              <a:rPr sz="1300" b="0" i="0">
                <a:solidFill>
                  <a:srgbClr val="5E6A73"/>
                </a:solidFill>
              </a:rPr>
              <a:t>write</a:t>
            </a:r>
          </a:p>
        </p:txBody>
      </p:sp>
      <p:sp>
        <p:nvSpPr>
          <p:cNvPr id="34" name="TextBox 33"/>
          <p:cNvSpPr txBox="1"/>
          <p:nvPr/>
        </p:nvSpPr>
        <p:spPr>
          <a:xfrm>
            <a:off x="612648" y="7726679"/>
            <a:ext cx="91440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8683C3"/>
                </a:solidFill>
              </a:rPr>
              <a:t>AROUND IT: OUR TEST &amp; TOOLING LAYER</a:t>
            </a:r>
          </a:p>
        </p:txBody>
      </p:sp>
      <p:sp>
        <p:nvSpPr>
          <p:cNvPr id="35" name="Rounded Rectangle 34"/>
          <p:cNvSpPr/>
          <p:nvPr/>
        </p:nvSpPr>
        <p:spPr>
          <a:xfrm>
            <a:off x="612648" y="8275320"/>
            <a:ext cx="5532120" cy="2103120"/>
          </a:xfrm>
          <a:prstGeom prst="roundRect">
            <a:avLst>
              <a:gd name="adj" fmla="val 10000"/>
            </a:avLst>
          </a:prstGeom>
          <a:solidFill>
            <a:srgbClr val="FFFFFF"/>
          </a:solidFill>
          <a:ln w="1905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886968" y="8503920"/>
            <a:ext cx="731520" cy="73152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LuFlaskConical.png"/>
          <p:cNvPicPr>
            <a:picLocks noChangeAspect="1"/>
          </p:cNvPicPr>
          <p:nvPr/>
        </p:nvPicPr>
        <p:blipFill>
          <a:blip r:embed="rId6"/>
          <a:stretch>
            <a:fillRect/>
          </a:stretch>
        </p:blipFill>
        <p:spPr>
          <a:xfrm>
            <a:off x="1062532" y="8679484"/>
            <a:ext cx="380390" cy="380390"/>
          </a:xfrm>
          <a:prstGeom prst="rect">
            <a:avLst/>
          </a:prstGeom>
        </p:spPr>
      </p:pic>
      <p:sp>
        <p:nvSpPr>
          <p:cNvPr id="38" name="TextBox 37"/>
          <p:cNvSpPr txBox="1"/>
          <p:nvPr/>
        </p:nvSpPr>
        <p:spPr>
          <a:xfrm>
            <a:off x="1801368" y="8458200"/>
            <a:ext cx="420624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Playwright api</a:t>
            </a:r>
          </a:p>
        </p:txBody>
      </p:sp>
      <p:sp>
        <p:nvSpPr>
          <p:cNvPr id="39" name="TextBox 38"/>
          <p:cNvSpPr txBox="1"/>
          <p:nvPr/>
        </p:nvSpPr>
        <p:spPr>
          <a:xfrm>
            <a:off x="1801368" y="9052560"/>
            <a:ext cx="4206240" cy="118872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5E6A73"/>
                </a:solidFill>
              </a:rPr>
              <a:t>APIRequestContext → :3001</a:t>
            </a:r>
          </a:p>
        </p:txBody>
      </p:sp>
      <p:sp>
        <p:nvSpPr>
          <p:cNvPr id="40" name="Rounded Rectangle 39"/>
          <p:cNvSpPr/>
          <p:nvPr/>
        </p:nvSpPr>
        <p:spPr>
          <a:xfrm>
            <a:off x="6373368" y="8275320"/>
            <a:ext cx="5532120" cy="2103120"/>
          </a:xfrm>
          <a:prstGeom prst="roundRect">
            <a:avLst>
              <a:gd name="adj" fmla="val 10000"/>
            </a:avLst>
          </a:prstGeom>
          <a:solidFill>
            <a:srgbClr val="FFFFFF"/>
          </a:solidFill>
          <a:ln w="1905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647688" y="8503920"/>
            <a:ext cx="731520" cy="73152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LuMonitorCheck.png"/>
          <p:cNvPicPr>
            <a:picLocks noChangeAspect="1"/>
          </p:cNvPicPr>
          <p:nvPr/>
        </p:nvPicPr>
        <p:blipFill>
          <a:blip r:embed="rId7"/>
          <a:stretch>
            <a:fillRect/>
          </a:stretch>
        </p:blipFill>
        <p:spPr>
          <a:xfrm>
            <a:off x="6823252" y="8679484"/>
            <a:ext cx="380390" cy="380390"/>
          </a:xfrm>
          <a:prstGeom prst="rect">
            <a:avLst/>
          </a:prstGeom>
        </p:spPr>
      </p:pic>
      <p:sp>
        <p:nvSpPr>
          <p:cNvPr id="43" name="TextBox 42"/>
          <p:cNvSpPr txBox="1"/>
          <p:nvPr/>
        </p:nvSpPr>
        <p:spPr>
          <a:xfrm>
            <a:off x="7562088" y="8458200"/>
            <a:ext cx="420624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Playwright ui</a:t>
            </a:r>
          </a:p>
        </p:txBody>
      </p:sp>
      <p:sp>
        <p:nvSpPr>
          <p:cNvPr id="44" name="TextBox 43"/>
          <p:cNvSpPr txBox="1"/>
          <p:nvPr/>
        </p:nvSpPr>
        <p:spPr>
          <a:xfrm>
            <a:off x="7562088" y="9052560"/>
            <a:ext cx="4206240" cy="118872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5E6A73"/>
                </a:solidFill>
              </a:rPr>
              <a:t>Chromium desktop + mobile → :3000</a:t>
            </a:r>
          </a:p>
        </p:txBody>
      </p:sp>
      <p:sp>
        <p:nvSpPr>
          <p:cNvPr id="45" name="Rounded Rectangle 44"/>
          <p:cNvSpPr/>
          <p:nvPr/>
        </p:nvSpPr>
        <p:spPr>
          <a:xfrm>
            <a:off x="12134088" y="8275320"/>
            <a:ext cx="5532120" cy="2103120"/>
          </a:xfrm>
          <a:prstGeom prst="roundRect">
            <a:avLst>
              <a:gd name="adj" fmla="val 10000"/>
            </a:avLst>
          </a:prstGeom>
          <a:solidFill>
            <a:srgbClr val="FFFFFF"/>
          </a:solidFill>
          <a:ln w="19050">
            <a:solidFill>
              <a:srgbClr val="729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12408408" y="8503920"/>
            <a:ext cx="731520" cy="73152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LuBookOpen.png"/>
          <p:cNvPicPr>
            <a:picLocks noChangeAspect="1"/>
          </p:cNvPicPr>
          <p:nvPr/>
        </p:nvPicPr>
        <p:blipFill>
          <a:blip r:embed="rId8"/>
          <a:stretch>
            <a:fillRect/>
          </a:stretch>
        </p:blipFill>
        <p:spPr>
          <a:xfrm>
            <a:off x="12583972" y="8679484"/>
            <a:ext cx="380390" cy="380390"/>
          </a:xfrm>
          <a:prstGeom prst="rect">
            <a:avLst/>
          </a:prstGeom>
        </p:spPr>
      </p:pic>
      <p:sp>
        <p:nvSpPr>
          <p:cNvPr id="48" name="TextBox 47"/>
          <p:cNvSpPr txBox="1"/>
          <p:nvPr/>
        </p:nvSpPr>
        <p:spPr>
          <a:xfrm>
            <a:off x="13322808" y="8458200"/>
            <a:ext cx="420624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Swagger UI :3100</a:t>
            </a:r>
          </a:p>
        </p:txBody>
      </p:sp>
      <p:sp>
        <p:nvSpPr>
          <p:cNvPr id="49" name="TextBox 48"/>
          <p:cNvSpPr txBox="1"/>
          <p:nvPr/>
        </p:nvSpPr>
        <p:spPr>
          <a:xfrm>
            <a:off x="13322808" y="9052560"/>
            <a:ext cx="4206240" cy="118872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5E6A73"/>
                </a:solidFill>
              </a:rPr>
              <a:t>proxies /api → :3001 (cookies work)</a:t>
            </a:r>
          </a:p>
        </p:txBody>
      </p:sp>
      <p:sp>
        <p:nvSpPr>
          <p:cNvPr id="50" name="Rounded Rectangle 49"/>
          <p:cNvSpPr/>
          <p:nvPr/>
        </p:nvSpPr>
        <p:spPr>
          <a:xfrm>
            <a:off x="17894808" y="8275320"/>
            <a:ext cx="5532120" cy="2103120"/>
          </a:xfrm>
          <a:prstGeom prst="roundRect">
            <a:avLst>
              <a:gd name="adj" fmla="val 10000"/>
            </a:avLst>
          </a:prstGeom>
          <a:solidFill>
            <a:srgbClr val="FFFFFF"/>
          </a:solidFill>
          <a:ln w="1905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18169128" y="8503920"/>
            <a:ext cx="731520" cy="73152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LuGhost.png"/>
          <p:cNvPicPr>
            <a:picLocks noChangeAspect="1"/>
          </p:cNvPicPr>
          <p:nvPr/>
        </p:nvPicPr>
        <p:blipFill>
          <a:blip r:embed="rId9"/>
          <a:stretch>
            <a:fillRect/>
          </a:stretch>
        </p:blipFill>
        <p:spPr>
          <a:xfrm>
            <a:off x="18344692" y="8679484"/>
            <a:ext cx="380390" cy="380390"/>
          </a:xfrm>
          <a:prstGeom prst="rect">
            <a:avLst/>
          </a:prstGeom>
        </p:spPr>
      </p:pic>
      <p:sp>
        <p:nvSpPr>
          <p:cNvPr id="53" name="TextBox 52"/>
          <p:cNvSpPr txBox="1"/>
          <p:nvPr/>
        </p:nvSpPr>
        <p:spPr>
          <a:xfrm>
            <a:off x="19083528" y="8458200"/>
            <a:ext cx="420624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Mock API :3101</a:t>
            </a:r>
          </a:p>
        </p:txBody>
      </p:sp>
      <p:sp>
        <p:nvSpPr>
          <p:cNvPr id="54" name="TextBox 53"/>
          <p:cNvSpPr txBox="1"/>
          <p:nvPr/>
        </p:nvSpPr>
        <p:spPr>
          <a:xfrm>
            <a:off x="19083528" y="9052560"/>
            <a:ext cx="4206240" cy="118872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5E6A73"/>
                </a:solidFill>
              </a:rPr>
              <a:t>OpenAPI examples + scenarios</a:t>
            </a:r>
          </a:p>
        </p:txBody>
      </p:sp>
      <p:sp>
        <p:nvSpPr>
          <p:cNvPr id="55" name="Rounded Rectangle 54"/>
          <p:cNvSpPr/>
          <p:nvPr/>
        </p:nvSpPr>
        <p:spPr>
          <a:xfrm>
            <a:off x="612648" y="10789920"/>
            <a:ext cx="22860000" cy="960120"/>
          </a:xfrm>
          <a:prstGeom prst="roundRect">
            <a:avLst>
              <a:gd name="adj" fmla="val 1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Oval 55"/>
          <p:cNvSpPr/>
          <p:nvPr/>
        </p:nvSpPr>
        <p:spPr>
          <a:xfrm>
            <a:off x="886968" y="10927080"/>
            <a:ext cx="685800" cy="6858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LuLaugh.png"/>
          <p:cNvPicPr>
            <a:picLocks noChangeAspect="1"/>
          </p:cNvPicPr>
          <p:nvPr/>
        </p:nvPicPr>
        <p:blipFill>
          <a:blip r:embed="rId10"/>
          <a:stretch>
            <a:fillRect/>
          </a:stretch>
        </p:blipFill>
        <p:spPr>
          <a:xfrm>
            <a:off x="1051560" y="11091672"/>
            <a:ext cx="356616" cy="356616"/>
          </a:xfrm>
          <a:prstGeom prst="rect">
            <a:avLst/>
          </a:prstGeom>
        </p:spPr>
      </p:pic>
      <p:sp>
        <p:nvSpPr>
          <p:cNvPr id="58" name="TextBox 57"/>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lowdb: low drama, low latency, and low-key just a JSON file with commitment issues.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The app</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3D9BC8"/>
                </a:solidFill>
              </a:rPr>
              <a:t>ARCHITECTURE · API LAYER</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Every request runs the same gauntlet</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9</a:t>
            </a:r>
          </a:p>
        </p:txBody>
      </p:sp>
      <p:sp>
        <p:nvSpPr>
          <p:cNvPr id="6" name="Pentagon 5"/>
          <p:cNvSpPr/>
          <p:nvPr/>
        </p:nvSpPr>
        <p:spPr>
          <a:xfrm>
            <a:off x="612648" y="3017520"/>
            <a:ext cx="3063240" cy="1143000"/>
          </a:xfrm>
          <a:prstGeom prst="homePlate">
            <a:avLst>
              <a:gd name="adj" fmla="val 32000"/>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228600" wrap="square"/>
          <a:lstStyle/>
          <a:p>
            <a:pPr algn="ctr">
              <a:lnSpc>
                <a:spcPct val="95000"/>
              </a:lnSpc>
              <a:spcBef>
                <a:spcPts val="0"/>
              </a:spcBef>
            </a:pPr>
            <a:r>
              <a:rPr sz="1600" b="1" i="0">
                <a:solidFill>
                  <a:srgbClr val="FFFFFF"/>
                </a:solidFill>
              </a:rPr>
              <a:t>Request</a:t>
            </a:r>
          </a:p>
        </p:txBody>
      </p:sp>
      <p:sp>
        <p:nvSpPr>
          <p:cNvPr id="7" name="Chevron 6"/>
          <p:cNvSpPr/>
          <p:nvPr/>
        </p:nvSpPr>
        <p:spPr>
          <a:xfrm>
            <a:off x="3493008" y="3017520"/>
            <a:ext cx="3063240" cy="1143000"/>
          </a:xfrm>
          <a:prstGeom prst="chevron">
            <a:avLst>
              <a:gd name="adj" fmla="val 32000"/>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600" b="1" i="0">
                <a:solidFill>
                  <a:srgbClr val="FFFFFF"/>
                </a:solidFill>
              </a:rPr>
              <a:t>CORS :3000</a:t>
            </a:r>
          </a:p>
        </p:txBody>
      </p:sp>
      <p:sp>
        <p:nvSpPr>
          <p:cNvPr id="8" name="Chevron 7"/>
          <p:cNvSpPr/>
          <p:nvPr/>
        </p:nvSpPr>
        <p:spPr>
          <a:xfrm>
            <a:off x="6373368" y="3017520"/>
            <a:ext cx="3063240" cy="1143000"/>
          </a:xfrm>
          <a:prstGeom prst="chevron">
            <a:avLst>
              <a:gd name="adj" fmla="val 32000"/>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600" b="1" i="0">
                <a:solidFill>
                  <a:srgbClr val="FFFFFF"/>
                </a:solidFill>
              </a:rPr>
              <a:t>Session + Passport</a:t>
            </a:r>
          </a:p>
        </p:txBody>
      </p:sp>
      <p:sp>
        <p:nvSpPr>
          <p:cNvPr id="9" name="Chevron 8"/>
          <p:cNvSpPr/>
          <p:nvPr/>
        </p:nvSpPr>
        <p:spPr>
          <a:xfrm>
            <a:off x="9253728" y="3017520"/>
            <a:ext cx="3063240" cy="1143000"/>
          </a:xfrm>
          <a:prstGeom prst="chevron">
            <a:avLst>
              <a:gd name="adj" fmla="val 32000"/>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600" b="1" i="0">
                <a:solidFill>
                  <a:srgbClr val="FFFFFF"/>
                </a:solidFill>
              </a:rPr>
              <a:t>Auth guard</a:t>
            </a:r>
          </a:p>
        </p:txBody>
      </p:sp>
      <p:sp>
        <p:nvSpPr>
          <p:cNvPr id="10" name="Chevron 9"/>
          <p:cNvSpPr/>
          <p:nvPr/>
        </p:nvSpPr>
        <p:spPr>
          <a:xfrm>
            <a:off x="12134088" y="3017520"/>
            <a:ext cx="3063240" cy="1143000"/>
          </a:xfrm>
          <a:prstGeom prst="chevron">
            <a:avLst>
              <a:gd name="adj" fmla="val 32000"/>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600" b="1" i="0">
                <a:solidFill>
                  <a:srgbClr val="FFFFFF"/>
                </a:solidFill>
              </a:rPr>
              <a:t>express-validator</a:t>
            </a:r>
          </a:p>
        </p:txBody>
      </p:sp>
      <p:sp>
        <p:nvSpPr>
          <p:cNvPr id="11" name="Chevron 10"/>
          <p:cNvSpPr/>
          <p:nvPr/>
        </p:nvSpPr>
        <p:spPr>
          <a:xfrm>
            <a:off x="15014448" y="3017520"/>
            <a:ext cx="3063240" cy="1143000"/>
          </a:xfrm>
          <a:prstGeom prst="chevron">
            <a:avLst>
              <a:gd name="adj" fmla="val 32000"/>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600" b="1" i="0">
                <a:solidFill>
                  <a:srgbClr val="FFFFFF"/>
                </a:solidFill>
              </a:rPr>
              <a:t>Route handler</a:t>
            </a:r>
          </a:p>
        </p:txBody>
      </p:sp>
      <p:sp>
        <p:nvSpPr>
          <p:cNvPr id="12" name="Chevron 11"/>
          <p:cNvSpPr/>
          <p:nvPr/>
        </p:nvSpPr>
        <p:spPr>
          <a:xfrm>
            <a:off x="17894808" y="3017520"/>
            <a:ext cx="3063240" cy="1143000"/>
          </a:xfrm>
          <a:prstGeom prst="chevron">
            <a:avLst>
              <a:gd name="adj" fmla="val 32000"/>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600" b="1" i="0">
                <a:solidFill>
                  <a:srgbClr val="FFFFFF"/>
                </a:solidFill>
              </a:rPr>
              <a:t>lowdb</a:t>
            </a:r>
          </a:p>
        </p:txBody>
      </p:sp>
      <p:sp>
        <p:nvSpPr>
          <p:cNvPr id="13" name="Chevron 12"/>
          <p:cNvSpPr/>
          <p:nvPr/>
        </p:nvSpPr>
        <p:spPr>
          <a:xfrm>
            <a:off x="20775168" y="3017520"/>
            <a:ext cx="3063240" cy="1143000"/>
          </a:xfrm>
          <a:prstGeom prst="chevron">
            <a:avLst>
              <a:gd name="adj" fmla="val 32000"/>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600" b="1" i="0">
                <a:solidFill>
                  <a:srgbClr val="FFFFFF"/>
                </a:solidFill>
              </a:rPr>
              <a:t>JSON response</a:t>
            </a:r>
          </a:p>
        </p:txBody>
      </p:sp>
      <p:sp>
        <p:nvSpPr>
          <p:cNvPr id="14" name="TextBox 13"/>
          <p:cNvSpPr txBox="1"/>
          <p:nvPr/>
        </p:nvSpPr>
        <p:spPr>
          <a:xfrm>
            <a:off x="612648" y="4526280"/>
            <a:ext cx="109728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3D9BC8"/>
                </a:solidFill>
              </a:rPr>
              <a:t>35 OPERATIONS ACROSS 12 RESOURCES</a:t>
            </a:r>
          </a:p>
        </p:txBody>
      </p:sp>
      <p:graphicFrame>
        <p:nvGraphicFramePr>
          <p:cNvPr id="15" name="Chart 14"/>
          <p:cNvGraphicFramePr>
            <a:graphicFrameLocks noGrp="1"/>
          </p:cNvGraphicFramePr>
          <p:nvPr/>
        </p:nvGraphicFramePr>
        <p:xfrm>
          <a:off x="457200" y="4892040"/>
          <a:ext cx="10607040" cy="5669280"/>
        </p:xfrm>
        <a:graphic>
          <a:graphicData uri="http://schemas.openxmlformats.org/drawingml/2006/chart">
            <c:chart xmlns:c="http://schemas.openxmlformats.org/drawingml/2006/chart" r:id="rId3"/>
          </a:graphicData>
        </a:graphic>
      </p:graphicFrame>
      <p:sp>
        <p:nvSpPr>
          <p:cNvPr id="16" name="Rounded Rectangle 15"/>
          <p:cNvSpPr/>
          <p:nvPr/>
        </p:nvSpPr>
        <p:spPr>
          <a:xfrm>
            <a:off x="11521440" y="4572000"/>
            <a:ext cx="11951208" cy="5806440"/>
          </a:xfrm>
          <a:prstGeom prst="roundRect">
            <a:avLst>
              <a:gd name="adj" fmla="val 4409"/>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795760" y="477316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2088368" y="477316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2380976" y="477316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801600" y="4645152"/>
            <a:ext cx="10396728"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backend/bankaccount-routes.ts · validators.ts</a:t>
            </a:r>
          </a:p>
        </p:txBody>
      </p:sp>
      <p:sp>
        <p:nvSpPr>
          <p:cNvPr id="21" name="TextBox 20"/>
          <p:cNvSpPr txBox="1"/>
          <p:nvPr/>
        </p:nvSpPr>
        <p:spPr>
          <a:xfrm>
            <a:off x="11795760" y="5120640"/>
            <a:ext cx="11494008" cy="5120640"/>
          </a:xfrm>
          <a:prstGeom prst="rect">
            <a:avLst/>
          </a:prstGeom>
          <a:noFill/>
        </p:spPr>
        <p:txBody>
          <a:bodyPr wrap="none" lIns="0" rIns="0" tIns="0" bIns="0">
            <a:noAutofit/>
          </a:bodyPr>
          <a:lstStyle/>
          <a:p>
            <a:pPr>
              <a:lnSpc>
                <a:spcPct val="108000"/>
              </a:lnSpc>
              <a:spcBef>
                <a:spcPts val="0"/>
              </a:spcBef>
              <a:spcAft>
                <a:spcPts val="0"/>
              </a:spcAft>
            </a:pPr>
            <a:r>
              <a:rPr sz="1800" i="1" b="0">
                <a:solidFill>
                  <a:srgbClr val="7F93A3"/>
                </a:solidFill>
                <a:latin typeface="Consolas"/>
              </a:rPr>
              <a:t>// backend/bankaccount-routes.ts</a:t>
            </a:r>
          </a:p>
          <a:p>
            <a:pPr>
              <a:lnSpc>
                <a:spcPct val="108000"/>
              </a:lnSpc>
              <a:spcBef>
                <a:spcPts val="0"/>
              </a:spcBef>
              <a:spcAft>
                <a:spcPts val="0"/>
              </a:spcAft>
            </a:pPr>
            <a:r>
              <a:rPr sz="1800" i="0" b="0">
                <a:solidFill>
                  <a:srgbClr val="E6EDF3"/>
                </a:solidFill>
                <a:latin typeface="Consolas"/>
              </a:rPr>
              <a:t>router</a:t>
            </a:r>
            <a:r>
              <a:rPr sz="1800" i="0" b="0">
                <a:solidFill>
                  <a:srgbClr val="E6EDF3"/>
                </a:solidFill>
                <a:latin typeface="Consolas"/>
              </a:rPr>
              <a:t>.</a:t>
            </a:r>
            <a:r>
              <a:rPr sz="1800" i="0" b="0">
                <a:solidFill>
                  <a:srgbClr val="8CCFF0"/>
                </a:solidFill>
                <a:latin typeface="Consolas"/>
              </a:rPr>
              <a:t>post</a:t>
            </a:r>
            <a:r>
              <a:rPr sz="1800" i="0" b="0">
                <a:solidFill>
                  <a:srgbClr val="E6EDF3"/>
                </a:solidFill>
                <a:latin typeface="Consolas"/>
              </a:rPr>
              <a:t>(</a:t>
            </a:r>
            <a:r>
              <a:rPr sz="1800" i="0" b="0">
                <a:solidFill>
                  <a:srgbClr val="9BE3B4"/>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ensureAuthenticated</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8CCFF0"/>
                </a:solidFill>
                <a:latin typeface="Consolas"/>
              </a:rPr>
              <a:t>validateMiddleware</a:t>
            </a:r>
            <a:r>
              <a:rPr sz="1800" i="0" b="0">
                <a:solidFill>
                  <a:srgbClr val="E6EDF3"/>
                </a:solidFill>
                <a:latin typeface="Consolas"/>
              </a:rPr>
              <a:t>(</a:t>
            </a:r>
            <a:r>
              <a:rPr sz="1800" i="0" b="0">
                <a:solidFill>
                  <a:srgbClr val="E6EDF3"/>
                </a:solidFill>
                <a:latin typeface="Consolas"/>
              </a:rPr>
              <a:t>isBankAccountValidator</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req</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res</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const</a:t>
            </a:r>
            <a:r>
              <a:rPr sz="1800" i="0" b="0">
                <a:solidFill>
                  <a:srgbClr val="E6EDF3"/>
                </a:solidFill>
                <a:latin typeface="Consolas"/>
              </a:rPr>
              <a:t> </a:t>
            </a:r>
            <a:r>
              <a:rPr sz="1800" i="0" b="0">
                <a:solidFill>
                  <a:srgbClr val="E6EDF3"/>
                </a:solidFill>
                <a:latin typeface="Consolas"/>
              </a:rPr>
              <a:t>account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8CCFF0"/>
                </a:solidFill>
                <a:latin typeface="Consolas"/>
              </a:rPr>
              <a:t>createBankAccountForUser</a:t>
            </a:r>
            <a:r>
              <a:rPr sz="1800" i="0" b="0">
                <a:solidFill>
                  <a:srgbClr val="E6EDF3"/>
                </a:solidFill>
                <a:latin typeface="Consolas"/>
              </a:rPr>
              <a:t>(</a:t>
            </a:r>
            <a:r>
              <a:rPr sz="1800" i="0" b="0">
                <a:solidFill>
                  <a:srgbClr val="E6EDF3"/>
                </a:solidFill>
                <a:latin typeface="Consolas"/>
              </a:rPr>
              <a:t>req</a:t>
            </a:r>
            <a:r>
              <a:rPr sz="1800" i="0" b="0">
                <a:solidFill>
                  <a:srgbClr val="E6EDF3"/>
                </a:solidFill>
                <a:latin typeface="Consolas"/>
              </a:rPr>
              <a:t>.</a:t>
            </a:r>
            <a:r>
              <a:rPr sz="1800" i="0" b="0">
                <a:solidFill>
                  <a:srgbClr val="E6EDF3"/>
                </a:solidFill>
                <a:latin typeface="Consolas"/>
              </a:rPr>
              <a:t>user</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id</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req</a:t>
            </a:r>
            <a:r>
              <a:rPr sz="1800" i="0" b="0">
                <a:solidFill>
                  <a:srgbClr val="E6EDF3"/>
                </a:solidFill>
                <a:latin typeface="Consolas"/>
              </a:rPr>
              <a:t>.</a:t>
            </a:r>
            <a:r>
              <a:rPr sz="1800" i="0" b="0">
                <a:solidFill>
                  <a:srgbClr val="E6EDF3"/>
                </a:solidFill>
                <a:latin typeface="Consolas"/>
              </a:rPr>
              <a:t>body</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res</a:t>
            </a:r>
            <a:r>
              <a:rPr sz="1800" i="0" b="0">
                <a:solidFill>
                  <a:srgbClr val="E6EDF3"/>
                </a:solidFill>
                <a:latin typeface="Consolas"/>
              </a:rPr>
              <a:t>.</a:t>
            </a:r>
            <a:r>
              <a:rPr sz="1800" i="0" b="0">
                <a:solidFill>
                  <a:srgbClr val="8CCFF0"/>
                </a:solidFill>
                <a:latin typeface="Consolas"/>
              </a:rPr>
              <a:t>status</a:t>
            </a:r>
            <a:r>
              <a:rPr sz="1800" i="0" b="0">
                <a:solidFill>
                  <a:srgbClr val="E6EDF3"/>
                </a:solidFill>
                <a:latin typeface="Consolas"/>
              </a:rPr>
              <a:t>(</a:t>
            </a:r>
            <a:r>
              <a:rPr sz="1800" i="0" b="0">
                <a:solidFill>
                  <a:srgbClr val="FFC56B"/>
                </a:solidFill>
                <a:latin typeface="Consolas"/>
              </a:rPr>
              <a:t>200</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1" b="0">
                <a:solidFill>
                  <a:srgbClr val="7F93A3"/>
                </a:solidFill>
                <a:latin typeface="Consolas"/>
              </a:rPr>
              <a:t>// KI-11: 200, not 201</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res</a:t>
            </a:r>
            <a:r>
              <a:rPr sz="1800" i="0" b="0">
                <a:solidFill>
                  <a:srgbClr val="E6EDF3"/>
                </a:solidFill>
                <a:latin typeface="Consolas"/>
              </a:rPr>
              <a:t>.</a:t>
            </a:r>
            <a:r>
              <a:rPr sz="1800" i="0" b="0">
                <a:solidFill>
                  <a:srgbClr val="8CCFF0"/>
                </a:solidFill>
                <a:latin typeface="Consolas"/>
              </a:rPr>
              <a:t>json</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account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p>
          <a:p>
            <a:pPr>
              <a:lnSpc>
                <a:spcPct val="108000"/>
              </a:lnSpc>
              <a:spcBef>
                <a:spcPts val="0"/>
              </a:spcBef>
              <a:spcAft>
                <a:spcPts val="0"/>
              </a:spcAft>
            </a:pPr>
            <a:r>
              <a:rPr sz="1800" i="1" b="0">
                <a:solidFill>
                  <a:srgbClr val="7F93A3"/>
                </a:solidFill>
                <a:latin typeface="Consolas"/>
              </a:rPr>
              <a:t>// backend/validators.ts</a:t>
            </a:r>
          </a:p>
          <a:p>
            <a:pPr>
              <a:lnSpc>
                <a:spcPct val="108000"/>
              </a:lnSpc>
              <a:spcBef>
                <a:spcPts val="0"/>
              </a:spcBef>
              <a:spcAft>
                <a:spcPts val="0"/>
              </a:spcAft>
            </a:pPr>
            <a:r>
              <a:rPr sz="1800" i="0" b="0">
                <a:solidFill>
                  <a:srgbClr val="FF9C8A"/>
                </a:solidFill>
                <a:latin typeface="Consolas"/>
              </a:rPr>
              <a:t>export</a:t>
            </a:r>
            <a:r>
              <a:rPr sz="1800" i="0" b="0">
                <a:solidFill>
                  <a:srgbClr val="E6EDF3"/>
                </a:solidFill>
                <a:latin typeface="Consolas"/>
              </a:rPr>
              <a:t> </a:t>
            </a:r>
            <a:r>
              <a:rPr sz="1800" i="0" b="0">
                <a:solidFill>
                  <a:srgbClr val="FF9C8A"/>
                </a:solidFill>
                <a:latin typeface="Consolas"/>
              </a:rPr>
              <a:t>const</a:t>
            </a:r>
            <a:r>
              <a:rPr sz="1800" i="0" b="0">
                <a:solidFill>
                  <a:srgbClr val="E6EDF3"/>
                </a:solidFill>
                <a:latin typeface="Consolas"/>
              </a:rPr>
              <a:t> </a:t>
            </a:r>
            <a:r>
              <a:rPr sz="1800" i="0" b="0">
                <a:solidFill>
                  <a:srgbClr val="E6EDF3"/>
                </a:solidFill>
                <a:latin typeface="Consolas"/>
              </a:rPr>
              <a:t>isBankAccountValidator</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8CCFF0"/>
                </a:solidFill>
                <a:latin typeface="Consolas"/>
              </a:rPr>
              <a:t>body</a:t>
            </a:r>
            <a:r>
              <a:rPr sz="1800" i="0" b="0">
                <a:solidFill>
                  <a:srgbClr val="E6EDF3"/>
                </a:solidFill>
                <a:latin typeface="Consolas"/>
              </a:rPr>
              <a:t>(</a:t>
            </a:r>
            <a:r>
              <a:rPr sz="1800" i="0" b="0">
                <a:solidFill>
                  <a:srgbClr val="9BE3B4"/>
                </a:solidFill>
                <a:latin typeface="Consolas"/>
              </a:rPr>
              <a:t>"bankName"</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isString</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trim</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8CCFF0"/>
                </a:solidFill>
                <a:latin typeface="Consolas"/>
              </a:rPr>
              <a:t>body</a:t>
            </a:r>
            <a:r>
              <a:rPr sz="1800" i="0" b="0">
                <a:solidFill>
                  <a:srgbClr val="E6EDF3"/>
                </a:solidFill>
                <a:latin typeface="Consolas"/>
              </a:rPr>
              <a:t>(</a:t>
            </a:r>
            <a:r>
              <a:rPr sz="1800" i="0" b="0">
                <a:solidFill>
                  <a:srgbClr val="9BE3B4"/>
                </a:solidFill>
                <a:latin typeface="Consolas"/>
              </a:rPr>
              <a:t>"accountNumber"</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isString</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trim</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1" b="0">
                <a:solidFill>
                  <a:srgbClr val="7F93A3"/>
                </a:solidFill>
                <a:latin typeface="Consolas"/>
              </a:rPr>
              <a:t>// "123" passes!</a:t>
            </a:r>
          </a:p>
          <a:p>
            <a:pPr>
              <a:lnSpc>
                <a:spcPct val="108000"/>
              </a:lnSpc>
              <a:spcBef>
                <a:spcPts val="0"/>
              </a:spcBef>
              <a:spcAft>
                <a:spcPts val="0"/>
              </a:spcAft>
            </a:pPr>
            <a:r>
              <a:rPr sz="1800" i="0" b="0">
                <a:solidFill>
                  <a:srgbClr val="E6EDF3"/>
                </a:solidFill>
                <a:latin typeface="Consolas"/>
              </a:rPr>
              <a:t>  </a:t>
            </a:r>
            <a:r>
              <a:rPr sz="1800" i="0" b="0">
                <a:solidFill>
                  <a:srgbClr val="8CCFF0"/>
                </a:solidFill>
                <a:latin typeface="Consolas"/>
              </a:rPr>
              <a:t>body</a:t>
            </a:r>
            <a:r>
              <a:rPr sz="1800" i="0" b="0">
                <a:solidFill>
                  <a:srgbClr val="E6EDF3"/>
                </a:solidFill>
                <a:latin typeface="Consolas"/>
              </a:rPr>
              <a:t>(</a:t>
            </a:r>
            <a:r>
              <a:rPr sz="1800" i="0" b="0">
                <a:solidFill>
                  <a:srgbClr val="9BE3B4"/>
                </a:solidFill>
                <a:latin typeface="Consolas"/>
              </a:rPr>
              <a:t>"routingNumber"</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isString</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trim</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a:t>
            </a:r>
            <a:r>
              <a:rPr sz="1800" i="0" b="0">
                <a:solidFill>
                  <a:srgbClr val="E6EDF3"/>
                </a:solidFill>
                <a:latin typeface="Consolas"/>
              </a:rPr>
              <a:t>;</a:t>
            </a:r>
          </a:p>
        </p:txBody>
      </p:sp>
      <p:sp>
        <p:nvSpPr>
          <p:cNvPr id="22" name="Rounded Rectangle 21"/>
          <p:cNvSpPr/>
          <p:nvPr/>
        </p:nvSpPr>
        <p:spPr>
          <a:xfrm>
            <a:off x="612648" y="10789920"/>
            <a:ext cx="22860000" cy="960120"/>
          </a:xfrm>
          <a:prstGeom prst="roundRect">
            <a:avLst>
              <a:gd name="adj" fmla="val 1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886968" y="10927080"/>
            <a:ext cx="685800" cy="6858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LuLaugh.png"/>
          <p:cNvPicPr>
            <a:picLocks noChangeAspect="1"/>
          </p:cNvPicPr>
          <p:nvPr/>
        </p:nvPicPr>
        <p:blipFill>
          <a:blip r:embed="rId4"/>
          <a:stretch>
            <a:fillRect/>
          </a:stretch>
        </p:blipFill>
        <p:spPr>
          <a:xfrm>
            <a:off x="1051560" y="11091672"/>
            <a:ext cx="356616" cy="356616"/>
          </a:xfrm>
          <a:prstGeom prst="rect">
            <a:avLst/>
          </a:prstGeom>
        </p:spPr>
      </p:pic>
      <p:sp>
        <p:nvSpPr>
          <p:cNvPr id="25" name="TextBox 24"/>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Our middleware is like airport security: CORS checks where you're from, Passport checks… your passport.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The app</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3D9BC8"/>
                </a:solidFill>
              </a:rPr>
              <a:t>ARCHITECTURE · UI LAYER</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Components draw, machines think, data-test connects</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10</a:t>
            </a:r>
          </a:p>
        </p:txBody>
      </p:sp>
      <p:sp>
        <p:nvSpPr>
          <p:cNvPr id="6" name="Rounded Rectangle 5"/>
          <p:cNvSpPr/>
          <p:nvPr/>
        </p:nvSpPr>
        <p:spPr>
          <a:xfrm>
            <a:off x="612648" y="2926080"/>
            <a:ext cx="3703320" cy="4572000"/>
          </a:xfrm>
          <a:prstGeom prst="roundRect">
            <a:avLst>
              <a:gd name="adj" fmla="val 6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86968" y="3154680"/>
            <a:ext cx="822960" cy="82296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Component.png"/>
          <p:cNvPicPr>
            <a:picLocks noChangeAspect="1"/>
          </p:cNvPicPr>
          <p:nvPr/>
        </p:nvPicPr>
        <p:blipFill>
          <a:blip r:embed="rId3"/>
          <a:stretch>
            <a:fillRect/>
          </a:stretch>
        </p:blipFill>
        <p:spPr>
          <a:xfrm>
            <a:off x="1084478" y="3352190"/>
            <a:ext cx="427939" cy="427939"/>
          </a:xfrm>
          <a:prstGeom prst="rect">
            <a:avLst/>
          </a:prstGeom>
        </p:spPr>
      </p:pic>
      <p:sp>
        <p:nvSpPr>
          <p:cNvPr id="9" name="TextBox 8"/>
          <p:cNvSpPr txBox="1"/>
          <p:nvPr/>
        </p:nvSpPr>
        <p:spPr>
          <a:xfrm>
            <a:off x="886968" y="4114800"/>
            <a:ext cx="329184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100" b="1" i="0">
                <a:solidFill>
                  <a:srgbClr val="192B37"/>
                </a:solidFill>
              </a:rPr>
              <a:t>Components</a:t>
            </a:r>
          </a:p>
        </p:txBody>
      </p:sp>
      <p:sp>
        <p:nvSpPr>
          <p:cNvPr id="10" name="TextBox 9"/>
          <p:cNvSpPr txBox="1"/>
          <p:nvPr/>
        </p:nvSpPr>
        <p:spPr>
          <a:xfrm>
            <a:off x="886968" y="4709160"/>
            <a:ext cx="3291840" cy="2743200"/>
          </a:xfrm>
          <a:prstGeom prst="rect">
            <a:avLst/>
          </a:prstGeom>
          <a:noFill/>
        </p:spPr>
        <p:txBody>
          <a:bodyPr wrap="square" lIns="0" rIns="0" tIns="18288" bIns="18288" anchor="t">
            <a:noAutofit/>
          </a:bodyPr>
          <a:lstStyle/>
          <a:p>
            <a:pPr algn="l">
              <a:lnSpc>
                <a:spcPct val="100000"/>
              </a:lnSpc>
              <a:spcBef>
                <a:spcPts val="0"/>
              </a:spcBef>
              <a:spcAft>
                <a:spcPts val="0"/>
              </a:spcAft>
            </a:pPr>
            <a:r>
              <a:rPr sz="960">
                <a:solidFill>
                  <a:srgbClr val="3D9BC8"/>
                </a:solidFill>
              </a:rPr>
              <a:t>●  </a:t>
            </a:r>
            <a:r>
              <a:rPr sz="1472" b="0" i="0">
                <a:solidFill>
                  <a:srgbClr val="C2410C"/>
                </a:solidFill>
                <a:latin typeface="Consolas"/>
              </a:rPr>
              <a:t>src/components/*</a:t>
            </a:r>
            <a:r>
              <a:rPr sz="1600" b="0" i="0">
                <a:solidFill>
                  <a:srgbClr val="192B37"/>
                </a:solidFill>
              </a:rPr>
              <a:t> — view</a:t>
            </a:r>
          </a:p>
          <a:p>
            <a:pPr algn="l">
              <a:lnSpc>
                <a:spcPct val="100000"/>
              </a:lnSpc>
              <a:spcBef>
                <a:spcPts val="600"/>
              </a:spcBef>
              <a:spcAft>
                <a:spcPts val="0"/>
              </a:spcAft>
            </a:pPr>
            <a:r>
              <a:rPr sz="960">
                <a:solidFill>
                  <a:srgbClr val="3D9BC8"/>
                </a:solidFill>
              </a:rPr>
              <a:t>●  </a:t>
            </a:r>
            <a:r>
              <a:rPr sz="1472" b="0" i="0">
                <a:solidFill>
                  <a:srgbClr val="C2410C"/>
                </a:solidFill>
                <a:latin typeface="Consolas"/>
              </a:rPr>
              <a:t>src/containers/*</a:t>
            </a:r>
            <a:r>
              <a:rPr sz="1600" b="0" i="0">
                <a:solidFill>
                  <a:srgbClr val="192B37"/>
                </a:solidFill>
              </a:rPr>
              <a:t> — wiring</a:t>
            </a:r>
          </a:p>
          <a:p>
            <a:pPr algn="l">
              <a:lnSpc>
                <a:spcPct val="100000"/>
              </a:lnSpc>
              <a:spcBef>
                <a:spcPts val="600"/>
              </a:spcBef>
              <a:spcAft>
                <a:spcPts val="0"/>
              </a:spcAft>
            </a:pPr>
            <a:r>
              <a:rPr sz="960">
                <a:solidFill>
                  <a:srgbClr val="3D9BC8"/>
                </a:solidFill>
              </a:rPr>
              <a:t>●  </a:t>
            </a:r>
            <a:r>
              <a:rPr sz="1600" b="0" i="0">
                <a:solidFill>
                  <a:srgbClr val="192B37"/>
                </a:solidFill>
              </a:rPr>
              <a:t>MUI 5 + Formik/Yup</a:t>
            </a:r>
          </a:p>
        </p:txBody>
      </p:sp>
      <p:sp>
        <p:nvSpPr>
          <p:cNvPr id="11" name="Rounded Rectangle 10"/>
          <p:cNvSpPr/>
          <p:nvPr/>
        </p:nvSpPr>
        <p:spPr>
          <a:xfrm>
            <a:off x="4544568" y="2926080"/>
            <a:ext cx="3703320" cy="4572000"/>
          </a:xfrm>
          <a:prstGeom prst="roundRect">
            <a:avLst>
              <a:gd name="adj" fmla="val 6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818888" y="3154680"/>
            <a:ext cx="822960" cy="82296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uWorkflow.png"/>
          <p:cNvPicPr>
            <a:picLocks noChangeAspect="1"/>
          </p:cNvPicPr>
          <p:nvPr/>
        </p:nvPicPr>
        <p:blipFill>
          <a:blip r:embed="rId4"/>
          <a:stretch>
            <a:fillRect/>
          </a:stretch>
        </p:blipFill>
        <p:spPr>
          <a:xfrm>
            <a:off x="5016398" y="3352190"/>
            <a:ext cx="427939" cy="427939"/>
          </a:xfrm>
          <a:prstGeom prst="rect">
            <a:avLst/>
          </a:prstGeom>
        </p:spPr>
      </p:pic>
      <p:sp>
        <p:nvSpPr>
          <p:cNvPr id="14" name="TextBox 13"/>
          <p:cNvSpPr txBox="1"/>
          <p:nvPr/>
        </p:nvSpPr>
        <p:spPr>
          <a:xfrm>
            <a:off x="4818888" y="4114800"/>
            <a:ext cx="329184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100" b="1" i="0">
                <a:solidFill>
                  <a:srgbClr val="192B37"/>
                </a:solidFill>
              </a:rPr>
              <a:t>XState machines</a:t>
            </a:r>
          </a:p>
        </p:txBody>
      </p:sp>
      <p:sp>
        <p:nvSpPr>
          <p:cNvPr id="15" name="TextBox 14"/>
          <p:cNvSpPr txBox="1"/>
          <p:nvPr/>
        </p:nvSpPr>
        <p:spPr>
          <a:xfrm>
            <a:off x="4818888" y="4709160"/>
            <a:ext cx="3291840" cy="2743200"/>
          </a:xfrm>
          <a:prstGeom prst="rect">
            <a:avLst/>
          </a:prstGeom>
          <a:noFill/>
        </p:spPr>
        <p:txBody>
          <a:bodyPr wrap="square" lIns="0" rIns="0" tIns="18288" bIns="18288" anchor="t">
            <a:noAutofit/>
          </a:bodyPr>
          <a:lstStyle/>
          <a:p>
            <a:pPr algn="l">
              <a:lnSpc>
                <a:spcPct val="100000"/>
              </a:lnSpc>
              <a:spcBef>
                <a:spcPts val="0"/>
              </a:spcBef>
              <a:spcAft>
                <a:spcPts val="0"/>
              </a:spcAft>
            </a:pPr>
            <a:r>
              <a:rPr sz="960">
                <a:solidFill>
                  <a:srgbClr val="8683C3"/>
                </a:solidFill>
              </a:rPr>
              <a:t>●  </a:t>
            </a:r>
            <a:r>
              <a:rPr sz="1600" b="0" i="0">
                <a:solidFill>
                  <a:srgbClr val="192B37"/>
                </a:solidFill>
              </a:rPr>
              <a:t>14 machines (</a:t>
            </a:r>
            <a:r>
              <a:rPr sz="1472" b="0" i="0">
                <a:solidFill>
                  <a:srgbClr val="C2410C"/>
                </a:solidFill>
                <a:latin typeface="Consolas"/>
              </a:rPr>
              <a:t>src/machines</a:t>
            </a:r>
            <a:r>
              <a:rPr sz="1600" b="0" i="0">
                <a:solidFill>
                  <a:srgbClr val="192B37"/>
                </a:solidFill>
              </a:rPr>
              <a:t>)</a:t>
            </a:r>
          </a:p>
          <a:p>
            <a:pPr algn="l">
              <a:lnSpc>
                <a:spcPct val="100000"/>
              </a:lnSpc>
              <a:spcBef>
                <a:spcPts val="600"/>
              </a:spcBef>
              <a:spcAft>
                <a:spcPts val="0"/>
              </a:spcAft>
            </a:pPr>
            <a:r>
              <a:rPr sz="960">
                <a:solidFill>
                  <a:srgbClr val="8683C3"/>
                </a:solidFill>
              </a:rPr>
              <a:t>●  </a:t>
            </a:r>
            <a:r>
              <a:rPr sz="1600" b="0" i="0">
                <a:solidFill>
                  <a:srgbClr val="192B37"/>
                </a:solidFill>
              </a:rPr>
              <a:t>auth · data · payments</a:t>
            </a:r>
          </a:p>
          <a:p>
            <a:pPr algn="l">
              <a:lnSpc>
                <a:spcPct val="100000"/>
              </a:lnSpc>
              <a:spcBef>
                <a:spcPts val="600"/>
              </a:spcBef>
              <a:spcAft>
                <a:spcPts val="0"/>
              </a:spcAft>
            </a:pPr>
            <a:r>
              <a:rPr sz="960">
                <a:solidFill>
                  <a:srgbClr val="8683C3"/>
                </a:solidFill>
              </a:rPr>
              <a:t>●  </a:t>
            </a:r>
            <a:r>
              <a:rPr sz="1600" b="0" i="0">
                <a:solidFill>
                  <a:srgbClr val="192B37"/>
                </a:solidFill>
              </a:rPr>
              <a:t>5 exposed on </a:t>
            </a:r>
            <a:r>
              <a:rPr sz="1472" b="0" i="0">
                <a:solidFill>
                  <a:srgbClr val="C2410C"/>
                </a:solidFill>
                <a:latin typeface="Consolas"/>
              </a:rPr>
              <a:t>window</a:t>
            </a:r>
          </a:p>
        </p:txBody>
      </p:sp>
      <p:sp>
        <p:nvSpPr>
          <p:cNvPr id="16" name="Rounded Rectangle 15"/>
          <p:cNvSpPr/>
          <p:nvPr/>
        </p:nvSpPr>
        <p:spPr>
          <a:xfrm>
            <a:off x="8476488" y="2926080"/>
            <a:ext cx="3703320" cy="4572000"/>
          </a:xfrm>
          <a:prstGeom prst="roundRect">
            <a:avLst>
              <a:gd name="adj" fmla="val 6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750808" y="3154680"/>
            <a:ext cx="822960" cy="82296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uCrosshair.png"/>
          <p:cNvPicPr>
            <a:picLocks noChangeAspect="1"/>
          </p:cNvPicPr>
          <p:nvPr/>
        </p:nvPicPr>
        <p:blipFill>
          <a:blip r:embed="rId5"/>
          <a:stretch>
            <a:fillRect/>
          </a:stretch>
        </p:blipFill>
        <p:spPr>
          <a:xfrm>
            <a:off x="8948318" y="3352190"/>
            <a:ext cx="427939" cy="427939"/>
          </a:xfrm>
          <a:prstGeom prst="rect">
            <a:avLst/>
          </a:prstGeom>
        </p:spPr>
      </p:pic>
      <p:sp>
        <p:nvSpPr>
          <p:cNvPr id="19" name="TextBox 18"/>
          <p:cNvSpPr txBox="1"/>
          <p:nvPr/>
        </p:nvSpPr>
        <p:spPr>
          <a:xfrm>
            <a:off x="8750808" y="4114800"/>
            <a:ext cx="329184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100" b="1" i="0">
                <a:solidFill>
                  <a:srgbClr val="192B37"/>
                </a:solidFill>
              </a:rPr>
              <a:t>data-test contract</a:t>
            </a:r>
          </a:p>
        </p:txBody>
      </p:sp>
      <p:sp>
        <p:nvSpPr>
          <p:cNvPr id="20" name="TextBox 19"/>
          <p:cNvSpPr txBox="1"/>
          <p:nvPr/>
        </p:nvSpPr>
        <p:spPr>
          <a:xfrm>
            <a:off x="8750808" y="4709160"/>
            <a:ext cx="3291840" cy="2743200"/>
          </a:xfrm>
          <a:prstGeom prst="rect">
            <a:avLst/>
          </a:prstGeom>
          <a:noFill/>
        </p:spPr>
        <p:txBody>
          <a:bodyPr wrap="square" lIns="0" rIns="0" tIns="18288" bIns="18288" anchor="t">
            <a:noAutofit/>
          </a:bodyPr>
          <a:lstStyle/>
          <a:p>
            <a:pPr algn="l">
              <a:lnSpc>
                <a:spcPct val="100000"/>
              </a:lnSpc>
              <a:spcBef>
                <a:spcPts val="0"/>
              </a:spcBef>
              <a:spcAft>
                <a:spcPts val="0"/>
              </a:spcAft>
            </a:pPr>
            <a:r>
              <a:rPr sz="960">
                <a:solidFill>
                  <a:srgbClr val="00A859"/>
                </a:solidFill>
              </a:rPr>
              <a:t>●  </a:t>
            </a:r>
            <a:r>
              <a:rPr sz="1600" b="0" i="0">
                <a:solidFill>
                  <a:srgbClr val="192B37"/>
                </a:solidFill>
              </a:rPr>
              <a:t>106 declarations · 102 unique</a:t>
            </a:r>
          </a:p>
          <a:p>
            <a:pPr algn="l">
              <a:lnSpc>
                <a:spcPct val="100000"/>
              </a:lnSpc>
              <a:spcBef>
                <a:spcPts val="600"/>
              </a:spcBef>
              <a:spcAft>
                <a:spcPts val="0"/>
              </a:spcAft>
            </a:pPr>
            <a:r>
              <a:rPr sz="960">
                <a:solidFill>
                  <a:srgbClr val="00A859"/>
                </a:solidFill>
              </a:rPr>
              <a:t>●  </a:t>
            </a:r>
            <a:r>
              <a:rPr sz="1472" b="0" i="0">
                <a:solidFill>
                  <a:srgbClr val="C2410C"/>
                </a:solidFill>
                <a:latin typeface="Consolas"/>
              </a:rPr>
              <a:t>signin-submit</a:t>
            </a:r>
            <a:r>
              <a:rPr sz="1600" b="0" i="0">
                <a:solidFill>
                  <a:srgbClr val="192B37"/>
                </a:solidFill>
              </a:rPr>
              <a:t>, </a:t>
            </a:r>
            <a:r>
              <a:rPr sz="1472" b="0" i="0">
                <a:solidFill>
                  <a:srgbClr val="C2410C"/>
                </a:solidFill>
                <a:latin typeface="Consolas"/>
              </a:rPr>
              <a:t>user-balance</a:t>
            </a:r>
            <a:r>
              <a:rPr sz="1600" b="0" i="0">
                <a:solidFill>
                  <a:srgbClr val="192B37"/>
                </a:solidFill>
              </a:rPr>
              <a:t>…</a:t>
            </a:r>
          </a:p>
          <a:p>
            <a:pPr algn="l">
              <a:lnSpc>
                <a:spcPct val="100000"/>
              </a:lnSpc>
              <a:spcBef>
                <a:spcPts val="600"/>
              </a:spcBef>
              <a:spcAft>
                <a:spcPts val="0"/>
              </a:spcAft>
            </a:pPr>
            <a:r>
              <a:rPr sz="960">
                <a:solidFill>
                  <a:srgbClr val="00A859"/>
                </a:solidFill>
              </a:rPr>
              <a:t>●  </a:t>
            </a:r>
            <a:r>
              <a:rPr sz="1600" b="0" i="0">
                <a:solidFill>
                  <a:srgbClr val="192B37"/>
                </a:solidFill>
              </a:rPr>
              <a:t>10 never used by tests</a:t>
            </a:r>
          </a:p>
        </p:txBody>
      </p:sp>
      <p:sp>
        <p:nvSpPr>
          <p:cNvPr id="21" name="TextBox 20"/>
          <p:cNvSpPr txBox="1"/>
          <p:nvPr/>
        </p:nvSpPr>
        <p:spPr>
          <a:xfrm>
            <a:off x="12435840" y="2880360"/>
            <a:ext cx="109728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8683C3"/>
                </a:solidFill>
              </a:rPr>
              <a:t>authMachine (simplified)</a:t>
            </a:r>
          </a:p>
        </p:txBody>
      </p:sp>
      <p:sp>
        <p:nvSpPr>
          <p:cNvPr id="22" name="Rounded Rectangle 21"/>
          <p:cNvSpPr/>
          <p:nvPr/>
        </p:nvSpPr>
        <p:spPr>
          <a:xfrm>
            <a:off x="12435840" y="3657600"/>
            <a:ext cx="3154680" cy="777240"/>
          </a:xfrm>
          <a:prstGeom prst="roundRect">
            <a:avLst>
              <a:gd name="adj" fmla="val 50000"/>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527280" y="3657600"/>
            <a:ext cx="2971800"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1" i="0">
                <a:solidFill>
                  <a:srgbClr val="FFFFFF"/>
                </a:solidFill>
              </a:rPr>
              <a:t>unauthorized</a:t>
            </a:r>
          </a:p>
        </p:txBody>
      </p:sp>
      <p:sp>
        <p:nvSpPr>
          <p:cNvPr id="24" name="Rounded Rectangle 23"/>
          <p:cNvSpPr/>
          <p:nvPr/>
        </p:nvSpPr>
        <p:spPr>
          <a:xfrm>
            <a:off x="16459200" y="3657600"/>
            <a:ext cx="3154680" cy="777240"/>
          </a:xfrm>
          <a:prstGeom prst="roundRect">
            <a:avLst>
              <a:gd name="adj" fmla="val 50000"/>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6550640" y="3657600"/>
            <a:ext cx="2971800"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1" i="0">
                <a:solidFill>
                  <a:srgbClr val="FFFFFF"/>
                </a:solidFill>
              </a:rPr>
              <a:t>loading</a:t>
            </a:r>
          </a:p>
        </p:txBody>
      </p:sp>
      <p:sp>
        <p:nvSpPr>
          <p:cNvPr id="26" name="Rounded Rectangle 25"/>
          <p:cNvSpPr/>
          <p:nvPr/>
        </p:nvSpPr>
        <p:spPr>
          <a:xfrm>
            <a:off x="20299680" y="3657600"/>
            <a:ext cx="3154680" cy="777240"/>
          </a:xfrm>
          <a:prstGeom prst="roundRect">
            <a:avLst>
              <a:gd name="adj" fmla="val 50000"/>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20391120" y="3657600"/>
            <a:ext cx="2971800"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1" i="0">
                <a:solidFill>
                  <a:srgbClr val="FFFFFF"/>
                </a:solidFill>
              </a:rPr>
              <a:t>authorized</a:t>
            </a:r>
          </a:p>
        </p:txBody>
      </p:sp>
      <p:sp>
        <p:nvSpPr>
          <p:cNvPr id="28" name="Rounded Rectangle 27"/>
          <p:cNvSpPr/>
          <p:nvPr/>
        </p:nvSpPr>
        <p:spPr>
          <a:xfrm>
            <a:off x="12435840" y="5852160"/>
            <a:ext cx="3154680" cy="777240"/>
          </a:xfrm>
          <a:prstGeom prst="roundRect">
            <a:avLst>
              <a:gd name="adj" fmla="val 50000"/>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527280" y="5852160"/>
            <a:ext cx="2971800"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1" i="0">
                <a:solidFill>
                  <a:srgbClr val="FFFFFF"/>
                </a:solidFill>
              </a:rPr>
              <a:t>signup</a:t>
            </a:r>
          </a:p>
        </p:txBody>
      </p:sp>
      <p:sp>
        <p:nvSpPr>
          <p:cNvPr id="30" name="Rounded Rectangle 29"/>
          <p:cNvSpPr/>
          <p:nvPr/>
        </p:nvSpPr>
        <p:spPr>
          <a:xfrm>
            <a:off x="16459200" y="5852160"/>
            <a:ext cx="3154680" cy="777240"/>
          </a:xfrm>
          <a:prstGeom prst="roundRect">
            <a:avLst>
              <a:gd name="adj" fmla="val 50000"/>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6550640" y="5852160"/>
            <a:ext cx="2971800"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1" i="0">
                <a:solidFill>
                  <a:srgbClr val="FFFFFF"/>
                </a:solidFill>
              </a:rPr>
              <a:t>refreshing</a:t>
            </a:r>
          </a:p>
        </p:txBody>
      </p:sp>
      <p:sp>
        <p:nvSpPr>
          <p:cNvPr id="32" name="Rounded Rectangle 31"/>
          <p:cNvSpPr/>
          <p:nvPr/>
        </p:nvSpPr>
        <p:spPr>
          <a:xfrm>
            <a:off x="20299680" y="5852160"/>
            <a:ext cx="3154680" cy="777240"/>
          </a:xfrm>
          <a:prstGeom prst="roundRect">
            <a:avLst>
              <a:gd name="adj" fmla="val 50000"/>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20391120" y="5852160"/>
            <a:ext cx="2971800"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1" i="0">
                <a:solidFill>
                  <a:srgbClr val="FFFFFF"/>
                </a:solidFill>
              </a:rPr>
              <a:t>logout</a:t>
            </a:r>
          </a:p>
        </p:txBody>
      </p:sp>
      <p:cxnSp>
        <p:nvCxnSpPr>
          <p:cNvPr id="34" name="Connector 33"/>
          <p:cNvCxnSpPr/>
          <p:nvPr/>
        </p:nvCxnSpPr>
        <p:spPr>
          <a:xfrm>
            <a:off x="15617951" y="4041648"/>
            <a:ext cx="795529" cy="0"/>
          </a:xfrm>
          <a:prstGeom prst="line">
            <a:avLst/>
          </a:prstGeom>
          <a:ln w="25400">
            <a:solidFill>
              <a:srgbClr val="5E6A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9641312" y="4041648"/>
            <a:ext cx="612648" cy="0"/>
          </a:xfrm>
          <a:prstGeom prst="line">
            <a:avLst/>
          </a:prstGeom>
          <a:ln w="25400">
            <a:solidFill>
              <a:srgbClr val="5E6A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3990320" y="4462272"/>
            <a:ext cx="0" cy="1344168"/>
          </a:xfrm>
          <a:prstGeom prst="line">
            <a:avLst/>
          </a:prstGeom>
          <a:ln w="25400">
            <a:solidFill>
              <a:srgbClr val="5E6A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21854160" y="4462272"/>
            <a:ext cx="0" cy="1344168"/>
          </a:xfrm>
          <a:prstGeom prst="line">
            <a:avLst/>
          </a:prstGeom>
          <a:ln w="25400">
            <a:solidFill>
              <a:srgbClr val="5E6A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2435840" y="6675120"/>
            <a:ext cx="10972800"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5E6A73"/>
                </a:solidFill>
              </a:rPr>
              <a:t>logout → unauthorized  ·  authorized ⇄ refreshing (PATCH user)</a:t>
            </a:r>
          </a:p>
        </p:txBody>
      </p:sp>
      <p:sp>
        <p:nvSpPr>
          <p:cNvPr id="39" name="TextBox 38"/>
          <p:cNvSpPr txBox="1"/>
          <p:nvPr/>
        </p:nvSpPr>
        <p:spPr>
          <a:xfrm>
            <a:off x="15636240" y="4498848"/>
            <a:ext cx="384048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300" b="0" i="0">
                <a:solidFill>
                  <a:srgbClr val="5E6A73"/>
                </a:solidFill>
              </a:rPr>
              <a:t>LOGIN</a:t>
            </a:r>
          </a:p>
        </p:txBody>
      </p:sp>
      <p:sp>
        <p:nvSpPr>
          <p:cNvPr id="40" name="TextBox 39"/>
          <p:cNvSpPr txBox="1"/>
          <p:nvPr/>
        </p:nvSpPr>
        <p:spPr>
          <a:xfrm>
            <a:off x="12481560" y="4800600"/>
            <a:ext cx="146304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300" b="0" i="0">
                <a:solidFill>
                  <a:srgbClr val="5E6A73"/>
                </a:solidFill>
              </a:rPr>
              <a:t>SIGNUP</a:t>
            </a:r>
          </a:p>
        </p:txBody>
      </p:sp>
      <p:sp>
        <p:nvSpPr>
          <p:cNvPr id="41" name="TextBox 40"/>
          <p:cNvSpPr txBox="1"/>
          <p:nvPr/>
        </p:nvSpPr>
        <p:spPr>
          <a:xfrm>
            <a:off x="21945600" y="4800600"/>
            <a:ext cx="146304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300" b="0" i="0">
                <a:solidFill>
                  <a:srgbClr val="5E6A73"/>
                </a:solidFill>
              </a:rPr>
              <a:t>LOGOUT</a:t>
            </a:r>
          </a:p>
        </p:txBody>
      </p:sp>
      <p:sp>
        <p:nvSpPr>
          <p:cNvPr id="42" name="Rounded Rectangle 41"/>
          <p:cNvSpPr/>
          <p:nvPr/>
        </p:nvSpPr>
        <p:spPr>
          <a:xfrm>
            <a:off x="612648" y="7772400"/>
            <a:ext cx="11612880" cy="2697480"/>
          </a:xfrm>
          <a:prstGeom prst="roundRect">
            <a:avLst>
              <a:gd name="adj" fmla="val 9491"/>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886968" y="797356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79576" y="797356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472184" y="797356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892807" y="7845552"/>
            <a:ext cx="1005840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src/components/SignInForm.tsx</a:t>
            </a:r>
          </a:p>
        </p:txBody>
      </p:sp>
      <p:sp>
        <p:nvSpPr>
          <p:cNvPr id="47" name="TextBox 46"/>
          <p:cNvSpPr txBox="1"/>
          <p:nvPr/>
        </p:nvSpPr>
        <p:spPr>
          <a:xfrm>
            <a:off x="886968" y="8321040"/>
            <a:ext cx="11155680" cy="2011680"/>
          </a:xfrm>
          <a:prstGeom prst="rect">
            <a:avLst/>
          </a:prstGeom>
          <a:noFill/>
        </p:spPr>
        <p:txBody>
          <a:bodyPr wrap="none" lIns="0" rIns="0" tIns="0" bIns="0">
            <a:noAutofit/>
          </a:bodyPr>
          <a:lstStyle/>
          <a:p>
            <a:pPr>
              <a:lnSpc>
                <a:spcPct val="108000"/>
              </a:lnSpc>
              <a:spcBef>
                <a:spcPts val="0"/>
              </a:spcBef>
              <a:spcAft>
                <a:spcPts val="0"/>
              </a:spcAft>
            </a:pPr>
            <a:r>
              <a:rPr sz="1800" i="0" b="0">
                <a:solidFill>
                  <a:srgbClr val="E6EDF3"/>
                </a:solidFill>
                <a:latin typeface="Consolas"/>
              </a:rPr>
              <a:t>&lt;</a:t>
            </a:r>
            <a:r>
              <a:rPr sz="1800" i="0" b="0">
                <a:solidFill>
                  <a:srgbClr val="C9B8FF"/>
                </a:solidFill>
                <a:latin typeface="Consolas"/>
              </a:rPr>
              <a:t>Button</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type</a:t>
            </a:r>
            <a:r>
              <a:rPr sz="1800" i="0" b="0">
                <a:solidFill>
                  <a:srgbClr val="E6EDF3"/>
                </a:solidFill>
                <a:latin typeface="Consolas"/>
              </a:rPr>
              <a:t>=</a:t>
            </a:r>
            <a:r>
              <a:rPr sz="1800" i="0" b="0">
                <a:solidFill>
                  <a:srgbClr val="9BE3B4"/>
                </a:solidFill>
                <a:latin typeface="Consolas"/>
              </a:rPr>
              <a:t>"submit"</a:t>
            </a:r>
            <a:r>
              <a:rPr sz="1800" i="0" b="0">
                <a:solidFill>
                  <a:srgbClr val="E6EDF3"/>
                </a:solidFill>
                <a:latin typeface="Consolas"/>
              </a:rPr>
              <a:t> </a:t>
            </a:r>
            <a:r>
              <a:rPr sz="1800" i="0" b="0">
                <a:solidFill>
                  <a:srgbClr val="E6EDF3"/>
                </a:solidFill>
                <a:latin typeface="Consolas"/>
              </a:rPr>
              <a:t>variant</a:t>
            </a:r>
            <a:r>
              <a:rPr sz="1800" i="0" b="0">
                <a:solidFill>
                  <a:srgbClr val="E6EDF3"/>
                </a:solidFill>
                <a:latin typeface="Consolas"/>
              </a:rPr>
              <a:t>=</a:t>
            </a:r>
            <a:r>
              <a:rPr sz="1800" i="0" b="0">
                <a:solidFill>
                  <a:srgbClr val="9BE3B4"/>
                </a:solidFill>
                <a:latin typeface="Consolas"/>
              </a:rPr>
              <a:t>"contained"</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data</a:t>
            </a:r>
            <a:r>
              <a:rPr sz="1800" i="0" b="0">
                <a:solidFill>
                  <a:srgbClr val="E6EDF3"/>
                </a:solidFill>
                <a:latin typeface="Consolas"/>
              </a:rPr>
              <a:t>-</a:t>
            </a:r>
            <a:r>
              <a:rPr sz="1800" i="0" b="0">
                <a:solidFill>
                  <a:srgbClr val="FF9C8A"/>
                </a:solidFill>
                <a:latin typeface="Consolas"/>
              </a:rPr>
              <a:t>test</a:t>
            </a:r>
            <a:r>
              <a:rPr sz="1800" i="0" b="0">
                <a:solidFill>
                  <a:srgbClr val="E6EDF3"/>
                </a:solidFill>
                <a:latin typeface="Consolas"/>
              </a:rPr>
              <a:t>=</a:t>
            </a:r>
            <a:r>
              <a:rPr sz="1800" i="0" b="0">
                <a:solidFill>
                  <a:srgbClr val="9BE3B4"/>
                </a:solidFill>
                <a:latin typeface="Consolas"/>
              </a:rPr>
              <a:t>"signin-submit"</a:t>
            </a:r>
            <a:r>
              <a:rPr sz="1800" i="0" b="0">
                <a:solidFill>
                  <a:srgbClr val="E6EDF3"/>
                </a:solidFill>
                <a:latin typeface="Consolas"/>
              </a:rPr>
              <a:t>   </a:t>
            </a:r>
            <a:r>
              <a:rPr sz="1800" i="1" b="0">
                <a:solidFill>
                  <a:srgbClr val="7F93A3"/>
                </a:solidFill>
                <a:latin typeface="Consolas"/>
              </a:rPr>
              <a:t>// the contract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disabled</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isValid</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isSubmitting</a:t>
            </a:r>
            <a:r>
              <a:rPr sz="1800" i="0" b="0">
                <a:solidFill>
                  <a:srgbClr val="E6EDF3"/>
                </a:solidFill>
                <a:latin typeface="Consolas"/>
              </a:rPr>
              <a:t>}</a:t>
            </a:r>
            <a:r>
              <a:rPr sz="1800" i="0" b="0">
                <a:solidFill>
                  <a:srgbClr val="E6EDF3"/>
                </a:solidFill>
                <a:latin typeface="Consolas"/>
              </a:rPr>
              <a:t>&gt;</a:t>
            </a:r>
          </a:p>
          <a:p>
            <a:pPr>
              <a:lnSpc>
                <a:spcPct val="108000"/>
              </a:lnSpc>
              <a:spcBef>
                <a:spcPts val="0"/>
              </a:spcBef>
              <a:spcAft>
                <a:spcPts val="0"/>
              </a:spcAft>
            </a:pPr>
            <a:r>
              <a:rPr sz="1800" i="0" b="0">
                <a:solidFill>
                  <a:srgbClr val="E6EDF3"/>
                </a:solidFill>
                <a:latin typeface="Consolas"/>
              </a:rPr>
              <a:t>  </a:t>
            </a:r>
            <a:r>
              <a:rPr sz="1800" i="0" b="0">
                <a:solidFill>
                  <a:srgbClr val="C9B8FF"/>
                </a:solidFill>
                <a:latin typeface="Consolas"/>
              </a:rPr>
              <a:t>Sign</a:t>
            </a:r>
            <a:r>
              <a:rPr sz="1800" i="0" b="0">
                <a:solidFill>
                  <a:srgbClr val="E6EDF3"/>
                </a:solidFill>
                <a:latin typeface="Consolas"/>
              </a:rPr>
              <a:t> </a:t>
            </a:r>
            <a:r>
              <a:rPr sz="1800" i="0" b="0">
                <a:solidFill>
                  <a:srgbClr val="C9B8FF"/>
                </a:solidFill>
                <a:latin typeface="Consolas"/>
              </a:rPr>
              <a:t>In</a:t>
            </a:r>
          </a:p>
          <a:p>
            <a:pPr>
              <a:lnSpc>
                <a:spcPct val="108000"/>
              </a:lnSpc>
              <a:spcBef>
                <a:spcPts val="0"/>
              </a:spcBef>
              <a:spcAft>
                <a:spcPts val="0"/>
              </a:spcAft>
            </a:pPr>
            <a:r>
              <a:rPr sz="1800" i="0" b="0">
                <a:solidFill>
                  <a:srgbClr val="E6EDF3"/>
                </a:solidFill>
                <a:latin typeface="Consolas"/>
              </a:rPr>
              <a:t>&lt;</a:t>
            </a:r>
            <a:r>
              <a:rPr sz="1800" i="0" b="0">
                <a:solidFill>
                  <a:srgbClr val="E6EDF3"/>
                </a:solidFill>
                <a:latin typeface="Consolas"/>
              </a:rPr>
              <a:t>/</a:t>
            </a:r>
            <a:r>
              <a:rPr sz="1800" i="0" b="0">
                <a:solidFill>
                  <a:srgbClr val="C9B8FF"/>
                </a:solidFill>
                <a:latin typeface="Consolas"/>
              </a:rPr>
              <a:t>Button</a:t>
            </a:r>
            <a:r>
              <a:rPr sz="1800" i="0" b="0">
                <a:solidFill>
                  <a:srgbClr val="E6EDF3"/>
                </a:solidFill>
                <a:latin typeface="Consolas"/>
              </a:rPr>
              <a:t>&gt;</a:t>
            </a:r>
          </a:p>
        </p:txBody>
      </p:sp>
      <p:sp>
        <p:nvSpPr>
          <p:cNvPr id="48" name="Rounded Rectangle 47"/>
          <p:cNvSpPr/>
          <p:nvPr/>
        </p:nvSpPr>
        <p:spPr>
          <a:xfrm>
            <a:off x="12435840" y="7132320"/>
            <a:ext cx="11036808" cy="3337560"/>
          </a:xfrm>
          <a:prstGeom prst="roundRect">
            <a:avLst>
              <a:gd name="adj" fmla="val 7671"/>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12710160" y="733348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3002768" y="733348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3295376" y="733348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3716000" y="7205472"/>
            <a:ext cx="9482328"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playwright · programmatic login</a:t>
            </a:r>
          </a:p>
        </p:txBody>
      </p:sp>
      <p:sp>
        <p:nvSpPr>
          <p:cNvPr id="53" name="TextBox 52"/>
          <p:cNvSpPr txBox="1"/>
          <p:nvPr/>
        </p:nvSpPr>
        <p:spPr>
          <a:xfrm>
            <a:off x="12710160" y="7680960"/>
            <a:ext cx="10579608" cy="2651760"/>
          </a:xfrm>
          <a:prstGeom prst="rect">
            <a:avLst/>
          </a:prstGeom>
          <a:noFill/>
        </p:spPr>
        <p:txBody>
          <a:bodyPr wrap="none" lIns="0" rIns="0" tIns="0" bIns="0">
            <a:noAutofit/>
          </a:bodyPr>
          <a:lstStyle/>
          <a:p>
            <a:pPr>
              <a:lnSpc>
                <a:spcPct val="108000"/>
              </a:lnSpc>
              <a:spcBef>
                <a:spcPts val="0"/>
              </a:spcBef>
              <a:spcAft>
                <a:spcPts val="0"/>
              </a:spcAft>
            </a:pPr>
            <a:r>
              <a:rPr sz="1800" i="1" b="0">
                <a:solidFill>
                  <a:srgbClr val="7F93A3"/>
                </a:solidFill>
                <a:latin typeface="Consolas"/>
              </a:rPr>
              <a:t>// test, not app code: drive the machine directly</a:t>
            </a:r>
          </a:p>
          <a:p>
            <a:pPr>
              <a:lnSpc>
                <a:spcPct val="108000"/>
              </a:lnSpc>
              <a:spcBef>
                <a:spcPts val="0"/>
              </a:spcBef>
              <a:spcAft>
                <a:spcPts val="0"/>
              </a:spcAft>
            </a:pPr>
            <a:r>
              <a:rPr sz="1800" i="0" b="0">
                <a:solidFill>
                  <a:srgbClr val="FF9C8A"/>
                </a:solidFill>
                <a:latin typeface="Consolas"/>
              </a:rPr>
              <a:t>await</a:t>
            </a:r>
            <a:r>
              <a:rPr sz="1800" i="0" b="0">
                <a:solidFill>
                  <a:srgbClr val="E6EDF3"/>
                </a:solidFill>
                <a:latin typeface="Consolas"/>
              </a:rPr>
              <a:t> </a:t>
            </a:r>
            <a:r>
              <a:rPr sz="1800" i="0" b="0">
                <a:solidFill>
                  <a:srgbClr val="E6EDF3"/>
                </a:solidFill>
                <a:latin typeface="Consolas"/>
              </a:rPr>
              <a:t>page</a:t>
            </a:r>
            <a:r>
              <a:rPr sz="1800" i="0" b="0">
                <a:solidFill>
                  <a:srgbClr val="E6EDF3"/>
                </a:solidFill>
                <a:latin typeface="Consolas"/>
              </a:rPr>
              <a:t>.</a:t>
            </a:r>
            <a:r>
              <a:rPr sz="1800" i="0" b="0">
                <a:solidFill>
                  <a:srgbClr val="8CCFF0"/>
                </a:solidFill>
                <a:latin typeface="Consolas"/>
              </a:rPr>
              <a:t>evaluate</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u</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p</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window</a:t>
            </a:r>
            <a:r>
              <a:rPr sz="1800" i="0" b="0">
                <a:solidFill>
                  <a:srgbClr val="E6EDF3"/>
                </a:solidFill>
                <a:latin typeface="Consolas"/>
              </a:rPr>
              <a:t>.</a:t>
            </a:r>
            <a:r>
              <a:rPr sz="1800" i="0" b="0">
                <a:solidFill>
                  <a:srgbClr val="E6EDF3"/>
                </a:solidFill>
                <a:latin typeface="Consolas"/>
              </a:rPr>
              <a:t>authService</a:t>
            </a:r>
            <a:r>
              <a:rPr sz="1800" i="0" b="0">
                <a:solidFill>
                  <a:srgbClr val="E6EDF3"/>
                </a:solidFill>
                <a:latin typeface="Consolas"/>
              </a:rPr>
              <a:t>.</a:t>
            </a:r>
            <a:r>
              <a:rPr sz="1800" i="0" b="0">
                <a:solidFill>
                  <a:srgbClr val="8CCFF0"/>
                </a:solidFill>
                <a:latin typeface="Consolas"/>
              </a:rPr>
              <a:t>send</a:t>
            </a:r>
            <a:r>
              <a:rPr sz="1800" i="0" b="0">
                <a:solidFill>
                  <a:srgbClr val="E6EDF3"/>
                </a:solidFill>
                <a:latin typeface="Consolas"/>
              </a:rPr>
              <a:t>(</a:t>
            </a:r>
            <a:r>
              <a:rPr sz="1800" i="0" b="0">
                <a:solidFill>
                  <a:srgbClr val="9BE3B4"/>
                </a:solidFill>
                <a:latin typeface="Consolas"/>
              </a:rPr>
              <a:t>"LOGIN"</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username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u</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password</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p</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u</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"Heath93"</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p</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"s3cret"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p:txBody>
      </p:sp>
      <p:sp>
        <p:nvSpPr>
          <p:cNvPr id="54" name="Rounded Rectangle 53"/>
          <p:cNvSpPr/>
          <p:nvPr/>
        </p:nvSpPr>
        <p:spPr>
          <a:xfrm>
            <a:off x="612648" y="10789920"/>
            <a:ext cx="22860000" cy="960120"/>
          </a:xfrm>
          <a:prstGeom prst="roundRect">
            <a:avLst>
              <a:gd name="adj" fmla="val 1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886968" y="10927080"/>
            <a:ext cx="685800" cy="6858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LuLaugh.png"/>
          <p:cNvPicPr>
            <a:picLocks noChangeAspect="1"/>
          </p:cNvPicPr>
          <p:nvPr/>
        </p:nvPicPr>
        <p:blipFill>
          <a:blip r:embed="rId6"/>
          <a:stretch>
            <a:fillRect/>
          </a:stretch>
        </p:blipFill>
        <p:spPr>
          <a:xfrm>
            <a:off x="1051560" y="11091672"/>
            <a:ext cx="356616" cy="356616"/>
          </a:xfrm>
          <a:prstGeom prst="rect">
            <a:avLst/>
          </a:prstGeom>
        </p:spPr>
      </p:pic>
      <p:sp>
        <p:nvSpPr>
          <p:cNvPr id="57" name="TextBox 56"/>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XState: because "it depends" is not a valid state.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The app</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3D9BC8"/>
                </a:solidFill>
              </a:rPr>
              <a:t>APPLICATION FLOWS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The user journey, from sign-up to logout</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11</a:t>
            </a:r>
          </a:p>
        </p:txBody>
      </p:sp>
      <p:sp>
        <p:nvSpPr>
          <p:cNvPr id="6" name="Oval 5"/>
          <p:cNvSpPr/>
          <p:nvPr/>
        </p:nvSpPr>
        <p:spPr>
          <a:xfrm>
            <a:off x="1737360" y="3108960"/>
            <a:ext cx="1463040" cy="1463040"/>
          </a:xfrm>
          <a:prstGeom prst="ellipse">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920240" y="3291840"/>
            <a:ext cx="1097280" cy="109728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UserCheck.png"/>
          <p:cNvPicPr>
            <a:picLocks noChangeAspect="1"/>
          </p:cNvPicPr>
          <p:nvPr/>
        </p:nvPicPr>
        <p:blipFill>
          <a:blip r:embed="rId3"/>
          <a:stretch>
            <a:fillRect/>
          </a:stretch>
        </p:blipFill>
        <p:spPr>
          <a:xfrm>
            <a:off x="2183587" y="3555187"/>
            <a:ext cx="570585" cy="570585"/>
          </a:xfrm>
          <a:prstGeom prst="rect">
            <a:avLst/>
          </a:prstGeom>
        </p:spPr>
      </p:pic>
      <p:sp>
        <p:nvSpPr>
          <p:cNvPr id="9" name="TextBox 8"/>
          <p:cNvSpPr txBox="1"/>
          <p:nvPr/>
        </p:nvSpPr>
        <p:spPr>
          <a:xfrm>
            <a:off x="2971800" y="3017520"/>
            <a:ext cx="7315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600" b="1" i="0">
                <a:solidFill>
                  <a:srgbClr val="3D9BC8"/>
                </a:solidFill>
                <a:latin typeface="+mj-lt"/>
              </a:rPr>
              <a:t>1</a:t>
            </a:r>
          </a:p>
        </p:txBody>
      </p:sp>
      <p:sp>
        <p:nvSpPr>
          <p:cNvPr id="10" name="TextBox 9"/>
          <p:cNvSpPr txBox="1"/>
          <p:nvPr/>
        </p:nvSpPr>
        <p:spPr>
          <a:xfrm>
            <a:off x="640080" y="4663440"/>
            <a:ext cx="3657600" cy="502920"/>
          </a:xfrm>
          <a:prstGeom prst="rect">
            <a:avLst/>
          </a:prstGeom>
          <a:noFill/>
        </p:spPr>
        <p:txBody>
          <a:bodyPr wrap="square" lIns="0" rIns="0" tIns="18288" bIns="18288" anchor="t">
            <a:noAutofit/>
          </a:bodyPr>
          <a:lstStyle/>
          <a:p>
            <a:pPr algn="ctr">
              <a:lnSpc>
                <a:spcPct val="100000"/>
              </a:lnSpc>
              <a:spcBef>
                <a:spcPts val="0"/>
              </a:spcBef>
              <a:spcAft>
                <a:spcPts val="0"/>
              </a:spcAft>
            </a:pPr>
            <a:r>
              <a:rPr sz="2100" b="1" i="0">
                <a:solidFill>
                  <a:srgbClr val="192B37"/>
                </a:solidFill>
              </a:rPr>
              <a:t>Sign up</a:t>
            </a:r>
          </a:p>
        </p:txBody>
      </p:sp>
      <p:sp>
        <p:nvSpPr>
          <p:cNvPr id="11" name="TextBox 10"/>
          <p:cNvSpPr txBox="1"/>
          <p:nvPr/>
        </p:nvSpPr>
        <p:spPr>
          <a:xfrm>
            <a:off x="640080" y="5166360"/>
            <a:ext cx="365760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0" i="0">
                <a:solidFill>
                  <a:srgbClr val="5E6A73"/>
                </a:solidFill>
              </a:rPr>
              <a:t>/signup</a:t>
            </a:r>
          </a:p>
        </p:txBody>
      </p:sp>
      <p:cxnSp>
        <p:nvCxnSpPr>
          <p:cNvPr id="12" name="Connector 11"/>
          <p:cNvCxnSpPr/>
          <p:nvPr/>
        </p:nvCxnSpPr>
        <p:spPr>
          <a:xfrm>
            <a:off x="3337560" y="3840480"/>
            <a:ext cx="2926080" cy="0"/>
          </a:xfrm>
          <a:prstGeom prst="line">
            <a:avLst/>
          </a:prstGeom>
          <a:ln w="38100">
            <a:solidFill>
              <a:srgbClr val="D9E1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400800" y="3108960"/>
            <a:ext cx="1463040" cy="1463040"/>
          </a:xfrm>
          <a:prstGeom prst="ellipse">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0" y="3291840"/>
            <a:ext cx="1097280" cy="109728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LuKeyRound.png"/>
          <p:cNvPicPr>
            <a:picLocks noChangeAspect="1"/>
          </p:cNvPicPr>
          <p:nvPr/>
        </p:nvPicPr>
        <p:blipFill>
          <a:blip r:embed="rId4"/>
          <a:stretch>
            <a:fillRect/>
          </a:stretch>
        </p:blipFill>
        <p:spPr>
          <a:xfrm>
            <a:off x="6847027" y="3555187"/>
            <a:ext cx="570585" cy="570585"/>
          </a:xfrm>
          <a:prstGeom prst="rect">
            <a:avLst/>
          </a:prstGeom>
        </p:spPr>
      </p:pic>
      <p:sp>
        <p:nvSpPr>
          <p:cNvPr id="16" name="TextBox 15"/>
          <p:cNvSpPr txBox="1"/>
          <p:nvPr/>
        </p:nvSpPr>
        <p:spPr>
          <a:xfrm>
            <a:off x="7635240" y="3017520"/>
            <a:ext cx="7315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600" b="1" i="0">
                <a:solidFill>
                  <a:srgbClr val="00A859"/>
                </a:solidFill>
                <a:latin typeface="+mj-lt"/>
              </a:rPr>
              <a:t>2</a:t>
            </a:r>
          </a:p>
        </p:txBody>
      </p:sp>
      <p:sp>
        <p:nvSpPr>
          <p:cNvPr id="17" name="TextBox 16"/>
          <p:cNvSpPr txBox="1"/>
          <p:nvPr/>
        </p:nvSpPr>
        <p:spPr>
          <a:xfrm>
            <a:off x="5303520" y="4663440"/>
            <a:ext cx="3657600" cy="502920"/>
          </a:xfrm>
          <a:prstGeom prst="rect">
            <a:avLst/>
          </a:prstGeom>
          <a:noFill/>
        </p:spPr>
        <p:txBody>
          <a:bodyPr wrap="square" lIns="0" rIns="0" tIns="18288" bIns="18288" anchor="t">
            <a:noAutofit/>
          </a:bodyPr>
          <a:lstStyle/>
          <a:p>
            <a:pPr algn="ctr">
              <a:lnSpc>
                <a:spcPct val="100000"/>
              </a:lnSpc>
              <a:spcBef>
                <a:spcPts val="0"/>
              </a:spcBef>
              <a:spcAft>
                <a:spcPts val="0"/>
              </a:spcAft>
            </a:pPr>
            <a:r>
              <a:rPr sz="2100" b="1" i="0">
                <a:solidFill>
                  <a:srgbClr val="192B37"/>
                </a:solidFill>
              </a:rPr>
              <a:t>Sign in</a:t>
            </a:r>
          </a:p>
        </p:txBody>
      </p:sp>
      <p:sp>
        <p:nvSpPr>
          <p:cNvPr id="18" name="TextBox 17"/>
          <p:cNvSpPr txBox="1"/>
          <p:nvPr/>
        </p:nvSpPr>
        <p:spPr>
          <a:xfrm>
            <a:off x="5303520" y="5166360"/>
            <a:ext cx="365760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0" i="0">
                <a:solidFill>
                  <a:srgbClr val="5E6A73"/>
                </a:solidFill>
              </a:rPr>
              <a:t>/signin</a:t>
            </a:r>
          </a:p>
        </p:txBody>
      </p:sp>
      <p:cxnSp>
        <p:nvCxnSpPr>
          <p:cNvPr id="19" name="Connector 18"/>
          <p:cNvCxnSpPr/>
          <p:nvPr/>
        </p:nvCxnSpPr>
        <p:spPr>
          <a:xfrm>
            <a:off x="8001000" y="3840480"/>
            <a:ext cx="2926080" cy="0"/>
          </a:xfrm>
          <a:prstGeom prst="line">
            <a:avLst/>
          </a:prstGeom>
          <a:ln w="38100">
            <a:solidFill>
              <a:srgbClr val="D9E1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11064240" y="3108960"/>
            <a:ext cx="1463040" cy="1463040"/>
          </a:xfrm>
          <a:prstGeom prst="ellipse">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247119" y="3291840"/>
            <a:ext cx="1097280" cy="109728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LuLandmark.png"/>
          <p:cNvPicPr>
            <a:picLocks noChangeAspect="1"/>
          </p:cNvPicPr>
          <p:nvPr/>
        </p:nvPicPr>
        <p:blipFill>
          <a:blip r:embed="rId5"/>
          <a:stretch>
            <a:fillRect/>
          </a:stretch>
        </p:blipFill>
        <p:spPr>
          <a:xfrm>
            <a:off x="11510467" y="3555187"/>
            <a:ext cx="570585" cy="570585"/>
          </a:xfrm>
          <a:prstGeom prst="rect">
            <a:avLst/>
          </a:prstGeom>
        </p:spPr>
      </p:pic>
      <p:sp>
        <p:nvSpPr>
          <p:cNvPr id="23" name="TextBox 22"/>
          <p:cNvSpPr txBox="1"/>
          <p:nvPr/>
        </p:nvSpPr>
        <p:spPr>
          <a:xfrm>
            <a:off x="12298680" y="3017520"/>
            <a:ext cx="7315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600" b="1" i="0">
                <a:solidFill>
                  <a:srgbClr val="FF5640"/>
                </a:solidFill>
                <a:latin typeface="+mj-lt"/>
              </a:rPr>
              <a:t>3</a:t>
            </a:r>
          </a:p>
        </p:txBody>
      </p:sp>
      <p:sp>
        <p:nvSpPr>
          <p:cNvPr id="24" name="TextBox 23"/>
          <p:cNvSpPr txBox="1"/>
          <p:nvPr/>
        </p:nvSpPr>
        <p:spPr>
          <a:xfrm>
            <a:off x="9966960" y="4663440"/>
            <a:ext cx="3657600" cy="502920"/>
          </a:xfrm>
          <a:prstGeom prst="rect">
            <a:avLst/>
          </a:prstGeom>
          <a:noFill/>
        </p:spPr>
        <p:txBody>
          <a:bodyPr wrap="square" lIns="0" rIns="0" tIns="18288" bIns="18288" anchor="t">
            <a:noAutofit/>
          </a:bodyPr>
          <a:lstStyle/>
          <a:p>
            <a:pPr algn="ctr">
              <a:lnSpc>
                <a:spcPct val="100000"/>
              </a:lnSpc>
              <a:spcBef>
                <a:spcPts val="0"/>
              </a:spcBef>
              <a:spcAft>
                <a:spcPts val="0"/>
              </a:spcAft>
            </a:pPr>
            <a:r>
              <a:rPr sz="2100" b="1" i="0">
                <a:solidFill>
                  <a:srgbClr val="192B37"/>
                </a:solidFill>
              </a:rPr>
              <a:t>Onboarding</a:t>
            </a:r>
          </a:p>
        </p:txBody>
      </p:sp>
      <p:sp>
        <p:nvSpPr>
          <p:cNvPr id="25" name="TextBox 24"/>
          <p:cNvSpPr txBox="1"/>
          <p:nvPr/>
        </p:nvSpPr>
        <p:spPr>
          <a:xfrm>
            <a:off x="9966960" y="5166360"/>
            <a:ext cx="365760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0" i="0">
                <a:solidFill>
                  <a:srgbClr val="5E6A73"/>
                </a:solidFill>
              </a:rPr>
              <a:t>bank account</a:t>
            </a:r>
          </a:p>
        </p:txBody>
      </p:sp>
      <p:cxnSp>
        <p:nvCxnSpPr>
          <p:cNvPr id="26" name="Connector 25"/>
          <p:cNvCxnSpPr/>
          <p:nvPr/>
        </p:nvCxnSpPr>
        <p:spPr>
          <a:xfrm>
            <a:off x="12664440" y="3840480"/>
            <a:ext cx="2926080" cy="0"/>
          </a:xfrm>
          <a:prstGeom prst="line">
            <a:avLst/>
          </a:prstGeom>
          <a:ln w="38100">
            <a:solidFill>
              <a:srgbClr val="D9E1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15727680" y="3108960"/>
            <a:ext cx="1463040" cy="1463040"/>
          </a:xfrm>
          <a:prstGeom prst="ellipse">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5910559" y="3291840"/>
            <a:ext cx="1097280" cy="109728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LuHouse.png"/>
          <p:cNvPicPr>
            <a:picLocks noChangeAspect="1"/>
          </p:cNvPicPr>
          <p:nvPr/>
        </p:nvPicPr>
        <p:blipFill>
          <a:blip r:embed="rId6"/>
          <a:stretch>
            <a:fillRect/>
          </a:stretch>
        </p:blipFill>
        <p:spPr>
          <a:xfrm>
            <a:off x="16173907" y="3555187"/>
            <a:ext cx="570585" cy="570585"/>
          </a:xfrm>
          <a:prstGeom prst="rect">
            <a:avLst/>
          </a:prstGeom>
        </p:spPr>
      </p:pic>
      <p:sp>
        <p:nvSpPr>
          <p:cNvPr id="30" name="TextBox 29"/>
          <p:cNvSpPr txBox="1"/>
          <p:nvPr/>
        </p:nvSpPr>
        <p:spPr>
          <a:xfrm>
            <a:off x="16962120" y="3017520"/>
            <a:ext cx="7315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600" b="1" i="0">
                <a:solidFill>
                  <a:srgbClr val="8683C3"/>
                </a:solidFill>
                <a:latin typeface="+mj-lt"/>
              </a:rPr>
              <a:t>4</a:t>
            </a:r>
          </a:p>
        </p:txBody>
      </p:sp>
      <p:sp>
        <p:nvSpPr>
          <p:cNvPr id="31" name="TextBox 30"/>
          <p:cNvSpPr txBox="1"/>
          <p:nvPr/>
        </p:nvSpPr>
        <p:spPr>
          <a:xfrm>
            <a:off x="14630400" y="4663440"/>
            <a:ext cx="3657600" cy="502920"/>
          </a:xfrm>
          <a:prstGeom prst="rect">
            <a:avLst/>
          </a:prstGeom>
          <a:noFill/>
        </p:spPr>
        <p:txBody>
          <a:bodyPr wrap="square" lIns="0" rIns="0" tIns="18288" bIns="18288" anchor="t">
            <a:noAutofit/>
          </a:bodyPr>
          <a:lstStyle/>
          <a:p>
            <a:pPr algn="ctr">
              <a:lnSpc>
                <a:spcPct val="100000"/>
              </a:lnSpc>
              <a:spcBef>
                <a:spcPts val="0"/>
              </a:spcBef>
              <a:spcAft>
                <a:spcPts val="0"/>
              </a:spcAft>
            </a:pPr>
            <a:r>
              <a:rPr sz="2100" b="1" i="0">
                <a:solidFill>
                  <a:srgbClr val="192B37"/>
                </a:solidFill>
              </a:rPr>
              <a:t>Feeds</a:t>
            </a:r>
          </a:p>
        </p:txBody>
      </p:sp>
      <p:sp>
        <p:nvSpPr>
          <p:cNvPr id="32" name="TextBox 31"/>
          <p:cNvSpPr txBox="1"/>
          <p:nvPr/>
        </p:nvSpPr>
        <p:spPr>
          <a:xfrm>
            <a:off x="14630400" y="5166360"/>
            <a:ext cx="365760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0" i="0">
                <a:solidFill>
                  <a:srgbClr val="5E6A73"/>
                </a:solidFill>
              </a:rPr>
              <a:t>Everyone · Friends · Mine</a:t>
            </a:r>
          </a:p>
        </p:txBody>
      </p:sp>
      <p:cxnSp>
        <p:nvCxnSpPr>
          <p:cNvPr id="33" name="Connector 32"/>
          <p:cNvCxnSpPr/>
          <p:nvPr/>
        </p:nvCxnSpPr>
        <p:spPr>
          <a:xfrm>
            <a:off x="17327880" y="3840480"/>
            <a:ext cx="2926080" cy="0"/>
          </a:xfrm>
          <a:prstGeom prst="line">
            <a:avLst/>
          </a:prstGeom>
          <a:ln w="38100">
            <a:solidFill>
              <a:srgbClr val="D9E1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20391119" y="3108960"/>
            <a:ext cx="1463040" cy="1463040"/>
          </a:xfrm>
          <a:prstGeom prst="ellipse">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0573999" y="3291840"/>
            <a:ext cx="1097280" cy="109728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LuSend.png"/>
          <p:cNvPicPr>
            <a:picLocks noChangeAspect="1"/>
          </p:cNvPicPr>
          <p:nvPr/>
        </p:nvPicPr>
        <p:blipFill>
          <a:blip r:embed="rId7"/>
          <a:stretch>
            <a:fillRect/>
          </a:stretch>
        </p:blipFill>
        <p:spPr>
          <a:xfrm>
            <a:off x="20837347" y="3555187"/>
            <a:ext cx="570585" cy="570585"/>
          </a:xfrm>
          <a:prstGeom prst="rect">
            <a:avLst/>
          </a:prstGeom>
        </p:spPr>
      </p:pic>
      <p:sp>
        <p:nvSpPr>
          <p:cNvPr id="37" name="TextBox 36"/>
          <p:cNvSpPr txBox="1"/>
          <p:nvPr/>
        </p:nvSpPr>
        <p:spPr>
          <a:xfrm>
            <a:off x="21625560" y="3017520"/>
            <a:ext cx="7315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600" b="1" i="0">
                <a:solidFill>
                  <a:srgbClr val="DB7D00"/>
                </a:solidFill>
                <a:latin typeface="+mj-lt"/>
              </a:rPr>
              <a:t>5</a:t>
            </a:r>
          </a:p>
        </p:txBody>
      </p:sp>
      <p:sp>
        <p:nvSpPr>
          <p:cNvPr id="38" name="TextBox 37"/>
          <p:cNvSpPr txBox="1"/>
          <p:nvPr/>
        </p:nvSpPr>
        <p:spPr>
          <a:xfrm>
            <a:off x="19293839" y="4663440"/>
            <a:ext cx="3657600" cy="502920"/>
          </a:xfrm>
          <a:prstGeom prst="rect">
            <a:avLst/>
          </a:prstGeom>
          <a:noFill/>
        </p:spPr>
        <p:txBody>
          <a:bodyPr wrap="square" lIns="0" rIns="0" tIns="18288" bIns="18288" anchor="t">
            <a:noAutofit/>
          </a:bodyPr>
          <a:lstStyle/>
          <a:p>
            <a:pPr algn="ctr">
              <a:lnSpc>
                <a:spcPct val="100000"/>
              </a:lnSpc>
              <a:spcBef>
                <a:spcPts val="0"/>
              </a:spcBef>
              <a:spcAft>
                <a:spcPts val="0"/>
              </a:spcAft>
            </a:pPr>
            <a:r>
              <a:rPr sz="2100" b="1" i="0">
                <a:solidFill>
                  <a:srgbClr val="192B37"/>
                </a:solidFill>
              </a:rPr>
              <a:t>Pay / request</a:t>
            </a:r>
          </a:p>
        </p:txBody>
      </p:sp>
      <p:sp>
        <p:nvSpPr>
          <p:cNvPr id="39" name="TextBox 38"/>
          <p:cNvSpPr txBox="1"/>
          <p:nvPr/>
        </p:nvSpPr>
        <p:spPr>
          <a:xfrm>
            <a:off x="19293839" y="5166360"/>
            <a:ext cx="365760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0" i="0">
                <a:solidFill>
                  <a:srgbClr val="5E6A73"/>
                </a:solidFill>
              </a:rPr>
              <a:t>/transaction/new</a:t>
            </a:r>
          </a:p>
        </p:txBody>
      </p:sp>
      <p:sp>
        <p:nvSpPr>
          <p:cNvPr id="40" name="Oval 39"/>
          <p:cNvSpPr/>
          <p:nvPr/>
        </p:nvSpPr>
        <p:spPr>
          <a:xfrm>
            <a:off x="4069080" y="6766560"/>
            <a:ext cx="1463040" cy="1463040"/>
          </a:xfrm>
          <a:prstGeom prst="ellipse">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251960" y="6949440"/>
            <a:ext cx="1097280" cy="109728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LuHeart.png"/>
          <p:cNvPicPr>
            <a:picLocks noChangeAspect="1"/>
          </p:cNvPicPr>
          <p:nvPr/>
        </p:nvPicPr>
        <p:blipFill>
          <a:blip r:embed="rId8"/>
          <a:stretch>
            <a:fillRect/>
          </a:stretch>
        </p:blipFill>
        <p:spPr>
          <a:xfrm>
            <a:off x="4515307" y="7212787"/>
            <a:ext cx="570585" cy="570585"/>
          </a:xfrm>
          <a:prstGeom prst="rect">
            <a:avLst/>
          </a:prstGeom>
        </p:spPr>
      </p:pic>
      <p:sp>
        <p:nvSpPr>
          <p:cNvPr id="43" name="TextBox 42"/>
          <p:cNvSpPr txBox="1"/>
          <p:nvPr/>
        </p:nvSpPr>
        <p:spPr>
          <a:xfrm>
            <a:off x="5303520" y="6675120"/>
            <a:ext cx="7315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600" b="1" i="0">
                <a:solidFill>
                  <a:srgbClr val="729A00"/>
                </a:solidFill>
                <a:latin typeface="+mj-lt"/>
              </a:rPr>
              <a:t>6</a:t>
            </a:r>
          </a:p>
        </p:txBody>
      </p:sp>
      <p:sp>
        <p:nvSpPr>
          <p:cNvPr id="44" name="TextBox 43"/>
          <p:cNvSpPr txBox="1"/>
          <p:nvPr/>
        </p:nvSpPr>
        <p:spPr>
          <a:xfrm>
            <a:off x="2971800" y="8321040"/>
            <a:ext cx="3657600" cy="502920"/>
          </a:xfrm>
          <a:prstGeom prst="rect">
            <a:avLst/>
          </a:prstGeom>
          <a:noFill/>
        </p:spPr>
        <p:txBody>
          <a:bodyPr wrap="square" lIns="0" rIns="0" tIns="18288" bIns="18288" anchor="t">
            <a:noAutofit/>
          </a:bodyPr>
          <a:lstStyle/>
          <a:p>
            <a:pPr algn="ctr">
              <a:lnSpc>
                <a:spcPct val="100000"/>
              </a:lnSpc>
              <a:spcBef>
                <a:spcPts val="0"/>
              </a:spcBef>
              <a:spcAft>
                <a:spcPts val="0"/>
              </a:spcAft>
            </a:pPr>
            <a:r>
              <a:rPr sz="2100" b="1" i="0">
                <a:solidFill>
                  <a:srgbClr val="192B37"/>
                </a:solidFill>
              </a:rPr>
              <a:t>Like &amp; comment</a:t>
            </a:r>
          </a:p>
        </p:txBody>
      </p:sp>
      <p:sp>
        <p:nvSpPr>
          <p:cNvPr id="45" name="TextBox 44"/>
          <p:cNvSpPr txBox="1"/>
          <p:nvPr/>
        </p:nvSpPr>
        <p:spPr>
          <a:xfrm>
            <a:off x="2971800" y="8823960"/>
            <a:ext cx="365760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0" i="0">
                <a:solidFill>
                  <a:srgbClr val="5E6A73"/>
                </a:solidFill>
              </a:rPr>
              <a:t>/transaction/:id</a:t>
            </a:r>
          </a:p>
        </p:txBody>
      </p:sp>
      <p:cxnSp>
        <p:nvCxnSpPr>
          <p:cNvPr id="46" name="Connector 45"/>
          <p:cNvCxnSpPr/>
          <p:nvPr/>
        </p:nvCxnSpPr>
        <p:spPr>
          <a:xfrm>
            <a:off x="5669280" y="7498080"/>
            <a:ext cx="2926080" cy="0"/>
          </a:xfrm>
          <a:prstGeom prst="line">
            <a:avLst/>
          </a:prstGeom>
          <a:ln w="38100">
            <a:solidFill>
              <a:srgbClr val="D9E1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8732520" y="6766560"/>
            <a:ext cx="1463040" cy="1463040"/>
          </a:xfrm>
          <a:prstGeom prst="ellipse">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915400" y="6949440"/>
            <a:ext cx="1097280" cy="109728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LuBell.png"/>
          <p:cNvPicPr>
            <a:picLocks noChangeAspect="1"/>
          </p:cNvPicPr>
          <p:nvPr/>
        </p:nvPicPr>
        <p:blipFill>
          <a:blip r:embed="rId9"/>
          <a:stretch>
            <a:fillRect/>
          </a:stretch>
        </p:blipFill>
        <p:spPr>
          <a:xfrm>
            <a:off x="9178747" y="7212787"/>
            <a:ext cx="570585" cy="570585"/>
          </a:xfrm>
          <a:prstGeom prst="rect">
            <a:avLst/>
          </a:prstGeom>
        </p:spPr>
      </p:pic>
      <p:sp>
        <p:nvSpPr>
          <p:cNvPr id="50" name="TextBox 49"/>
          <p:cNvSpPr txBox="1"/>
          <p:nvPr/>
        </p:nvSpPr>
        <p:spPr>
          <a:xfrm>
            <a:off x="9966960" y="6675120"/>
            <a:ext cx="7315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600" b="1" i="0">
                <a:solidFill>
                  <a:srgbClr val="3D9BC8"/>
                </a:solidFill>
                <a:latin typeface="+mj-lt"/>
              </a:rPr>
              <a:t>7</a:t>
            </a:r>
          </a:p>
        </p:txBody>
      </p:sp>
      <p:sp>
        <p:nvSpPr>
          <p:cNvPr id="51" name="TextBox 50"/>
          <p:cNvSpPr txBox="1"/>
          <p:nvPr/>
        </p:nvSpPr>
        <p:spPr>
          <a:xfrm>
            <a:off x="7635240" y="8321040"/>
            <a:ext cx="3657600" cy="502920"/>
          </a:xfrm>
          <a:prstGeom prst="rect">
            <a:avLst/>
          </a:prstGeom>
          <a:noFill/>
        </p:spPr>
        <p:txBody>
          <a:bodyPr wrap="square" lIns="0" rIns="0" tIns="18288" bIns="18288" anchor="t">
            <a:noAutofit/>
          </a:bodyPr>
          <a:lstStyle/>
          <a:p>
            <a:pPr algn="ctr">
              <a:lnSpc>
                <a:spcPct val="100000"/>
              </a:lnSpc>
              <a:spcBef>
                <a:spcPts val="0"/>
              </a:spcBef>
              <a:spcAft>
                <a:spcPts val="0"/>
              </a:spcAft>
            </a:pPr>
            <a:r>
              <a:rPr sz="2100" b="1" i="0">
                <a:solidFill>
                  <a:srgbClr val="192B37"/>
                </a:solidFill>
              </a:rPr>
              <a:t>Notifications</a:t>
            </a:r>
          </a:p>
        </p:txBody>
      </p:sp>
      <p:sp>
        <p:nvSpPr>
          <p:cNvPr id="52" name="TextBox 51"/>
          <p:cNvSpPr txBox="1"/>
          <p:nvPr/>
        </p:nvSpPr>
        <p:spPr>
          <a:xfrm>
            <a:off x="7635240" y="8823960"/>
            <a:ext cx="365760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0" i="0">
                <a:solidFill>
                  <a:srgbClr val="5E6A73"/>
                </a:solidFill>
              </a:rPr>
              <a:t>/notifications</a:t>
            </a:r>
          </a:p>
        </p:txBody>
      </p:sp>
      <p:cxnSp>
        <p:nvCxnSpPr>
          <p:cNvPr id="53" name="Connector 52"/>
          <p:cNvCxnSpPr/>
          <p:nvPr/>
        </p:nvCxnSpPr>
        <p:spPr>
          <a:xfrm>
            <a:off x="10332720" y="7498080"/>
            <a:ext cx="2926080" cy="0"/>
          </a:xfrm>
          <a:prstGeom prst="line">
            <a:avLst/>
          </a:prstGeom>
          <a:ln w="38100">
            <a:solidFill>
              <a:srgbClr val="D9E1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13395959" y="6766560"/>
            <a:ext cx="1463040" cy="1463040"/>
          </a:xfrm>
          <a:prstGeom prst="ellipse">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3578839" y="6949440"/>
            <a:ext cx="1097280" cy="109728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LuSettings.png"/>
          <p:cNvPicPr>
            <a:picLocks noChangeAspect="1"/>
          </p:cNvPicPr>
          <p:nvPr/>
        </p:nvPicPr>
        <p:blipFill>
          <a:blip r:embed="rId10"/>
          <a:stretch>
            <a:fillRect/>
          </a:stretch>
        </p:blipFill>
        <p:spPr>
          <a:xfrm>
            <a:off x="13842187" y="7212787"/>
            <a:ext cx="570585" cy="570585"/>
          </a:xfrm>
          <a:prstGeom prst="rect">
            <a:avLst/>
          </a:prstGeom>
        </p:spPr>
      </p:pic>
      <p:sp>
        <p:nvSpPr>
          <p:cNvPr id="57" name="TextBox 56"/>
          <p:cNvSpPr txBox="1"/>
          <p:nvPr/>
        </p:nvSpPr>
        <p:spPr>
          <a:xfrm>
            <a:off x="14630399" y="6675120"/>
            <a:ext cx="7315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600" b="1" i="0">
                <a:solidFill>
                  <a:srgbClr val="00A859"/>
                </a:solidFill>
                <a:latin typeface="+mj-lt"/>
              </a:rPr>
              <a:t>8</a:t>
            </a:r>
          </a:p>
        </p:txBody>
      </p:sp>
      <p:sp>
        <p:nvSpPr>
          <p:cNvPr id="58" name="TextBox 57"/>
          <p:cNvSpPr txBox="1"/>
          <p:nvPr/>
        </p:nvSpPr>
        <p:spPr>
          <a:xfrm>
            <a:off x="12298680" y="8321040"/>
            <a:ext cx="3657600" cy="502920"/>
          </a:xfrm>
          <a:prstGeom prst="rect">
            <a:avLst/>
          </a:prstGeom>
          <a:noFill/>
        </p:spPr>
        <p:txBody>
          <a:bodyPr wrap="square" lIns="0" rIns="0" tIns="18288" bIns="18288" anchor="t">
            <a:noAutofit/>
          </a:bodyPr>
          <a:lstStyle/>
          <a:p>
            <a:pPr algn="ctr">
              <a:lnSpc>
                <a:spcPct val="100000"/>
              </a:lnSpc>
              <a:spcBef>
                <a:spcPts val="0"/>
              </a:spcBef>
              <a:spcAft>
                <a:spcPts val="0"/>
              </a:spcAft>
            </a:pPr>
            <a:r>
              <a:rPr sz="2100" b="1" i="0">
                <a:solidFill>
                  <a:srgbClr val="192B37"/>
                </a:solidFill>
              </a:rPr>
              <a:t>Settings &amp; banks</a:t>
            </a:r>
          </a:p>
        </p:txBody>
      </p:sp>
      <p:sp>
        <p:nvSpPr>
          <p:cNvPr id="59" name="TextBox 58"/>
          <p:cNvSpPr txBox="1"/>
          <p:nvPr/>
        </p:nvSpPr>
        <p:spPr>
          <a:xfrm>
            <a:off x="12298680" y="8823960"/>
            <a:ext cx="365760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0" i="0">
                <a:solidFill>
                  <a:srgbClr val="5E6A73"/>
                </a:solidFill>
              </a:rPr>
              <a:t>/user/settings</a:t>
            </a:r>
          </a:p>
        </p:txBody>
      </p:sp>
      <p:cxnSp>
        <p:nvCxnSpPr>
          <p:cNvPr id="60" name="Connector 59"/>
          <p:cNvCxnSpPr/>
          <p:nvPr/>
        </p:nvCxnSpPr>
        <p:spPr>
          <a:xfrm>
            <a:off x="14996159" y="7498080"/>
            <a:ext cx="2926080" cy="0"/>
          </a:xfrm>
          <a:prstGeom prst="line">
            <a:avLst/>
          </a:prstGeom>
          <a:ln w="38100">
            <a:solidFill>
              <a:srgbClr val="D9E1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Oval 60"/>
          <p:cNvSpPr/>
          <p:nvPr/>
        </p:nvSpPr>
        <p:spPr>
          <a:xfrm>
            <a:off x="18059400" y="6766560"/>
            <a:ext cx="1463040" cy="1463040"/>
          </a:xfrm>
          <a:prstGeom prst="ellipse">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8242280" y="6949440"/>
            <a:ext cx="1097280" cy="109728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LuDoorOpen.png"/>
          <p:cNvPicPr>
            <a:picLocks noChangeAspect="1"/>
          </p:cNvPicPr>
          <p:nvPr/>
        </p:nvPicPr>
        <p:blipFill>
          <a:blip r:embed="rId11"/>
          <a:stretch>
            <a:fillRect/>
          </a:stretch>
        </p:blipFill>
        <p:spPr>
          <a:xfrm>
            <a:off x="18505627" y="7212787"/>
            <a:ext cx="570585" cy="570585"/>
          </a:xfrm>
          <a:prstGeom prst="rect">
            <a:avLst/>
          </a:prstGeom>
        </p:spPr>
      </p:pic>
      <p:sp>
        <p:nvSpPr>
          <p:cNvPr id="64" name="TextBox 63"/>
          <p:cNvSpPr txBox="1"/>
          <p:nvPr/>
        </p:nvSpPr>
        <p:spPr>
          <a:xfrm>
            <a:off x="19293840" y="6675120"/>
            <a:ext cx="7315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600" b="1" i="0">
                <a:solidFill>
                  <a:srgbClr val="FF5640"/>
                </a:solidFill>
                <a:latin typeface="+mj-lt"/>
              </a:rPr>
              <a:t>9</a:t>
            </a:r>
          </a:p>
        </p:txBody>
      </p:sp>
      <p:sp>
        <p:nvSpPr>
          <p:cNvPr id="65" name="TextBox 64"/>
          <p:cNvSpPr txBox="1"/>
          <p:nvPr/>
        </p:nvSpPr>
        <p:spPr>
          <a:xfrm>
            <a:off x="16962120" y="8321040"/>
            <a:ext cx="3657600" cy="502920"/>
          </a:xfrm>
          <a:prstGeom prst="rect">
            <a:avLst/>
          </a:prstGeom>
          <a:noFill/>
        </p:spPr>
        <p:txBody>
          <a:bodyPr wrap="square" lIns="0" rIns="0" tIns="18288" bIns="18288" anchor="t">
            <a:noAutofit/>
          </a:bodyPr>
          <a:lstStyle/>
          <a:p>
            <a:pPr algn="ctr">
              <a:lnSpc>
                <a:spcPct val="100000"/>
              </a:lnSpc>
              <a:spcBef>
                <a:spcPts val="0"/>
              </a:spcBef>
              <a:spcAft>
                <a:spcPts val="0"/>
              </a:spcAft>
            </a:pPr>
            <a:r>
              <a:rPr sz="2100" b="1" i="0">
                <a:solidFill>
                  <a:srgbClr val="192B37"/>
                </a:solidFill>
              </a:rPr>
              <a:t>Logout</a:t>
            </a:r>
          </a:p>
        </p:txBody>
      </p:sp>
      <p:sp>
        <p:nvSpPr>
          <p:cNvPr id="66" name="TextBox 65"/>
          <p:cNvSpPr txBox="1"/>
          <p:nvPr/>
        </p:nvSpPr>
        <p:spPr>
          <a:xfrm>
            <a:off x="16962120" y="8823960"/>
            <a:ext cx="365760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0" i="0">
                <a:solidFill>
                  <a:srgbClr val="5E6A73"/>
                </a:solidFill>
              </a:rPr>
              <a:t>session ends</a:t>
            </a:r>
          </a:p>
        </p:txBody>
      </p:sp>
      <p:cxnSp>
        <p:nvCxnSpPr>
          <p:cNvPr id="67" name="Connector 66"/>
          <p:cNvCxnSpPr/>
          <p:nvPr/>
        </p:nvCxnSpPr>
        <p:spPr>
          <a:xfrm>
            <a:off x="19933920" y="5394960"/>
            <a:ext cx="0" cy="457200"/>
          </a:xfrm>
          <a:prstGeom prst="line">
            <a:avLst/>
          </a:prstGeom>
          <a:ln w="38100">
            <a:solidFill>
              <a:srgbClr val="D9E1E7"/>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4800600" y="5852160"/>
            <a:ext cx="15133320" cy="0"/>
          </a:xfrm>
          <a:prstGeom prst="line">
            <a:avLst/>
          </a:prstGeom>
          <a:ln w="38100">
            <a:solidFill>
              <a:srgbClr val="D9E1E7"/>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4800600" y="5852160"/>
            <a:ext cx="0" cy="822960"/>
          </a:xfrm>
          <a:prstGeom prst="line">
            <a:avLst/>
          </a:prstGeom>
          <a:ln w="38100">
            <a:solidFill>
              <a:srgbClr val="D9E1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Rounded Rectangle 69"/>
          <p:cNvSpPr/>
          <p:nvPr/>
        </p:nvSpPr>
        <p:spPr>
          <a:xfrm>
            <a:off x="612648" y="9555480"/>
            <a:ext cx="22860000" cy="868680"/>
          </a:xfrm>
          <a:prstGeom prst="roundRect">
            <a:avLst>
              <a:gd name="adj" fmla="val 30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914400" y="9555480"/>
            <a:ext cx="22311360" cy="868680"/>
          </a:xfrm>
          <a:prstGeom prst="rect">
            <a:avLst/>
          </a:prstGeom>
          <a:noFill/>
        </p:spPr>
        <p:txBody>
          <a:bodyPr wrap="square" lIns="0" rIns="0" tIns="18288" bIns="18288" anchor="ctr">
            <a:noAutofit/>
          </a:bodyPr>
          <a:lstStyle/>
          <a:p>
            <a:pPr algn="ctr">
              <a:lnSpc>
                <a:spcPct val="100000"/>
              </a:lnSpc>
              <a:spcBef>
                <a:spcPts val="0"/>
              </a:spcBef>
              <a:spcAft>
                <a:spcPts val="0"/>
              </a:spcAft>
            </a:pPr>
            <a:r>
              <a:rPr sz="1800" b="0" i="0">
                <a:solidFill>
                  <a:srgbClr val="192B37"/>
                </a:solidFill>
              </a:rPr>
              <a:t>Our </a:t>
            </a:r>
            <a:r>
              <a:rPr sz="1800" b="1" i="0">
                <a:solidFill>
                  <a:srgbClr val="192B37"/>
                </a:solidFill>
              </a:rPr>
              <a:t>e2e journey</a:t>
            </a:r>
            <a:r>
              <a:rPr sz="1800" b="0" i="0">
                <a:solidFill>
                  <a:srgbClr val="192B37"/>
                </a:solidFill>
              </a:rPr>
              <a:t> “Alice pays Bob, Bob reacts, Alice is notified” walks steps </a:t>
            </a:r>
            <a:r>
              <a:rPr sz="1800" b="1" i="0">
                <a:solidFill>
                  <a:srgbClr val="192B37"/>
                </a:solidFill>
              </a:rPr>
              <a:t>2 → 5 → 6 → 7</a:t>
            </a:r>
            <a:r>
              <a:rPr sz="1800" b="0" i="0">
                <a:solidFill>
                  <a:srgbClr val="192B37"/>
                </a:solidFill>
              </a:rPr>
              <a:t> across UI, API and data in 12.5 s.</a:t>
            </a:r>
          </a:p>
        </p:txBody>
      </p:sp>
      <p:sp>
        <p:nvSpPr>
          <p:cNvPr id="72" name="Rounded Rectangle 71"/>
          <p:cNvSpPr/>
          <p:nvPr/>
        </p:nvSpPr>
        <p:spPr>
          <a:xfrm>
            <a:off x="612648" y="10789920"/>
            <a:ext cx="22860000" cy="960120"/>
          </a:xfrm>
          <a:prstGeom prst="roundRect">
            <a:avLst>
              <a:gd name="adj" fmla="val 1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Oval 72"/>
          <p:cNvSpPr/>
          <p:nvPr/>
        </p:nvSpPr>
        <p:spPr>
          <a:xfrm>
            <a:off x="886968" y="10927080"/>
            <a:ext cx="685800" cy="6858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cture 73" descr="LuLaugh.png"/>
          <p:cNvPicPr>
            <a:picLocks noChangeAspect="1"/>
          </p:cNvPicPr>
          <p:nvPr/>
        </p:nvPicPr>
        <p:blipFill>
          <a:blip r:embed="rId12"/>
          <a:stretch>
            <a:fillRect/>
          </a:stretch>
        </p:blipFill>
        <p:spPr>
          <a:xfrm>
            <a:off x="1051560" y="11091672"/>
            <a:ext cx="356616" cy="356616"/>
          </a:xfrm>
          <a:prstGeom prst="rect">
            <a:avLst/>
          </a:prstGeom>
        </p:spPr>
      </p:pic>
      <p:sp>
        <p:nvSpPr>
          <p:cNvPr id="75" name="TextBox 74"/>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Every journey begins with a single sign-up. Ours ends with a logout and a very clean session cookie.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The app</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3D9BC8"/>
                </a:solidFill>
              </a:rPr>
              <a:t>APPLICATION FLOWS · PAYMENT</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What really happens when Alice pays Bob $42</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12</a:t>
            </a:r>
          </a:p>
        </p:txBody>
      </p:sp>
      <p:sp>
        <p:nvSpPr>
          <p:cNvPr id="6" name="Rounded Rectangle 5"/>
          <p:cNvSpPr/>
          <p:nvPr/>
        </p:nvSpPr>
        <p:spPr>
          <a:xfrm>
            <a:off x="548640" y="2926080"/>
            <a:ext cx="3657600" cy="731520"/>
          </a:xfrm>
          <a:prstGeom prst="roundRect">
            <a:avLst>
              <a:gd name="adj" fmla="val 50000"/>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0080" y="2926080"/>
            <a:ext cx="3474720" cy="731520"/>
          </a:xfrm>
          <a:prstGeom prst="rect">
            <a:avLst/>
          </a:prstGeom>
          <a:noFill/>
        </p:spPr>
        <p:txBody>
          <a:bodyPr wrap="square" lIns="0" rIns="0" tIns="18288" bIns="18288" anchor="ctr">
            <a:noAutofit/>
          </a:bodyPr>
          <a:lstStyle/>
          <a:p>
            <a:pPr algn="ctr">
              <a:lnSpc>
                <a:spcPct val="100000"/>
              </a:lnSpc>
              <a:spcBef>
                <a:spcPts val="0"/>
              </a:spcBef>
              <a:spcAft>
                <a:spcPts val="0"/>
              </a:spcAft>
            </a:pPr>
            <a:r>
              <a:rPr sz="1800" b="1" i="0">
                <a:solidFill>
                  <a:srgbClr val="FFFFFF"/>
                </a:solidFill>
              </a:rPr>
              <a:t>Alice · UI</a:t>
            </a:r>
          </a:p>
        </p:txBody>
      </p:sp>
      <p:cxnSp>
        <p:nvCxnSpPr>
          <p:cNvPr id="8" name="Connector 7"/>
          <p:cNvCxnSpPr/>
          <p:nvPr/>
        </p:nvCxnSpPr>
        <p:spPr>
          <a:xfrm>
            <a:off x="2377440" y="3703320"/>
            <a:ext cx="0" cy="6629400"/>
          </a:xfrm>
          <a:prstGeom prst="line">
            <a:avLst/>
          </a:prstGeom>
          <a:ln w="25400">
            <a:solidFill>
              <a:srgbClr val="D9E1E7"/>
            </a:solidFill>
            <a:prstDash val="dash"/>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583679" y="2926080"/>
            <a:ext cx="3657600" cy="731520"/>
          </a:xfrm>
          <a:prstGeom prst="roundRect">
            <a:avLst>
              <a:gd name="adj" fmla="val 50000"/>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675119" y="2926080"/>
            <a:ext cx="3474720" cy="731520"/>
          </a:xfrm>
          <a:prstGeom prst="rect">
            <a:avLst/>
          </a:prstGeom>
          <a:noFill/>
        </p:spPr>
        <p:txBody>
          <a:bodyPr wrap="square" lIns="0" rIns="0" tIns="18288" bIns="18288" anchor="ctr">
            <a:noAutofit/>
          </a:bodyPr>
          <a:lstStyle/>
          <a:p>
            <a:pPr algn="ctr">
              <a:lnSpc>
                <a:spcPct val="100000"/>
              </a:lnSpc>
              <a:spcBef>
                <a:spcPts val="0"/>
              </a:spcBef>
              <a:spcAft>
                <a:spcPts val="0"/>
              </a:spcAft>
            </a:pPr>
            <a:r>
              <a:rPr sz="1800" b="1" i="0">
                <a:solidFill>
                  <a:srgbClr val="FFFFFF"/>
                </a:solidFill>
              </a:rPr>
              <a:t>Express API</a:t>
            </a:r>
          </a:p>
        </p:txBody>
      </p:sp>
      <p:cxnSp>
        <p:nvCxnSpPr>
          <p:cNvPr id="11" name="Connector 10"/>
          <p:cNvCxnSpPr/>
          <p:nvPr/>
        </p:nvCxnSpPr>
        <p:spPr>
          <a:xfrm>
            <a:off x="8412480" y="3703320"/>
            <a:ext cx="0" cy="6629400"/>
          </a:xfrm>
          <a:prstGeom prst="line">
            <a:avLst/>
          </a:prstGeom>
          <a:ln w="25400">
            <a:solidFill>
              <a:srgbClr val="D9E1E7"/>
            </a:solidFill>
            <a:prstDash val="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2618720" y="2926080"/>
            <a:ext cx="3657600" cy="731520"/>
          </a:xfrm>
          <a:prstGeom prst="roundRect">
            <a:avLst>
              <a:gd name="adj" fmla="val 50000"/>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710160" y="2926080"/>
            <a:ext cx="3474720" cy="731520"/>
          </a:xfrm>
          <a:prstGeom prst="rect">
            <a:avLst/>
          </a:prstGeom>
          <a:noFill/>
        </p:spPr>
        <p:txBody>
          <a:bodyPr wrap="square" lIns="0" rIns="0" tIns="18288" bIns="18288" anchor="ctr">
            <a:noAutofit/>
          </a:bodyPr>
          <a:lstStyle/>
          <a:p>
            <a:pPr algn="ctr">
              <a:lnSpc>
                <a:spcPct val="100000"/>
              </a:lnSpc>
              <a:spcBef>
                <a:spcPts val="0"/>
              </a:spcBef>
              <a:spcAft>
                <a:spcPts val="0"/>
              </a:spcAft>
            </a:pPr>
            <a:r>
              <a:rPr sz="1800" b="1" i="0">
                <a:solidFill>
                  <a:srgbClr val="FFFFFF"/>
                </a:solidFill>
              </a:rPr>
              <a:t>lowdb</a:t>
            </a:r>
          </a:p>
        </p:txBody>
      </p:sp>
      <p:cxnSp>
        <p:nvCxnSpPr>
          <p:cNvPr id="14" name="Connector 13"/>
          <p:cNvCxnSpPr/>
          <p:nvPr/>
        </p:nvCxnSpPr>
        <p:spPr>
          <a:xfrm>
            <a:off x="14447520" y="3703320"/>
            <a:ext cx="0" cy="6629400"/>
          </a:xfrm>
          <a:prstGeom prst="line">
            <a:avLst/>
          </a:prstGeom>
          <a:ln w="25400">
            <a:solidFill>
              <a:srgbClr val="D9E1E7"/>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8653760" y="2926080"/>
            <a:ext cx="3657600" cy="731520"/>
          </a:xfrm>
          <a:prstGeom prst="roundRect">
            <a:avLst>
              <a:gd name="adj" fmla="val 50000"/>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8745200" y="2926080"/>
            <a:ext cx="3474720" cy="731520"/>
          </a:xfrm>
          <a:prstGeom prst="rect">
            <a:avLst/>
          </a:prstGeom>
          <a:noFill/>
        </p:spPr>
        <p:txBody>
          <a:bodyPr wrap="square" lIns="0" rIns="0" tIns="18288" bIns="18288" anchor="ctr">
            <a:noAutofit/>
          </a:bodyPr>
          <a:lstStyle/>
          <a:p>
            <a:pPr algn="ctr">
              <a:lnSpc>
                <a:spcPct val="100000"/>
              </a:lnSpc>
              <a:spcBef>
                <a:spcPts val="0"/>
              </a:spcBef>
              <a:spcAft>
                <a:spcPts val="0"/>
              </a:spcAft>
            </a:pPr>
            <a:r>
              <a:rPr sz="1800" b="1" i="0">
                <a:solidFill>
                  <a:srgbClr val="FFFFFF"/>
                </a:solidFill>
              </a:rPr>
              <a:t>Bob · UI</a:t>
            </a:r>
          </a:p>
        </p:txBody>
      </p:sp>
      <p:cxnSp>
        <p:nvCxnSpPr>
          <p:cNvPr id="17" name="Connector 16"/>
          <p:cNvCxnSpPr/>
          <p:nvPr/>
        </p:nvCxnSpPr>
        <p:spPr>
          <a:xfrm>
            <a:off x="20482560" y="3703320"/>
            <a:ext cx="0" cy="6629400"/>
          </a:xfrm>
          <a:prstGeom prst="line">
            <a:avLst/>
          </a:prstGeom>
          <a:ln w="25400">
            <a:solidFill>
              <a:srgbClr val="D9E1E7"/>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468880" y="4206240"/>
            <a:ext cx="5852160" cy="0"/>
          </a:xfrm>
          <a:prstGeom prst="line">
            <a:avLst/>
          </a:prstGeom>
          <a:ln w="31750">
            <a:solidFill>
              <a:srgbClr val="3D9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560320" y="3749039"/>
            <a:ext cx="5669279" cy="41148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1" i="0">
                <a:solidFill>
                  <a:srgbClr val="192B37"/>
                </a:solidFill>
              </a:rPr>
              <a:t>POST /transactions  { amount: 42 }</a:t>
            </a:r>
          </a:p>
        </p:txBody>
      </p:sp>
      <p:cxnSp>
        <p:nvCxnSpPr>
          <p:cNvPr id="20" name="Connector 19"/>
          <p:cNvCxnSpPr/>
          <p:nvPr/>
        </p:nvCxnSpPr>
        <p:spPr>
          <a:xfrm>
            <a:off x="8503919" y="5029200"/>
            <a:ext cx="5852161" cy="0"/>
          </a:xfrm>
          <a:prstGeom prst="line">
            <a:avLst/>
          </a:prstGeom>
          <a:ln w="31750">
            <a:solidFill>
              <a:srgbClr val="00A8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595359" y="4572000"/>
            <a:ext cx="5669280" cy="41148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1" i="0">
                <a:solidFill>
                  <a:srgbClr val="192B37"/>
                </a:solidFill>
              </a:rPr>
              <a:t>save txn · amount 4200 (cents)</a:t>
            </a:r>
          </a:p>
        </p:txBody>
      </p:sp>
      <p:cxnSp>
        <p:nvCxnSpPr>
          <p:cNvPr id="22" name="Connector 21"/>
          <p:cNvCxnSpPr/>
          <p:nvPr/>
        </p:nvCxnSpPr>
        <p:spPr>
          <a:xfrm>
            <a:off x="8503919" y="5852160"/>
            <a:ext cx="5852161" cy="0"/>
          </a:xfrm>
          <a:prstGeom prst="line">
            <a:avLst/>
          </a:prstGeom>
          <a:ln w="31750">
            <a:solidFill>
              <a:srgbClr val="00A8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595359" y="5394960"/>
            <a:ext cx="5669280" cy="41148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1" i="0">
                <a:solidFill>
                  <a:srgbClr val="192B37"/>
                </a:solidFill>
              </a:rPr>
              <a:t>Alice −4200 · Bob +4200</a:t>
            </a:r>
          </a:p>
        </p:txBody>
      </p:sp>
      <p:cxnSp>
        <p:nvCxnSpPr>
          <p:cNvPr id="24" name="Connector 23"/>
          <p:cNvCxnSpPr/>
          <p:nvPr/>
        </p:nvCxnSpPr>
        <p:spPr>
          <a:xfrm>
            <a:off x="8503919" y="6675120"/>
            <a:ext cx="5852161" cy="0"/>
          </a:xfrm>
          <a:prstGeom prst="line">
            <a:avLst/>
          </a:prstGeom>
          <a:ln w="31750">
            <a:solidFill>
              <a:srgbClr val="00A8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595359" y="6217920"/>
            <a:ext cx="5669280" cy="41148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1" i="0">
                <a:solidFill>
                  <a:srgbClr val="192B37"/>
                </a:solidFill>
              </a:rPr>
              <a:t>notification: “received payment”</a:t>
            </a:r>
          </a:p>
        </p:txBody>
      </p:sp>
      <p:cxnSp>
        <p:nvCxnSpPr>
          <p:cNvPr id="26" name="Connector 25"/>
          <p:cNvCxnSpPr/>
          <p:nvPr/>
        </p:nvCxnSpPr>
        <p:spPr>
          <a:xfrm flipH="1">
            <a:off x="2468880" y="7498079"/>
            <a:ext cx="5852160" cy="0"/>
          </a:xfrm>
          <a:prstGeom prst="line">
            <a:avLst/>
          </a:prstGeom>
          <a:ln w="31750">
            <a:solidFill>
              <a:srgbClr val="3D9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560320" y="7040879"/>
            <a:ext cx="5669279" cy="41148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1" i="0">
                <a:solidFill>
                  <a:srgbClr val="192B37"/>
                </a:solidFill>
              </a:rPr>
              <a:t>200 { transaction }  →  “Transaction Submitted!”</a:t>
            </a:r>
          </a:p>
        </p:txBody>
      </p:sp>
      <p:cxnSp>
        <p:nvCxnSpPr>
          <p:cNvPr id="28" name="Connector 27"/>
          <p:cNvCxnSpPr/>
          <p:nvPr/>
        </p:nvCxnSpPr>
        <p:spPr>
          <a:xfrm flipH="1">
            <a:off x="8503919" y="8503920"/>
            <a:ext cx="11887200" cy="0"/>
          </a:xfrm>
          <a:prstGeom prst="line">
            <a:avLst/>
          </a:prstGeom>
          <a:ln w="31750">
            <a:solidFill>
              <a:srgbClr val="8683C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595359" y="8046720"/>
            <a:ext cx="11704319" cy="41148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1" i="0">
                <a:solidFill>
                  <a:srgbClr val="192B37"/>
                </a:solidFill>
              </a:rPr>
              <a:t>GET /notifications (after login)</a:t>
            </a:r>
          </a:p>
        </p:txBody>
      </p:sp>
      <p:cxnSp>
        <p:nvCxnSpPr>
          <p:cNvPr id="30" name="Connector 29"/>
          <p:cNvCxnSpPr/>
          <p:nvPr/>
        </p:nvCxnSpPr>
        <p:spPr>
          <a:xfrm>
            <a:off x="8503919" y="9326880"/>
            <a:ext cx="11887200" cy="0"/>
          </a:xfrm>
          <a:prstGeom prst="line">
            <a:avLst/>
          </a:prstGeom>
          <a:ln w="31750">
            <a:solidFill>
              <a:srgbClr val="8683C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595359" y="8869680"/>
            <a:ext cx="11704319" cy="41148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1" i="0">
                <a:solidFill>
                  <a:srgbClr val="192B37"/>
                </a:solidFill>
              </a:rPr>
              <a:t>Bob sees $42 and likes it  ❤</a:t>
            </a:r>
          </a:p>
        </p:txBody>
      </p:sp>
      <p:sp>
        <p:nvSpPr>
          <p:cNvPr id="32" name="Rounded Rectangle 31"/>
          <p:cNvSpPr/>
          <p:nvPr/>
        </p:nvSpPr>
        <p:spPr>
          <a:xfrm>
            <a:off x="612648" y="10789920"/>
            <a:ext cx="22860000" cy="960120"/>
          </a:xfrm>
          <a:prstGeom prst="roundRect">
            <a:avLst>
              <a:gd name="adj" fmla="val 1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86968" y="10927080"/>
            <a:ext cx="685800" cy="6858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LuLaugh.png"/>
          <p:cNvPicPr>
            <a:picLocks noChangeAspect="1"/>
          </p:cNvPicPr>
          <p:nvPr/>
        </p:nvPicPr>
        <p:blipFill>
          <a:blip r:embed="rId3"/>
          <a:stretch>
            <a:fillRect/>
          </a:stretch>
        </p:blipFill>
        <p:spPr>
          <a:xfrm>
            <a:off x="1051560" y="11091672"/>
            <a:ext cx="356616" cy="356616"/>
          </a:xfrm>
          <a:prstGeom prst="rect">
            <a:avLst/>
          </a:prstGeom>
        </p:spPr>
      </p:pic>
      <p:sp>
        <p:nvSpPr>
          <p:cNvPr id="35" name="TextBox 34"/>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Alice pays, Bob gets notified, Alice gets a like. Easiest $42 Bob has ever made.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The app</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3D9BC8"/>
                </a:solidFill>
              </a:rPr>
              <a:t>APPLICATION · DATA MODEL</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Eight collections, one seed, zero real people</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13</a:t>
            </a:r>
          </a:p>
        </p:txBody>
      </p:sp>
      <p:sp>
        <p:nvSpPr>
          <p:cNvPr id="6" name="Rounded Rectangle 5"/>
          <p:cNvSpPr/>
          <p:nvPr/>
        </p:nvSpPr>
        <p:spPr>
          <a:xfrm>
            <a:off x="914400" y="3108960"/>
            <a:ext cx="3474720" cy="1554480"/>
          </a:xfrm>
          <a:prstGeom prst="roundRect">
            <a:avLst>
              <a:gd name="adj" fmla="val 12000"/>
            </a:avLst>
          </a:prstGeom>
          <a:solidFill>
            <a:srgbClr val="E3F1F8"/>
          </a:solidFill>
          <a:ln w="1905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914400" y="3108960"/>
            <a:ext cx="3474720" cy="548640"/>
          </a:xfrm>
          <a:prstGeom prst="roundRect">
            <a:avLst>
              <a:gd name="adj" fmla="val 30000"/>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3108960"/>
            <a:ext cx="3474720" cy="54864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1" i="0">
                <a:solidFill>
                  <a:srgbClr val="FFFFFF"/>
                </a:solidFill>
              </a:rPr>
              <a:t>User</a:t>
            </a:r>
          </a:p>
        </p:txBody>
      </p:sp>
      <p:sp>
        <p:nvSpPr>
          <p:cNvPr id="9" name="TextBox 8"/>
          <p:cNvSpPr txBox="1"/>
          <p:nvPr/>
        </p:nvSpPr>
        <p:spPr>
          <a:xfrm>
            <a:off x="1097280" y="3730752"/>
            <a:ext cx="310896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1300" b="0" i="0">
                <a:solidFill>
                  <a:srgbClr val="192B37"/>
                </a:solidFill>
              </a:rPr>
              <a:t>id · username · balance</a:t>
            </a:r>
          </a:p>
        </p:txBody>
      </p:sp>
      <p:sp>
        <p:nvSpPr>
          <p:cNvPr id="10" name="Rounded Rectangle 9"/>
          <p:cNvSpPr/>
          <p:nvPr/>
        </p:nvSpPr>
        <p:spPr>
          <a:xfrm>
            <a:off x="4846320" y="3108960"/>
            <a:ext cx="3474720" cy="1554480"/>
          </a:xfrm>
          <a:prstGeom prst="roundRect">
            <a:avLst>
              <a:gd name="adj" fmla="val 12000"/>
            </a:avLst>
          </a:prstGeom>
          <a:solidFill>
            <a:srgbClr val="E2F5EB"/>
          </a:solidFill>
          <a:ln w="1905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4846320" y="3108960"/>
            <a:ext cx="3474720" cy="548640"/>
          </a:xfrm>
          <a:prstGeom prst="roundRect">
            <a:avLst>
              <a:gd name="adj" fmla="val 30000"/>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846320" y="3108960"/>
            <a:ext cx="3474720" cy="54864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1" i="0">
                <a:solidFill>
                  <a:srgbClr val="FFFFFF"/>
                </a:solidFill>
              </a:rPr>
              <a:t>BankAccount</a:t>
            </a:r>
          </a:p>
        </p:txBody>
      </p:sp>
      <p:sp>
        <p:nvSpPr>
          <p:cNvPr id="13" name="TextBox 12"/>
          <p:cNvSpPr txBox="1"/>
          <p:nvPr/>
        </p:nvSpPr>
        <p:spPr>
          <a:xfrm>
            <a:off x="5029200" y="3730752"/>
            <a:ext cx="310896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1300" b="0" i="0">
                <a:solidFill>
                  <a:srgbClr val="192B37"/>
                </a:solidFill>
              </a:rPr>
              <a:t>userId · routingNumber</a:t>
            </a:r>
          </a:p>
        </p:txBody>
      </p:sp>
      <p:sp>
        <p:nvSpPr>
          <p:cNvPr id="14" name="Rounded Rectangle 13"/>
          <p:cNvSpPr/>
          <p:nvPr/>
        </p:nvSpPr>
        <p:spPr>
          <a:xfrm>
            <a:off x="914400" y="5486400"/>
            <a:ext cx="3474720" cy="1554480"/>
          </a:xfrm>
          <a:prstGeom prst="roundRect">
            <a:avLst>
              <a:gd name="adj" fmla="val 12000"/>
            </a:avLst>
          </a:prstGeom>
          <a:solidFill>
            <a:srgbClr val="FFE9E5"/>
          </a:solidFill>
          <a:ln w="1905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914400" y="5486400"/>
            <a:ext cx="3474720" cy="548640"/>
          </a:xfrm>
          <a:prstGeom prst="roundRect">
            <a:avLst>
              <a:gd name="adj" fmla="val 30000"/>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5486400"/>
            <a:ext cx="3474720" cy="54864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1" i="0">
                <a:solidFill>
                  <a:srgbClr val="FFFFFF"/>
                </a:solidFill>
              </a:rPr>
              <a:t>Contact</a:t>
            </a:r>
          </a:p>
        </p:txBody>
      </p:sp>
      <p:sp>
        <p:nvSpPr>
          <p:cNvPr id="17" name="TextBox 16"/>
          <p:cNvSpPr txBox="1"/>
          <p:nvPr/>
        </p:nvSpPr>
        <p:spPr>
          <a:xfrm>
            <a:off x="1097280" y="6108192"/>
            <a:ext cx="310896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1300" b="0" i="0">
                <a:solidFill>
                  <a:srgbClr val="192B37"/>
                </a:solidFill>
              </a:rPr>
              <a:t>userId · contactUserId</a:t>
            </a:r>
          </a:p>
        </p:txBody>
      </p:sp>
      <p:sp>
        <p:nvSpPr>
          <p:cNvPr id="18" name="Rounded Rectangle 17"/>
          <p:cNvSpPr/>
          <p:nvPr/>
        </p:nvSpPr>
        <p:spPr>
          <a:xfrm>
            <a:off x="4846320" y="5486400"/>
            <a:ext cx="3474720" cy="1554480"/>
          </a:xfrm>
          <a:prstGeom prst="roundRect">
            <a:avLst>
              <a:gd name="adj" fmla="val 12000"/>
            </a:avLst>
          </a:prstGeom>
          <a:solidFill>
            <a:srgbClr val="ECEBF7"/>
          </a:solidFill>
          <a:ln w="1905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4846320" y="5486400"/>
            <a:ext cx="3474720" cy="548640"/>
          </a:xfrm>
          <a:prstGeom prst="roundRect">
            <a:avLst>
              <a:gd name="adj" fmla="val 30000"/>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846320" y="5486400"/>
            <a:ext cx="3474720" cy="54864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1" i="0">
                <a:solidFill>
                  <a:srgbClr val="FFFFFF"/>
                </a:solidFill>
              </a:rPr>
              <a:t>Transaction</a:t>
            </a:r>
          </a:p>
        </p:txBody>
      </p:sp>
      <p:sp>
        <p:nvSpPr>
          <p:cNvPr id="21" name="TextBox 20"/>
          <p:cNvSpPr txBox="1"/>
          <p:nvPr/>
        </p:nvSpPr>
        <p:spPr>
          <a:xfrm>
            <a:off x="5029200" y="6108192"/>
            <a:ext cx="310896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1300" b="0" i="0">
                <a:solidFill>
                  <a:srgbClr val="192B37"/>
                </a:solidFill>
              </a:rPr>
              <a:t>senderId · receiverId</a:t>
            </a:r>
          </a:p>
          <a:p>
            <a:pPr algn="ctr">
              <a:lnSpc>
                <a:spcPct val="100000"/>
              </a:lnSpc>
              <a:spcBef>
                <a:spcPts val="0"/>
              </a:spcBef>
              <a:spcAft>
                <a:spcPts val="0"/>
              </a:spcAft>
            </a:pPr>
            <a:r>
              <a:rPr sz="1300" b="0" i="0">
                <a:solidFill>
                  <a:srgbClr val="192B37"/>
                </a:solidFill>
              </a:rPr>
              <a:t>amount (cents) · status</a:t>
            </a:r>
          </a:p>
        </p:txBody>
      </p:sp>
      <p:sp>
        <p:nvSpPr>
          <p:cNvPr id="22" name="Rounded Rectangle 21"/>
          <p:cNvSpPr/>
          <p:nvPr/>
        </p:nvSpPr>
        <p:spPr>
          <a:xfrm>
            <a:off x="8778240" y="3108960"/>
            <a:ext cx="3474720" cy="1554480"/>
          </a:xfrm>
          <a:prstGeom prst="roundRect">
            <a:avLst>
              <a:gd name="adj" fmla="val 12000"/>
            </a:avLst>
          </a:prstGeom>
          <a:solidFill>
            <a:srgbClr val="EEF4DC"/>
          </a:solidFill>
          <a:ln w="19050">
            <a:solidFill>
              <a:srgbClr val="729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8778240" y="3108960"/>
            <a:ext cx="3474720" cy="548640"/>
          </a:xfrm>
          <a:prstGeom prst="roundRect">
            <a:avLst>
              <a:gd name="adj" fmla="val 30000"/>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0" y="3108960"/>
            <a:ext cx="3474720" cy="54864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1" i="0">
                <a:solidFill>
                  <a:srgbClr val="FFFFFF"/>
                </a:solidFill>
              </a:rPr>
              <a:t>BankTransfer</a:t>
            </a:r>
          </a:p>
        </p:txBody>
      </p:sp>
      <p:sp>
        <p:nvSpPr>
          <p:cNvPr id="25" name="TextBox 24"/>
          <p:cNvSpPr txBox="1"/>
          <p:nvPr/>
        </p:nvSpPr>
        <p:spPr>
          <a:xfrm>
            <a:off x="8961119" y="3730752"/>
            <a:ext cx="310896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1300" b="0" i="0">
                <a:solidFill>
                  <a:srgbClr val="192B37"/>
                </a:solidFill>
              </a:rPr>
              <a:t>userId · amount · type</a:t>
            </a:r>
          </a:p>
        </p:txBody>
      </p:sp>
      <p:sp>
        <p:nvSpPr>
          <p:cNvPr id="26" name="Rounded Rectangle 25"/>
          <p:cNvSpPr/>
          <p:nvPr/>
        </p:nvSpPr>
        <p:spPr>
          <a:xfrm>
            <a:off x="8778240" y="5486400"/>
            <a:ext cx="3474720" cy="1554480"/>
          </a:xfrm>
          <a:prstGeom prst="roundRect">
            <a:avLst>
              <a:gd name="adj" fmla="val 12000"/>
            </a:avLst>
          </a:prstGeom>
          <a:solidFill>
            <a:srgbClr val="FCEFDA"/>
          </a:solidFill>
          <a:ln w="1905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8778240" y="5486400"/>
            <a:ext cx="3474720" cy="548640"/>
          </a:xfrm>
          <a:prstGeom prst="roundRect">
            <a:avLst>
              <a:gd name="adj" fmla="val 30000"/>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778240" y="5486400"/>
            <a:ext cx="3474720" cy="54864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1" i="0">
                <a:solidFill>
                  <a:srgbClr val="FFFFFF"/>
                </a:solidFill>
              </a:rPr>
              <a:t>Like</a:t>
            </a:r>
          </a:p>
        </p:txBody>
      </p:sp>
      <p:sp>
        <p:nvSpPr>
          <p:cNvPr id="29" name="TextBox 28"/>
          <p:cNvSpPr txBox="1"/>
          <p:nvPr/>
        </p:nvSpPr>
        <p:spPr>
          <a:xfrm>
            <a:off x="8961119" y="6108192"/>
            <a:ext cx="310896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1300" b="0" i="0">
                <a:solidFill>
                  <a:srgbClr val="192B37"/>
                </a:solidFill>
              </a:rPr>
              <a:t>userId · transactionId</a:t>
            </a:r>
          </a:p>
        </p:txBody>
      </p:sp>
      <p:sp>
        <p:nvSpPr>
          <p:cNvPr id="30" name="Rounded Rectangle 29"/>
          <p:cNvSpPr/>
          <p:nvPr/>
        </p:nvSpPr>
        <p:spPr>
          <a:xfrm>
            <a:off x="8778240" y="7863840"/>
            <a:ext cx="3474720" cy="1554480"/>
          </a:xfrm>
          <a:prstGeom prst="roundRect">
            <a:avLst>
              <a:gd name="adj" fmla="val 12000"/>
            </a:avLst>
          </a:prstGeom>
          <a:solidFill>
            <a:srgbClr val="FCEFDA"/>
          </a:solidFill>
          <a:ln w="1905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8778240" y="7863840"/>
            <a:ext cx="3474720" cy="548640"/>
          </a:xfrm>
          <a:prstGeom prst="roundRect">
            <a:avLst>
              <a:gd name="adj" fmla="val 30000"/>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778240" y="7863840"/>
            <a:ext cx="3474720" cy="54864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1" i="0">
                <a:solidFill>
                  <a:srgbClr val="FFFFFF"/>
                </a:solidFill>
              </a:rPr>
              <a:t>Comment</a:t>
            </a:r>
          </a:p>
        </p:txBody>
      </p:sp>
      <p:sp>
        <p:nvSpPr>
          <p:cNvPr id="33" name="TextBox 32"/>
          <p:cNvSpPr txBox="1"/>
          <p:nvPr/>
        </p:nvSpPr>
        <p:spPr>
          <a:xfrm>
            <a:off x="8961119" y="8485632"/>
            <a:ext cx="310896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1300" b="0" i="0">
                <a:solidFill>
                  <a:srgbClr val="192B37"/>
                </a:solidFill>
              </a:rPr>
              <a:t>userId · content</a:t>
            </a:r>
          </a:p>
        </p:txBody>
      </p:sp>
      <p:sp>
        <p:nvSpPr>
          <p:cNvPr id="34" name="Rounded Rectangle 33"/>
          <p:cNvSpPr/>
          <p:nvPr/>
        </p:nvSpPr>
        <p:spPr>
          <a:xfrm>
            <a:off x="4846320" y="7863840"/>
            <a:ext cx="3474720" cy="1554480"/>
          </a:xfrm>
          <a:prstGeom prst="roundRect">
            <a:avLst>
              <a:gd name="adj" fmla="val 12000"/>
            </a:avLst>
          </a:prstGeom>
          <a:solidFill>
            <a:srgbClr val="E3F1F8"/>
          </a:solidFill>
          <a:ln w="1905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4846320" y="7863840"/>
            <a:ext cx="3474720" cy="548640"/>
          </a:xfrm>
          <a:prstGeom prst="roundRect">
            <a:avLst>
              <a:gd name="adj" fmla="val 30000"/>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846320" y="7863840"/>
            <a:ext cx="3474720" cy="54864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1" i="0">
                <a:solidFill>
                  <a:srgbClr val="FFFFFF"/>
                </a:solidFill>
              </a:rPr>
              <a:t>Notification</a:t>
            </a:r>
          </a:p>
        </p:txBody>
      </p:sp>
      <p:sp>
        <p:nvSpPr>
          <p:cNvPr id="37" name="TextBox 36"/>
          <p:cNvSpPr txBox="1"/>
          <p:nvPr/>
        </p:nvSpPr>
        <p:spPr>
          <a:xfrm>
            <a:off x="5029200" y="8485632"/>
            <a:ext cx="310896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1300" b="0" i="0">
                <a:solidFill>
                  <a:srgbClr val="192B37"/>
                </a:solidFill>
              </a:rPr>
              <a:t>userId · status · isRead</a:t>
            </a:r>
          </a:p>
        </p:txBody>
      </p:sp>
      <p:cxnSp>
        <p:nvCxnSpPr>
          <p:cNvPr id="38" name="Connector 37"/>
          <p:cNvCxnSpPr/>
          <p:nvPr/>
        </p:nvCxnSpPr>
        <p:spPr>
          <a:xfrm>
            <a:off x="4389120" y="3886200"/>
            <a:ext cx="457200" cy="0"/>
          </a:xfrm>
          <a:prstGeom prst="line">
            <a:avLst/>
          </a:prstGeom>
          <a:ln w="19050">
            <a:solidFill>
              <a:srgbClr val="5E6A73"/>
            </a:solidFill>
            <a:tailEnd type="oval"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2651760" y="4663440"/>
            <a:ext cx="0" cy="822960"/>
          </a:xfrm>
          <a:prstGeom prst="line">
            <a:avLst/>
          </a:prstGeom>
          <a:ln w="19050">
            <a:solidFill>
              <a:srgbClr val="5E6A73"/>
            </a:solidFill>
            <a:tailEnd type="oval"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389120" y="6263640"/>
            <a:ext cx="457200" cy="0"/>
          </a:xfrm>
          <a:prstGeom prst="line">
            <a:avLst/>
          </a:prstGeom>
          <a:ln w="19050">
            <a:solidFill>
              <a:srgbClr val="5E6A73"/>
            </a:solidFill>
            <a:tailEnd type="oval"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321040" y="6263640"/>
            <a:ext cx="457200" cy="0"/>
          </a:xfrm>
          <a:prstGeom prst="line">
            <a:avLst/>
          </a:prstGeom>
          <a:ln w="19050">
            <a:solidFill>
              <a:srgbClr val="5E6A73"/>
            </a:solidFill>
            <a:tailEnd type="oval"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321040" y="3886200"/>
            <a:ext cx="457200" cy="0"/>
          </a:xfrm>
          <a:prstGeom prst="line">
            <a:avLst/>
          </a:prstGeom>
          <a:ln w="19050">
            <a:solidFill>
              <a:srgbClr val="5E6A73"/>
            </a:solidFill>
            <a:tailEnd type="oval"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583680" y="7040880"/>
            <a:ext cx="0" cy="822960"/>
          </a:xfrm>
          <a:prstGeom prst="line">
            <a:avLst/>
          </a:prstGeom>
          <a:ln w="19050">
            <a:solidFill>
              <a:srgbClr val="5E6A73"/>
            </a:solidFill>
            <a:tailEnd type="oval"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321040" y="6858000"/>
            <a:ext cx="457200" cy="1371600"/>
          </a:xfrm>
          <a:prstGeom prst="line">
            <a:avLst/>
          </a:prstGeom>
          <a:ln w="19050">
            <a:solidFill>
              <a:srgbClr val="5E6A73"/>
            </a:solidFill>
            <a:tailEnd type="oval"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2801600" y="2880360"/>
            <a:ext cx="100584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3D9BC8"/>
                </a:solidFill>
              </a:rPr>
              <a:t>SEED COUNTS (data/database-seed.json)</a:t>
            </a:r>
          </a:p>
        </p:txBody>
      </p:sp>
      <p:graphicFrame>
        <p:nvGraphicFramePr>
          <p:cNvPr id="46" name="Chart 45"/>
          <p:cNvGraphicFramePr>
            <a:graphicFrameLocks noGrp="1"/>
          </p:cNvGraphicFramePr>
          <p:nvPr/>
        </p:nvGraphicFramePr>
        <p:xfrm>
          <a:off x="12618720" y="3200400"/>
          <a:ext cx="10881360" cy="7223760"/>
        </p:xfrm>
        <a:graphic>
          <a:graphicData uri="http://schemas.openxmlformats.org/drawingml/2006/chart">
            <c:chart xmlns:c="http://schemas.openxmlformats.org/drawingml/2006/chart" r:id="rId3"/>
          </a:graphicData>
        </a:graphic>
      </p:graphicFrame>
      <p:sp>
        <p:nvSpPr>
          <p:cNvPr id="47" name="Rounded Rectangle 46"/>
          <p:cNvSpPr/>
          <p:nvPr/>
        </p:nvSpPr>
        <p:spPr>
          <a:xfrm>
            <a:off x="612648" y="10789920"/>
            <a:ext cx="22860000" cy="960120"/>
          </a:xfrm>
          <a:prstGeom prst="roundRect">
            <a:avLst>
              <a:gd name="adj" fmla="val 1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886968" y="10927080"/>
            <a:ext cx="685800" cy="6858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LuLaugh.png"/>
          <p:cNvPicPr>
            <a:picLocks noChangeAspect="1"/>
          </p:cNvPicPr>
          <p:nvPr/>
        </p:nvPicPr>
        <p:blipFill>
          <a:blip r:embed="rId4"/>
          <a:stretch>
            <a:fillRect/>
          </a:stretch>
        </p:blipFill>
        <p:spPr>
          <a:xfrm>
            <a:off x="1051560" y="11091672"/>
            <a:ext cx="356616" cy="356616"/>
          </a:xfrm>
          <a:prstGeom prst="rect">
            <a:avLst/>
          </a:prstGeom>
        </p:spPr>
      </p:pic>
      <p:sp>
        <p:nvSpPr>
          <p:cNvPr id="50" name="TextBox 49"/>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600 transactions between 5 people. Someone really needs to stop splitting the pizza bill.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API &amp; UI layers</a:t>
            </a:r>
          </a:p>
        </p:txBody>
      </p:sp>
      <p:sp>
        <p:nvSpPr>
          <p:cNvPr id="3" name="Text Placeholder 2"/>
          <p:cNvSpPr>
            <a:spLocks noGrp="1"/>
          </p:cNvSpPr>
          <p:nvPr>
            <p:ph type="body" idx="21" sz="quarter"/>
          </p:nvPr>
        </p:nvSpPr>
        <p:spPr/>
        <p:txBody>
          <a:bodyPr/>
          <a:lstStyle/>
          <a:p>
            <a:r>
              <a:t>02</a:t>
            </a:r>
          </a:p>
        </p:txBody>
      </p:sp>
      <p:sp>
        <p:nvSpPr>
          <p:cNvPr id="4" name="Text Placeholder 3"/>
          <p:cNvSpPr>
            <a:spLocks noGrp="1"/>
          </p:cNvSpPr>
          <p:nvPr>
            <p:ph type="body" idx="22" sz="quarter"/>
          </p:nvPr>
        </p:nvSpPr>
        <p:spPr/>
        <p:txBody>
          <a:bodyPr/>
          <a:lstStyle/>
          <a:p>
            <a:r>
              <a:t>Flows, tests, contract, defects — both layers, real results</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14</a:t>
            </a:r>
          </a:p>
        </p:txBody>
      </p:sp>
      <p:sp>
        <p:nvSpPr>
          <p:cNvPr id="6" name="Rounded Rectangle 5"/>
          <p:cNvSpPr/>
          <p:nvPr/>
        </p:nvSpPr>
        <p:spPr>
          <a:xfrm>
            <a:off x="5303520" y="7086600"/>
            <a:ext cx="17007840" cy="1143000"/>
          </a:xfrm>
          <a:prstGeom prst="roundRect">
            <a:avLst>
              <a:gd name="adj" fmla="val 20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532120" y="7287768"/>
            <a:ext cx="731520" cy="73152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Laugh.png"/>
          <p:cNvPicPr>
            <a:picLocks noChangeAspect="1"/>
          </p:cNvPicPr>
          <p:nvPr/>
        </p:nvPicPr>
        <p:blipFill>
          <a:blip r:embed="rId3"/>
          <a:stretch>
            <a:fillRect/>
          </a:stretch>
        </p:blipFill>
        <p:spPr>
          <a:xfrm>
            <a:off x="5707684" y="7463332"/>
            <a:ext cx="380390" cy="380390"/>
          </a:xfrm>
          <a:prstGeom prst="rect">
            <a:avLst/>
          </a:prstGeom>
        </p:spPr>
      </p:pic>
      <p:sp>
        <p:nvSpPr>
          <p:cNvPr id="9" name="TextBox 8"/>
          <p:cNvSpPr txBox="1"/>
          <p:nvPr/>
        </p:nvSpPr>
        <p:spPr>
          <a:xfrm>
            <a:off x="6492240" y="7086600"/>
            <a:ext cx="15636240" cy="114300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0" i="1">
                <a:solidFill>
                  <a:srgbClr val="192B37"/>
                </a:solidFill>
              </a:rPr>
              <a:t>Layers, like an onion: peel carefully. Tests may cause tears — of joy, mostly.</a:t>
            </a:r>
          </a:p>
        </p:txBody>
      </p:sp>
      <p:sp>
        <p:nvSpPr>
          <p:cNvPr id="10" name="TextBox 9"/>
          <p:cNvSpPr txBox="1"/>
          <p:nvPr/>
        </p:nvSpPr>
        <p:spPr>
          <a:xfrm>
            <a:off x="5303520" y="8915400"/>
            <a:ext cx="91440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00A859"/>
                </a:solidFill>
              </a:rPr>
              <a:t>IN THIS CHAPTER</a:t>
            </a:r>
          </a:p>
        </p:txBody>
      </p:sp>
      <p:sp>
        <p:nvSpPr>
          <p:cNvPr id="11" name="Rounded Rectangle 10"/>
          <p:cNvSpPr/>
          <p:nvPr/>
        </p:nvSpPr>
        <p:spPr>
          <a:xfrm>
            <a:off x="5303520" y="9464040"/>
            <a:ext cx="1906524" cy="640080"/>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94959" y="9464040"/>
            <a:ext cx="1723644"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API flows</a:t>
            </a:r>
          </a:p>
        </p:txBody>
      </p:sp>
      <p:sp>
        <p:nvSpPr>
          <p:cNvPr id="13" name="Rounded Rectangle 12"/>
          <p:cNvSpPr/>
          <p:nvPr/>
        </p:nvSpPr>
        <p:spPr>
          <a:xfrm>
            <a:off x="7484363" y="9464040"/>
            <a:ext cx="1906524" cy="640080"/>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575803" y="9464040"/>
            <a:ext cx="1723644"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API tests</a:t>
            </a:r>
          </a:p>
        </p:txBody>
      </p:sp>
      <p:sp>
        <p:nvSpPr>
          <p:cNvPr id="15" name="Rounded Rectangle 14"/>
          <p:cNvSpPr/>
          <p:nvPr/>
        </p:nvSpPr>
        <p:spPr>
          <a:xfrm>
            <a:off x="9665207" y="9464040"/>
            <a:ext cx="1755648" cy="640080"/>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756647" y="9464040"/>
            <a:ext cx="1572768"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Contract</a:t>
            </a:r>
          </a:p>
        </p:txBody>
      </p:sp>
      <p:sp>
        <p:nvSpPr>
          <p:cNvPr id="17" name="Rounded Rectangle 16"/>
          <p:cNvSpPr/>
          <p:nvPr/>
        </p:nvSpPr>
        <p:spPr>
          <a:xfrm>
            <a:off x="11695176" y="9464040"/>
            <a:ext cx="1604772" cy="640080"/>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786615" y="9464040"/>
            <a:ext cx="1421892"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Defects</a:t>
            </a:r>
          </a:p>
        </p:txBody>
      </p:sp>
      <p:sp>
        <p:nvSpPr>
          <p:cNvPr id="19" name="Rounded Rectangle 18"/>
          <p:cNvSpPr/>
          <p:nvPr/>
        </p:nvSpPr>
        <p:spPr>
          <a:xfrm>
            <a:off x="13574267" y="9464040"/>
            <a:ext cx="1755648" cy="640080"/>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3665707" y="9464040"/>
            <a:ext cx="1572768"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UI flows</a:t>
            </a:r>
          </a:p>
        </p:txBody>
      </p:sp>
      <p:sp>
        <p:nvSpPr>
          <p:cNvPr id="21" name="Rounded Rectangle 20"/>
          <p:cNvSpPr/>
          <p:nvPr/>
        </p:nvSpPr>
        <p:spPr>
          <a:xfrm>
            <a:off x="15604235" y="9464040"/>
            <a:ext cx="1755648" cy="640080"/>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5695676" y="9464040"/>
            <a:ext cx="1572768"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UI tests</a:t>
            </a:r>
          </a:p>
        </p:txBody>
      </p:sp>
      <p:sp>
        <p:nvSpPr>
          <p:cNvPr id="23" name="Rounded Rectangle 22"/>
          <p:cNvSpPr/>
          <p:nvPr/>
        </p:nvSpPr>
        <p:spPr>
          <a:xfrm>
            <a:off x="5303520" y="10287000"/>
            <a:ext cx="2359152" cy="640080"/>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394959" y="10287000"/>
            <a:ext cx="2176272"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Mocks &amp; a11y</a:t>
            </a:r>
          </a:p>
        </p:txBody>
      </p:sp>
      <p:sp>
        <p:nvSpPr>
          <p:cNvPr id="25" name="Oval 24"/>
          <p:cNvSpPr/>
          <p:nvPr/>
        </p:nvSpPr>
        <p:spPr>
          <a:xfrm>
            <a:off x="20162520" y="8915400"/>
            <a:ext cx="731520" cy="73152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1122640" y="8915400"/>
            <a:ext cx="731520" cy="731520"/>
          </a:xfrm>
          <a:prstGeom prst="ellipse">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2082760" y="8915400"/>
            <a:ext cx="731520" cy="73152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0162520" y="9875520"/>
            <a:ext cx="731520" cy="731520"/>
          </a:xfrm>
          <a:prstGeom prst="ellipse">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1122640" y="9875520"/>
            <a:ext cx="731520" cy="73152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2082760" y="9875520"/>
            <a:ext cx="731520" cy="731520"/>
          </a:xfrm>
          <a:prstGeom prst="ellipse">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API &amp; UI</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00A859"/>
                </a:solidFill>
              </a:rPr>
              <a:t>API LAYER · FLOWS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Four business flows, 35 calls, one cookie</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15</a:t>
            </a:r>
          </a:p>
        </p:txBody>
      </p:sp>
      <p:sp>
        <p:nvSpPr>
          <p:cNvPr id="6" name="Oval 5"/>
          <p:cNvSpPr/>
          <p:nvPr/>
        </p:nvSpPr>
        <p:spPr>
          <a:xfrm>
            <a:off x="612648" y="3063240"/>
            <a:ext cx="1051560" cy="105156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uKeyRound.png"/>
          <p:cNvPicPr>
            <a:picLocks noChangeAspect="1"/>
          </p:cNvPicPr>
          <p:nvPr/>
        </p:nvPicPr>
        <p:blipFill>
          <a:blip r:embed="rId3"/>
          <a:stretch>
            <a:fillRect/>
          </a:stretch>
        </p:blipFill>
        <p:spPr>
          <a:xfrm>
            <a:off x="865022" y="3315614"/>
            <a:ext cx="546811" cy="546811"/>
          </a:xfrm>
          <a:prstGeom prst="rect">
            <a:avLst/>
          </a:prstGeom>
        </p:spPr>
      </p:pic>
      <p:sp>
        <p:nvSpPr>
          <p:cNvPr id="8" name="TextBox 7"/>
          <p:cNvSpPr txBox="1"/>
          <p:nvPr/>
        </p:nvSpPr>
        <p:spPr>
          <a:xfrm>
            <a:off x="1783080" y="2971800"/>
            <a:ext cx="2651760" cy="123444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1" i="0">
                <a:solidFill>
                  <a:srgbClr val="192B37"/>
                </a:solidFill>
              </a:rPr>
              <a:t>Auth</a:t>
            </a:r>
          </a:p>
        </p:txBody>
      </p:sp>
      <p:sp>
        <p:nvSpPr>
          <p:cNvPr id="9" name="Pentagon 8"/>
          <p:cNvSpPr/>
          <p:nvPr/>
        </p:nvSpPr>
        <p:spPr>
          <a:xfrm>
            <a:off x="4480560" y="3063240"/>
            <a:ext cx="3383280" cy="1051560"/>
          </a:xfrm>
          <a:prstGeom prst="homePlate">
            <a:avLst>
              <a:gd name="adj" fmla="val 32000"/>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228600" wrap="square"/>
          <a:lstStyle/>
          <a:p>
            <a:pPr algn="ctr">
              <a:lnSpc>
                <a:spcPct val="95000"/>
              </a:lnSpc>
              <a:spcBef>
                <a:spcPts val="0"/>
              </a:spcBef>
            </a:pPr>
            <a:r>
              <a:rPr sz="1400" b="1" i="0">
                <a:solidFill>
                  <a:srgbClr val="FFFFFF"/>
                </a:solidFill>
              </a:rPr>
              <a:t>POST /login</a:t>
            </a:r>
          </a:p>
        </p:txBody>
      </p:sp>
      <p:sp>
        <p:nvSpPr>
          <p:cNvPr id="10" name="Chevron 9"/>
          <p:cNvSpPr/>
          <p:nvPr/>
        </p:nvSpPr>
        <p:spPr>
          <a:xfrm>
            <a:off x="7726679" y="3063240"/>
            <a:ext cx="3383280" cy="1051560"/>
          </a:xfrm>
          <a:prstGeom prst="chevron">
            <a:avLst>
              <a:gd name="adj" fmla="val 32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400" b="1" i="0">
                <a:solidFill>
                  <a:srgbClr val="192B37"/>
                </a:solidFill>
              </a:rPr>
              <a:t>GET /checkAuth</a:t>
            </a:r>
          </a:p>
        </p:txBody>
      </p:sp>
      <p:sp>
        <p:nvSpPr>
          <p:cNvPr id="11" name="Chevron 10"/>
          <p:cNvSpPr/>
          <p:nvPr/>
        </p:nvSpPr>
        <p:spPr>
          <a:xfrm>
            <a:off x="10972800" y="3063240"/>
            <a:ext cx="3383280" cy="1051560"/>
          </a:xfrm>
          <a:prstGeom prst="chevron">
            <a:avLst>
              <a:gd name="adj" fmla="val 32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400" b="1" i="0">
                <a:solidFill>
                  <a:srgbClr val="192B37"/>
                </a:solidFill>
              </a:rPr>
              <a:t>PATCH /users/:id</a:t>
            </a:r>
          </a:p>
        </p:txBody>
      </p:sp>
      <p:sp>
        <p:nvSpPr>
          <p:cNvPr id="12" name="Chevron 11"/>
          <p:cNvSpPr/>
          <p:nvPr/>
        </p:nvSpPr>
        <p:spPr>
          <a:xfrm>
            <a:off x="14218919" y="3063240"/>
            <a:ext cx="3383280" cy="1051560"/>
          </a:xfrm>
          <a:prstGeom prst="chevron">
            <a:avLst>
              <a:gd name="adj" fmla="val 32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400" b="1" i="0">
                <a:solidFill>
                  <a:srgbClr val="192B37"/>
                </a:solidFill>
              </a:rPr>
              <a:t>POST /logout</a:t>
            </a:r>
          </a:p>
        </p:txBody>
      </p:sp>
      <p:sp>
        <p:nvSpPr>
          <p:cNvPr id="13" name="Oval 12"/>
          <p:cNvSpPr/>
          <p:nvPr/>
        </p:nvSpPr>
        <p:spPr>
          <a:xfrm>
            <a:off x="612648" y="4544568"/>
            <a:ext cx="1051560" cy="105156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uSend.png"/>
          <p:cNvPicPr>
            <a:picLocks noChangeAspect="1"/>
          </p:cNvPicPr>
          <p:nvPr/>
        </p:nvPicPr>
        <p:blipFill>
          <a:blip r:embed="rId4"/>
          <a:stretch>
            <a:fillRect/>
          </a:stretch>
        </p:blipFill>
        <p:spPr>
          <a:xfrm>
            <a:off x="865022" y="4796942"/>
            <a:ext cx="546811" cy="546811"/>
          </a:xfrm>
          <a:prstGeom prst="rect">
            <a:avLst/>
          </a:prstGeom>
        </p:spPr>
      </p:pic>
      <p:sp>
        <p:nvSpPr>
          <p:cNvPr id="15" name="TextBox 14"/>
          <p:cNvSpPr txBox="1"/>
          <p:nvPr/>
        </p:nvSpPr>
        <p:spPr>
          <a:xfrm>
            <a:off x="1783080" y="4453128"/>
            <a:ext cx="2651760" cy="123444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1" i="0">
                <a:solidFill>
                  <a:srgbClr val="192B37"/>
                </a:solidFill>
              </a:rPr>
              <a:t>Pay a friend</a:t>
            </a:r>
          </a:p>
        </p:txBody>
      </p:sp>
      <p:sp>
        <p:nvSpPr>
          <p:cNvPr id="16" name="Pentagon 15"/>
          <p:cNvSpPr/>
          <p:nvPr/>
        </p:nvSpPr>
        <p:spPr>
          <a:xfrm>
            <a:off x="4480560" y="4544568"/>
            <a:ext cx="3383280" cy="1051560"/>
          </a:xfrm>
          <a:prstGeom prst="homePlate">
            <a:avLst>
              <a:gd name="adj" fmla="val 32000"/>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228600" wrap="square"/>
          <a:lstStyle/>
          <a:p>
            <a:pPr algn="ctr">
              <a:lnSpc>
                <a:spcPct val="95000"/>
              </a:lnSpc>
              <a:spcBef>
                <a:spcPts val="0"/>
              </a:spcBef>
            </a:pPr>
            <a:r>
              <a:rPr sz="1400" b="1" i="0">
                <a:solidFill>
                  <a:srgbClr val="FFFFFF"/>
                </a:solidFill>
              </a:rPr>
              <a:t>GET /users/search</a:t>
            </a:r>
          </a:p>
        </p:txBody>
      </p:sp>
      <p:sp>
        <p:nvSpPr>
          <p:cNvPr id="17" name="Chevron 16"/>
          <p:cNvSpPr/>
          <p:nvPr/>
        </p:nvSpPr>
        <p:spPr>
          <a:xfrm>
            <a:off x="7726679" y="4544568"/>
            <a:ext cx="3383280" cy="1051560"/>
          </a:xfrm>
          <a:prstGeom prst="chevron">
            <a:avLst>
              <a:gd name="adj" fmla="val 32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400" b="1" i="0">
                <a:solidFill>
                  <a:srgbClr val="192B37"/>
                </a:solidFill>
              </a:rPr>
              <a:t>POST /transactions</a:t>
            </a:r>
          </a:p>
        </p:txBody>
      </p:sp>
      <p:sp>
        <p:nvSpPr>
          <p:cNvPr id="18" name="Chevron 17"/>
          <p:cNvSpPr/>
          <p:nvPr/>
        </p:nvSpPr>
        <p:spPr>
          <a:xfrm>
            <a:off x="10972800" y="4544568"/>
            <a:ext cx="3383280" cy="1051560"/>
          </a:xfrm>
          <a:prstGeom prst="chevron">
            <a:avLst>
              <a:gd name="adj" fmla="val 32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400" b="1" i="0">
                <a:solidFill>
                  <a:srgbClr val="192B37"/>
                </a:solidFill>
              </a:rPr>
              <a:t>GET /transactions</a:t>
            </a:r>
          </a:p>
        </p:txBody>
      </p:sp>
      <p:sp>
        <p:nvSpPr>
          <p:cNvPr id="19" name="Chevron 18"/>
          <p:cNvSpPr/>
          <p:nvPr/>
        </p:nvSpPr>
        <p:spPr>
          <a:xfrm>
            <a:off x="14218919" y="4544568"/>
            <a:ext cx="3383280" cy="1051560"/>
          </a:xfrm>
          <a:prstGeom prst="chevron">
            <a:avLst>
              <a:gd name="adj" fmla="val 32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400" b="1" i="0">
                <a:solidFill>
                  <a:srgbClr val="192B37"/>
                </a:solidFill>
              </a:rPr>
              <a:t>GET /notifications</a:t>
            </a:r>
          </a:p>
        </p:txBody>
      </p:sp>
      <p:sp>
        <p:nvSpPr>
          <p:cNvPr id="20" name="Oval 19"/>
          <p:cNvSpPr/>
          <p:nvPr/>
        </p:nvSpPr>
        <p:spPr>
          <a:xfrm>
            <a:off x="612648" y="6025896"/>
            <a:ext cx="1051560" cy="105156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uHandshake.png"/>
          <p:cNvPicPr>
            <a:picLocks noChangeAspect="1"/>
          </p:cNvPicPr>
          <p:nvPr/>
        </p:nvPicPr>
        <p:blipFill>
          <a:blip r:embed="rId5"/>
          <a:stretch>
            <a:fillRect/>
          </a:stretch>
        </p:blipFill>
        <p:spPr>
          <a:xfrm>
            <a:off x="865022" y="6278270"/>
            <a:ext cx="546811" cy="546811"/>
          </a:xfrm>
          <a:prstGeom prst="rect">
            <a:avLst/>
          </a:prstGeom>
        </p:spPr>
      </p:pic>
      <p:sp>
        <p:nvSpPr>
          <p:cNvPr id="22" name="TextBox 21"/>
          <p:cNvSpPr txBox="1"/>
          <p:nvPr/>
        </p:nvSpPr>
        <p:spPr>
          <a:xfrm>
            <a:off x="1783080" y="5934456"/>
            <a:ext cx="2651760" cy="123444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1" i="0">
                <a:solidFill>
                  <a:srgbClr val="192B37"/>
                </a:solidFill>
              </a:rPr>
              <a:t>Request money</a:t>
            </a:r>
          </a:p>
        </p:txBody>
      </p:sp>
      <p:sp>
        <p:nvSpPr>
          <p:cNvPr id="23" name="Pentagon 22"/>
          <p:cNvSpPr/>
          <p:nvPr/>
        </p:nvSpPr>
        <p:spPr>
          <a:xfrm>
            <a:off x="4480560" y="6025896"/>
            <a:ext cx="3383280" cy="1051560"/>
          </a:xfrm>
          <a:prstGeom prst="homePlate">
            <a:avLst>
              <a:gd name="adj" fmla="val 32000"/>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228600" wrap="square"/>
          <a:lstStyle/>
          <a:p>
            <a:pPr algn="ctr">
              <a:lnSpc>
                <a:spcPct val="95000"/>
              </a:lnSpc>
              <a:spcBef>
                <a:spcPts val="0"/>
              </a:spcBef>
            </a:pPr>
            <a:r>
              <a:rPr sz="1400" b="1" i="0">
                <a:solidFill>
                  <a:srgbClr val="FFFFFF"/>
                </a:solidFill>
              </a:rPr>
              <a:t>POST /transactions</a:t>
            </a:r>
          </a:p>
        </p:txBody>
      </p:sp>
      <p:sp>
        <p:nvSpPr>
          <p:cNvPr id="24" name="Chevron 23"/>
          <p:cNvSpPr/>
          <p:nvPr/>
        </p:nvSpPr>
        <p:spPr>
          <a:xfrm>
            <a:off x="7726679" y="6025896"/>
            <a:ext cx="3383280" cy="1051560"/>
          </a:xfrm>
          <a:prstGeom prst="chevron">
            <a:avLst>
              <a:gd name="adj" fmla="val 32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400" b="1" i="0">
                <a:solidFill>
                  <a:srgbClr val="192B37"/>
                </a:solidFill>
              </a:rPr>
              <a:t>PATCH /transactions/:id</a:t>
            </a:r>
          </a:p>
        </p:txBody>
      </p:sp>
      <p:sp>
        <p:nvSpPr>
          <p:cNvPr id="25" name="Chevron 24"/>
          <p:cNvSpPr/>
          <p:nvPr/>
        </p:nvSpPr>
        <p:spPr>
          <a:xfrm>
            <a:off x="10972800" y="6025896"/>
            <a:ext cx="3383280" cy="1051560"/>
          </a:xfrm>
          <a:prstGeom prst="chevron">
            <a:avLst>
              <a:gd name="adj" fmla="val 32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400" b="1" i="0">
                <a:solidFill>
                  <a:srgbClr val="192B37"/>
                </a:solidFill>
              </a:rPr>
              <a:t>balances move</a:t>
            </a:r>
          </a:p>
        </p:txBody>
      </p:sp>
      <p:sp>
        <p:nvSpPr>
          <p:cNvPr id="26" name="Chevron 25"/>
          <p:cNvSpPr/>
          <p:nvPr/>
        </p:nvSpPr>
        <p:spPr>
          <a:xfrm>
            <a:off x="14218919" y="6025896"/>
            <a:ext cx="3383280" cy="1051560"/>
          </a:xfrm>
          <a:prstGeom prst="chevron">
            <a:avLst>
              <a:gd name="adj" fmla="val 32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400" b="1" i="0">
                <a:solidFill>
                  <a:srgbClr val="192B37"/>
                </a:solidFill>
              </a:rPr>
              <a:t>notifications</a:t>
            </a:r>
          </a:p>
        </p:txBody>
      </p:sp>
      <p:sp>
        <p:nvSpPr>
          <p:cNvPr id="27" name="Oval 26"/>
          <p:cNvSpPr/>
          <p:nvPr/>
        </p:nvSpPr>
        <p:spPr>
          <a:xfrm>
            <a:off x="612648" y="7507223"/>
            <a:ext cx="1051560" cy="105156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LuHeart.png"/>
          <p:cNvPicPr>
            <a:picLocks noChangeAspect="1"/>
          </p:cNvPicPr>
          <p:nvPr/>
        </p:nvPicPr>
        <p:blipFill>
          <a:blip r:embed="rId6"/>
          <a:stretch>
            <a:fillRect/>
          </a:stretch>
        </p:blipFill>
        <p:spPr>
          <a:xfrm>
            <a:off x="865022" y="7759598"/>
            <a:ext cx="546811" cy="546811"/>
          </a:xfrm>
          <a:prstGeom prst="rect">
            <a:avLst/>
          </a:prstGeom>
        </p:spPr>
      </p:pic>
      <p:sp>
        <p:nvSpPr>
          <p:cNvPr id="29" name="TextBox 28"/>
          <p:cNvSpPr txBox="1"/>
          <p:nvPr/>
        </p:nvSpPr>
        <p:spPr>
          <a:xfrm>
            <a:off x="1783080" y="7415783"/>
            <a:ext cx="2651760" cy="123444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1" i="0">
                <a:solidFill>
                  <a:srgbClr val="192B37"/>
                </a:solidFill>
              </a:rPr>
              <a:t>Social</a:t>
            </a:r>
          </a:p>
        </p:txBody>
      </p:sp>
      <p:sp>
        <p:nvSpPr>
          <p:cNvPr id="30" name="Pentagon 29"/>
          <p:cNvSpPr/>
          <p:nvPr/>
        </p:nvSpPr>
        <p:spPr>
          <a:xfrm>
            <a:off x="4480560" y="7507223"/>
            <a:ext cx="3383280" cy="1051560"/>
          </a:xfrm>
          <a:prstGeom prst="homePlate">
            <a:avLst>
              <a:gd name="adj" fmla="val 32000"/>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228600" wrap="square"/>
          <a:lstStyle/>
          <a:p>
            <a:pPr algn="ctr">
              <a:lnSpc>
                <a:spcPct val="95000"/>
              </a:lnSpc>
              <a:spcBef>
                <a:spcPts val="0"/>
              </a:spcBef>
            </a:pPr>
            <a:r>
              <a:rPr sz="1400" b="1" i="0">
                <a:solidFill>
                  <a:srgbClr val="FFFFFF"/>
                </a:solidFill>
              </a:rPr>
              <a:t>POST /likes/:txId</a:t>
            </a:r>
          </a:p>
        </p:txBody>
      </p:sp>
      <p:sp>
        <p:nvSpPr>
          <p:cNvPr id="31" name="Chevron 30"/>
          <p:cNvSpPr/>
          <p:nvPr/>
        </p:nvSpPr>
        <p:spPr>
          <a:xfrm>
            <a:off x="7726679" y="7507223"/>
            <a:ext cx="3383280" cy="1051560"/>
          </a:xfrm>
          <a:prstGeom prst="chevron">
            <a:avLst>
              <a:gd name="adj" fmla="val 32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400" b="1" i="0">
                <a:solidFill>
                  <a:srgbClr val="192B37"/>
                </a:solidFill>
              </a:rPr>
              <a:t>POST /comments/:txId</a:t>
            </a:r>
          </a:p>
        </p:txBody>
      </p:sp>
      <p:sp>
        <p:nvSpPr>
          <p:cNvPr id="32" name="Chevron 31"/>
          <p:cNvSpPr/>
          <p:nvPr/>
        </p:nvSpPr>
        <p:spPr>
          <a:xfrm>
            <a:off x="10972800" y="7507223"/>
            <a:ext cx="3383280" cy="1051560"/>
          </a:xfrm>
          <a:prstGeom prst="chevron">
            <a:avLst>
              <a:gd name="adj" fmla="val 32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400" b="1" i="0">
                <a:solidFill>
                  <a:srgbClr val="192B37"/>
                </a:solidFill>
              </a:rPr>
              <a:t>PATCH /notifications/:id</a:t>
            </a:r>
          </a:p>
        </p:txBody>
      </p:sp>
      <p:sp>
        <p:nvSpPr>
          <p:cNvPr id="33" name="Chevron 32"/>
          <p:cNvSpPr/>
          <p:nvPr/>
        </p:nvSpPr>
        <p:spPr>
          <a:xfrm>
            <a:off x="14218919" y="7507223"/>
            <a:ext cx="3383280" cy="1051560"/>
          </a:xfrm>
          <a:prstGeom prst="chevron">
            <a:avLst>
              <a:gd name="adj" fmla="val 32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400" b="1" i="0">
                <a:solidFill>
                  <a:srgbClr val="192B37"/>
                </a:solidFill>
              </a:rPr>
              <a:t>GET /transactions/public</a:t>
            </a:r>
          </a:p>
        </p:txBody>
      </p:sp>
      <p:sp>
        <p:nvSpPr>
          <p:cNvPr id="34" name="Oval 33"/>
          <p:cNvSpPr/>
          <p:nvPr/>
        </p:nvSpPr>
        <p:spPr>
          <a:xfrm>
            <a:off x="612648" y="8988552"/>
            <a:ext cx="1051560" cy="105156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LuLandmark.png"/>
          <p:cNvPicPr>
            <a:picLocks noChangeAspect="1"/>
          </p:cNvPicPr>
          <p:nvPr/>
        </p:nvPicPr>
        <p:blipFill>
          <a:blip r:embed="rId7"/>
          <a:stretch>
            <a:fillRect/>
          </a:stretch>
        </p:blipFill>
        <p:spPr>
          <a:xfrm>
            <a:off x="865022" y="9240926"/>
            <a:ext cx="546811" cy="546811"/>
          </a:xfrm>
          <a:prstGeom prst="rect">
            <a:avLst/>
          </a:prstGeom>
        </p:spPr>
      </p:pic>
      <p:sp>
        <p:nvSpPr>
          <p:cNvPr id="36" name="TextBox 35"/>
          <p:cNvSpPr txBox="1"/>
          <p:nvPr/>
        </p:nvSpPr>
        <p:spPr>
          <a:xfrm>
            <a:off x="1783080" y="8897112"/>
            <a:ext cx="2651760" cy="123444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1" i="0">
                <a:solidFill>
                  <a:srgbClr val="192B37"/>
                </a:solidFill>
              </a:rPr>
              <a:t>Bank accounts</a:t>
            </a:r>
          </a:p>
        </p:txBody>
      </p:sp>
      <p:sp>
        <p:nvSpPr>
          <p:cNvPr id="37" name="Pentagon 36"/>
          <p:cNvSpPr/>
          <p:nvPr/>
        </p:nvSpPr>
        <p:spPr>
          <a:xfrm>
            <a:off x="4480560" y="8988552"/>
            <a:ext cx="3383280" cy="1051560"/>
          </a:xfrm>
          <a:prstGeom prst="homePlate">
            <a:avLst>
              <a:gd name="adj" fmla="val 32000"/>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228600" wrap="square"/>
          <a:lstStyle/>
          <a:p>
            <a:pPr algn="ctr">
              <a:lnSpc>
                <a:spcPct val="95000"/>
              </a:lnSpc>
              <a:spcBef>
                <a:spcPts val="0"/>
              </a:spcBef>
            </a:pPr>
            <a:r>
              <a:rPr sz="1400" b="1" i="0">
                <a:solidFill>
                  <a:srgbClr val="FFFFFF"/>
                </a:solidFill>
              </a:rPr>
              <a:t>POST /graphql list</a:t>
            </a:r>
          </a:p>
        </p:txBody>
      </p:sp>
      <p:sp>
        <p:nvSpPr>
          <p:cNvPr id="38" name="Chevron 37"/>
          <p:cNvSpPr/>
          <p:nvPr/>
        </p:nvSpPr>
        <p:spPr>
          <a:xfrm>
            <a:off x="7726679" y="8988552"/>
            <a:ext cx="3383280" cy="1051560"/>
          </a:xfrm>
          <a:prstGeom prst="chevron">
            <a:avLst>
              <a:gd name="adj" fmla="val 32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400" b="1" i="0">
                <a:solidFill>
                  <a:srgbClr val="192B37"/>
                </a:solidFill>
              </a:rPr>
              <a:t>POST /graphql create</a:t>
            </a:r>
          </a:p>
        </p:txBody>
      </p:sp>
      <p:sp>
        <p:nvSpPr>
          <p:cNvPr id="39" name="Chevron 38"/>
          <p:cNvSpPr/>
          <p:nvPr/>
        </p:nvSpPr>
        <p:spPr>
          <a:xfrm>
            <a:off x="10972800" y="8988552"/>
            <a:ext cx="3383280" cy="1051560"/>
          </a:xfrm>
          <a:prstGeom prst="chevron">
            <a:avLst>
              <a:gd name="adj" fmla="val 32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400" b="1" i="0">
                <a:solidFill>
                  <a:srgbClr val="192B37"/>
                </a:solidFill>
              </a:rPr>
              <a:t>POST /graphql delete</a:t>
            </a:r>
          </a:p>
        </p:txBody>
      </p:sp>
      <p:sp>
        <p:nvSpPr>
          <p:cNvPr id="40" name="Chevron 39"/>
          <p:cNvSpPr/>
          <p:nvPr/>
        </p:nvSpPr>
        <p:spPr>
          <a:xfrm>
            <a:off x="14218919" y="8988552"/>
            <a:ext cx="3383280" cy="1051560"/>
          </a:xfrm>
          <a:prstGeom prst="chevron">
            <a:avLst>
              <a:gd name="adj" fmla="val 32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400" b="1" i="0">
                <a:solidFill>
                  <a:srgbClr val="192B37"/>
                </a:solidFill>
              </a:rPr>
              <a:t>GET /bankTransfers</a:t>
            </a:r>
          </a:p>
        </p:txBody>
      </p:sp>
      <p:sp>
        <p:nvSpPr>
          <p:cNvPr id="41" name="TextBox 40"/>
          <p:cNvSpPr txBox="1"/>
          <p:nvPr/>
        </p:nvSpPr>
        <p:spPr>
          <a:xfrm>
            <a:off x="17922240" y="2880360"/>
            <a:ext cx="548640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00A859"/>
                </a:solidFill>
              </a:rPr>
              <a:t>METHOD MIX (OpenAPI)</a:t>
            </a:r>
          </a:p>
        </p:txBody>
      </p:sp>
      <p:graphicFrame>
        <p:nvGraphicFramePr>
          <p:cNvPr id="42" name="Chart 41"/>
          <p:cNvGraphicFramePr>
            <a:graphicFrameLocks noGrp="1"/>
          </p:cNvGraphicFramePr>
          <p:nvPr/>
        </p:nvGraphicFramePr>
        <p:xfrm>
          <a:off x="17922240" y="3246120"/>
          <a:ext cx="5486400" cy="4937760"/>
        </p:xfrm>
        <a:graphic>
          <a:graphicData uri="http://schemas.openxmlformats.org/drawingml/2006/chart">
            <c:chart xmlns:c="http://schemas.openxmlformats.org/drawingml/2006/chart" r:id="rId8"/>
          </a:graphicData>
        </a:graphic>
      </p:graphicFrame>
      <p:sp>
        <p:nvSpPr>
          <p:cNvPr id="43" name="Oval 42"/>
          <p:cNvSpPr/>
          <p:nvPr/>
        </p:nvSpPr>
        <p:spPr>
          <a:xfrm>
            <a:off x="18059400" y="8567928"/>
            <a:ext cx="320040" cy="32004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8516600" y="8458200"/>
            <a:ext cx="2194560" cy="54864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192B37"/>
                </a:solidFill>
              </a:rPr>
              <a:t>GET</a:t>
            </a:r>
            <a:r>
              <a:rPr sz="1700" b="0" i="0">
                <a:solidFill>
                  <a:srgbClr val="192B37"/>
                </a:solidFill>
              </a:rPr>
              <a:t> 19</a:t>
            </a:r>
          </a:p>
        </p:txBody>
      </p:sp>
      <p:sp>
        <p:nvSpPr>
          <p:cNvPr id="45" name="Oval 44"/>
          <p:cNvSpPr/>
          <p:nvPr/>
        </p:nvSpPr>
        <p:spPr>
          <a:xfrm>
            <a:off x="20802600" y="8567928"/>
            <a:ext cx="320040" cy="32004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1259800" y="8458200"/>
            <a:ext cx="2194560" cy="54864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192B37"/>
                </a:solidFill>
              </a:rPr>
              <a:t>POST</a:t>
            </a:r>
            <a:r>
              <a:rPr sz="1700" b="0" i="0">
                <a:solidFill>
                  <a:srgbClr val="192B37"/>
                </a:solidFill>
              </a:rPr>
              <a:t> 11</a:t>
            </a:r>
          </a:p>
        </p:txBody>
      </p:sp>
      <p:sp>
        <p:nvSpPr>
          <p:cNvPr id="47" name="Oval 46"/>
          <p:cNvSpPr/>
          <p:nvPr/>
        </p:nvSpPr>
        <p:spPr>
          <a:xfrm>
            <a:off x="18059400" y="9345167"/>
            <a:ext cx="320040" cy="32004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8516600" y="9235440"/>
            <a:ext cx="2194560" cy="54864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192B37"/>
                </a:solidFill>
              </a:rPr>
              <a:t>PATCH</a:t>
            </a:r>
            <a:r>
              <a:rPr sz="1700" b="0" i="0">
                <a:solidFill>
                  <a:srgbClr val="192B37"/>
                </a:solidFill>
              </a:rPr>
              <a:t> 3</a:t>
            </a:r>
          </a:p>
        </p:txBody>
      </p:sp>
      <p:sp>
        <p:nvSpPr>
          <p:cNvPr id="49" name="Oval 48"/>
          <p:cNvSpPr/>
          <p:nvPr/>
        </p:nvSpPr>
        <p:spPr>
          <a:xfrm>
            <a:off x="20802600" y="9345167"/>
            <a:ext cx="320040" cy="32004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1259800" y="9235440"/>
            <a:ext cx="2194560" cy="54864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192B37"/>
                </a:solidFill>
              </a:rPr>
              <a:t>DELETE</a:t>
            </a:r>
            <a:r>
              <a:rPr sz="1700" b="0" i="0">
                <a:solidFill>
                  <a:srgbClr val="192B37"/>
                </a:solidFill>
              </a:rPr>
              <a:t> 2</a:t>
            </a:r>
          </a:p>
        </p:txBody>
      </p:sp>
      <p:sp>
        <p:nvSpPr>
          <p:cNvPr id="51" name="TextBox 50"/>
          <p:cNvSpPr txBox="1"/>
          <p:nvPr/>
        </p:nvSpPr>
        <p:spPr>
          <a:xfrm>
            <a:off x="17922240" y="10012680"/>
            <a:ext cx="5486400" cy="41148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0" i="0">
                <a:solidFill>
                  <a:srgbClr val="5E6A73"/>
                </a:solidFill>
              </a:rPr>
              <a:t>35 operations · 25 paths</a:t>
            </a:r>
          </a:p>
        </p:txBody>
      </p:sp>
      <p:sp>
        <p:nvSpPr>
          <p:cNvPr id="52" name="Rounded Rectangle 51"/>
          <p:cNvSpPr/>
          <p:nvPr/>
        </p:nvSpPr>
        <p:spPr>
          <a:xfrm>
            <a:off x="612648" y="10789920"/>
            <a:ext cx="22860000" cy="960120"/>
          </a:xfrm>
          <a:prstGeom prst="roundRect">
            <a:avLst>
              <a:gd name="adj" fmla="val 1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Oval 52"/>
          <p:cNvSpPr/>
          <p:nvPr/>
        </p:nvSpPr>
        <p:spPr>
          <a:xfrm>
            <a:off x="886968" y="10927080"/>
            <a:ext cx="685800" cy="6858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LuLaugh.png"/>
          <p:cNvPicPr>
            <a:picLocks noChangeAspect="1"/>
          </p:cNvPicPr>
          <p:nvPr/>
        </p:nvPicPr>
        <p:blipFill>
          <a:blip r:embed="rId9"/>
          <a:stretch>
            <a:fillRect/>
          </a:stretch>
        </p:blipFill>
        <p:spPr>
          <a:xfrm>
            <a:off x="1051560" y="11091672"/>
            <a:ext cx="356616" cy="356616"/>
          </a:xfrm>
          <a:prstGeom prst="rect">
            <a:avLst/>
          </a:prstGeom>
        </p:spPr>
      </p:pic>
      <p:sp>
        <p:nvSpPr>
          <p:cNvPr id="55" name="TextBox 54"/>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REST assured: every endpoint was called. Some even answered with the right status code.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API &amp; UI</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00A859"/>
                </a:solidFill>
              </a:rPr>
              <a:t>API LAYER · TESTS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73 API tests, zero browsers harmed</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16</a:t>
            </a:r>
          </a:p>
        </p:txBody>
      </p:sp>
      <p:sp>
        <p:nvSpPr>
          <p:cNvPr id="6" name="Rounded Rectangle 5"/>
          <p:cNvSpPr/>
          <p:nvPr/>
        </p:nvSpPr>
        <p:spPr>
          <a:xfrm>
            <a:off x="612648" y="2926080"/>
            <a:ext cx="5120640" cy="2331720"/>
          </a:xfrm>
          <a:prstGeom prst="roundRect">
            <a:avLst>
              <a:gd name="adj" fmla="val 6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636007" y="3200400"/>
            <a:ext cx="777240" cy="77724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Server.png"/>
          <p:cNvPicPr>
            <a:picLocks noChangeAspect="1"/>
          </p:cNvPicPr>
          <p:nvPr/>
        </p:nvPicPr>
        <p:blipFill>
          <a:blip r:embed="rId3"/>
          <a:stretch>
            <a:fillRect/>
          </a:stretch>
        </p:blipFill>
        <p:spPr>
          <a:xfrm>
            <a:off x="4822545" y="3386937"/>
            <a:ext cx="404164" cy="404164"/>
          </a:xfrm>
          <a:prstGeom prst="rect">
            <a:avLst/>
          </a:prstGeom>
        </p:spPr>
      </p:pic>
      <p:sp>
        <p:nvSpPr>
          <p:cNvPr id="9" name="TextBox 8"/>
          <p:cNvSpPr txBox="1"/>
          <p:nvPr/>
        </p:nvSpPr>
        <p:spPr>
          <a:xfrm>
            <a:off x="932688" y="3063240"/>
            <a:ext cx="3749039" cy="1234440"/>
          </a:xfrm>
          <a:prstGeom prst="rect">
            <a:avLst/>
          </a:prstGeom>
          <a:noFill/>
        </p:spPr>
        <p:txBody>
          <a:bodyPr wrap="square" lIns="0" rIns="0" tIns="18288" bIns="18288" anchor="ctr">
            <a:noAutofit/>
          </a:bodyPr>
          <a:lstStyle/>
          <a:p>
            <a:pPr algn="l">
              <a:lnSpc>
                <a:spcPct val="100000"/>
              </a:lnSpc>
              <a:spcBef>
                <a:spcPts val="0"/>
              </a:spcBef>
              <a:spcAft>
                <a:spcPts val="0"/>
              </a:spcAft>
            </a:pPr>
            <a:r>
              <a:rPr sz="5400" b="0" i="0">
                <a:solidFill>
                  <a:srgbClr val="00A859"/>
                </a:solidFill>
                <a:latin typeface="+mj-lt"/>
              </a:rPr>
              <a:t>73</a:t>
            </a:r>
          </a:p>
        </p:txBody>
      </p:sp>
      <p:sp>
        <p:nvSpPr>
          <p:cNvPr id="10" name="TextBox 9"/>
          <p:cNvSpPr txBox="1"/>
          <p:nvPr/>
        </p:nvSpPr>
        <p:spPr>
          <a:xfrm>
            <a:off x="932688" y="4343400"/>
            <a:ext cx="4480559" cy="68580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API tests</a:t>
            </a:r>
          </a:p>
        </p:txBody>
      </p:sp>
      <p:sp>
        <p:nvSpPr>
          <p:cNvPr id="11" name="Rounded Rectangle 10"/>
          <p:cNvSpPr/>
          <p:nvPr/>
        </p:nvSpPr>
        <p:spPr>
          <a:xfrm>
            <a:off x="612648" y="5486400"/>
            <a:ext cx="5120640" cy="2331720"/>
          </a:xfrm>
          <a:prstGeom prst="roundRect">
            <a:avLst>
              <a:gd name="adj" fmla="val 6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636007" y="5760720"/>
            <a:ext cx="777240" cy="77724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uFileCode.png"/>
          <p:cNvPicPr>
            <a:picLocks noChangeAspect="1"/>
          </p:cNvPicPr>
          <p:nvPr/>
        </p:nvPicPr>
        <p:blipFill>
          <a:blip r:embed="rId4"/>
          <a:stretch>
            <a:fillRect/>
          </a:stretch>
        </p:blipFill>
        <p:spPr>
          <a:xfrm>
            <a:off x="4822545" y="5947257"/>
            <a:ext cx="404164" cy="404164"/>
          </a:xfrm>
          <a:prstGeom prst="rect">
            <a:avLst/>
          </a:prstGeom>
        </p:spPr>
      </p:pic>
      <p:sp>
        <p:nvSpPr>
          <p:cNvPr id="14" name="TextBox 13"/>
          <p:cNvSpPr txBox="1"/>
          <p:nvPr/>
        </p:nvSpPr>
        <p:spPr>
          <a:xfrm>
            <a:off x="932688" y="5623560"/>
            <a:ext cx="3749039" cy="1234440"/>
          </a:xfrm>
          <a:prstGeom prst="rect">
            <a:avLst/>
          </a:prstGeom>
          <a:noFill/>
        </p:spPr>
        <p:txBody>
          <a:bodyPr wrap="square" lIns="0" rIns="0" tIns="18288" bIns="18288" anchor="ctr">
            <a:noAutofit/>
          </a:bodyPr>
          <a:lstStyle/>
          <a:p>
            <a:pPr algn="l">
              <a:lnSpc>
                <a:spcPct val="100000"/>
              </a:lnSpc>
              <a:spcBef>
                <a:spcPts val="0"/>
              </a:spcBef>
              <a:spcAft>
                <a:spcPts val="0"/>
              </a:spcAft>
            </a:pPr>
            <a:r>
              <a:rPr sz="4400" b="0" i="0">
                <a:solidFill>
                  <a:srgbClr val="3D9BC8"/>
                </a:solidFill>
                <a:latin typeface="+mj-lt"/>
              </a:rPr>
              <a:t>55 + 18</a:t>
            </a:r>
          </a:p>
        </p:txBody>
      </p:sp>
      <p:sp>
        <p:nvSpPr>
          <p:cNvPr id="15" name="TextBox 14"/>
          <p:cNvSpPr txBox="1"/>
          <p:nvPr/>
        </p:nvSpPr>
        <p:spPr>
          <a:xfrm>
            <a:off x="932688" y="6903720"/>
            <a:ext cx="4480559" cy="68580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functional + contract</a:t>
            </a:r>
          </a:p>
        </p:txBody>
      </p:sp>
      <p:sp>
        <p:nvSpPr>
          <p:cNvPr id="16" name="Rounded Rectangle 15"/>
          <p:cNvSpPr/>
          <p:nvPr/>
        </p:nvSpPr>
        <p:spPr>
          <a:xfrm>
            <a:off x="612648" y="8046720"/>
            <a:ext cx="5120640" cy="2331720"/>
          </a:xfrm>
          <a:prstGeom prst="roundRect">
            <a:avLst>
              <a:gd name="adj" fmla="val 6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636007" y="8321040"/>
            <a:ext cx="777240" cy="77724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uTimer.png"/>
          <p:cNvPicPr>
            <a:picLocks noChangeAspect="1"/>
          </p:cNvPicPr>
          <p:nvPr/>
        </p:nvPicPr>
        <p:blipFill>
          <a:blip r:embed="rId5"/>
          <a:stretch>
            <a:fillRect/>
          </a:stretch>
        </p:blipFill>
        <p:spPr>
          <a:xfrm>
            <a:off x="4822545" y="8507577"/>
            <a:ext cx="404164" cy="404164"/>
          </a:xfrm>
          <a:prstGeom prst="rect">
            <a:avLst/>
          </a:prstGeom>
        </p:spPr>
      </p:pic>
      <p:sp>
        <p:nvSpPr>
          <p:cNvPr id="19" name="TextBox 18"/>
          <p:cNvSpPr txBox="1"/>
          <p:nvPr/>
        </p:nvSpPr>
        <p:spPr>
          <a:xfrm>
            <a:off x="932688" y="8183880"/>
            <a:ext cx="3749039" cy="1234440"/>
          </a:xfrm>
          <a:prstGeom prst="rect">
            <a:avLst/>
          </a:prstGeom>
          <a:noFill/>
        </p:spPr>
        <p:txBody>
          <a:bodyPr wrap="square" lIns="0" rIns="0" tIns="18288" bIns="18288" anchor="ctr">
            <a:noAutofit/>
          </a:bodyPr>
          <a:lstStyle/>
          <a:p>
            <a:pPr algn="l">
              <a:lnSpc>
                <a:spcPct val="100000"/>
              </a:lnSpc>
              <a:spcBef>
                <a:spcPts val="0"/>
              </a:spcBef>
              <a:spcAft>
                <a:spcPts val="0"/>
              </a:spcAft>
            </a:pPr>
            <a:r>
              <a:rPr sz="4400" b="0" i="0">
                <a:solidFill>
                  <a:srgbClr val="8683C3"/>
                </a:solidFill>
                <a:latin typeface="+mj-lt"/>
              </a:rPr>
              <a:t>0.1–0.2 s</a:t>
            </a:r>
          </a:p>
        </p:txBody>
      </p:sp>
      <p:sp>
        <p:nvSpPr>
          <p:cNvPr id="20" name="TextBox 19"/>
          <p:cNvSpPr txBox="1"/>
          <p:nvPr/>
        </p:nvSpPr>
        <p:spPr>
          <a:xfrm>
            <a:off x="932688" y="9464040"/>
            <a:ext cx="4480559" cy="68580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per API test</a:t>
            </a:r>
          </a:p>
        </p:txBody>
      </p:sp>
      <p:sp>
        <p:nvSpPr>
          <p:cNvPr id="21" name="TextBox 20"/>
          <p:cNvSpPr txBox="1"/>
          <p:nvPr/>
        </p:nvSpPr>
        <p:spPr>
          <a:xfrm>
            <a:off x="6126480" y="2880360"/>
            <a:ext cx="73152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00A859"/>
                </a:solidFill>
              </a:rPr>
              <a:t>TESTS PER SPEC FILE</a:t>
            </a:r>
          </a:p>
        </p:txBody>
      </p:sp>
      <p:graphicFrame>
        <p:nvGraphicFramePr>
          <p:cNvPr id="22" name="Chart 21"/>
          <p:cNvGraphicFramePr>
            <a:graphicFrameLocks noGrp="1"/>
          </p:cNvGraphicFramePr>
          <p:nvPr/>
        </p:nvGraphicFramePr>
        <p:xfrm>
          <a:off x="5943600" y="3246120"/>
          <a:ext cx="6766560" cy="4023360"/>
        </p:xfrm>
        <a:graphic>
          <a:graphicData uri="http://schemas.openxmlformats.org/drawingml/2006/chart">
            <c:chart xmlns:c="http://schemas.openxmlformats.org/drawingml/2006/chart" r:id="rId6"/>
          </a:graphicData>
        </a:graphic>
      </p:graphicFrame>
      <p:sp>
        <p:nvSpPr>
          <p:cNvPr id="23" name="Rounded Rectangle 22"/>
          <p:cNvSpPr/>
          <p:nvPr/>
        </p:nvSpPr>
        <p:spPr>
          <a:xfrm>
            <a:off x="6126480" y="7452360"/>
            <a:ext cx="6583680" cy="2971800"/>
          </a:xfrm>
          <a:prstGeom prst="roundRect">
            <a:avLst>
              <a:gd name="adj" fmla="val 8615"/>
            </a:avLst>
          </a:prstGeom>
          <a:solidFill>
            <a:srgbClr val="0F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400800" y="765352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693408" y="765352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986016" y="765352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7525512"/>
            <a:ext cx="502920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api project</a:t>
            </a:r>
          </a:p>
        </p:txBody>
      </p:sp>
      <p:sp>
        <p:nvSpPr>
          <p:cNvPr id="28" name="TextBox 27"/>
          <p:cNvSpPr txBox="1"/>
          <p:nvPr/>
        </p:nvSpPr>
        <p:spPr>
          <a:xfrm>
            <a:off x="6400800" y="8001000"/>
            <a:ext cx="6126480" cy="2286000"/>
          </a:xfrm>
          <a:prstGeom prst="rect">
            <a:avLst/>
          </a:prstGeom>
          <a:noFill/>
        </p:spPr>
        <p:txBody>
          <a:bodyPr wrap="none" lIns="0" rIns="0" tIns="0" bIns="0">
            <a:noAutofit/>
          </a:bodyPr>
          <a:lstStyle/>
          <a:p>
            <a:pPr>
              <a:lnSpc>
                <a:spcPct val="108000"/>
              </a:lnSpc>
              <a:spcBef>
                <a:spcPts val="0"/>
              </a:spcBef>
              <a:spcAft>
                <a:spcPts val="0"/>
              </a:spcAft>
            </a:pPr>
            <a:r>
              <a:rPr sz="1650" b="1">
                <a:solidFill>
                  <a:srgbClr val="7EE787"/>
                </a:solidFill>
                <a:latin typeface="Consolas"/>
              </a:rPr>
              <a:t>$ </a:t>
            </a:r>
            <a:r>
              <a:rPr sz="1650">
                <a:solidFill>
                  <a:srgbClr val="FFFFFF"/>
                </a:solidFill>
                <a:latin typeface="Consolas"/>
              </a:rPr>
              <a:t>npx playwright test --project=api</a:t>
            </a:r>
          </a:p>
          <a:p>
            <a:pPr>
              <a:lnSpc>
                <a:spcPct val="108000"/>
              </a:lnSpc>
              <a:spcBef>
                <a:spcPts val="0"/>
              </a:spcBef>
              <a:spcAft>
                <a:spcPts val="0"/>
              </a:spcAft>
            </a:pPr>
            <a:r>
              <a:rPr sz="1650">
                <a:solidFill>
                  <a:srgbClr val="7EE787"/>
                </a:solidFill>
                <a:latin typeface="Consolas"/>
              </a:rPr>
              <a:t>✓ 1 [api] › bankaccounts › list for user (197ms)</a:t>
            </a:r>
          </a:p>
          <a:p>
            <a:pPr>
              <a:lnSpc>
                <a:spcPct val="108000"/>
              </a:lnSpc>
              <a:spcBef>
                <a:spcPts val="0"/>
              </a:spcBef>
              <a:spcAft>
                <a:spcPts val="0"/>
              </a:spcAft>
            </a:pPr>
            <a:r>
              <a:rPr sz="1650">
                <a:solidFill>
                  <a:srgbClr val="7EE787"/>
                </a:solidFill>
                <a:latin typeface="Consolas"/>
              </a:rPr>
              <a:t>✓ 2 [api] › bankaccounts › gets one (163ms)</a:t>
            </a:r>
          </a:p>
          <a:p>
            <a:pPr>
              <a:lnSpc>
                <a:spcPct val="108000"/>
              </a:lnSpc>
              <a:spcBef>
                <a:spcPts val="0"/>
              </a:spcBef>
              <a:spcAft>
                <a:spcPts val="0"/>
              </a:spcAft>
            </a:pPr>
            <a:r>
              <a:rPr sz="1650">
                <a:solidFill>
                  <a:srgbClr val="7EE787"/>
                </a:solidFill>
                <a:latin typeface="Consolas"/>
              </a:rPr>
              <a:t>✓ 3 [api] › bankaccounts › creates (156ms)</a:t>
            </a:r>
          </a:p>
          <a:p>
            <a:pPr>
              <a:lnSpc>
                <a:spcPct val="108000"/>
              </a:lnSpc>
              <a:spcBef>
                <a:spcPts val="0"/>
              </a:spcBef>
              <a:spcAft>
                <a:spcPts val="0"/>
              </a:spcAft>
            </a:pPr>
            <a:r>
              <a:rPr sz="1650">
                <a:solidFill>
                  <a:srgbClr val="D7E3EA"/>
                </a:solidFill>
                <a:latin typeface="Consolas"/>
              </a:rPr>
              <a:t>  …  73/73 api tests green</a:t>
            </a:r>
          </a:p>
        </p:txBody>
      </p:sp>
      <p:sp>
        <p:nvSpPr>
          <p:cNvPr id="29" name="Rounded Rectangle 28"/>
          <p:cNvSpPr/>
          <p:nvPr/>
        </p:nvSpPr>
        <p:spPr>
          <a:xfrm>
            <a:off x="13075920" y="2926080"/>
            <a:ext cx="10396728" cy="7498079"/>
          </a:xfrm>
          <a:prstGeom prst="roundRect">
            <a:avLst>
              <a:gd name="adj" fmla="val 3414"/>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3350240" y="312724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3642848" y="312724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3935456" y="312724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4356080" y="2999232"/>
            <a:ext cx="8842248"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tests/api/users.api.spec.ts</a:t>
            </a:r>
          </a:p>
        </p:txBody>
      </p:sp>
      <p:sp>
        <p:nvSpPr>
          <p:cNvPr id="34" name="TextBox 33"/>
          <p:cNvSpPr txBox="1"/>
          <p:nvPr/>
        </p:nvSpPr>
        <p:spPr>
          <a:xfrm>
            <a:off x="13350240" y="3474720"/>
            <a:ext cx="9939528" cy="6812279"/>
          </a:xfrm>
          <a:prstGeom prst="rect">
            <a:avLst/>
          </a:prstGeom>
          <a:noFill/>
        </p:spPr>
        <p:txBody>
          <a:bodyPr wrap="none" lIns="0" rIns="0" tIns="0" bIns="0">
            <a:noAutofit/>
          </a:bodyPr>
          <a:lstStyle/>
          <a:p>
            <a:pPr>
              <a:lnSpc>
                <a:spcPct val="108000"/>
              </a:lnSpc>
              <a:spcBef>
                <a:spcPts val="0"/>
              </a:spcBef>
              <a:spcAft>
                <a:spcPts val="0"/>
              </a:spcAft>
            </a:pPr>
            <a:r>
              <a:rPr sz="1800" i="0" b="0">
                <a:solidFill>
                  <a:srgbClr val="FF9C8A"/>
                </a:solidFill>
                <a:latin typeface="Consolas"/>
              </a:rPr>
              <a:t>import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test</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expect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from</a:t>
            </a:r>
            <a:r>
              <a:rPr sz="1800" i="0" b="0">
                <a:solidFill>
                  <a:srgbClr val="E6EDF3"/>
                </a:solidFill>
                <a:latin typeface="Consolas"/>
              </a:rPr>
              <a:t> </a:t>
            </a:r>
            <a:r>
              <a:rPr sz="1800" i="0" b="0">
                <a:solidFill>
                  <a:srgbClr val="9BE3B4"/>
                </a:solidFill>
                <a:latin typeface="Consolas"/>
              </a:rPr>
              <a:t>"@fixtures/api"</a:t>
            </a:r>
            <a:r>
              <a:rPr sz="1800" i="0" b="0">
                <a:solidFill>
                  <a:srgbClr val="E6EDF3"/>
                </a:solidFill>
                <a:latin typeface="Consolas"/>
              </a:rPr>
              <a:t>;</a:t>
            </a:r>
          </a:p>
          <a:p>
            <a:pPr>
              <a:lnSpc>
                <a:spcPct val="108000"/>
              </a:lnSpc>
              <a:spcBef>
                <a:spcPts val="0"/>
              </a:spcBef>
              <a:spcAft>
                <a:spcPts val="0"/>
              </a:spcAft>
            </a:pPr>
            <a:r>
              <a:rPr sz="1800" i="0" b="0">
                <a:solidFill>
                  <a:srgbClr val="FF9C8A"/>
                </a:solidFill>
                <a:latin typeface="Consolas"/>
              </a:rPr>
              <a:t>import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users</a:t>
            </a:r>
            <a:r>
              <a:rPr sz="1800" i="0" b="0">
                <a:solidFill>
                  <a:srgbClr val="E6EDF3"/>
                </a:solidFill>
                <a:latin typeface="Consolas"/>
              </a:rPr>
              <a:t> </a:t>
            </a:r>
            <a:r>
              <a:rPr sz="1800" i="0" b="0">
                <a:solidFill>
                  <a:srgbClr val="FF9C8A"/>
                </a:solidFill>
                <a:latin typeface="Consolas"/>
              </a:rPr>
              <a:t>as</a:t>
            </a:r>
            <a:r>
              <a:rPr sz="1800" i="0" b="0">
                <a:solidFill>
                  <a:srgbClr val="E6EDF3"/>
                </a:solidFill>
                <a:latin typeface="Consolas"/>
              </a:rPr>
              <a:t> </a:t>
            </a:r>
            <a:r>
              <a:rPr sz="1800" i="0" b="0">
                <a:solidFill>
                  <a:srgbClr val="E6EDF3"/>
                </a:solidFill>
                <a:latin typeface="Consolas"/>
              </a:rPr>
              <a:t>usersApi</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errorsOf</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from</a:t>
            </a:r>
            <a:r>
              <a:rPr sz="1800" i="0" b="0">
                <a:solidFill>
                  <a:srgbClr val="E6EDF3"/>
                </a:solidFill>
                <a:latin typeface="Consolas"/>
              </a:rPr>
              <a:t> </a:t>
            </a:r>
            <a:r>
              <a:rPr sz="1800" i="0" b="0">
                <a:solidFill>
                  <a:srgbClr val="9BE3B4"/>
                </a:solidFill>
                <a:latin typeface="Consolas"/>
              </a:rPr>
              <a:t>"@api"</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p>
          <a:p>
            <a:pPr>
              <a:lnSpc>
                <a:spcPct val="108000"/>
              </a:lnSpc>
              <a:spcBef>
                <a:spcPts val="0"/>
              </a:spcBef>
              <a:spcAft>
                <a:spcPts val="0"/>
              </a:spcAft>
            </a:pPr>
            <a:r>
              <a:rPr sz="1800" i="0" b="0">
                <a:solidFill>
                  <a:srgbClr val="FF9C8A"/>
                </a:solidFill>
                <a:latin typeface="Consolas"/>
              </a:rPr>
              <a:t>test</a:t>
            </a:r>
            <a:r>
              <a:rPr sz="1800" i="0" b="0">
                <a:solidFill>
                  <a:srgbClr val="E6EDF3"/>
                </a:solidFill>
                <a:latin typeface="Consolas"/>
              </a:rPr>
              <a:t>.</a:t>
            </a:r>
            <a:r>
              <a:rPr sz="1800" i="0" b="0">
                <a:solidFill>
                  <a:srgbClr val="FF9C8A"/>
                </a:solidFill>
                <a:latin typeface="Consolas"/>
              </a:rPr>
              <a:t>describe</a:t>
            </a:r>
            <a:r>
              <a:rPr sz="1800" i="0" b="0">
                <a:solidFill>
                  <a:srgbClr val="E6EDF3"/>
                </a:solidFill>
                <a:latin typeface="Consolas"/>
              </a:rPr>
              <a:t>(</a:t>
            </a:r>
            <a:r>
              <a:rPr sz="1800" i="0" b="0">
                <a:solidFill>
                  <a:srgbClr val="9BE3B4"/>
                </a:solidFill>
                <a:latin typeface="Consolas"/>
              </a:rPr>
              <a:t>"Users API"</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test</a:t>
            </a:r>
            <a:r>
              <a:rPr sz="1800" i="0" b="0">
                <a:solidFill>
                  <a:srgbClr val="E6EDF3"/>
                </a:solidFill>
                <a:latin typeface="Consolas"/>
              </a:rPr>
              <a:t>(</a:t>
            </a:r>
            <a:r>
              <a:rPr sz="1800" i="0" b="0">
                <a:solidFill>
                  <a:srgbClr val="9BE3B4"/>
                </a:solidFill>
                <a:latin typeface="Consolas"/>
              </a:rPr>
              <a:t>"gets a user"</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async</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api</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me</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const</a:t>
            </a:r>
            <a:r>
              <a:rPr sz="1800" i="0" b="0">
                <a:solidFill>
                  <a:srgbClr val="E6EDF3"/>
                </a:solidFill>
                <a:latin typeface="Consolas"/>
              </a:rPr>
              <a:t> </a:t>
            </a:r>
            <a:r>
              <a:rPr sz="1800" i="0" b="0">
                <a:solidFill>
                  <a:srgbClr val="E6EDF3"/>
                </a:solidFill>
                <a:latin typeface="Consolas"/>
              </a:rPr>
              <a:t>res</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E6EDF3"/>
                </a:solidFill>
                <a:latin typeface="Consolas"/>
              </a:rPr>
              <a:t>usersApi</a:t>
            </a:r>
            <a:r>
              <a:rPr sz="1800" i="0" b="0">
                <a:solidFill>
                  <a:srgbClr val="E6EDF3"/>
                </a:solidFill>
                <a:latin typeface="Consolas"/>
              </a:rPr>
              <a:t>.</a:t>
            </a:r>
            <a:r>
              <a:rPr sz="1800" i="0" b="0">
                <a:solidFill>
                  <a:srgbClr val="8CCFF0"/>
                </a:solidFill>
                <a:latin typeface="Consolas"/>
              </a:rPr>
              <a:t>getUser</a:t>
            </a:r>
            <a:r>
              <a:rPr sz="1800" i="0" b="0">
                <a:solidFill>
                  <a:srgbClr val="E6EDF3"/>
                </a:solidFill>
                <a:latin typeface="Consolas"/>
              </a:rPr>
              <a:t>(</a:t>
            </a:r>
            <a:r>
              <a:rPr sz="1800" i="0" b="0">
                <a:solidFill>
                  <a:srgbClr val="E6EDF3"/>
                </a:solidFill>
                <a:latin typeface="Consolas"/>
              </a:rPr>
              <a:t>api</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me</a:t>
            </a:r>
            <a:r>
              <a:rPr sz="1800" i="0" b="0">
                <a:solidFill>
                  <a:srgbClr val="E6EDF3"/>
                </a:solidFill>
                <a:latin typeface="Consolas"/>
              </a:rPr>
              <a:t>.</a:t>
            </a:r>
            <a:r>
              <a:rPr sz="1800" i="0" b="0">
                <a:solidFill>
                  <a:srgbClr val="E6EDF3"/>
                </a:solidFill>
                <a:latin typeface="Consolas"/>
              </a:rPr>
              <a:t>id</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expect</a:t>
            </a:r>
            <a:r>
              <a:rPr sz="1800" i="0" b="0">
                <a:solidFill>
                  <a:srgbClr val="E6EDF3"/>
                </a:solidFill>
                <a:latin typeface="Consolas"/>
              </a:rPr>
              <a:t>(</a:t>
            </a:r>
            <a:r>
              <a:rPr sz="1800" i="0" b="0">
                <a:solidFill>
                  <a:srgbClr val="E6EDF3"/>
                </a:solidFill>
                <a:latin typeface="Consolas"/>
              </a:rPr>
              <a:t>res</a:t>
            </a:r>
            <a:r>
              <a:rPr sz="1800" i="0" b="0">
                <a:solidFill>
                  <a:srgbClr val="E6EDF3"/>
                </a:solidFill>
                <a:latin typeface="Consolas"/>
              </a:rPr>
              <a:t>.</a:t>
            </a:r>
            <a:r>
              <a:rPr sz="1800" i="0" b="0">
                <a:solidFill>
                  <a:srgbClr val="E6EDF3"/>
                </a:solidFill>
                <a:latin typeface="Consolas"/>
              </a:rPr>
              <a:t>status</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toBe</a:t>
            </a:r>
            <a:r>
              <a:rPr sz="1800" i="0" b="0">
                <a:solidFill>
                  <a:srgbClr val="E6EDF3"/>
                </a:solidFill>
                <a:latin typeface="Consolas"/>
              </a:rPr>
              <a:t>(</a:t>
            </a:r>
            <a:r>
              <a:rPr sz="1800" i="0" b="0">
                <a:solidFill>
                  <a:srgbClr val="FFC56B"/>
                </a:solidFill>
                <a:latin typeface="Consolas"/>
              </a:rPr>
              <a:t>200</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expect</a:t>
            </a:r>
            <a:r>
              <a:rPr sz="1800" i="0" b="0">
                <a:solidFill>
                  <a:srgbClr val="E6EDF3"/>
                </a:solidFill>
                <a:latin typeface="Consolas"/>
              </a:rPr>
              <a:t>(</a:t>
            </a:r>
            <a:r>
              <a:rPr sz="1800" i="0" b="0">
                <a:solidFill>
                  <a:srgbClr val="E6EDF3"/>
                </a:solidFill>
                <a:latin typeface="Consolas"/>
              </a:rPr>
              <a:t>res</a:t>
            </a:r>
            <a:r>
              <a:rPr sz="1800" i="0" b="0">
                <a:solidFill>
                  <a:srgbClr val="E6EDF3"/>
                </a:solidFill>
                <a:latin typeface="Consolas"/>
              </a:rPr>
              <a:t>.</a:t>
            </a:r>
            <a:r>
              <a:rPr sz="1800" i="0" b="0">
                <a:solidFill>
                  <a:srgbClr val="E6EDF3"/>
                </a:solidFill>
                <a:latin typeface="Consolas"/>
              </a:rPr>
              <a:t>body</a:t>
            </a:r>
            <a:r>
              <a:rPr sz="1800" i="0" b="0">
                <a:solidFill>
                  <a:srgbClr val="E6EDF3"/>
                </a:solidFill>
                <a:latin typeface="Consolas"/>
              </a:rPr>
              <a:t>.</a:t>
            </a:r>
            <a:r>
              <a:rPr sz="1800" i="0" b="0">
                <a:solidFill>
                  <a:srgbClr val="E6EDF3"/>
                </a:solidFill>
                <a:latin typeface="Consolas"/>
              </a:rPr>
              <a:t>user</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toHaveProperty</a:t>
            </a:r>
            <a:r>
              <a:rPr sz="1800" i="0" b="0">
                <a:solidFill>
                  <a:srgbClr val="E6EDF3"/>
                </a:solidFill>
                <a:latin typeface="Consolas"/>
              </a:rPr>
              <a:t>(</a:t>
            </a:r>
            <a:r>
              <a:rPr sz="1800" i="0" b="0">
                <a:solidFill>
                  <a:srgbClr val="9BE3B4"/>
                </a:solidFill>
                <a:latin typeface="Consolas"/>
              </a:rPr>
              <a:t>"firstName"</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test</a:t>
            </a:r>
            <a:r>
              <a:rPr sz="1800" i="0" b="0">
                <a:solidFill>
                  <a:srgbClr val="E6EDF3"/>
                </a:solidFill>
                <a:latin typeface="Consolas"/>
              </a:rPr>
              <a:t>(</a:t>
            </a:r>
            <a:r>
              <a:rPr sz="1800" i="0" b="0">
                <a:solidFill>
                  <a:srgbClr val="9BE3B4"/>
                </a:solidFill>
                <a:latin typeface="Consolas"/>
              </a:rPr>
              <a:t>"errors when invalid userId"</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async</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api</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const</a:t>
            </a:r>
            <a:r>
              <a:rPr sz="1800" i="0" b="0">
                <a:solidFill>
                  <a:srgbClr val="E6EDF3"/>
                </a:solidFill>
                <a:latin typeface="Consolas"/>
              </a:rPr>
              <a:t> </a:t>
            </a:r>
            <a:r>
              <a:rPr sz="1800" i="0" b="0">
                <a:solidFill>
                  <a:srgbClr val="E6EDF3"/>
                </a:solidFill>
                <a:latin typeface="Consolas"/>
              </a:rPr>
              <a:t>res</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E6EDF3"/>
                </a:solidFill>
                <a:latin typeface="Consolas"/>
              </a:rPr>
              <a:t>usersApi</a:t>
            </a:r>
            <a:r>
              <a:rPr sz="1800" i="0" b="0">
                <a:solidFill>
                  <a:srgbClr val="E6EDF3"/>
                </a:solidFill>
                <a:latin typeface="Consolas"/>
              </a:rPr>
              <a:t>.</a:t>
            </a:r>
            <a:r>
              <a:rPr sz="1800" i="0" b="0">
                <a:solidFill>
                  <a:srgbClr val="8CCFF0"/>
                </a:solidFill>
                <a:latin typeface="Consolas"/>
              </a:rPr>
              <a:t>getUser</a:t>
            </a:r>
            <a:r>
              <a:rPr sz="1800" i="0" b="0">
                <a:solidFill>
                  <a:srgbClr val="E6EDF3"/>
                </a:solidFill>
                <a:latin typeface="Consolas"/>
              </a:rPr>
              <a:t>(</a:t>
            </a:r>
            <a:r>
              <a:rPr sz="1800" i="0" b="0">
                <a:solidFill>
                  <a:srgbClr val="E6EDF3"/>
                </a:solidFill>
                <a:latin typeface="Consolas"/>
              </a:rPr>
              <a:t>api</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"1234"</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expect</a:t>
            </a:r>
            <a:r>
              <a:rPr sz="1800" i="0" b="0">
                <a:solidFill>
                  <a:srgbClr val="E6EDF3"/>
                </a:solidFill>
                <a:latin typeface="Consolas"/>
              </a:rPr>
              <a:t>(</a:t>
            </a:r>
            <a:r>
              <a:rPr sz="1800" i="0" b="0">
                <a:solidFill>
                  <a:srgbClr val="E6EDF3"/>
                </a:solidFill>
                <a:latin typeface="Consolas"/>
              </a:rPr>
              <a:t>res</a:t>
            </a:r>
            <a:r>
              <a:rPr sz="1800" i="0" b="0">
                <a:solidFill>
                  <a:srgbClr val="E6EDF3"/>
                </a:solidFill>
                <a:latin typeface="Consolas"/>
              </a:rPr>
              <a:t>.</a:t>
            </a:r>
            <a:r>
              <a:rPr sz="1800" i="0" b="0">
                <a:solidFill>
                  <a:srgbClr val="E6EDF3"/>
                </a:solidFill>
                <a:latin typeface="Consolas"/>
              </a:rPr>
              <a:t>status</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toBe</a:t>
            </a:r>
            <a:r>
              <a:rPr sz="1800" i="0" b="0">
                <a:solidFill>
                  <a:srgbClr val="E6EDF3"/>
                </a:solidFill>
                <a:latin typeface="Consolas"/>
              </a:rPr>
              <a:t>(</a:t>
            </a:r>
            <a:r>
              <a:rPr sz="1800" i="0" b="0">
                <a:solidFill>
                  <a:srgbClr val="FFC56B"/>
                </a:solidFill>
                <a:latin typeface="Consolas"/>
              </a:rPr>
              <a:t>422</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expect</a:t>
            </a:r>
            <a:r>
              <a:rPr sz="1800" i="0" b="0">
                <a:solidFill>
                  <a:srgbClr val="E6EDF3"/>
                </a:solidFill>
                <a:latin typeface="Consolas"/>
              </a:rPr>
              <a:t>(</a:t>
            </a:r>
            <a:r>
              <a:rPr sz="1800" i="0" b="0">
                <a:solidFill>
                  <a:srgbClr val="8CCFF0"/>
                </a:solidFill>
                <a:latin typeface="Consolas"/>
              </a:rPr>
              <a:t>errorsOf</a:t>
            </a:r>
            <a:r>
              <a:rPr sz="1800" i="0" b="0">
                <a:solidFill>
                  <a:srgbClr val="E6EDF3"/>
                </a:solidFill>
                <a:latin typeface="Consolas"/>
              </a:rPr>
              <a:t>(</a:t>
            </a:r>
            <a:r>
              <a:rPr sz="1800" i="0" b="0">
                <a:solidFill>
                  <a:srgbClr val="E6EDF3"/>
                </a:solidFill>
                <a:latin typeface="Consolas"/>
              </a:rPr>
              <a:t>res</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toHaveLength</a:t>
            </a:r>
            <a:r>
              <a:rPr sz="1800" i="0" b="0">
                <a:solidFill>
                  <a:srgbClr val="E6EDF3"/>
                </a:solidFill>
                <a:latin typeface="Consolas"/>
              </a:rPr>
              <a:t>(</a:t>
            </a:r>
            <a:r>
              <a:rPr sz="1800" i="0" b="0">
                <a:solidFill>
                  <a:srgbClr val="FFC56B"/>
                </a:solidFill>
                <a:latin typeface="Consolas"/>
              </a:rPr>
              <a:t>1</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p:txBody>
      </p:sp>
      <p:sp>
        <p:nvSpPr>
          <p:cNvPr id="35" name="Rounded Rectangle 34"/>
          <p:cNvSpPr/>
          <p:nvPr/>
        </p:nvSpPr>
        <p:spPr>
          <a:xfrm>
            <a:off x="612648" y="10789920"/>
            <a:ext cx="22860000" cy="960120"/>
          </a:xfrm>
          <a:prstGeom prst="roundRect">
            <a:avLst>
              <a:gd name="adj" fmla="val 1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886968" y="10927080"/>
            <a:ext cx="685800" cy="6858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LuLaugh.png"/>
          <p:cNvPicPr>
            <a:picLocks noChangeAspect="1"/>
          </p:cNvPicPr>
          <p:nvPr/>
        </p:nvPicPr>
        <p:blipFill>
          <a:blip r:embed="rId7"/>
          <a:stretch>
            <a:fillRect/>
          </a:stretch>
        </p:blipFill>
        <p:spPr>
          <a:xfrm>
            <a:off x="1051560" y="11091672"/>
            <a:ext cx="356616" cy="356616"/>
          </a:xfrm>
          <a:prstGeom prst="rect">
            <a:avLst/>
          </a:prstGeom>
        </p:spPr>
      </p:pic>
      <p:sp>
        <p:nvSpPr>
          <p:cNvPr id="38" name="TextBox 37"/>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Our API tests never throw on a 4xx. They just quietly judge you in the </a:t>
            </a:r>
            <a:r>
              <a:rPr sz="1840" b="0" i="1">
                <a:solidFill>
                  <a:srgbClr val="C2410C"/>
                </a:solidFill>
                <a:latin typeface="Consolas"/>
              </a:rPr>
              <a:t>expect</a:t>
            </a:r>
            <a:r>
              <a:rPr sz="2000" b="0" i="1">
                <a:solidFill>
                  <a:srgbClr val="192B37"/>
                </a:solidFill>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API &amp; UI</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00A859"/>
                </a:solidFill>
              </a:rPr>
              <a:t>API LAYER · CONTRACT</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One OpenAPI spec, a working Swagger UI, zero drift</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17</a:t>
            </a:r>
          </a:p>
        </p:txBody>
      </p:sp>
      <p:sp>
        <p:nvSpPr>
          <p:cNvPr id="6" name="Rounded Rectangle 5"/>
          <p:cNvSpPr/>
          <p:nvPr/>
        </p:nvSpPr>
        <p:spPr>
          <a:xfrm>
            <a:off x="612648" y="3005518"/>
            <a:ext cx="11521439" cy="5784722"/>
          </a:xfrm>
          <a:prstGeom prst="roundRect">
            <a:avLst>
              <a:gd name="adj" fmla="val 1896"/>
            </a:avLst>
          </a:prstGeom>
          <a:solidFill>
            <a:srgbClr val="F1F4F7"/>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3124390"/>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14984" y="3124390"/>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52728" y="3124390"/>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72768" y="3069526"/>
            <a:ext cx="5486400" cy="256031"/>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664208" y="3069526"/>
            <a:ext cx="5303520" cy="256031"/>
          </a:xfrm>
          <a:prstGeom prst="rect">
            <a:avLst/>
          </a:prstGeom>
          <a:noFill/>
        </p:spPr>
        <p:txBody>
          <a:bodyPr wrap="square" lIns="0" rIns="0" tIns="18288" bIns="18288" anchor="ctr">
            <a:noAutofit/>
          </a:bodyPr>
          <a:lstStyle/>
          <a:p>
            <a:pPr algn="l">
              <a:lnSpc>
                <a:spcPct val="100000"/>
              </a:lnSpc>
              <a:spcBef>
                <a:spcPts val="0"/>
              </a:spcBef>
              <a:spcAft>
                <a:spcPts val="0"/>
              </a:spcAft>
            </a:pPr>
            <a:r>
              <a:rPr sz="1200" b="0" i="0">
                <a:solidFill>
                  <a:srgbClr val="5E6A73"/>
                </a:solidFill>
              </a:rPr>
              <a:t>localhost:3100  ·  TAP26 Swagger UI</a:t>
            </a:r>
          </a:p>
        </p:txBody>
      </p:sp>
      <p:pic>
        <p:nvPicPr>
          <p:cNvPr id="12" name="Picture 11" descr="swagger-overview.png"/>
          <p:cNvPicPr>
            <a:picLocks noChangeAspect="1"/>
          </p:cNvPicPr>
          <p:nvPr/>
        </p:nvPicPr>
        <p:blipFill>
          <a:blip r:embed="rId3"/>
          <a:stretch>
            <a:fillRect/>
          </a:stretch>
        </p:blipFill>
        <p:spPr>
          <a:xfrm>
            <a:off x="612648" y="3389566"/>
            <a:ext cx="11521439" cy="5400674"/>
          </a:xfrm>
          <a:prstGeom prst="rect">
            <a:avLst/>
          </a:prstGeom>
          <a:ln w="12700">
            <a:solidFill>
              <a:srgbClr val="D9E1E7"/>
            </a:solidFill>
          </a:ln>
        </p:spPr>
      </p:pic>
      <p:sp>
        <p:nvSpPr>
          <p:cNvPr id="13" name="Pentagon 12"/>
          <p:cNvSpPr/>
          <p:nvPr/>
        </p:nvSpPr>
        <p:spPr>
          <a:xfrm>
            <a:off x="612648" y="9281160"/>
            <a:ext cx="3108960" cy="1051560"/>
          </a:xfrm>
          <a:prstGeom prst="homePlate">
            <a:avLst>
              <a:gd name="adj" fmla="val 32000"/>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228600" wrap="square"/>
          <a:lstStyle/>
          <a:p>
            <a:pPr algn="ctr">
              <a:lnSpc>
                <a:spcPct val="95000"/>
              </a:lnSpc>
              <a:spcBef>
                <a:spcPts val="0"/>
              </a:spcBef>
            </a:pPr>
            <a:r>
              <a:rPr sz="1500" b="1" i="0">
                <a:solidFill>
                  <a:srgbClr val="FFFFFF"/>
                </a:solidFill>
              </a:rPr>
              <a:t>Try it out</a:t>
            </a:r>
          </a:p>
        </p:txBody>
      </p:sp>
      <p:sp>
        <p:nvSpPr>
          <p:cNvPr id="14" name="Chevron 13"/>
          <p:cNvSpPr/>
          <p:nvPr/>
        </p:nvSpPr>
        <p:spPr>
          <a:xfrm>
            <a:off x="3538728" y="9281160"/>
            <a:ext cx="3108960" cy="1051560"/>
          </a:xfrm>
          <a:prstGeom prst="chevron">
            <a:avLst>
              <a:gd name="adj" fmla="val 32000"/>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500" b="1" i="0">
                <a:solidFill>
                  <a:srgbClr val="FFFFFF"/>
                </a:solidFill>
              </a:rPr>
              <a:t>POST /api/login</a:t>
            </a:r>
          </a:p>
        </p:txBody>
      </p:sp>
      <p:sp>
        <p:nvSpPr>
          <p:cNvPr id="15" name="Chevron 14"/>
          <p:cNvSpPr/>
          <p:nvPr/>
        </p:nvSpPr>
        <p:spPr>
          <a:xfrm>
            <a:off x="6464808" y="9281160"/>
            <a:ext cx="3108960" cy="1051560"/>
          </a:xfrm>
          <a:prstGeom prst="chevron">
            <a:avLst>
              <a:gd name="adj" fmla="val 32000"/>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500" b="1" i="0">
                <a:solidFill>
                  <a:srgbClr val="FFFFFF"/>
                </a:solidFill>
              </a:rPr>
              <a:t>200 · cookie set</a:t>
            </a:r>
          </a:p>
        </p:txBody>
      </p:sp>
      <p:sp>
        <p:nvSpPr>
          <p:cNvPr id="16" name="Chevron 15"/>
          <p:cNvSpPr/>
          <p:nvPr/>
        </p:nvSpPr>
        <p:spPr>
          <a:xfrm>
            <a:off x="9390888" y="9281160"/>
            <a:ext cx="3108960" cy="1051560"/>
          </a:xfrm>
          <a:prstGeom prst="chevron">
            <a:avLst>
              <a:gd name="adj" fmla="val 32000"/>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500" b="1" i="0">
                <a:solidFill>
                  <a:srgbClr val="FFFFFF"/>
                </a:solidFill>
              </a:rPr>
              <a:t>GET /api/checkAuth → 200</a:t>
            </a:r>
          </a:p>
        </p:txBody>
      </p:sp>
      <p:sp>
        <p:nvSpPr>
          <p:cNvPr id="17" name="Rounded Rectangle 16"/>
          <p:cNvSpPr/>
          <p:nvPr/>
        </p:nvSpPr>
        <p:spPr>
          <a:xfrm>
            <a:off x="12435840" y="2926080"/>
            <a:ext cx="11036808" cy="3611880"/>
          </a:xfrm>
          <a:prstGeom prst="roundRect">
            <a:avLst>
              <a:gd name="adj" fmla="val 7088"/>
            </a:avLst>
          </a:prstGeom>
          <a:solidFill>
            <a:srgbClr val="0F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2710160" y="312724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3002768" y="312724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3295376" y="312724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716000" y="2999232"/>
            <a:ext cx="9482328"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spec drift</a:t>
            </a:r>
          </a:p>
        </p:txBody>
      </p:sp>
      <p:sp>
        <p:nvSpPr>
          <p:cNvPr id="22" name="TextBox 21"/>
          <p:cNvSpPr txBox="1"/>
          <p:nvPr/>
        </p:nvSpPr>
        <p:spPr>
          <a:xfrm>
            <a:off x="12710160" y="3474720"/>
            <a:ext cx="10579608" cy="2926080"/>
          </a:xfrm>
          <a:prstGeom prst="rect">
            <a:avLst/>
          </a:prstGeom>
          <a:noFill/>
        </p:spPr>
        <p:txBody>
          <a:bodyPr wrap="none" lIns="0" rIns="0" tIns="0" bIns="0">
            <a:noAutofit/>
          </a:bodyPr>
          <a:lstStyle/>
          <a:p>
            <a:pPr>
              <a:lnSpc>
                <a:spcPct val="108000"/>
              </a:lnSpc>
              <a:spcBef>
                <a:spcPts val="0"/>
              </a:spcBef>
              <a:spcAft>
                <a:spcPts val="0"/>
              </a:spcAft>
            </a:pPr>
            <a:r>
              <a:rPr sz="1800" b="1">
                <a:solidFill>
                  <a:srgbClr val="7EE787"/>
                </a:solidFill>
                <a:latin typeface="Consolas"/>
              </a:rPr>
              <a:t>$ </a:t>
            </a:r>
            <a:r>
              <a:rPr sz="1800">
                <a:solidFill>
                  <a:srgbClr val="FFFFFF"/>
                </a:solidFill>
                <a:latin typeface="Consolas"/>
              </a:rPr>
              <a:t>node tap26/scripts/spec-drift.mjs</a:t>
            </a:r>
          </a:p>
          <a:p>
            <a:pPr>
              <a:lnSpc>
                <a:spcPct val="108000"/>
              </a:lnSpc>
              <a:spcBef>
                <a:spcPts val="0"/>
              </a:spcBef>
              <a:spcAft>
                <a:spcPts val="0"/>
              </a:spcAft>
            </a:pPr>
            <a:r>
              <a:rPr sz="1800">
                <a:solidFill>
                  <a:srgbClr val="D7E3EA"/>
                </a:solidFill>
                <a:latin typeface="Consolas"/>
              </a:rPr>
              <a:t>  documented operations: 35 · implemented: 35 · matched: 35</a:t>
            </a:r>
          </a:p>
          <a:p>
            <a:pPr>
              <a:lnSpc>
                <a:spcPct val="108000"/>
              </a:lnSpc>
              <a:spcBef>
                <a:spcPts val="0"/>
              </a:spcBef>
              <a:spcAft>
                <a:spcPts val="0"/>
              </a:spcAft>
            </a:pPr>
            <a:r>
              <a:rPr sz="1800">
                <a:solidFill>
                  <a:srgbClr val="7EE787"/>
                </a:solidFill>
                <a:latin typeface="Consolas"/>
              </a:rPr>
              <a:t>  Documented but missing in the API (0)   ✔ none</a:t>
            </a:r>
          </a:p>
          <a:p>
            <a:pPr>
              <a:lnSpc>
                <a:spcPct val="108000"/>
              </a:lnSpc>
              <a:spcBef>
                <a:spcPts val="0"/>
              </a:spcBef>
              <a:spcAft>
                <a:spcPts val="0"/>
              </a:spcAft>
            </a:pPr>
            <a:r>
              <a:rPr sz="1800">
                <a:solidFill>
                  <a:srgbClr val="7EE787"/>
                </a:solidFill>
                <a:latin typeface="Consolas"/>
              </a:rPr>
              <a:t>  Implemented but undocumented (0)        ✔ none</a:t>
            </a:r>
          </a:p>
          <a:p>
            <a:pPr>
              <a:lnSpc>
                <a:spcPct val="108000"/>
              </a:lnSpc>
              <a:spcBef>
                <a:spcPts val="0"/>
              </a:spcBef>
              <a:spcAft>
                <a:spcPts val="0"/>
              </a:spcAft>
            </a:pPr>
            <a:r>
              <a:rPr sz="1800">
                <a:solidFill>
                  <a:srgbClr val="7EE787"/>
                </a:solidFill>
                <a:latin typeface="Consolas"/>
              </a:rPr>
              <a:t>  Method mismatches (0)                   ✔ none</a:t>
            </a:r>
          </a:p>
          <a:p>
            <a:pPr>
              <a:lnSpc>
                <a:spcPct val="108000"/>
              </a:lnSpc>
              <a:spcBef>
                <a:spcPts val="0"/>
              </a:spcBef>
              <a:spcAft>
                <a:spcPts val="0"/>
              </a:spcAft>
            </a:pPr>
            <a:r>
              <a:rPr sz="1800">
                <a:solidFill>
                  <a:srgbClr val="7EE787"/>
                </a:solidFill>
                <a:latin typeface="Consolas"/>
              </a:rPr>
              <a:t>IN SYNC — every documented operation is implemented.</a:t>
            </a:r>
          </a:p>
        </p:txBody>
      </p:sp>
      <p:sp>
        <p:nvSpPr>
          <p:cNvPr id="23" name="Rounded Rectangle 22"/>
          <p:cNvSpPr/>
          <p:nvPr/>
        </p:nvSpPr>
        <p:spPr>
          <a:xfrm>
            <a:off x="12435840" y="6766560"/>
            <a:ext cx="11036808" cy="3703320"/>
          </a:xfrm>
          <a:prstGeom prst="roundRect">
            <a:avLst>
              <a:gd name="adj" fmla="val 6913"/>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2710160" y="696772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3002768" y="696772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295376" y="696772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716000" y="6839712"/>
            <a:ext cx="9482328"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src/api/contract.ts · AJV against OpenAPI</a:t>
            </a:r>
          </a:p>
        </p:txBody>
      </p:sp>
      <p:sp>
        <p:nvSpPr>
          <p:cNvPr id="28" name="TextBox 27"/>
          <p:cNvSpPr txBox="1"/>
          <p:nvPr/>
        </p:nvSpPr>
        <p:spPr>
          <a:xfrm>
            <a:off x="12710160" y="7315200"/>
            <a:ext cx="10579608" cy="3017520"/>
          </a:xfrm>
          <a:prstGeom prst="rect">
            <a:avLst/>
          </a:prstGeom>
          <a:noFill/>
        </p:spPr>
        <p:txBody>
          <a:bodyPr wrap="none" lIns="0" rIns="0" tIns="0" bIns="0">
            <a:noAutofit/>
          </a:bodyPr>
          <a:lstStyle/>
          <a:p>
            <a:pPr>
              <a:lnSpc>
                <a:spcPct val="108000"/>
              </a:lnSpc>
              <a:spcBef>
                <a:spcPts val="0"/>
              </a:spcBef>
              <a:spcAft>
                <a:spcPts val="0"/>
              </a:spcAft>
            </a:pPr>
            <a:r>
              <a:rPr sz="1800" i="0" b="0">
                <a:solidFill>
                  <a:srgbClr val="FF9C8A"/>
                </a:solidFill>
                <a:latin typeface="Consolas"/>
              </a:rPr>
              <a:t>const</a:t>
            </a:r>
            <a:r>
              <a:rPr sz="1800" i="0" b="0">
                <a:solidFill>
                  <a:srgbClr val="E6EDF3"/>
                </a:solidFill>
                <a:latin typeface="Consolas"/>
              </a:rPr>
              <a:t> </a:t>
            </a:r>
            <a:r>
              <a:rPr sz="1800" i="0" b="0">
                <a:solidFill>
                  <a:srgbClr val="E6EDF3"/>
                </a:solidFill>
                <a:latin typeface="Consolas"/>
              </a:rPr>
              <a:t>verdict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8CCFF0"/>
                </a:solidFill>
                <a:latin typeface="Consolas"/>
              </a:rPr>
              <a:t>validateResponse</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contract</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"GET"</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"/users/{userId}"</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res</a:t>
            </a:r>
            <a:r>
              <a:rPr sz="1800" i="0" b="0">
                <a:solidFill>
                  <a:srgbClr val="E6EDF3"/>
                </a:solidFill>
                <a:latin typeface="Consolas"/>
              </a:rPr>
              <a:t>.</a:t>
            </a:r>
            <a:r>
              <a:rPr sz="1800" i="0" b="0">
                <a:solidFill>
                  <a:srgbClr val="E6EDF3"/>
                </a:solidFill>
                <a:latin typeface="Consolas"/>
              </a:rPr>
              <a:t>status</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res</a:t>
            </a:r>
            <a:r>
              <a:rPr sz="1800" i="0" b="0">
                <a:solidFill>
                  <a:srgbClr val="E6EDF3"/>
                </a:solidFill>
                <a:latin typeface="Consolas"/>
              </a:rPr>
              <a:t>.</a:t>
            </a:r>
            <a:r>
              <a:rPr sz="1800" i="0" b="0">
                <a:solidFill>
                  <a:srgbClr val="E6EDF3"/>
                </a:solidFill>
                <a:latin typeface="Consolas"/>
              </a:rPr>
              <a:t>body</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FF9C8A"/>
                </a:solidFill>
                <a:latin typeface="Consolas"/>
              </a:rPr>
              <a:t>expect</a:t>
            </a:r>
            <a:r>
              <a:rPr sz="1800" i="0" b="0">
                <a:solidFill>
                  <a:srgbClr val="E6EDF3"/>
                </a:solidFill>
                <a:latin typeface="Consolas"/>
              </a:rPr>
              <a:t>(</a:t>
            </a:r>
            <a:r>
              <a:rPr sz="1800" i="0" b="0">
                <a:solidFill>
                  <a:srgbClr val="E6EDF3"/>
                </a:solidFill>
                <a:latin typeface="Consolas"/>
              </a:rPr>
              <a:t>verdict</a:t>
            </a:r>
            <a:r>
              <a:rPr sz="1800" i="0" b="0">
                <a:solidFill>
                  <a:srgbClr val="E6EDF3"/>
                </a:solidFill>
                <a:latin typeface="Consolas"/>
              </a:rPr>
              <a:t>.</a:t>
            </a:r>
            <a:r>
              <a:rPr sz="1800" i="0" b="0">
                <a:solidFill>
                  <a:srgbClr val="E6EDF3"/>
                </a:solidFill>
                <a:latin typeface="Consolas"/>
              </a:rPr>
              <a:t>errors</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verdict</a:t>
            </a:r>
            <a:r>
              <a:rPr sz="1800" i="0" b="0">
                <a:solidFill>
                  <a:srgbClr val="E6EDF3"/>
                </a:solidFill>
                <a:latin typeface="Consolas"/>
              </a:rPr>
              <a:t>.</a:t>
            </a:r>
            <a:r>
              <a:rPr sz="1800" i="0" b="0">
                <a:solidFill>
                  <a:srgbClr val="E6EDF3"/>
                </a:solidFill>
                <a:latin typeface="Consolas"/>
              </a:rPr>
              <a:t>summary</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toEqual</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1" b="0">
                <a:solidFill>
                  <a:srgbClr val="7F93A3"/>
                </a:solidFill>
                <a:latin typeface="Consolas"/>
              </a:rPr>
              <a:t>// broken body → readable violations:</a:t>
            </a:r>
          </a:p>
          <a:p>
            <a:pPr>
              <a:lnSpc>
                <a:spcPct val="108000"/>
              </a:lnSpc>
              <a:spcBef>
                <a:spcPts val="0"/>
              </a:spcBef>
              <a:spcAft>
                <a:spcPts val="0"/>
              </a:spcAft>
            </a:pPr>
            <a:r>
              <a:rPr sz="1800" i="1" b="0">
                <a:solidFill>
                  <a:srgbClr val="7F93A3"/>
                </a:solidFill>
                <a:latin typeface="Consolas"/>
              </a:rPr>
              <a:t>//  "/results/0/balance must be integer"</a:t>
            </a:r>
          </a:p>
        </p:txBody>
      </p:sp>
      <p:sp>
        <p:nvSpPr>
          <p:cNvPr id="29" name="Rounded Rectangle 28"/>
          <p:cNvSpPr/>
          <p:nvPr/>
        </p:nvSpPr>
        <p:spPr>
          <a:xfrm>
            <a:off x="612648" y="10789920"/>
            <a:ext cx="22860000" cy="960120"/>
          </a:xfrm>
          <a:prstGeom prst="roundRect">
            <a:avLst>
              <a:gd name="adj" fmla="val 1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86968" y="10927080"/>
            <a:ext cx="685800" cy="6858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LuLaugh.png"/>
          <p:cNvPicPr>
            <a:picLocks noChangeAspect="1"/>
          </p:cNvPicPr>
          <p:nvPr/>
        </p:nvPicPr>
        <p:blipFill>
          <a:blip r:embed="rId4"/>
          <a:stretch>
            <a:fillRect/>
          </a:stretch>
        </p:blipFill>
        <p:spPr>
          <a:xfrm>
            <a:off x="1051560" y="11091672"/>
            <a:ext cx="356616" cy="356616"/>
          </a:xfrm>
          <a:prstGeom prst="rect">
            <a:avLst/>
          </a:prstGeom>
        </p:spPr>
      </p:pic>
      <p:sp>
        <p:nvSpPr>
          <p:cNvPr id="32" name="TextBox 31"/>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Our spec and our API are perfectly in sync — the healthiest relationship in this building.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API &amp; UI</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00A859"/>
                </a:solidFill>
              </a:rPr>
              <a:t>API LAYER · DEFECTS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37 known issues found by testing (we kept receipts)</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18</a:t>
            </a:r>
          </a:p>
        </p:txBody>
      </p:sp>
      <p:sp>
        <p:nvSpPr>
          <p:cNvPr id="6" name="TextBox 5"/>
          <p:cNvSpPr txBox="1"/>
          <p:nvPr/>
        </p:nvSpPr>
        <p:spPr>
          <a:xfrm>
            <a:off x="612648" y="2880360"/>
            <a:ext cx="640080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00A859"/>
                </a:solidFill>
              </a:rPr>
              <a:t>BY SEVERITY</a:t>
            </a:r>
          </a:p>
        </p:txBody>
      </p:sp>
      <p:graphicFrame>
        <p:nvGraphicFramePr>
          <p:cNvPr id="7" name="Chart 6"/>
          <p:cNvGraphicFramePr>
            <a:graphicFrameLocks noGrp="1"/>
          </p:cNvGraphicFramePr>
          <p:nvPr/>
        </p:nvGraphicFramePr>
        <p:xfrm>
          <a:off x="612648" y="3200400"/>
          <a:ext cx="6400800" cy="5669280"/>
        </p:xfrm>
        <a:graphic>
          <a:graphicData uri="http://schemas.openxmlformats.org/drawingml/2006/chart">
            <c:chart xmlns:c="http://schemas.openxmlformats.org/drawingml/2006/chart" r:id="rId3"/>
          </a:graphicData>
        </a:graphic>
      </p:graphicFrame>
      <p:sp>
        <p:nvSpPr>
          <p:cNvPr id="8" name="TextBox 7"/>
          <p:cNvSpPr txBox="1"/>
          <p:nvPr/>
        </p:nvSpPr>
        <p:spPr>
          <a:xfrm>
            <a:off x="612648" y="5349240"/>
            <a:ext cx="6400800" cy="914400"/>
          </a:xfrm>
          <a:prstGeom prst="rect">
            <a:avLst/>
          </a:prstGeom>
          <a:noFill/>
        </p:spPr>
        <p:txBody>
          <a:bodyPr wrap="square" lIns="0" rIns="0" tIns="18288" bIns="18288" anchor="ctr">
            <a:noAutofit/>
          </a:bodyPr>
          <a:lstStyle/>
          <a:p>
            <a:pPr algn="ctr">
              <a:lnSpc>
                <a:spcPct val="100000"/>
              </a:lnSpc>
              <a:spcBef>
                <a:spcPts val="0"/>
              </a:spcBef>
              <a:spcAft>
                <a:spcPts val="0"/>
              </a:spcAft>
            </a:pPr>
            <a:r>
              <a:rPr sz="5400" b="0" i="0">
                <a:solidFill>
                  <a:srgbClr val="192B37"/>
                </a:solidFill>
                <a:latin typeface="+mj-lt"/>
              </a:rPr>
              <a:t>37</a:t>
            </a:r>
          </a:p>
        </p:txBody>
      </p:sp>
      <p:sp>
        <p:nvSpPr>
          <p:cNvPr id="9" name="Oval 8"/>
          <p:cNvSpPr/>
          <p:nvPr/>
        </p:nvSpPr>
        <p:spPr>
          <a:xfrm>
            <a:off x="1097280" y="9098280"/>
            <a:ext cx="320040" cy="32004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08760" y="8979408"/>
            <a:ext cx="1463040" cy="54864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0" i="0">
                <a:solidFill>
                  <a:srgbClr val="192B37"/>
                </a:solidFill>
              </a:rPr>
              <a:t>High 8</a:t>
            </a:r>
          </a:p>
        </p:txBody>
      </p:sp>
      <p:sp>
        <p:nvSpPr>
          <p:cNvPr id="11" name="Oval 10"/>
          <p:cNvSpPr/>
          <p:nvPr/>
        </p:nvSpPr>
        <p:spPr>
          <a:xfrm>
            <a:off x="3063239" y="9098280"/>
            <a:ext cx="320040" cy="32004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0" y="8979408"/>
            <a:ext cx="1463040" cy="54864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0" i="0">
                <a:solidFill>
                  <a:srgbClr val="192B37"/>
                </a:solidFill>
              </a:rPr>
              <a:t>Medium 11</a:t>
            </a:r>
          </a:p>
        </p:txBody>
      </p:sp>
      <p:sp>
        <p:nvSpPr>
          <p:cNvPr id="13" name="Oval 12"/>
          <p:cNvSpPr/>
          <p:nvPr/>
        </p:nvSpPr>
        <p:spPr>
          <a:xfrm>
            <a:off x="5029200" y="9098280"/>
            <a:ext cx="320040" cy="320040"/>
          </a:xfrm>
          <a:prstGeom prst="ellipse">
            <a:avLst/>
          </a:prstGeom>
          <a:solidFill>
            <a:srgbClr val="F2C9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40679" y="8979408"/>
            <a:ext cx="1463040" cy="54864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0" i="0">
                <a:solidFill>
                  <a:srgbClr val="192B37"/>
                </a:solidFill>
              </a:rPr>
              <a:t>Low 18</a:t>
            </a:r>
          </a:p>
        </p:txBody>
      </p:sp>
      <p:sp>
        <p:nvSpPr>
          <p:cNvPr id="15" name="Rounded Rectangle 14"/>
          <p:cNvSpPr/>
          <p:nvPr/>
        </p:nvSpPr>
        <p:spPr>
          <a:xfrm>
            <a:off x="7498079" y="2926080"/>
            <a:ext cx="7772400" cy="2286000"/>
          </a:xfrm>
          <a:prstGeom prst="roundRect">
            <a:avLst>
              <a:gd name="adj" fmla="val 8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772400" y="3200400"/>
            <a:ext cx="822960" cy="82296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uEraser.png"/>
          <p:cNvPicPr>
            <a:picLocks noChangeAspect="1"/>
          </p:cNvPicPr>
          <p:nvPr/>
        </p:nvPicPr>
        <p:blipFill>
          <a:blip r:embed="rId4"/>
          <a:stretch>
            <a:fillRect/>
          </a:stretch>
        </p:blipFill>
        <p:spPr>
          <a:xfrm>
            <a:off x="7969910" y="3397910"/>
            <a:ext cx="427939" cy="427939"/>
          </a:xfrm>
          <a:prstGeom prst="rect">
            <a:avLst/>
          </a:prstGeom>
        </p:spPr>
      </p:pic>
      <p:sp>
        <p:nvSpPr>
          <p:cNvPr id="18" name="Rounded Rectangle 17"/>
          <p:cNvSpPr/>
          <p:nvPr/>
        </p:nvSpPr>
        <p:spPr>
          <a:xfrm>
            <a:off x="8823959" y="3310128"/>
            <a:ext cx="1463040" cy="566928"/>
          </a:xfrm>
          <a:prstGeom prst="roundRect">
            <a:avLst>
              <a:gd name="adj" fmla="val 50000"/>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915399" y="3310128"/>
            <a:ext cx="1280160"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1" i="0">
                <a:solidFill>
                  <a:srgbClr val="FFFFFF"/>
                </a:solidFill>
              </a:rPr>
              <a:t>KI-01</a:t>
            </a:r>
          </a:p>
        </p:txBody>
      </p:sp>
      <p:sp>
        <p:nvSpPr>
          <p:cNvPr id="20" name="TextBox 19"/>
          <p:cNvSpPr txBox="1"/>
          <p:nvPr/>
        </p:nvSpPr>
        <p:spPr>
          <a:xfrm>
            <a:off x="7818119" y="4160520"/>
            <a:ext cx="7223760" cy="960120"/>
          </a:xfrm>
          <a:prstGeom prst="rect">
            <a:avLst/>
          </a:prstGeom>
          <a:noFill/>
        </p:spPr>
        <p:txBody>
          <a:bodyPr wrap="square" lIns="0" rIns="0" tIns="18288" bIns="18288" anchor="t">
            <a:noAutofit/>
          </a:bodyPr>
          <a:lstStyle/>
          <a:p>
            <a:pPr algn="l">
              <a:lnSpc>
                <a:spcPct val="100000"/>
              </a:lnSpc>
              <a:spcBef>
                <a:spcPts val="0"/>
              </a:spcBef>
              <a:spcAft>
                <a:spcPts val="0"/>
              </a:spcAft>
            </a:pPr>
            <a:r>
              <a:rPr sz="1900" b="0" i="0">
                <a:solidFill>
                  <a:srgbClr val="192B37"/>
                </a:solidFill>
              </a:rPr>
              <a:t>DELETE /contacts/&lt;unknown id&gt; deletes </a:t>
            </a:r>
            <a:r>
              <a:rPr sz="1900" b="1" i="0">
                <a:solidFill>
                  <a:srgbClr val="192B37"/>
                </a:solidFill>
              </a:rPr>
              <a:t>every</a:t>
            </a:r>
            <a:r>
              <a:rPr sz="1900" b="0" i="0">
                <a:solidFill>
                  <a:srgbClr val="192B37"/>
                </a:solidFill>
              </a:rPr>
              <a:t> contact</a:t>
            </a:r>
          </a:p>
        </p:txBody>
      </p:sp>
      <p:sp>
        <p:nvSpPr>
          <p:cNvPr id="21" name="Rounded Rectangle 20"/>
          <p:cNvSpPr/>
          <p:nvPr/>
        </p:nvSpPr>
        <p:spPr>
          <a:xfrm>
            <a:off x="15544800" y="2926080"/>
            <a:ext cx="7772400" cy="2286000"/>
          </a:xfrm>
          <a:prstGeom prst="roundRect">
            <a:avLst>
              <a:gd name="adj" fmla="val 8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15819120" y="3200400"/>
            <a:ext cx="822960" cy="82296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LuShield.png"/>
          <p:cNvPicPr>
            <a:picLocks noChangeAspect="1"/>
          </p:cNvPicPr>
          <p:nvPr/>
        </p:nvPicPr>
        <p:blipFill>
          <a:blip r:embed="rId5"/>
          <a:stretch>
            <a:fillRect/>
          </a:stretch>
        </p:blipFill>
        <p:spPr>
          <a:xfrm>
            <a:off x="16016630" y="3397910"/>
            <a:ext cx="427939" cy="427939"/>
          </a:xfrm>
          <a:prstGeom prst="rect">
            <a:avLst/>
          </a:prstGeom>
        </p:spPr>
      </p:pic>
      <p:sp>
        <p:nvSpPr>
          <p:cNvPr id="24" name="Rounded Rectangle 23"/>
          <p:cNvSpPr/>
          <p:nvPr/>
        </p:nvSpPr>
        <p:spPr>
          <a:xfrm>
            <a:off x="16870680" y="3310128"/>
            <a:ext cx="1463040" cy="566928"/>
          </a:xfrm>
          <a:prstGeom prst="roundRect">
            <a:avLst>
              <a:gd name="adj" fmla="val 50000"/>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6962120" y="3310128"/>
            <a:ext cx="1280160"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1" i="0">
                <a:solidFill>
                  <a:srgbClr val="FFFFFF"/>
                </a:solidFill>
              </a:rPr>
              <a:t>KI-04</a:t>
            </a:r>
          </a:p>
        </p:txBody>
      </p:sp>
      <p:sp>
        <p:nvSpPr>
          <p:cNvPr id="26" name="TextBox 25"/>
          <p:cNvSpPr txBox="1"/>
          <p:nvPr/>
        </p:nvSpPr>
        <p:spPr>
          <a:xfrm>
            <a:off x="15864840" y="4160520"/>
            <a:ext cx="7223760" cy="960120"/>
          </a:xfrm>
          <a:prstGeom prst="rect">
            <a:avLst/>
          </a:prstGeom>
          <a:noFill/>
        </p:spPr>
        <p:txBody>
          <a:bodyPr wrap="square" lIns="0" rIns="0" tIns="18288" bIns="18288" anchor="t">
            <a:noAutofit/>
          </a:bodyPr>
          <a:lstStyle/>
          <a:p>
            <a:pPr algn="l">
              <a:lnSpc>
                <a:spcPct val="100000"/>
              </a:lnSpc>
              <a:spcBef>
                <a:spcPts val="0"/>
              </a:spcBef>
              <a:spcAft>
                <a:spcPts val="0"/>
              </a:spcAft>
            </a:pPr>
            <a:r>
              <a:rPr sz="1900" b="0" i="0">
                <a:solidFill>
                  <a:srgbClr val="192B37"/>
                </a:solidFill>
              </a:rPr>
              <a:t>Any user can PATCH </a:t>
            </a:r>
            <a:r>
              <a:rPr sz="1900" b="1" i="0">
                <a:solidFill>
                  <a:srgbClr val="192B37"/>
                </a:solidFill>
              </a:rPr>
              <a:t>any</a:t>
            </a:r>
            <a:r>
              <a:rPr sz="1900" b="0" i="0">
                <a:solidFill>
                  <a:srgbClr val="192B37"/>
                </a:solidFill>
              </a:rPr>
              <a:t> user — incl. balance (IDOR)</a:t>
            </a:r>
          </a:p>
        </p:txBody>
      </p:sp>
      <p:sp>
        <p:nvSpPr>
          <p:cNvPr id="27" name="Rounded Rectangle 26"/>
          <p:cNvSpPr/>
          <p:nvPr/>
        </p:nvSpPr>
        <p:spPr>
          <a:xfrm>
            <a:off x="7498079" y="5440680"/>
            <a:ext cx="7772400" cy="2286000"/>
          </a:xfrm>
          <a:prstGeom prst="roundRect">
            <a:avLst>
              <a:gd name="adj" fmla="val 8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772400" y="5715000"/>
            <a:ext cx="822960" cy="82296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LuDollarSign.png"/>
          <p:cNvPicPr>
            <a:picLocks noChangeAspect="1"/>
          </p:cNvPicPr>
          <p:nvPr/>
        </p:nvPicPr>
        <p:blipFill>
          <a:blip r:embed="rId6"/>
          <a:stretch>
            <a:fillRect/>
          </a:stretch>
        </p:blipFill>
        <p:spPr>
          <a:xfrm>
            <a:off x="7969910" y="5912510"/>
            <a:ext cx="427939" cy="427939"/>
          </a:xfrm>
          <a:prstGeom prst="rect">
            <a:avLst/>
          </a:prstGeom>
        </p:spPr>
      </p:pic>
      <p:sp>
        <p:nvSpPr>
          <p:cNvPr id="30" name="Rounded Rectangle 29"/>
          <p:cNvSpPr/>
          <p:nvPr/>
        </p:nvSpPr>
        <p:spPr>
          <a:xfrm>
            <a:off x="8823959" y="5824728"/>
            <a:ext cx="1463040" cy="566928"/>
          </a:xfrm>
          <a:prstGeom prst="roundRect">
            <a:avLst>
              <a:gd name="adj" fmla="val 50000"/>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915399" y="5824728"/>
            <a:ext cx="1280160"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1" i="0">
                <a:solidFill>
                  <a:srgbClr val="FFFFFF"/>
                </a:solidFill>
              </a:rPr>
              <a:t>KI-05</a:t>
            </a:r>
          </a:p>
        </p:txBody>
      </p:sp>
      <p:sp>
        <p:nvSpPr>
          <p:cNvPr id="32" name="TextBox 31"/>
          <p:cNvSpPr txBox="1"/>
          <p:nvPr/>
        </p:nvSpPr>
        <p:spPr>
          <a:xfrm>
            <a:off x="7818119" y="6675120"/>
            <a:ext cx="7223760" cy="960120"/>
          </a:xfrm>
          <a:prstGeom prst="rect">
            <a:avLst/>
          </a:prstGeom>
          <a:noFill/>
        </p:spPr>
        <p:txBody>
          <a:bodyPr wrap="square" lIns="0" rIns="0" tIns="18288" bIns="18288" anchor="t">
            <a:noAutofit/>
          </a:bodyPr>
          <a:lstStyle/>
          <a:p>
            <a:pPr algn="l">
              <a:lnSpc>
                <a:spcPct val="100000"/>
              </a:lnSpc>
              <a:spcBef>
                <a:spcPts val="0"/>
              </a:spcBef>
              <a:spcAft>
                <a:spcPts val="0"/>
              </a:spcAft>
            </a:pPr>
            <a:r>
              <a:rPr sz="1900" b="0" i="0">
                <a:solidFill>
                  <a:srgbClr val="192B37"/>
                </a:solidFill>
              </a:rPr>
              <a:t>Rejecting a request </a:t>
            </a:r>
            <a:r>
              <a:rPr sz="1900" b="1" i="0">
                <a:solidFill>
                  <a:srgbClr val="192B37"/>
                </a:solidFill>
              </a:rPr>
              <a:t>still moves the money</a:t>
            </a:r>
          </a:p>
        </p:txBody>
      </p:sp>
      <p:sp>
        <p:nvSpPr>
          <p:cNvPr id="33" name="Rounded Rectangle 32"/>
          <p:cNvSpPr/>
          <p:nvPr/>
        </p:nvSpPr>
        <p:spPr>
          <a:xfrm>
            <a:off x="15544800" y="5440680"/>
            <a:ext cx="7772400" cy="2286000"/>
          </a:xfrm>
          <a:prstGeom prst="roundRect">
            <a:avLst>
              <a:gd name="adj" fmla="val 8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5819120" y="5715000"/>
            <a:ext cx="822960" cy="82296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LuKey.png"/>
          <p:cNvPicPr>
            <a:picLocks noChangeAspect="1"/>
          </p:cNvPicPr>
          <p:nvPr/>
        </p:nvPicPr>
        <p:blipFill>
          <a:blip r:embed="rId7"/>
          <a:stretch>
            <a:fillRect/>
          </a:stretch>
        </p:blipFill>
        <p:spPr>
          <a:xfrm>
            <a:off x="16016630" y="5912510"/>
            <a:ext cx="427939" cy="427939"/>
          </a:xfrm>
          <a:prstGeom prst="rect">
            <a:avLst/>
          </a:prstGeom>
        </p:spPr>
      </p:pic>
      <p:sp>
        <p:nvSpPr>
          <p:cNvPr id="36" name="Rounded Rectangle 35"/>
          <p:cNvSpPr/>
          <p:nvPr/>
        </p:nvSpPr>
        <p:spPr>
          <a:xfrm>
            <a:off x="16870680" y="5824728"/>
            <a:ext cx="1463040" cy="566928"/>
          </a:xfrm>
          <a:prstGeom prst="roundRect">
            <a:avLst>
              <a:gd name="adj" fmla="val 50000"/>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6962120" y="5824728"/>
            <a:ext cx="1280160"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1" i="0">
                <a:solidFill>
                  <a:srgbClr val="FFFFFF"/>
                </a:solidFill>
              </a:rPr>
              <a:t>KI-07</a:t>
            </a:r>
          </a:p>
        </p:txBody>
      </p:sp>
      <p:sp>
        <p:nvSpPr>
          <p:cNvPr id="38" name="TextBox 37"/>
          <p:cNvSpPr txBox="1"/>
          <p:nvPr/>
        </p:nvSpPr>
        <p:spPr>
          <a:xfrm>
            <a:off x="15864840" y="6675120"/>
            <a:ext cx="7223760" cy="960120"/>
          </a:xfrm>
          <a:prstGeom prst="rect">
            <a:avLst/>
          </a:prstGeom>
          <a:noFill/>
        </p:spPr>
        <p:txBody>
          <a:bodyPr wrap="square" lIns="0" rIns="0" tIns="18288" bIns="18288" anchor="t">
            <a:noAutofit/>
          </a:bodyPr>
          <a:lstStyle/>
          <a:p>
            <a:pPr algn="l">
              <a:lnSpc>
                <a:spcPct val="100000"/>
              </a:lnSpc>
              <a:spcBef>
                <a:spcPts val="0"/>
              </a:spcBef>
              <a:spcAft>
                <a:spcPts val="0"/>
              </a:spcAft>
            </a:pPr>
            <a:r>
              <a:rPr sz="1900" b="0" i="0">
                <a:solidFill>
                  <a:srgbClr val="192B37"/>
                </a:solidFill>
              </a:rPr>
              <a:t>Password </a:t>
            </a:r>
            <a:r>
              <a:rPr sz="1900" b="1" i="0">
                <a:solidFill>
                  <a:srgbClr val="192B37"/>
                </a:solidFill>
              </a:rPr>
              <a:t>hashes</a:t>
            </a:r>
            <a:r>
              <a:rPr sz="1900" b="0" i="0">
                <a:solidFill>
                  <a:srgbClr val="192B37"/>
                </a:solidFill>
              </a:rPr>
              <a:t> returned by /login, /users…</a:t>
            </a:r>
          </a:p>
        </p:txBody>
      </p:sp>
      <p:sp>
        <p:nvSpPr>
          <p:cNvPr id="39" name="Rounded Rectangle 38"/>
          <p:cNvSpPr/>
          <p:nvPr/>
        </p:nvSpPr>
        <p:spPr>
          <a:xfrm>
            <a:off x="7498079" y="7955279"/>
            <a:ext cx="7772400" cy="2286000"/>
          </a:xfrm>
          <a:prstGeom prst="roundRect">
            <a:avLst>
              <a:gd name="adj" fmla="val 8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7772400" y="8229600"/>
            <a:ext cx="822960" cy="82296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LuPercent.png"/>
          <p:cNvPicPr>
            <a:picLocks noChangeAspect="1"/>
          </p:cNvPicPr>
          <p:nvPr/>
        </p:nvPicPr>
        <p:blipFill>
          <a:blip r:embed="rId8"/>
          <a:stretch>
            <a:fillRect/>
          </a:stretch>
        </p:blipFill>
        <p:spPr>
          <a:xfrm>
            <a:off x="7969910" y="8427110"/>
            <a:ext cx="427939" cy="427939"/>
          </a:xfrm>
          <a:prstGeom prst="rect">
            <a:avLst/>
          </a:prstGeom>
        </p:spPr>
      </p:pic>
      <p:sp>
        <p:nvSpPr>
          <p:cNvPr id="42" name="Rounded Rectangle 41"/>
          <p:cNvSpPr/>
          <p:nvPr/>
        </p:nvSpPr>
        <p:spPr>
          <a:xfrm>
            <a:off x="8823959" y="8339327"/>
            <a:ext cx="1463040" cy="566928"/>
          </a:xfrm>
          <a:prstGeom prst="roundRect">
            <a:avLst>
              <a:gd name="adj" fmla="val 50000"/>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915399" y="8339327"/>
            <a:ext cx="1280160"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1" i="0">
                <a:solidFill>
                  <a:srgbClr val="FFFFFF"/>
                </a:solidFill>
              </a:rPr>
              <a:t>KI-18</a:t>
            </a:r>
          </a:p>
        </p:txBody>
      </p:sp>
      <p:sp>
        <p:nvSpPr>
          <p:cNvPr id="44" name="TextBox 43"/>
          <p:cNvSpPr txBox="1"/>
          <p:nvPr/>
        </p:nvSpPr>
        <p:spPr>
          <a:xfrm>
            <a:off x="7818119" y="9189719"/>
            <a:ext cx="7223760" cy="960120"/>
          </a:xfrm>
          <a:prstGeom prst="rect">
            <a:avLst/>
          </a:prstGeom>
          <a:noFill/>
        </p:spPr>
        <p:txBody>
          <a:bodyPr wrap="square" lIns="0" rIns="0" tIns="18288" bIns="18288" anchor="t">
            <a:noAutofit/>
          </a:bodyPr>
          <a:lstStyle/>
          <a:p>
            <a:pPr algn="l">
              <a:lnSpc>
                <a:spcPct val="100000"/>
              </a:lnSpc>
              <a:spcBef>
                <a:spcPts val="0"/>
              </a:spcBef>
              <a:spcAft>
                <a:spcPts val="0"/>
              </a:spcAft>
            </a:pPr>
            <a:r>
              <a:rPr sz="1900" b="0" i="0">
                <a:solidFill>
                  <a:srgbClr val="192B37"/>
                </a:solidFill>
              </a:rPr>
              <a:t>$12.75 becomes </a:t>
            </a:r>
            <a:r>
              <a:rPr sz="1900" b="1" i="0">
                <a:solidFill>
                  <a:srgbClr val="192B37"/>
                </a:solidFill>
              </a:rPr>
              <a:t>1200</a:t>
            </a:r>
            <a:r>
              <a:rPr sz="1900" b="0" i="0">
                <a:solidFill>
                  <a:srgbClr val="192B37"/>
                </a:solidFill>
              </a:rPr>
              <a:t> cents (truncated)</a:t>
            </a:r>
          </a:p>
        </p:txBody>
      </p:sp>
      <p:sp>
        <p:nvSpPr>
          <p:cNvPr id="45" name="Rounded Rectangle 44"/>
          <p:cNvSpPr/>
          <p:nvPr/>
        </p:nvSpPr>
        <p:spPr>
          <a:xfrm>
            <a:off x="15544800" y="7955279"/>
            <a:ext cx="7772400" cy="2286000"/>
          </a:xfrm>
          <a:prstGeom prst="roundRect">
            <a:avLst>
              <a:gd name="adj" fmla="val 8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15819120" y="8229600"/>
            <a:ext cx="822960" cy="82296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LuEye.png"/>
          <p:cNvPicPr>
            <a:picLocks noChangeAspect="1"/>
          </p:cNvPicPr>
          <p:nvPr/>
        </p:nvPicPr>
        <p:blipFill>
          <a:blip r:embed="rId9"/>
          <a:stretch>
            <a:fillRect/>
          </a:stretch>
        </p:blipFill>
        <p:spPr>
          <a:xfrm>
            <a:off x="16016630" y="8427110"/>
            <a:ext cx="427939" cy="427939"/>
          </a:xfrm>
          <a:prstGeom prst="rect">
            <a:avLst/>
          </a:prstGeom>
        </p:spPr>
      </p:pic>
      <p:sp>
        <p:nvSpPr>
          <p:cNvPr id="48" name="Rounded Rectangle 47"/>
          <p:cNvSpPr/>
          <p:nvPr/>
        </p:nvSpPr>
        <p:spPr>
          <a:xfrm>
            <a:off x="16870680" y="8339327"/>
            <a:ext cx="1463040" cy="566928"/>
          </a:xfrm>
          <a:prstGeom prst="roundRect">
            <a:avLst>
              <a:gd name="adj" fmla="val 50000"/>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6962120" y="8339327"/>
            <a:ext cx="1280160"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1" i="0">
                <a:solidFill>
                  <a:srgbClr val="FFFFFF"/>
                </a:solidFill>
              </a:rPr>
              <a:t>KI-29</a:t>
            </a:r>
          </a:p>
        </p:txBody>
      </p:sp>
      <p:sp>
        <p:nvSpPr>
          <p:cNvPr id="50" name="TextBox 49"/>
          <p:cNvSpPr txBox="1"/>
          <p:nvPr/>
        </p:nvSpPr>
        <p:spPr>
          <a:xfrm>
            <a:off x="15864840" y="9189719"/>
            <a:ext cx="7223760" cy="960120"/>
          </a:xfrm>
          <a:prstGeom prst="rect">
            <a:avLst/>
          </a:prstGeom>
          <a:noFill/>
        </p:spPr>
        <p:txBody>
          <a:bodyPr wrap="square" lIns="0" rIns="0" tIns="18288" bIns="18288" anchor="t">
            <a:noAutofit/>
          </a:bodyPr>
          <a:lstStyle/>
          <a:p>
            <a:pPr algn="l">
              <a:lnSpc>
                <a:spcPct val="100000"/>
              </a:lnSpc>
              <a:spcBef>
                <a:spcPts val="0"/>
              </a:spcBef>
              <a:spcAft>
                <a:spcPts val="0"/>
              </a:spcAft>
            </a:pPr>
            <a:r>
              <a:rPr sz="1900" b="0" i="0">
                <a:solidFill>
                  <a:srgbClr val="192B37"/>
                </a:solidFill>
              </a:rPr>
              <a:t>Private transactions visible in friends' feeds</a:t>
            </a:r>
          </a:p>
        </p:txBody>
      </p:sp>
      <p:sp>
        <p:nvSpPr>
          <p:cNvPr id="51" name="Rounded Rectangle 50"/>
          <p:cNvSpPr/>
          <p:nvPr/>
        </p:nvSpPr>
        <p:spPr>
          <a:xfrm>
            <a:off x="612648" y="10789920"/>
            <a:ext cx="22860000" cy="960120"/>
          </a:xfrm>
          <a:prstGeom prst="roundRect">
            <a:avLst>
              <a:gd name="adj" fmla="val 1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886968" y="10927080"/>
            <a:ext cx="685800" cy="6858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LuLaugh.png"/>
          <p:cNvPicPr>
            <a:picLocks noChangeAspect="1"/>
          </p:cNvPicPr>
          <p:nvPr/>
        </p:nvPicPr>
        <p:blipFill>
          <a:blip r:embed="rId10"/>
          <a:stretch>
            <a:fillRect/>
          </a:stretch>
        </p:blipFill>
        <p:spPr>
          <a:xfrm>
            <a:off x="1051560" y="11091672"/>
            <a:ext cx="356616" cy="356616"/>
          </a:xfrm>
          <a:prstGeom prst="rect">
            <a:avLst/>
          </a:prstGeom>
        </p:spPr>
      </p:pic>
      <p:sp>
        <p:nvSpPr>
          <p:cNvPr id="54" name="TextBox 53"/>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We didn't find bugs. We found features with serious trust issues — and wrote them a </a:t>
            </a:r>
            <a:r>
              <a:rPr sz="1840" b="0" i="1">
                <a:solidFill>
                  <a:srgbClr val="C2410C"/>
                </a:solidFill>
                <a:latin typeface="Consolas"/>
              </a:rPr>
              <a:t>test.fail</a:t>
            </a:r>
            <a:r>
              <a:rPr sz="2000" b="0" i="1">
                <a:solidFill>
                  <a:srgbClr val="192B37"/>
                </a:solidFill>
              </a:rP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API &amp; UI</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00A859"/>
                </a:solidFill>
              </a:rPr>
              <a:t>UI LAYER · FLOWS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14 routes, 106 selectors, one contract</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19</a:t>
            </a:r>
          </a:p>
        </p:txBody>
      </p:sp>
      <p:sp>
        <p:nvSpPr>
          <p:cNvPr id="6" name="Rounded Rectangle 5"/>
          <p:cNvSpPr/>
          <p:nvPr/>
        </p:nvSpPr>
        <p:spPr>
          <a:xfrm>
            <a:off x="612648" y="3017520"/>
            <a:ext cx="2743200" cy="731520"/>
          </a:xfrm>
          <a:prstGeom prst="roundRect">
            <a:avLst>
              <a:gd name="adj" fmla="val 50000"/>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04088" y="3017520"/>
            <a:ext cx="2560320" cy="731520"/>
          </a:xfrm>
          <a:prstGeom prst="rect">
            <a:avLst/>
          </a:prstGeom>
          <a:noFill/>
        </p:spPr>
        <p:txBody>
          <a:bodyPr wrap="square" lIns="0" rIns="0" tIns="18288" bIns="18288" anchor="ctr">
            <a:noAutofit/>
          </a:bodyPr>
          <a:lstStyle/>
          <a:p>
            <a:pPr algn="ctr">
              <a:lnSpc>
                <a:spcPct val="100000"/>
              </a:lnSpc>
              <a:spcBef>
                <a:spcPts val="0"/>
              </a:spcBef>
              <a:spcAft>
                <a:spcPts val="0"/>
              </a:spcAft>
            </a:pPr>
            <a:r>
              <a:rPr sz="1800" b="1" i="0">
                <a:solidFill>
                  <a:srgbClr val="FFFFFF"/>
                </a:solidFill>
              </a:rPr>
              <a:t>Public</a:t>
            </a:r>
          </a:p>
        </p:txBody>
      </p:sp>
      <p:sp>
        <p:nvSpPr>
          <p:cNvPr id="8" name="Rounded Rectangle 7"/>
          <p:cNvSpPr/>
          <p:nvPr/>
        </p:nvSpPr>
        <p:spPr>
          <a:xfrm>
            <a:off x="612648" y="4023360"/>
            <a:ext cx="2743200" cy="685800"/>
          </a:xfrm>
          <a:prstGeom prst="roundRect">
            <a:avLst>
              <a:gd name="adj" fmla="val 50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04088" y="4023360"/>
            <a:ext cx="2560320" cy="685800"/>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/signin</a:t>
            </a:r>
          </a:p>
        </p:txBody>
      </p:sp>
      <p:sp>
        <p:nvSpPr>
          <p:cNvPr id="10" name="Rounded Rectangle 9"/>
          <p:cNvSpPr/>
          <p:nvPr/>
        </p:nvSpPr>
        <p:spPr>
          <a:xfrm>
            <a:off x="612648" y="4937760"/>
            <a:ext cx="2743200" cy="685800"/>
          </a:xfrm>
          <a:prstGeom prst="roundRect">
            <a:avLst>
              <a:gd name="adj" fmla="val 50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04088" y="4937760"/>
            <a:ext cx="2560320" cy="685800"/>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/signup</a:t>
            </a:r>
          </a:p>
        </p:txBody>
      </p:sp>
      <p:sp>
        <p:nvSpPr>
          <p:cNvPr id="12" name="Rounded Rectangle 11"/>
          <p:cNvSpPr/>
          <p:nvPr/>
        </p:nvSpPr>
        <p:spPr>
          <a:xfrm>
            <a:off x="3931920" y="3017520"/>
            <a:ext cx="2926080" cy="731520"/>
          </a:xfrm>
          <a:prstGeom prst="roundRect">
            <a:avLst>
              <a:gd name="adj" fmla="val 50000"/>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023359" y="3017520"/>
            <a:ext cx="2743200" cy="731520"/>
          </a:xfrm>
          <a:prstGeom prst="rect">
            <a:avLst/>
          </a:prstGeom>
          <a:noFill/>
        </p:spPr>
        <p:txBody>
          <a:bodyPr wrap="square" lIns="0" rIns="0" tIns="18288" bIns="18288" anchor="ctr">
            <a:noAutofit/>
          </a:bodyPr>
          <a:lstStyle/>
          <a:p>
            <a:pPr algn="ctr">
              <a:lnSpc>
                <a:spcPct val="100000"/>
              </a:lnSpc>
              <a:spcBef>
                <a:spcPts val="0"/>
              </a:spcBef>
              <a:spcAft>
                <a:spcPts val="0"/>
              </a:spcAft>
            </a:pPr>
            <a:r>
              <a:rPr sz="1800" b="1" i="0">
                <a:solidFill>
                  <a:srgbClr val="FFFFFF"/>
                </a:solidFill>
              </a:rPr>
              <a:t>Private</a:t>
            </a:r>
          </a:p>
        </p:txBody>
      </p:sp>
      <p:sp>
        <p:nvSpPr>
          <p:cNvPr id="14" name="Rounded Rectangle 13"/>
          <p:cNvSpPr/>
          <p:nvPr/>
        </p:nvSpPr>
        <p:spPr>
          <a:xfrm>
            <a:off x="3931920" y="4023360"/>
            <a:ext cx="5303520" cy="960120"/>
          </a:xfrm>
          <a:prstGeom prst="roundRect">
            <a:avLst>
              <a:gd name="adj" fmla="val 2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206240" y="4023360"/>
            <a:ext cx="265176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192B37"/>
                </a:solidFill>
              </a:rPr>
              <a:t>/ · /public</a:t>
            </a:r>
          </a:p>
        </p:txBody>
      </p:sp>
      <p:sp>
        <p:nvSpPr>
          <p:cNvPr id="16" name="TextBox 15"/>
          <p:cNvSpPr txBox="1"/>
          <p:nvPr/>
        </p:nvSpPr>
        <p:spPr>
          <a:xfrm>
            <a:off x="6858000" y="4023360"/>
            <a:ext cx="228600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5E6A73"/>
                </a:solidFill>
              </a:rPr>
              <a:t>Everyone feed</a:t>
            </a:r>
          </a:p>
        </p:txBody>
      </p:sp>
      <p:sp>
        <p:nvSpPr>
          <p:cNvPr id="17" name="Rounded Rectangle 16"/>
          <p:cNvSpPr/>
          <p:nvPr/>
        </p:nvSpPr>
        <p:spPr>
          <a:xfrm>
            <a:off x="3931920" y="5166360"/>
            <a:ext cx="5303520" cy="960120"/>
          </a:xfrm>
          <a:prstGeom prst="roundRect">
            <a:avLst>
              <a:gd name="adj" fmla="val 2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206240" y="5166360"/>
            <a:ext cx="265176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192B37"/>
                </a:solidFill>
              </a:rPr>
              <a:t>/contacts</a:t>
            </a:r>
          </a:p>
        </p:txBody>
      </p:sp>
      <p:sp>
        <p:nvSpPr>
          <p:cNvPr id="19" name="TextBox 18"/>
          <p:cNvSpPr txBox="1"/>
          <p:nvPr/>
        </p:nvSpPr>
        <p:spPr>
          <a:xfrm>
            <a:off x="6858000" y="5166360"/>
            <a:ext cx="228600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5E6A73"/>
                </a:solidFill>
              </a:rPr>
              <a:t>Friends feed</a:t>
            </a:r>
          </a:p>
        </p:txBody>
      </p:sp>
      <p:sp>
        <p:nvSpPr>
          <p:cNvPr id="20" name="Rounded Rectangle 19"/>
          <p:cNvSpPr/>
          <p:nvPr/>
        </p:nvSpPr>
        <p:spPr>
          <a:xfrm>
            <a:off x="3931920" y="6309360"/>
            <a:ext cx="5303520" cy="960120"/>
          </a:xfrm>
          <a:prstGeom prst="roundRect">
            <a:avLst>
              <a:gd name="adj" fmla="val 2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206240" y="6309360"/>
            <a:ext cx="265176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192B37"/>
                </a:solidFill>
              </a:rPr>
              <a:t>/personal</a:t>
            </a:r>
          </a:p>
        </p:txBody>
      </p:sp>
      <p:sp>
        <p:nvSpPr>
          <p:cNvPr id="22" name="TextBox 21"/>
          <p:cNvSpPr txBox="1"/>
          <p:nvPr/>
        </p:nvSpPr>
        <p:spPr>
          <a:xfrm>
            <a:off x="6858000" y="6309360"/>
            <a:ext cx="228600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5E6A73"/>
                </a:solidFill>
              </a:rPr>
              <a:t>Mine</a:t>
            </a:r>
          </a:p>
        </p:txBody>
      </p:sp>
      <p:sp>
        <p:nvSpPr>
          <p:cNvPr id="23" name="Rounded Rectangle 22"/>
          <p:cNvSpPr/>
          <p:nvPr/>
        </p:nvSpPr>
        <p:spPr>
          <a:xfrm>
            <a:off x="3931920" y="7452360"/>
            <a:ext cx="5303520" cy="960120"/>
          </a:xfrm>
          <a:prstGeom prst="roundRect">
            <a:avLst>
              <a:gd name="adj" fmla="val 2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206240" y="7452360"/>
            <a:ext cx="265176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192B37"/>
                </a:solidFill>
              </a:rPr>
              <a:t>/transaction/new</a:t>
            </a:r>
          </a:p>
        </p:txBody>
      </p:sp>
      <p:sp>
        <p:nvSpPr>
          <p:cNvPr id="25" name="TextBox 24"/>
          <p:cNvSpPr txBox="1"/>
          <p:nvPr/>
        </p:nvSpPr>
        <p:spPr>
          <a:xfrm>
            <a:off x="6858000" y="7452360"/>
            <a:ext cx="228600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5E6A73"/>
                </a:solidFill>
              </a:rPr>
              <a:t>pay · request</a:t>
            </a:r>
          </a:p>
        </p:txBody>
      </p:sp>
      <p:sp>
        <p:nvSpPr>
          <p:cNvPr id="26" name="Rounded Rectangle 25"/>
          <p:cNvSpPr/>
          <p:nvPr/>
        </p:nvSpPr>
        <p:spPr>
          <a:xfrm>
            <a:off x="9509759" y="4023360"/>
            <a:ext cx="5303520" cy="960120"/>
          </a:xfrm>
          <a:prstGeom prst="roundRect">
            <a:avLst>
              <a:gd name="adj" fmla="val 2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784080" y="4023360"/>
            <a:ext cx="265176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192B37"/>
                </a:solidFill>
              </a:rPr>
              <a:t>/transaction/:id</a:t>
            </a:r>
          </a:p>
        </p:txBody>
      </p:sp>
      <p:sp>
        <p:nvSpPr>
          <p:cNvPr id="28" name="TextBox 27"/>
          <p:cNvSpPr txBox="1"/>
          <p:nvPr/>
        </p:nvSpPr>
        <p:spPr>
          <a:xfrm>
            <a:off x="12435839" y="4023360"/>
            <a:ext cx="228600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5E6A73"/>
                </a:solidFill>
              </a:rPr>
              <a:t>detail, like, comment</a:t>
            </a:r>
          </a:p>
        </p:txBody>
      </p:sp>
      <p:sp>
        <p:nvSpPr>
          <p:cNvPr id="29" name="Rounded Rectangle 28"/>
          <p:cNvSpPr/>
          <p:nvPr/>
        </p:nvSpPr>
        <p:spPr>
          <a:xfrm>
            <a:off x="9509759" y="5166360"/>
            <a:ext cx="5303520" cy="960120"/>
          </a:xfrm>
          <a:prstGeom prst="roundRect">
            <a:avLst>
              <a:gd name="adj" fmla="val 2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784080" y="5166360"/>
            <a:ext cx="265176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192B37"/>
                </a:solidFill>
              </a:rPr>
              <a:t>/notifications</a:t>
            </a:r>
          </a:p>
        </p:txBody>
      </p:sp>
      <p:sp>
        <p:nvSpPr>
          <p:cNvPr id="31" name="TextBox 30"/>
          <p:cNvSpPr txBox="1"/>
          <p:nvPr/>
        </p:nvSpPr>
        <p:spPr>
          <a:xfrm>
            <a:off x="12435839" y="5166360"/>
            <a:ext cx="228600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5E6A73"/>
                </a:solidFill>
              </a:rPr>
              <a:t>dismiss</a:t>
            </a:r>
          </a:p>
        </p:txBody>
      </p:sp>
      <p:sp>
        <p:nvSpPr>
          <p:cNvPr id="32" name="Rounded Rectangle 31"/>
          <p:cNvSpPr/>
          <p:nvPr/>
        </p:nvSpPr>
        <p:spPr>
          <a:xfrm>
            <a:off x="9509759" y="6309360"/>
            <a:ext cx="5303520" cy="960120"/>
          </a:xfrm>
          <a:prstGeom prst="roundRect">
            <a:avLst>
              <a:gd name="adj" fmla="val 2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784080" y="6309360"/>
            <a:ext cx="265176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192B37"/>
                </a:solidFill>
              </a:rPr>
              <a:t>/bankaccounts(/new)</a:t>
            </a:r>
          </a:p>
        </p:txBody>
      </p:sp>
      <p:sp>
        <p:nvSpPr>
          <p:cNvPr id="34" name="TextBox 33"/>
          <p:cNvSpPr txBox="1"/>
          <p:nvPr/>
        </p:nvSpPr>
        <p:spPr>
          <a:xfrm>
            <a:off x="12435839" y="6309360"/>
            <a:ext cx="228600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5E6A73"/>
                </a:solidFill>
              </a:rPr>
              <a:t>GraphQL CRUD</a:t>
            </a:r>
          </a:p>
        </p:txBody>
      </p:sp>
      <p:sp>
        <p:nvSpPr>
          <p:cNvPr id="35" name="Rounded Rectangle 34"/>
          <p:cNvSpPr/>
          <p:nvPr/>
        </p:nvSpPr>
        <p:spPr>
          <a:xfrm>
            <a:off x="9509759" y="7452360"/>
            <a:ext cx="5303520" cy="960120"/>
          </a:xfrm>
          <a:prstGeom prst="roundRect">
            <a:avLst>
              <a:gd name="adj" fmla="val 2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784080" y="7452360"/>
            <a:ext cx="265176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192B37"/>
                </a:solidFill>
              </a:rPr>
              <a:t>/user/settings</a:t>
            </a:r>
          </a:p>
        </p:txBody>
      </p:sp>
      <p:sp>
        <p:nvSpPr>
          <p:cNvPr id="37" name="TextBox 36"/>
          <p:cNvSpPr txBox="1"/>
          <p:nvPr/>
        </p:nvSpPr>
        <p:spPr>
          <a:xfrm>
            <a:off x="12435839" y="7452360"/>
            <a:ext cx="228600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5E6A73"/>
                </a:solidFill>
              </a:rPr>
              <a:t>profile form</a:t>
            </a:r>
          </a:p>
        </p:txBody>
      </p:sp>
      <p:sp>
        <p:nvSpPr>
          <p:cNvPr id="38" name="Rounded Rectangle 37"/>
          <p:cNvSpPr/>
          <p:nvPr/>
        </p:nvSpPr>
        <p:spPr>
          <a:xfrm>
            <a:off x="612648" y="6035040"/>
            <a:ext cx="2743200" cy="1828800"/>
          </a:xfrm>
          <a:prstGeom prst="roundRect">
            <a:avLst>
              <a:gd name="adj" fmla="val 10000"/>
            </a:avLst>
          </a:prstGeom>
          <a:solidFill>
            <a:srgbClr val="FFE9E5"/>
          </a:solidFill>
          <a:ln w="12700">
            <a:solidFill>
              <a:srgbClr val="FF56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31520" y="6080760"/>
            <a:ext cx="2514600" cy="1737360"/>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unknown route</a:t>
            </a:r>
          </a:p>
          <a:p>
            <a:pPr algn="ctr">
              <a:lnSpc>
                <a:spcPct val="100000"/>
              </a:lnSpc>
              <a:spcBef>
                <a:spcPts val="0"/>
              </a:spcBef>
              <a:spcAft>
                <a:spcPts val="0"/>
              </a:spcAft>
            </a:pPr>
            <a:r>
              <a:rPr sz="1500" b="0" i="0">
                <a:solidFill>
                  <a:srgbClr val="192B37"/>
                </a:solidFill>
              </a:rPr>
              <a:t>→ blank page</a:t>
            </a:r>
          </a:p>
          <a:p>
            <a:pPr algn="ctr">
              <a:lnSpc>
                <a:spcPct val="100000"/>
              </a:lnSpc>
              <a:spcBef>
                <a:spcPts val="0"/>
              </a:spcBef>
              <a:spcAft>
                <a:spcPts val="0"/>
              </a:spcAft>
            </a:pPr>
            <a:r>
              <a:rPr sz="1500" b="0" i="0">
                <a:solidFill>
                  <a:srgbClr val="192B37"/>
                </a:solidFill>
              </a:rPr>
              <a:t>(gap G-13)</a:t>
            </a:r>
          </a:p>
        </p:txBody>
      </p:sp>
      <p:sp>
        <p:nvSpPr>
          <p:cNvPr id="40" name="Rounded Rectangle 39"/>
          <p:cNvSpPr/>
          <p:nvPr/>
        </p:nvSpPr>
        <p:spPr>
          <a:xfrm>
            <a:off x="15179040" y="2926080"/>
            <a:ext cx="8293608" cy="1417320"/>
          </a:xfrm>
          <a:prstGeom prst="roundRect">
            <a:avLst>
              <a:gd name="adj" fmla="val 1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5499080" y="2926080"/>
            <a:ext cx="2194560" cy="1417320"/>
          </a:xfrm>
          <a:prstGeom prst="rect">
            <a:avLst/>
          </a:prstGeom>
          <a:noFill/>
        </p:spPr>
        <p:txBody>
          <a:bodyPr wrap="square" lIns="0" rIns="0" tIns="18288" bIns="18288" anchor="ctr">
            <a:noAutofit/>
          </a:bodyPr>
          <a:lstStyle/>
          <a:p>
            <a:pPr algn="l">
              <a:lnSpc>
                <a:spcPct val="100000"/>
              </a:lnSpc>
              <a:spcBef>
                <a:spcPts val="0"/>
              </a:spcBef>
              <a:spcAft>
                <a:spcPts val="0"/>
              </a:spcAft>
            </a:pPr>
            <a:r>
              <a:rPr sz="4400" b="0" i="0">
                <a:solidFill>
                  <a:srgbClr val="00A859"/>
                </a:solidFill>
                <a:latin typeface="+mj-lt"/>
              </a:rPr>
              <a:t>106</a:t>
            </a:r>
          </a:p>
        </p:txBody>
      </p:sp>
      <p:sp>
        <p:nvSpPr>
          <p:cNvPr id="42" name="TextBox 41"/>
          <p:cNvSpPr txBox="1"/>
          <p:nvPr/>
        </p:nvSpPr>
        <p:spPr>
          <a:xfrm>
            <a:off x="17739360" y="2926080"/>
            <a:ext cx="5486400" cy="14173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1" i="0">
                <a:solidFill>
                  <a:srgbClr val="192B37"/>
                </a:solidFill>
              </a:rPr>
              <a:t>data-test declarations</a:t>
            </a:r>
          </a:p>
        </p:txBody>
      </p:sp>
      <p:sp>
        <p:nvSpPr>
          <p:cNvPr id="43" name="Rounded Rectangle 42"/>
          <p:cNvSpPr/>
          <p:nvPr/>
        </p:nvSpPr>
        <p:spPr>
          <a:xfrm>
            <a:off x="15179040" y="4526280"/>
            <a:ext cx="8293608" cy="1417320"/>
          </a:xfrm>
          <a:prstGeom prst="roundRect">
            <a:avLst>
              <a:gd name="adj" fmla="val 1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5499080" y="4526280"/>
            <a:ext cx="2194560" cy="1417320"/>
          </a:xfrm>
          <a:prstGeom prst="rect">
            <a:avLst/>
          </a:prstGeom>
          <a:noFill/>
        </p:spPr>
        <p:txBody>
          <a:bodyPr wrap="square" lIns="0" rIns="0" tIns="18288" bIns="18288" anchor="ctr">
            <a:noAutofit/>
          </a:bodyPr>
          <a:lstStyle/>
          <a:p>
            <a:pPr algn="l">
              <a:lnSpc>
                <a:spcPct val="100000"/>
              </a:lnSpc>
              <a:spcBef>
                <a:spcPts val="0"/>
              </a:spcBef>
              <a:spcAft>
                <a:spcPts val="0"/>
              </a:spcAft>
            </a:pPr>
            <a:r>
              <a:rPr sz="4400" b="0" i="0">
                <a:solidFill>
                  <a:srgbClr val="3D9BC8"/>
                </a:solidFill>
                <a:latin typeface="+mj-lt"/>
              </a:rPr>
              <a:t>102</a:t>
            </a:r>
          </a:p>
        </p:txBody>
      </p:sp>
      <p:sp>
        <p:nvSpPr>
          <p:cNvPr id="45" name="TextBox 44"/>
          <p:cNvSpPr txBox="1"/>
          <p:nvPr/>
        </p:nvSpPr>
        <p:spPr>
          <a:xfrm>
            <a:off x="17739360" y="4526280"/>
            <a:ext cx="5486400" cy="14173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1" i="0">
                <a:solidFill>
                  <a:srgbClr val="192B37"/>
                </a:solidFill>
              </a:rPr>
              <a:t>unique selectors</a:t>
            </a:r>
          </a:p>
        </p:txBody>
      </p:sp>
      <p:sp>
        <p:nvSpPr>
          <p:cNvPr id="46" name="Rounded Rectangle 45"/>
          <p:cNvSpPr/>
          <p:nvPr/>
        </p:nvSpPr>
        <p:spPr>
          <a:xfrm>
            <a:off x="15179040" y="6126480"/>
            <a:ext cx="8293608" cy="1417320"/>
          </a:xfrm>
          <a:prstGeom prst="roundRect">
            <a:avLst>
              <a:gd name="adj" fmla="val 1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5499080" y="6126480"/>
            <a:ext cx="2194560" cy="1417320"/>
          </a:xfrm>
          <a:prstGeom prst="rect">
            <a:avLst/>
          </a:prstGeom>
          <a:noFill/>
        </p:spPr>
        <p:txBody>
          <a:bodyPr wrap="square" lIns="0" rIns="0" tIns="18288" bIns="18288" anchor="ctr">
            <a:noAutofit/>
          </a:bodyPr>
          <a:lstStyle/>
          <a:p>
            <a:pPr algn="l">
              <a:lnSpc>
                <a:spcPct val="100000"/>
              </a:lnSpc>
              <a:spcBef>
                <a:spcPts val="0"/>
              </a:spcBef>
              <a:spcAft>
                <a:spcPts val="0"/>
              </a:spcAft>
            </a:pPr>
            <a:r>
              <a:rPr sz="4400" b="0" i="0">
                <a:solidFill>
                  <a:srgbClr val="FF5640"/>
                </a:solidFill>
                <a:latin typeface="+mj-lt"/>
              </a:rPr>
              <a:t>10</a:t>
            </a:r>
          </a:p>
        </p:txBody>
      </p:sp>
      <p:sp>
        <p:nvSpPr>
          <p:cNvPr id="48" name="TextBox 47"/>
          <p:cNvSpPr txBox="1"/>
          <p:nvPr/>
        </p:nvSpPr>
        <p:spPr>
          <a:xfrm>
            <a:off x="17739360" y="6126480"/>
            <a:ext cx="5486400" cy="14173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1" i="0">
                <a:solidFill>
                  <a:srgbClr val="192B37"/>
                </a:solidFill>
              </a:rPr>
              <a:t>never used by tests</a:t>
            </a:r>
          </a:p>
        </p:txBody>
      </p:sp>
      <p:sp>
        <p:nvSpPr>
          <p:cNvPr id="49" name="Rounded Rectangle 48"/>
          <p:cNvSpPr/>
          <p:nvPr/>
        </p:nvSpPr>
        <p:spPr>
          <a:xfrm>
            <a:off x="612648" y="8595360"/>
            <a:ext cx="22860000" cy="1828800"/>
          </a:xfrm>
          <a:prstGeom prst="roundRect">
            <a:avLst>
              <a:gd name="adj" fmla="val 10000"/>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886968" y="879652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179576" y="879652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472184" y="879652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892807" y="8668512"/>
            <a:ext cx="2130552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src/ui/selectors.ts</a:t>
            </a:r>
          </a:p>
        </p:txBody>
      </p:sp>
      <p:sp>
        <p:nvSpPr>
          <p:cNvPr id="54" name="TextBox 53"/>
          <p:cNvSpPr txBox="1"/>
          <p:nvPr/>
        </p:nvSpPr>
        <p:spPr>
          <a:xfrm>
            <a:off x="886968" y="9144000"/>
            <a:ext cx="22402800" cy="1143000"/>
          </a:xfrm>
          <a:prstGeom prst="rect">
            <a:avLst/>
          </a:prstGeom>
          <a:noFill/>
        </p:spPr>
        <p:txBody>
          <a:bodyPr wrap="none" lIns="0" rIns="0" tIns="0" bIns="0">
            <a:noAutofit/>
          </a:bodyPr>
          <a:lstStyle/>
          <a:p>
            <a:pPr>
              <a:lnSpc>
                <a:spcPct val="108000"/>
              </a:lnSpc>
              <a:spcBef>
                <a:spcPts val="0"/>
              </a:spcBef>
              <a:spcAft>
                <a:spcPts val="0"/>
              </a:spcAft>
            </a:pPr>
            <a:r>
              <a:rPr sz="1800" i="0" b="0">
                <a:solidFill>
                  <a:srgbClr val="8CCFF0"/>
                </a:solidFill>
                <a:latin typeface="Consolas"/>
              </a:rPr>
              <a:t>bySel</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"signin-submit"</a:t>
            </a:r>
            <a:r>
              <a:rPr sz="1800" i="0" b="0">
                <a:solidFill>
                  <a:srgbClr val="E6EDF3"/>
                </a:solidFill>
                <a:latin typeface="Consolas"/>
              </a:rPr>
              <a:t>)</a:t>
            </a:r>
            <a:r>
              <a:rPr sz="1800" i="0" b="0">
                <a:solidFill>
                  <a:srgbClr val="E6EDF3"/>
                </a:solidFill>
                <a:latin typeface="Consolas"/>
              </a:rPr>
              <a:t>          </a:t>
            </a:r>
            <a:r>
              <a:rPr sz="1800" i="1" b="0">
                <a:solidFill>
                  <a:srgbClr val="7F93A3"/>
                </a:solidFill>
                <a:latin typeface="Consolas"/>
              </a:rPr>
              <a:t>// exact:  [data-test="signin-submit"]</a:t>
            </a:r>
          </a:p>
          <a:p>
            <a:pPr>
              <a:lnSpc>
                <a:spcPct val="108000"/>
              </a:lnSpc>
              <a:spcBef>
                <a:spcPts val="0"/>
              </a:spcBef>
              <a:spcAft>
                <a:spcPts val="0"/>
              </a:spcAft>
            </a:pPr>
            <a:r>
              <a:rPr sz="1800" i="0" b="0">
                <a:solidFill>
                  <a:srgbClr val="8CCFF0"/>
                </a:solidFill>
                <a:latin typeface="Consolas"/>
              </a:rPr>
              <a:t>bySelLike</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"transaction-item"</a:t>
            </a:r>
            <a:r>
              <a:rPr sz="1800" i="0" b="0">
                <a:solidFill>
                  <a:srgbClr val="E6EDF3"/>
                </a:solidFill>
                <a:latin typeface="Consolas"/>
              </a:rPr>
              <a:t>)</a:t>
            </a:r>
            <a:r>
              <a:rPr sz="1800" i="0" b="0">
                <a:solidFill>
                  <a:srgbClr val="E6EDF3"/>
                </a:solidFill>
                <a:latin typeface="Consolas"/>
              </a:rPr>
              <a:t>   </a:t>
            </a:r>
            <a:r>
              <a:rPr sz="1800" i="1" b="0">
                <a:solidFill>
                  <a:srgbClr val="7F93A3"/>
                </a:solidFill>
                <a:latin typeface="Consolas"/>
              </a:rPr>
              <a:t>// prefix: [data-test*="transaction-item"]   — Cypress getBySel / getBySelLike</a:t>
            </a:r>
          </a:p>
        </p:txBody>
      </p:sp>
      <p:sp>
        <p:nvSpPr>
          <p:cNvPr id="55" name="Rounded Rectangle 54"/>
          <p:cNvSpPr/>
          <p:nvPr/>
        </p:nvSpPr>
        <p:spPr>
          <a:xfrm>
            <a:off x="612648" y="10789920"/>
            <a:ext cx="22860000" cy="960120"/>
          </a:xfrm>
          <a:prstGeom prst="roundRect">
            <a:avLst>
              <a:gd name="adj" fmla="val 1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Oval 55"/>
          <p:cNvSpPr/>
          <p:nvPr/>
        </p:nvSpPr>
        <p:spPr>
          <a:xfrm>
            <a:off x="886968" y="10927080"/>
            <a:ext cx="685800" cy="6858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LuLaugh.png"/>
          <p:cNvPicPr>
            <a:picLocks noChangeAspect="1"/>
          </p:cNvPicPr>
          <p:nvPr/>
        </p:nvPicPr>
        <p:blipFill>
          <a:blip r:embed="rId3"/>
          <a:stretch>
            <a:fillRect/>
          </a:stretch>
        </p:blipFill>
        <p:spPr>
          <a:xfrm>
            <a:off x="1051560" y="11091672"/>
            <a:ext cx="356616" cy="356616"/>
          </a:xfrm>
          <a:prstGeom prst="rect">
            <a:avLst/>
          </a:prstGeom>
        </p:spPr>
      </p:pic>
      <p:sp>
        <p:nvSpPr>
          <p:cNvPr id="58" name="TextBox 57"/>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14 routes and not one of them stops to ask for directions. Except the unknown one — it just stares blankly.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API &amp; UI</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00A859"/>
                </a:solidFill>
              </a:rPr>
              <a:t>UI LAYER · TESTS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75 tests × 2 viewports = one very busy Chromium</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20</a:t>
            </a:r>
          </a:p>
        </p:txBody>
      </p:sp>
      <p:sp>
        <p:nvSpPr>
          <p:cNvPr id="6" name="Rounded Rectangle 5"/>
          <p:cNvSpPr/>
          <p:nvPr/>
        </p:nvSpPr>
        <p:spPr>
          <a:xfrm>
            <a:off x="612648" y="2962656"/>
            <a:ext cx="8778240" cy="4773168"/>
          </a:xfrm>
          <a:prstGeom prst="roundRect">
            <a:avLst>
              <a:gd name="adj" fmla="val 2298"/>
            </a:avLst>
          </a:prstGeom>
          <a:solidFill>
            <a:srgbClr val="F1F4F7"/>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3081528"/>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14984" y="3081528"/>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52728" y="3081528"/>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72768" y="3026664"/>
            <a:ext cx="5486400" cy="256031"/>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664208" y="3026664"/>
            <a:ext cx="5303520" cy="256031"/>
          </a:xfrm>
          <a:prstGeom prst="rect">
            <a:avLst/>
          </a:prstGeom>
          <a:noFill/>
        </p:spPr>
        <p:txBody>
          <a:bodyPr wrap="square" lIns="0" rIns="0" tIns="18288" bIns="18288" anchor="ctr">
            <a:noAutofit/>
          </a:bodyPr>
          <a:lstStyle/>
          <a:p>
            <a:pPr algn="l">
              <a:lnSpc>
                <a:spcPct val="100000"/>
              </a:lnSpc>
              <a:spcBef>
                <a:spcPts val="0"/>
              </a:spcBef>
              <a:spcAft>
                <a:spcPts val="0"/>
              </a:spcAft>
            </a:pPr>
            <a:r>
              <a:rPr sz="1200" b="0" i="0">
                <a:solidFill>
                  <a:srgbClr val="5E6A73"/>
                </a:solidFill>
              </a:rPr>
              <a:t>ui-desktop · 1280×1000</a:t>
            </a:r>
          </a:p>
        </p:txBody>
      </p:sp>
      <p:pic>
        <p:nvPicPr>
          <p:cNvPr id="12" name="Picture 11" descr="app-home-personal.png"/>
          <p:cNvPicPr>
            <a:picLocks noChangeAspect="1"/>
          </p:cNvPicPr>
          <p:nvPr/>
        </p:nvPicPr>
        <p:blipFill>
          <a:blip r:embed="rId3"/>
          <a:stretch>
            <a:fillRect/>
          </a:stretch>
        </p:blipFill>
        <p:spPr>
          <a:xfrm>
            <a:off x="612648" y="3346704"/>
            <a:ext cx="8778240" cy="4389120"/>
          </a:xfrm>
          <a:prstGeom prst="rect">
            <a:avLst/>
          </a:prstGeom>
          <a:ln w="12700">
            <a:solidFill>
              <a:srgbClr val="D9E1E7"/>
            </a:solidFill>
          </a:ln>
        </p:spPr>
      </p:pic>
      <p:pic>
        <p:nvPicPr>
          <p:cNvPr id="13" name="Picture 12" descr="app-mobile-drawer.png"/>
          <p:cNvPicPr>
            <a:picLocks noChangeAspect="1"/>
          </p:cNvPicPr>
          <p:nvPr/>
        </p:nvPicPr>
        <p:blipFill>
          <a:blip r:embed="rId4"/>
          <a:stretch>
            <a:fillRect/>
          </a:stretch>
        </p:blipFill>
        <p:spPr>
          <a:xfrm>
            <a:off x="9698057" y="2926080"/>
            <a:ext cx="2732365" cy="4434840"/>
          </a:xfrm>
          <a:prstGeom prst="rect">
            <a:avLst/>
          </a:prstGeom>
          <a:ln w="12700">
            <a:solidFill>
              <a:srgbClr val="D9E1E7"/>
            </a:solidFill>
          </a:ln>
        </p:spPr>
      </p:pic>
      <p:sp>
        <p:nvSpPr>
          <p:cNvPr id="14" name="TextBox 13"/>
          <p:cNvSpPr txBox="1"/>
          <p:nvPr/>
        </p:nvSpPr>
        <p:spPr>
          <a:xfrm>
            <a:off x="9326880" y="7406640"/>
            <a:ext cx="3474720" cy="411480"/>
          </a:xfrm>
          <a:prstGeom prst="rect">
            <a:avLst/>
          </a:prstGeom>
          <a:noFill/>
        </p:spPr>
        <p:txBody>
          <a:bodyPr wrap="square" lIns="0" rIns="0" tIns="18288" bIns="18288" anchor="t">
            <a:noAutofit/>
          </a:bodyPr>
          <a:lstStyle/>
          <a:p>
            <a:pPr algn="ctr">
              <a:lnSpc>
                <a:spcPct val="100000"/>
              </a:lnSpc>
              <a:spcBef>
                <a:spcPts val="0"/>
              </a:spcBef>
              <a:spcAft>
                <a:spcPts val="0"/>
              </a:spcAft>
            </a:pPr>
            <a:r>
              <a:rPr sz="1300" b="0" i="0">
                <a:solidFill>
                  <a:srgbClr val="5E6A73"/>
                </a:solidFill>
              </a:rPr>
              <a:t>ui-mobile · 375×667</a:t>
            </a:r>
          </a:p>
        </p:txBody>
      </p:sp>
      <p:sp>
        <p:nvSpPr>
          <p:cNvPr id="15" name="TextBox 14"/>
          <p:cNvSpPr txBox="1"/>
          <p:nvPr/>
        </p:nvSpPr>
        <p:spPr>
          <a:xfrm>
            <a:off x="12893040" y="2880360"/>
            <a:ext cx="105156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00A859"/>
                </a:solidFill>
              </a:rPr>
              <a:t>TESTS PER SPEC (EACH VIEWPORT)</a:t>
            </a:r>
          </a:p>
        </p:txBody>
      </p:sp>
      <p:graphicFrame>
        <p:nvGraphicFramePr>
          <p:cNvPr id="16" name="Chart 15"/>
          <p:cNvGraphicFramePr>
            <a:graphicFrameLocks noGrp="1"/>
          </p:cNvGraphicFramePr>
          <p:nvPr/>
        </p:nvGraphicFramePr>
        <p:xfrm>
          <a:off x="12710160" y="3200400"/>
          <a:ext cx="10789920" cy="4480560"/>
        </p:xfrm>
        <a:graphic>
          <a:graphicData uri="http://schemas.openxmlformats.org/drawingml/2006/chart">
            <c:chart xmlns:c="http://schemas.openxmlformats.org/drawingml/2006/chart" r:id="rId5"/>
          </a:graphicData>
        </a:graphic>
      </p:graphicFrame>
      <p:sp>
        <p:nvSpPr>
          <p:cNvPr id="17" name="Rounded Rectangle 16"/>
          <p:cNvSpPr/>
          <p:nvPr/>
        </p:nvSpPr>
        <p:spPr>
          <a:xfrm>
            <a:off x="612648" y="8001000"/>
            <a:ext cx="12070080" cy="2423160"/>
          </a:xfrm>
          <a:prstGeom prst="roundRect">
            <a:avLst>
              <a:gd name="adj" fmla="val 10000"/>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86968" y="820216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9576" y="820216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472184" y="820216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92807" y="8074152"/>
            <a:ext cx="1051560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tests/ui/new-transaction.spec.ts</a:t>
            </a:r>
          </a:p>
        </p:txBody>
      </p:sp>
      <p:sp>
        <p:nvSpPr>
          <p:cNvPr id="22" name="TextBox 21"/>
          <p:cNvSpPr txBox="1"/>
          <p:nvPr/>
        </p:nvSpPr>
        <p:spPr>
          <a:xfrm>
            <a:off x="886968" y="8549640"/>
            <a:ext cx="11612880" cy="1737360"/>
          </a:xfrm>
          <a:prstGeom prst="rect">
            <a:avLst/>
          </a:prstGeom>
          <a:noFill/>
        </p:spPr>
        <p:txBody>
          <a:bodyPr wrap="none" lIns="0" rIns="0" tIns="0" bIns="0">
            <a:noAutofit/>
          </a:bodyPr>
          <a:lstStyle/>
          <a:p>
            <a:pPr>
              <a:lnSpc>
                <a:spcPct val="108000"/>
              </a:lnSpc>
              <a:spcBef>
                <a:spcPts val="0"/>
              </a:spcBef>
              <a:spcAft>
                <a:spcPts val="0"/>
              </a:spcAft>
            </a:pPr>
            <a:r>
              <a:rPr sz="1800" i="0" b="0">
                <a:solidFill>
                  <a:srgbClr val="FF9C8A"/>
                </a:solidFill>
                <a:latin typeface="Consolas"/>
              </a:rPr>
              <a:t>await</a:t>
            </a:r>
            <a:r>
              <a:rPr sz="1800" i="0" b="0">
                <a:solidFill>
                  <a:srgbClr val="E6EDF3"/>
                </a:solidFill>
                <a:latin typeface="Consolas"/>
              </a:rPr>
              <a:t> </a:t>
            </a:r>
            <a:r>
              <a:rPr sz="1800" i="0" b="0">
                <a:solidFill>
                  <a:srgbClr val="8CCFF0"/>
                </a:solidFill>
                <a:latin typeface="Consolas"/>
              </a:rPr>
              <a:t>fillTransactionForm</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payment</a:t>
            </a:r>
            <a:r>
              <a:rPr sz="1800" i="0" b="0">
                <a:solidFill>
                  <a:srgbClr val="E6EDF3"/>
                </a:solidFill>
                <a:latin typeface="Consolas"/>
              </a:rPr>
              <a:t>.</a:t>
            </a:r>
            <a:r>
              <a:rPr sz="1800" i="0" b="0">
                <a:solidFill>
                  <a:srgbClr val="E6EDF3"/>
                </a:solidFill>
                <a:latin typeface="Consolas"/>
              </a:rPr>
              <a:t>amount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payment</a:t>
            </a:r>
            <a:r>
              <a:rPr sz="1800" i="0" b="0">
                <a:solidFill>
                  <a:srgbClr val="E6EDF3"/>
                </a:solidFill>
                <a:latin typeface="Consolas"/>
              </a:rPr>
              <a:t>.</a:t>
            </a:r>
            <a:r>
              <a:rPr sz="1800" i="0" b="0">
                <a:solidFill>
                  <a:srgbClr val="E6EDF3"/>
                </a:solidFill>
                <a:latin typeface="Consolas"/>
              </a:rPr>
              <a:t>description</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FF9C8A"/>
                </a:solidFill>
                <a:latin typeface="Consolas"/>
              </a:rPr>
              <a:t>const</a:t>
            </a:r>
            <a:r>
              <a:rPr sz="1800" i="0" b="0">
                <a:solidFill>
                  <a:srgbClr val="E6EDF3"/>
                </a:solidFill>
                <a:latin typeface="Consolas"/>
              </a:rPr>
              <a:t> </a:t>
            </a:r>
            <a:r>
              <a:rPr sz="1800" i="0" b="0">
                <a:solidFill>
                  <a:srgbClr val="E6EDF3"/>
                </a:solidFill>
                <a:latin typeface="Consolas"/>
              </a:rPr>
              <a:t>created</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8CCFF0"/>
                </a:solidFill>
                <a:latin typeface="Consolas"/>
              </a:rPr>
              <a:t>waitForApi</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createTransaction</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FF9C8A"/>
                </a:solidFill>
                <a:latin typeface="Consolas"/>
              </a:rPr>
              <a:t>await</a:t>
            </a:r>
            <a:r>
              <a:rPr sz="1800" i="0" b="0">
                <a:solidFill>
                  <a:srgbClr val="E6EDF3"/>
                </a:solidFill>
                <a:latin typeface="Consolas"/>
              </a:rPr>
              <a:t> </a:t>
            </a:r>
            <a:r>
              <a:rPr sz="1800" i="0" b="0">
                <a:solidFill>
                  <a:srgbClr val="8CCFF0"/>
                </a:solidFill>
                <a:latin typeface="Consolas"/>
              </a:rPr>
              <a:t>bySelLike</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"submit-payment"</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click</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FF9C8A"/>
                </a:solidFill>
                <a:latin typeface="Consolas"/>
              </a:rPr>
              <a:t>await</a:t>
            </a:r>
            <a:r>
              <a:rPr sz="1800" i="0" b="0">
                <a:solidFill>
                  <a:srgbClr val="E6EDF3"/>
                </a:solidFill>
                <a:latin typeface="Consolas"/>
              </a:rPr>
              <a:t> </a:t>
            </a:r>
            <a:r>
              <a:rPr sz="1800" i="0" b="0">
                <a:solidFill>
                  <a:srgbClr val="E6EDF3"/>
                </a:solidFill>
                <a:latin typeface="Consolas"/>
              </a:rPr>
              <a:t>created</a:t>
            </a:r>
            <a:r>
              <a:rPr sz="1800" i="0" b="0">
                <a:solidFill>
                  <a:srgbClr val="E6EDF3"/>
                </a:solidFill>
                <a:latin typeface="Consolas"/>
              </a:rPr>
              <a:t>;</a:t>
            </a:r>
          </a:p>
          <a:p>
            <a:pPr>
              <a:lnSpc>
                <a:spcPct val="108000"/>
              </a:lnSpc>
              <a:spcBef>
                <a:spcPts val="0"/>
              </a:spcBef>
              <a:spcAft>
                <a:spcPts val="0"/>
              </a:spcAft>
            </a:pPr>
            <a:r>
              <a:rPr sz="1800" i="0" b="0">
                <a:solidFill>
                  <a:srgbClr val="FF9C8A"/>
                </a:solidFill>
                <a:latin typeface="Consolas"/>
              </a:rPr>
              <a:t>await</a:t>
            </a:r>
            <a:r>
              <a:rPr sz="1800" i="0" b="0">
                <a:solidFill>
                  <a:srgbClr val="E6EDF3"/>
                </a:solidFill>
                <a:latin typeface="Consolas"/>
              </a:rPr>
              <a:t> </a:t>
            </a:r>
            <a:r>
              <a:rPr sz="1800" i="0" b="0">
                <a:solidFill>
                  <a:srgbClr val="FF9C8A"/>
                </a:solidFill>
                <a:latin typeface="Consolas"/>
              </a:rPr>
              <a:t>expect</a:t>
            </a:r>
            <a:r>
              <a:rPr sz="1800" i="0" b="0">
                <a:solidFill>
                  <a:srgbClr val="E6EDF3"/>
                </a:solidFill>
                <a:latin typeface="Consolas"/>
              </a:rPr>
              <a:t>(</a:t>
            </a:r>
            <a:r>
              <a:rPr sz="1800" i="0" b="0">
                <a:solidFill>
                  <a:srgbClr val="8CCFF0"/>
                </a:solidFill>
                <a:latin typeface="Consolas"/>
              </a:rPr>
              <a:t>alertBar</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toHaveText</a:t>
            </a:r>
            <a:r>
              <a:rPr sz="1800" i="0" b="0">
                <a:solidFill>
                  <a:srgbClr val="E6EDF3"/>
                </a:solidFill>
                <a:latin typeface="Consolas"/>
              </a:rPr>
              <a:t>(</a:t>
            </a:r>
            <a:r>
              <a:rPr sz="1800" i="0" b="0">
                <a:solidFill>
                  <a:srgbClr val="9BE3B4"/>
                </a:solidFill>
                <a:latin typeface="Consolas"/>
              </a:rPr>
              <a:t>"Transaction Submitted!"</a:t>
            </a:r>
            <a:r>
              <a:rPr sz="1800" i="0" b="0">
                <a:solidFill>
                  <a:srgbClr val="E6EDF3"/>
                </a:solidFill>
                <a:latin typeface="Consolas"/>
              </a:rPr>
              <a:t>)</a:t>
            </a:r>
            <a:r>
              <a:rPr sz="1800" i="0" b="0">
                <a:solidFill>
                  <a:srgbClr val="E6EDF3"/>
                </a:solidFill>
                <a:latin typeface="Consolas"/>
              </a:rPr>
              <a:t>;</a:t>
            </a:r>
          </a:p>
        </p:txBody>
      </p:sp>
      <p:sp>
        <p:nvSpPr>
          <p:cNvPr id="23" name="Rounded Rectangle 22"/>
          <p:cNvSpPr/>
          <p:nvPr/>
        </p:nvSpPr>
        <p:spPr>
          <a:xfrm>
            <a:off x="12893040" y="8001000"/>
            <a:ext cx="10579608" cy="2423160"/>
          </a:xfrm>
          <a:prstGeom prst="roundRect">
            <a:avLst>
              <a:gd name="adj" fmla="val 10000"/>
            </a:avLst>
          </a:prstGeom>
          <a:solidFill>
            <a:srgbClr val="0F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3167360" y="820216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3459968" y="820216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752576" y="820216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173200" y="8074152"/>
            <a:ext cx="9025128"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full regression · 16.10.2026</a:t>
            </a:r>
          </a:p>
        </p:txBody>
      </p:sp>
      <p:sp>
        <p:nvSpPr>
          <p:cNvPr id="28" name="TextBox 27"/>
          <p:cNvSpPr txBox="1"/>
          <p:nvPr/>
        </p:nvSpPr>
        <p:spPr>
          <a:xfrm>
            <a:off x="13167360" y="8549640"/>
            <a:ext cx="10122408" cy="1737360"/>
          </a:xfrm>
          <a:prstGeom prst="rect">
            <a:avLst/>
          </a:prstGeom>
          <a:noFill/>
        </p:spPr>
        <p:txBody>
          <a:bodyPr wrap="none" lIns="0" rIns="0" tIns="0" bIns="0">
            <a:noAutofit/>
          </a:bodyPr>
          <a:lstStyle/>
          <a:p>
            <a:pPr>
              <a:lnSpc>
                <a:spcPct val="108000"/>
              </a:lnSpc>
              <a:spcBef>
                <a:spcPts val="0"/>
              </a:spcBef>
              <a:spcAft>
                <a:spcPts val="0"/>
              </a:spcAft>
            </a:pPr>
            <a:r>
              <a:rPr sz="1500">
                <a:solidFill>
                  <a:srgbClr val="7EE787"/>
                </a:solidFill>
                <a:latin typeface="Consolas"/>
              </a:rPr>
              <a:t>✓ [ui-desktop] › auth.spec.ts › should redirect to the home page after login (3.4s)</a:t>
            </a:r>
          </a:p>
          <a:p>
            <a:pPr>
              <a:lnSpc>
                <a:spcPct val="108000"/>
              </a:lnSpc>
              <a:spcBef>
                <a:spcPts val="0"/>
              </a:spcBef>
              <a:spcAft>
                <a:spcPts val="0"/>
              </a:spcAft>
            </a:pPr>
            <a:r>
              <a:rPr sz="1500">
                <a:solidFill>
                  <a:srgbClr val="7EE787"/>
                </a:solidFill>
                <a:latin typeface="Consolas"/>
              </a:rPr>
              <a:t>✓ [ui-mobile]  › a11y.spec.ts › notifications has no new critical axe violations (5.1s)</a:t>
            </a:r>
          </a:p>
          <a:p>
            <a:pPr>
              <a:lnSpc>
                <a:spcPct val="108000"/>
              </a:lnSpc>
              <a:spcBef>
                <a:spcPts val="0"/>
              </a:spcBef>
              <a:spcAft>
                <a:spcPts val="0"/>
              </a:spcAft>
            </a:pPr>
            <a:r>
              <a:rPr sz="1500">
                <a:solidFill>
                  <a:srgbClr val="7EE787"/>
                </a:solidFill>
                <a:latin typeface="Consolas"/>
              </a:rPr>
              <a:t>  223 passed · 1 skipped (12.1m)</a:t>
            </a:r>
          </a:p>
        </p:txBody>
      </p:sp>
      <p:sp>
        <p:nvSpPr>
          <p:cNvPr id="29" name="Rounded Rectangle 28"/>
          <p:cNvSpPr/>
          <p:nvPr/>
        </p:nvSpPr>
        <p:spPr>
          <a:xfrm>
            <a:off x="612648" y="10789920"/>
            <a:ext cx="22860000" cy="960120"/>
          </a:xfrm>
          <a:prstGeom prst="roundRect">
            <a:avLst>
              <a:gd name="adj" fmla="val 1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86968" y="10927080"/>
            <a:ext cx="685800" cy="6858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LuLaugh.png"/>
          <p:cNvPicPr>
            <a:picLocks noChangeAspect="1"/>
          </p:cNvPicPr>
          <p:nvPr/>
        </p:nvPicPr>
        <p:blipFill>
          <a:blip r:embed="rId6"/>
          <a:stretch>
            <a:fillRect/>
          </a:stretch>
        </p:blipFill>
        <p:spPr>
          <a:xfrm>
            <a:off x="1051560" y="11091672"/>
            <a:ext cx="356616" cy="356616"/>
          </a:xfrm>
          <a:prstGeom prst="rect">
            <a:avLst/>
          </a:prstGeom>
        </p:spPr>
      </p:pic>
      <p:sp>
        <p:nvSpPr>
          <p:cNvPr id="32" name="TextBox 31"/>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Same tests, two viewports. The mobile project fits in your pocket; its bugs, sadly, do too.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API &amp; UI</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00A859"/>
                </a:solidFill>
              </a:rPr>
              <a:t>UI LAYER · MOCKS &amp; ACCESSIBILITY</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We broke the server on purpose — politely</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21</a:t>
            </a:r>
          </a:p>
        </p:txBody>
      </p:sp>
      <p:sp>
        <p:nvSpPr>
          <p:cNvPr id="6" name="Rounded Rectangle 5"/>
          <p:cNvSpPr/>
          <p:nvPr/>
        </p:nvSpPr>
        <p:spPr>
          <a:xfrm>
            <a:off x="612648" y="2926080"/>
            <a:ext cx="11521440" cy="4709160"/>
          </a:xfrm>
          <a:prstGeom prst="roundRect">
            <a:avLst>
              <a:gd name="adj" fmla="val 5436"/>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86968" y="312724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79576" y="312724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72184" y="312724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92807" y="2999232"/>
            <a:ext cx="996696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tests/ui/mocked-states.spec.ts</a:t>
            </a:r>
          </a:p>
        </p:txBody>
      </p:sp>
      <p:sp>
        <p:nvSpPr>
          <p:cNvPr id="11" name="TextBox 10"/>
          <p:cNvSpPr txBox="1"/>
          <p:nvPr/>
        </p:nvSpPr>
        <p:spPr>
          <a:xfrm>
            <a:off x="886968" y="3474720"/>
            <a:ext cx="11064240" cy="4023360"/>
          </a:xfrm>
          <a:prstGeom prst="rect">
            <a:avLst/>
          </a:prstGeom>
          <a:noFill/>
        </p:spPr>
        <p:txBody>
          <a:bodyPr wrap="none" lIns="0" rIns="0" tIns="0" bIns="0">
            <a:noAutofit/>
          </a:bodyPr>
          <a:lstStyle/>
          <a:p>
            <a:pPr>
              <a:lnSpc>
                <a:spcPct val="108000"/>
              </a:lnSpc>
              <a:spcBef>
                <a:spcPts val="0"/>
              </a:spcBef>
              <a:spcAft>
                <a:spcPts val="0"/>
              </a:spcAft>
            </a:pPr>
            <a:r>
              <a:rPr sz="1800" i="0" b="0">
                <a:solidFill>
                  <a:srgbClr val="FF9C8A"/>
                </a:solidFill>
                <a:latin typeface="Consolas"/>
              </a:rPr>
              <a:t>test</a:t>
            </a:r>
            <a:r>
              <a:rPr sz="1800" i="0" b="0">
                <a:solidFill>
                  <a:srgbClr val="E6EDF3"/>
                </a:solidFill>
                <a:latin typeface="Consolas"/>
              </a:rPr>
              <a:t>(</a:t>
            </a:r>
            <a:r>
              <a:rPr sz="1800" i="0" b="0">
                <a:solidFill>
                  <a:srgbClr val="9BE3B4"/>
                </a:solidFill>
                <a:latin typeface="Consolas"/>
              </a:rPr>
              <a:t>"tells the user when the feed fails (KI-33)"</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async</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users</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test</a:t>
            </a:r>
            <a:r>
              <a:rPr sz="1800" i="0" b="0">
                <a:solidFill>
                  <a:srgbClr val="E6EDF3"/>
                </a:solidFill>
                <a:latin typeface="Consolas"/>
              </a:rPr>
              <a:t>.</a:t>
            </a:r>
            <a:r>
              <a:rPr sz="1800" i="0" b="0">
                <a:solidFill>
                  <a:srgbClr val="8CCFF0"/>
                </a:solidFill>
                <a:latin typeface="Consolas"/>
              </a:rPr>
              <a:t>fail</a:t>
            </a:r>
            <a:r>
              <a:rPr sz="1800" i="0" b="0">
                <a:solidFill>
                  <a:srgbClr val="E6EDF3"/>
                </a:solidFill>
                <a:latin typeface="Consolas"/>
              </a:rPr>
              <a:t>(</a:t>
            </a:r>
            <a:r>
              <a:rPr sz="1800" i="0" b="0">
                <a:solidFill>
                  <a:srgbClr val="FF9C8A"/>
                </a:solidFill>
                <a:latin typeface="Consolas"/>
              </a:rPr>
              <a:t>true</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"KI-33: a 500 renders the empty state"</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8CCFF0"/>
                </a:solidFill>
                <a:latin typeface="Consolas"/>
              </a:rPr>
              <a:t>stubServerError</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8CCFF0"/>
                </a:solidFill>
                <a:latin typeface="Consolas"/>
              </a:rPr>
              <a:t>feedMatcher</a:t>
            </a:r>
            <a:r>
              <a:rPr sz="1800" i="0" b="0">
                <a:solidFill>
                  <a:srgbClr val="E6EDF3"/>
                </a:solidFill>
                <a:latin typeface="Consolas"/>
              </a:rPr>
              <a:t>(</a:t>
            </a:r>
            <a:r>
              <a:rPr sz="1800" i="0" b="0">
                <a:solidFill>
                  <a:srgbClr val="9BE3B4"/>
                </a:solidFill>
                <a:latin typeface="Consolas"/>
              </a:rPr>
              <a:t>"public"</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const</a:t>
            </a:r>
            <a:r>
              <a:rPr sz="1800" i="0" b="0">
                <a:solidFill>
                  <a:srgbClr val="E6EDF3"/>
                </a:solidFill>
                <a:latin typeface="Consolas"/>
              </a:rPr>
              <a:t> </a:t>
            </a:r>
            <a:r>
              <a:rPr sz="1800" i="0" b="0">
                <a:solidFill>
                  <a:srgbClr val="E6EDF3"/>
                </a:solidFill>
                <a:latin typeface="Consolas"/>
              </a:rPr>
              <a:t>feed</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8CCFF0"/>
                </a:solidFill>
                <a:latin typeface="Consolas"/>
              </a:rPr>
              <a:t>waitForApi</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8CCFF0"/>
                </a:solidFill>
                <a:latin typeface="Consolas"/>
              </a:rPr>
              <a:t>feedMatcher</a:t>
            </a:r>
            <a:r>
              <a:rPr sz="1800" i="0" b="0">
                <a:solidFill>
                  <a:srgbClr val="E6EDF3"/>
                </a:solidFill>
                <a:latin typeface="Consolas"/>
              </a:rPr>
              <a:t>(</a:t>
            </a:r>
            <a:r>
              <a:rPr sz="1800" i="0" b="0">
                <a:solidFill>
                  <a:srgbClr val="9BE3B4"/>
                </a:solidFill>
                <a:latin typeface="Consolas"/>
              </a:rPr>
              <a:t>"public"</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8CCFF0"/>
                </a:solidFill>
                <a:latin typeface="Consolas"/>
              </a:rPr>
              <a:t>loginByXstate</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users</a:t>
            </a:r>
            <a:r>
              <a:rPr sz="1800" i="0" b="0">
                <a:solidFill>
                  <a:srgbClr val="E6EDF3"/>
                </a:solidFill>
                <a:latin typeface="Consolas"/>
              </a:rPr>
              <a:t>[</a:t>
            </a:r>
            <a:r>
              <a:rPr sz="1800" i="0" b="0">
                <a:solidFill>
                  <a:srgbClr val="FFC56B"/>
                </a:solidFill>
                <a:latin typeface="Consolas"/>
              </a:rPr>
              <a:t>0</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username</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expect</a:t>
            </a:r>
            <a:r>
              <a:rPr sz="1800" i="0" b="0">
                <a:solidFill>
                  <a:srgbClr val="E6EDF3"/>
                </a:solidFill>
                <a:latin typeface="Consolas"/>
              </a:rPr>
              <a:t>(</a:t>
            </a:r>
            <a:r>
              <a:rPr sz="1800" i="0" b="0">
                <a:solidFill>
                  <a:srgbClr val="E6EDF3"/>
                </a:solidFill>
                <a:latin typeface="Consolas"/>
              </a:rPr>
              <a:t>(</a:t>
            </a:r>
            <a:r>
              <a:rPr sz="1800" i="0" b="0">
                <a:solidFill>
                  <a:srgbClr val="FF9C8A"/>
                </a:solidFill>
                <a:latin typeface="Consolas"/>
              </a:rPr>
              <a:t>await</a:t>
            </a:r>
            <a:r>
              <a:rPr sz="1800" i="0" b="0">
                <a:solidFill>
                  <a:srgbClr val="E6EDF3"/>
                </a:solidFill>
                <a:latin typeface="Consolas"/>
              </a:rPr>
              <a:t> </a:t>
            </a:r>
            <a:r>
              <a:rPr sz="1800" i="0" b="0">
                <a:solidFill>
                  <a:srgbClr val="E6EDF3"/>
                </a:solidFill>
                <a:latin typeface="Consolas"/>
              </a:rPr>
              <a:t>feed</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status</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toBe</a:t>
            </a:r>
            <a:r>
              <a:rPr sz="1800" i="0" b="0">
                <a:solidFill>
                  <a:srgbClr val="E6EDF3"/>
                </a:solidFill>
                <a:latin typeface="Consolas"/>
              </a:rPr>
              <a:t>(</a:t>
            </a:r>
            <a:r>
              <a:rPr sz="1800" i="0" b="0">
                <a:solidFill>
                  <a:srgbClr val="FFC56B"/>
                </a:solidFill>
                <a:latin typeface="Consolas"/>
              </a:rPr>
              <a:t>500</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FF9C8A"/>
                </a:solidFill>
                <a:latin typeface="Consolas"/>
              </a:rPr>
              <a:t>expect</a:t>
            </a:r>
            <a:r>
              <a:rPr sz="1800" i="0" b="0">
                <a:solidFill>
                  <a:srgbClr val="E6EDF3"/>
                </a:solidFill>
                <a:latin typeface="Consolas"/>
              </a:rPr>
              <a:t>(</a:t>
            </a:r>
            <a:r>
              <a:rPr sz="1800" i="0" b="0">
                <a:solidFill>
                  <a:srgbClr val="8CCFF0"/>
                </a:solidFill>
                <a:latin typeface="Consolas"/>
              </a:rPr>
              <a:t>bySel</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"alert-bar-error"</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toBeVisible</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p:txBody>
      </p:sp>
      <p:sp>
        <p:nvSpPr>
          <p:cNvPr id="12" name="Rounded Rectangle 11"/>
          <p:cNvSpPr/>
          <p:nvPr/>
        </p:nvSpPr>
        <p:spPr>
          <a:xfrm>
            <a:off x="612648" y="7863840"/>
            <a:ext cx="11521440" cy="2560320"/>
          </a:xfrm>
          <a:prstGeom prst="roundRect">
            <a:avLst>
              <a:gd name="adj" fmla="val 10000"/>
            </a:avLst>
          </a:prstGeom>
          <a:solidFill>
            <a:srgbClr val="0F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886968" y="806500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79576" y="806500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72184" y="806500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92807" y="7936992"/>
            <a:ext cx="996696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TAP26 mock API :3101</a:t>
            </a:r>
          </a:p>
        </p:txBody>
      </p:sp>
      <p:sp>
        <p:nvSpPr>
          <p:cNvPr id="17" name="TextBox 16"/>
          <p:cNvSpPr txBox="1"/>
          <p:nvPr/>
        </p:nvSpPr>
        <p:spPr>
          <a:xfrm>
            <a:off x="886968" y="8412480"/>
            <a:ext cx="11064240" cy="1874519"/>
          </a:xfrm>
          <a:prstGeom prst="rect">
            <a:avLst/>
          </a:prstGeom>
          <a:noFill/>
        </p:spPr>
        <p:txBody>
          <a:bodyPr wrap="none" lIns="0" rIns="0" tIns="0" bIns="0">
            <a:noAutofit/>
          </a:bodyPr>
          <a:lstStyle/>
          <a:p>
            <a:pPr>
              <a:lnSpc>
                <a:spcPct val="108000"/>
              </a:lnSpc>
              <a:spcBef>
                <a:spcPts val="0"/>
              </a:spcBef>
              <a:spcAft>
                <a:spcPts val="0"/>
              </a:spcAft>
            </a:pPr>
            <a:r>
              <a:rPr sz="1800" b="1">
                <a:solidFill>
                  <a:srgbClr val="7EE787"/>
                </a:solidFill>
                <a:latin typeface="Consolas"/>
              </a:rPr>
              <a:t>$ </a:t>
            </a:r>
            <a:r>
              <a:rPr sz="1800">
                <a:solidFill>
                  <a:srgbClr val="FFFFFF"/>
                </a:solidFill>
                <a:latin typeface="Consolas"/>
              </a:rPr>
              <a:t>curl -H "x-mock-scenario: empty-notifications" :3101/notifications</a:t>
            </a:r>
          </a:p>
          <a:p>
            <a:pPr>
              <a:lnSpc>
                <a:spcPct val="108000"/>
              </a:lnSpc>
              <a:spcBef>
                <a:spcPts val="0"/>
              </a:spcBef>
              <a:spcAft>
                <a:spcPts val="0"/>
              </a:spcAft>
            </a:pPr>
            <a:r>
              <a:rPr sz="1800">
                <a:solidFill>
                  <a:srgbClr val="D7E3EA"/>
                </a:solidFill>
                <a:latin typeface="Consolas"/>
              </a:rPr>
              <a:t>{ "results": [] }</a:t>
            </a:r>
          </a:p>
          <a:p>
            <a:pPr>
              <a:lnSpc>
                <a:spcPct val="108000"/>
              </a:lnSpc>
              <a:spcBef>
                <a:spcPts val="0"/>
              </a:spcBef>
              <a:spcAft>
                <a:spcPts val="0"/>
              </a:spcAft>
            </a:pPr>
            <a:r>
              <a:rPr sz="1800" b="1">
                <a:solidFill>
                  <a:srgbClr val="7EE787"/>
                </a:solidFill>
                <a:latin typeface="Consolas"/>
              </a:rPr>
              <a:t>$ </a:t>
            </a:r>
            <a:r>
              <a:rPr sz="1800">
                <a:solidFill>
                  <a:srgbClr val="FFFFFF"/>
                </a:solidFill>
                <a:latin typeface="Consolas"/>
              </a:rPr>
              <a:t>curl ":3101/transactions/public?__scenario=slow"   → 200 in 2.00s</a:t>
            </a:r>
          </a:p>
          <a:p>
            <a:pPr>
              <a:lnSpc>
                <a:spcPct val="108000"/>
              </a:lnSpc>
              <a:spcBef>
                <a:spcPts val="0"/>
              </a:spcBef>
              <a:spcAft>
                <a:spcPts val="0"/>
              </a:spcAft>
            </a:pPr>
            <a:r>
              <a:rPr sz="1800" b="1">
                <a:solidFill>
                  <a:srgbClr val="7EE787"/>
                </a:solidFill>
                <a:latin typeface="Consolas"/>
              </a:rPr>
              <a:t>$ </a:t>
            </a:r>
            <a:r>
              <a:rPr sz="1800">
                <a:solidFill>
                  <a:srgbClr val="FFFFFF"/>
                </a:solidFill>
                <a:latin typeface="Consolas"/>
              </a:rPr>
              <a:t>curl ":3101/transactions?__scenario=status-500"     → 500</a:t>
            </a:r>
          </a:p>
        </p:txBody>
      </p:sp>
      <p:sp>
        <p:nvSpPr>
          <p:cNvPr id="18" name="TextBox 17"/>
          <p:cNvSpPr txBox="1"/>
          <p:nvPr/>
        </p:nvSpPr>
        <p:spPr>
          <a:xfrm>
            <a:off x="12435840" y="2880360"/>
            <a:ext cx="109728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00A859"/>
                </a:solidFill>
              </a:rPr>
              <a:t>AXE-CORE BASELINE · WCAG 2.2 A/AA · 7 SCREENS × 2 VIEWPORTS</a:t>
            </a:r>
          </a:p>
        </p:txBody>
      </p:sp>
      <p:sp>
        <p:nvSpPr>
          <p:cNvPr id="19" name="Rounded Rectangle 18"/>
          <p:cNvSpPr/>
          <p:nvPr/>
        </p:nvSpPr>
        <p:spPr>
          <a:xfrm>
            <a:off x="12435840" y="3337560"/>
            <a:ext cx="11036808" cy="1600200"/>
          </a:xfrm>
          <a:prstGeom prst="roundRect">
            <a:avLst>
              <a:gd name="adj" fmla="val 12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2664440" y="3703320"/>
            <a:ext cx="868680" cy="86868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uSiren.png"/>
          <p:cNvPicPr>
            <a:picLocks noChangeAspect="1"/>
          </p:cNvPicPr>
          <p:nvPr/>
        </p:nvPicPr>
        <p:blipFill>
          <a:blip r:embed="rId3"/>
          <a:stretch>
            <a:fillRect/>
          </a:stretch>
        </p:blipFill>
        <p:spPr>
          <a:xfrm>
            <a:off x="12872923" y="3911803"/>
            <a:ext cx="451713" cy="451713"/>
          </a:xfrm>
          <a:prstGeom prst="rect">
            <a:avLst/>
          </a:prstGeom>
        </p:spPr>
      </p:pic>
      <p:sp>
        <p:nvSpPr>
          <p:cNvPr id="22" name="TextBox 21"/>
          <p:cNvSpPr txBox="1"/>
          <p:nvPr/>
        </p:nvSpPr>
        <p:spPr>
          <a:xfrm>
            <a:off x="13716000" y="3337560"/>
            <a:ext cx="2103120" cy="1600200"/>
          </a:xfrm>
          <a:prstGeom prst="rect">
            <a:avLst/>
          </a:prstGeom>
          <a:noFill/>
        </p:spPr>
        <p:txBody>
          <a:bodyPr wrap="square" lIns="0" rIns="0" tIns="18288" bIns="18288" anchor="ctr">
            <a:noAutofit/>
          </a:bodyPr>
          <a:lstStyle/>
          <a:p>
            <a:pPr algn="l">
              <a:lnSpc>
                <a:spcPct val="100000"/>
              </a:lnSpc>
              <a:spcBef>
                <a:spcPts val="0"/>
              </a:spcBef>
              <a:spcAft>
                <a:spcPts val="0"/>
              </a:spcAft>
            </a:pPr>
            <a:r>
              <a:rPr sz="5000" b="0" i="0">
                <a:solidFill>
                  <a:srgbClr val="FF5640"/>
                </a:solidFill>
                <a:latin typeface="+mj-lt"/>
              </a:rPr>
              <a:t>1</a:t>
            </a:r>
          </a:p>
        </p:txBody>
      </p:sp>
      <p:sp>
        <p:nvSpPr>
          <p:cNvPr id="23" name="TextBox 22"/>
          <p:cNvSpPr txBox="1"/>
          <p:nvPr/>
        </p:nvSpPr>
        <p:spPr>
          <a:xfrm>
            <a:off x="15910559" y="3520440"/>
            <a:ext cx="740664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critical</a:t>
            </a:r>
          </a:p>
        </p:txBody>
      </p:sp>
      <p:sp>
        <p:nvSpPr>
          <p:cNvPr id="24" name="TextBox 23"/>
          <p:cNvSpPr txBox="1"/>
          <p:nvPr/>
        </p:nvSpPr>
        <p:spPr>
          <a:xfrm>
            <a:off x="15910559" y="4069080"/>
            <a:ext cx="740664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5E6A73"/>
                </a:solidFill>
              </a:rPr>
              <a:t>aria-required-children (virtualized feed) — allowlisted</a:t>
            </a:r>
          </a:p>
        </p:txBody>
      </p:sp>
      <p:sp>
        <p:nvSpPr>
          <p:cNvPr id="25" name="Rounded Rectangle 24"/>
          <p:cNvSpPr/>
          <p:nvPr/>
        </p:nvSpPr>
        <p:spPr>
          <a:xfrm>
            <a:off x="12435840" y="5120640"/>
            <a:ext cx="11036808" cy="1600200"/>
          </a:xfrm>
          <a:prstGeom prst="roundRect">
            <a:avLst>
              <a:gd name="adj" fmla="val 12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12664440" y="5486400"/>
            <a:ext cx="868680" cy="86868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LuTriangleAlert.png"/>
          <p:cNvPicPr>
            <a:picLocks noChangeAspect="1"/>
          </p:cNvPicPr>
          <p:nvPr/>
        </p:nvPicPr>
        <p:blipFill>
          <a:blip r:embed="rId4"/>
          <a:stretch>
            <a:fillRect/>
          </a:stretch>
        </p:blipFill>
        <p:spPr>
          <a:xfrm>
            <a:off x="12872923" y="5694883"/>
            <a:ext cx="451713" cy="451713"/>
          </a:xfrm>
          <a:prstGeom prst="rect">
            <a:avLst/>
          </a:prstGeom>
        </p:spPr>
      </p:pic>
      <p:sp>
        <p:nvSpPr>
          <p:cNvPr id="28" name="TextBox 27"/>
          <p:cNvSpPr txBox="1"/>
          <p:nvPr/>
        </p:nvSpPr>
        <p:spPr>
          <a:xfrm>
            <a:off x="13716000" y="5120640"/>
            <a:ext cx="2103120" cy="1600200"/>
          </a:xfrm>
          <a:prstGeom prst="rect">
            <a:avLst/>
          </a:prstGeom>
          <a:noFill/>
        </p:spPr>
        <p:txBody>
          <a:bodyPr wrap="square" lIns="0" rIns="0" tIns="18288" bIns="18288" anchor="ctr">
            <a:noAutofit/>
          </a:bodyPr>
          <a:lstStyle/>
          <a:p>
            <a:pPr algn="l">
              <a:lnSpc>
                <a:spcPct val="100000"/>
              </a:lnSpc>
              <a:spcBef>
                <a:spcPts val="0"/>
              </a:spcBef>
              <a:spcAft>
                <a:spcPts val="0"/>
              </a:spcAft>
            </a:pPr>
            <a:r>
              <a:rPr sz="5000" b="0" i="0">
                <a:solidFill>
                  <a:srgbClr val="DB7D00"/>
                </a:solidFill>
                <a:latin typeface="+mj-lt"/>
              </a:rPr>
              <a:t>3</a:t>
            </a:r>
          </a:p>
        </p:txBody>
      </p:sp>
      <p:sp>
        <p:nvSpPr>
          <p:cNvPr id="29" name="TextBox 28"/>
          <p:cNvSpPr txBox="1"/>
          <p:nvPr/>
        </p:nvSpPr>
        <p:spPr>
          <a:xfrm>
            <a:off x="15910559" y="5303520"/>
            <a:ext cx="740664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serious rules</a:t>
            </a:r>
          </a:p>
        </p:txBody>
      </p:sp>
      <p:sp>
        <p:nvSpPr>
          <p:cNvPr id="30" name="TextBox 29"/>
          <p:cNvSpPr txBox="1"/>
          <p:nvPr/>
        </p:nvSpPr>
        <p:spPr>
          <a:xfrm>
            <a:off x="15910559" y="5852159"/>
            <a:ext cx="740664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5E6A73"/>
                </a:solidFill>
              </a:rPr>
              <a:t>link-name · list/listitem · color-contrast</a:t>
            </a:r>
          </a:p>
        </p:txBody>
      </p:sp>
      <p:sp>
        <p:nvSpPr>
          <p:cNvPr id="31" name="Rounded Rectangle 30"/>
          <p:cNvSpPr/>
          <p:nvPr/>
        </p:nvSpPr>
        <p:spPr>
          <a:xfrm>
            <a:off x="12435840" y="6903720"/>
            <a:ext cx="11036808" cy="1600200"/>
          </a:xfrm>
          <a:prstGeom prst="roundRect">
            <a:avLst>
              <a:gd name="adj" fmla="val 12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2664440" y="7269480"/>
            <a:ext cx="868680" cy="86868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LuShieldCheck.png"/>
          <p:cNvPicPr>
            <a:picLocks noChangeAspect="1"/>
          </p:cNvPicPr>
          <p:nvPr/>
        </p:nvPicPr>
        <p:blipFill>
          <a:blip r:embed="rId5"/>
          <a:stretch>
            <a:fillRect/>
          </a:stretch>
        </p:blipFill>
        <p:spPr>
          <a:xfrm>
            <a:off x="12872923" y="7477963"/>
            <a:ext cx="451713" cy="451713"/>
          </a:xfrm>
          <a:prstGeom prst="rect">
            <a:avLst/>
          </a:prstGeom>
        </p:spPr>
      </p:pic>
      <p:sp>
        <p:nvSpPr>
          <p:cNvPr id="34" name="TextBox 33"/>
          <p:cNvSpPr txBox="1"/>
          <p:nvPr/>
        </p:nvSpPr>
        <p:spPr>
          <a:xfrm>
            <a:off x="13716000" y="6903720"/>
            <a:ext cx="2103120" cy="1600200"/>
          </a:xfrm>
          <a:prstGeom prst="rect">
            <a:avLst/>
          </a:prstGeom>
          <a:noFill/>
        </p:spPr>
        <p:txBody>
          <a:bodyPr wrap="square" lIns="0" rIns="0" tIns="18288" bIns="18288" anchor="ctr">
            <a:noAutofit/>
          </a:bodyPr>
          <a:lstStyle/>
          <a:p>
            <a:pPr algn="l">
              <a:lnSpc>
                <a:spcPct val="100000"/>
              </a:lnSpc>
              <a:spcBef>
                <a:spcPts val="0"/>
              </a:spcBef>
              <a:spcAft>
                <a:spcPts val="0"/>
              </a:spcAft>
            </a:pPr>
            <a:r>
              <a:rPr sz="5000" b="0" i="0">
                <a:solidFill>
                  <a:srgbClr val="00A859"/>
                </a:solidFill>
                <a:latin typeface="+mj-lt"/>
              </a:rPr>
              <a:t>0</a:t>
            </a:r>
          </a:p>
        </p:txBody>
      </p:sp>
      <p:sp>
        <p:nvSpPr>
          <p:cNvPr id="35" name="TextBox 34"/>
          <p:cNvSpPr txBox="1"/>
          <p:nvPr/>
        </p:nvSpPr>
        <p:spPr>
          <a:xfrm>
            <a:off x="15910559" y="7086600"/>
            <a:ext cx="740664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new criticals</a:t>
            </a:r>
          </a:p>
        </p:txBody>
      </p:sp>
      <p:sp>
        <p:nvSpPr>
          <p:cNvPr id="36" name="TextBox 35"/>
          <p:cNvSpPr txBox="1"/>
          <p:nvPr/>
        </p:nvSpPr>
        <p:spPr>
          <a:xfrm>
            <a:off x="15910559" y="7635240"/>
            <a:ext cx="740664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5E6A73"/>
                </a:solidFill>
              </a:rPr>
              <a:t>the a11y spec fails on any new critical</a:t>
            </a:r>
          </a:p>
        </p:txBody>
      </p:sp>
      <p:sp>
        <p:nvSpPr>
          <p:cNvPr id="37" name="Rounded Rectangle 36"/>
          <p:cNvSpPr/>
          <p:nvPr/>
        </p:nvSpPr>
        <p:spPr>
          <a:xfrm>
            <a:off x="12435840" y="8686800"/>
            <a:ext cx="11036808" cy="1600200"/>
          </a:xfrm>
          <a:prstGeom prst="roundRect">
            <a:avLst>
              <a:gd name="adj" fmla="val 12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2664440" y="9052560"/>
            <a:ext cx="868680" cy="86868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LuAccessibility.png"/>
          <p:cNvPicPr>
            <a:picLocks noChangeAspect="1"/>
          </p:cNvPicPr>
          <p:nvPr/>
        </p:nvPicPr>
        <p:blipFill>
          <a:blip r:embed="rId6"/>
          <a:stretch>
            <a:fillRect/>
          </a:stretch>
        </p:blipFill>
        <p:spPr>
          <a:xfrm>
            <a:off x="12872923" y="9261043"/>
            <a:ext cx="451713" cy="451713"/>
          </a:xfrm>
          <a:prstGeom prst="rect">
            <a:avLst/>
          </a:prstGeom>
        </p:spPr>
      </p:pic>
      <p:sp>
        <p:nvSpPr>
          <p:cNvPr id="40" name="TextBox 39"/>
          <p:cNvSpPr txBox="1"/>
          <p:nvPr/>
        </p:nvSpPr>
        <p:spPr>
          <a:xfrm>
            <a:off x="13716000" y="8686800"/>
            <a:ext cx="2103120" cy="1600200"/>
          </a:xfrm>
          <a:prstGeom prst="rect">
            <a:avLst/>
          </a:prstGeom>
          <a:noFill/>
        </p:spPr>
        <p:txBody>
          <a:bodyPr wrap="square" lIns="0" rIns="0" tIns="18288" bIns="18288" anchor="ctr">
            <a:noAutofit/>
          </a:bodyPr>
          <a:lstStyle/>
          <a:p>
            <a:pPr algn="l">
              <a:lnSpc>
                <a:spcPct val="100000"/>
              </a:lnSpc>
              <a:spcBef>
                <a:spcPts val="0"/>
              </a:spcBef>
              <a:spcAft>
                <a:spcPts val="0"/>
              </a:spcAft>
            </a:pPr>
            <a:r>
              <a:rPr sz="5000" b="0" i="0">
                <a:solidFill>
                  <a:srgbClr val="8683C3"/>
                </a:solidFill>
                <a:latin typeface="+mj-lt"/>
              </a:rPr>
              <a:t>57%</a:t>
            </a:r>
          </a:p>
        </p:txBody>
      </p:sp>
      <p:sp>
        <p:nvSpPr>
          <p:cNvPr id="41" name="TextBox 40"/>
          <p:cNvSpPr txBox="1"/>
          <p:nvPr/>
        </p:nvSpPr>
        <p:spPr>
          <a:xfrm>
            <a:off x="15910559" y="8869680"/>
            <a:ext cx="740664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found by axe</a:t>
            </a:r>
          </a:p>
        </p:txBody>
      </p:sp>
      <p:sp>
        <p:nvSpPr>
          <p:cNvPr id="42" name="TextBox 41"/>
          <p:cNvSpPr txBox="1"/>
          <p:nvPr/>
        </p:nvSpPr>
        <p:spPr>
          <a:xfrm>
            <a:off x="15910559" y="9418320"/>
            <a:ext cx="740664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5E6A73"/>
                </a:solidFill>
              </a:rPr>
              <a:t>of WCAG issues on average — the rest needs humans</a:t>
            </a:r>
          </a:p>
        </p:txBody>
      </p:sp>
      <p:sp>
        <p:nvSpPr>
          <p:cNvPr id="43" name="Rounded Rectangle 42"/>
          <p:cNvSpPr/>
          <p:nvPr/>
        </p:nvSpPr>
        <p:spPr>
          <a:xfrm>
            <a:off x="612648" y="10789920"/>
            <a:ext cx="22860000" cy="960120"/>
          </a:xfrm>
          <a:prstGeom prst="roundRect">
            <a:avLst>
              <a:gd name="adj" fmla="val 1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886968" y="10927080"/>
            <a:ext cx="685800" cy="6858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LuLaugh.png"/>
          <p:cNvPicPr>
            <a:picLocks noChangeAspect="1"/>
          </p:cNvPicPr>
          <p:nvPr/>
        </p:nvPicPr>
        <p:blipFill>
          <a:blip r:embed="rId7"/>
          <a:stretch>
            <a:fillRect/>
          </a:stretch>
        </p:blipFill>
        <p:spPr>
          <a:xfrm>
            <a:off x="1051560" y="11091672"/>
            <a:ext cx="356616" cy="356616"/>
          </a:xfrm>
          <a:prstGeom prst="rect">
            <a:avLst/>
          </a:prstGeom>
        </p:spPr>
      </p:pic>
      <p:sp>
        <p:nvSpPr>
          <p:cNvPr id="46" name="TextBox 45"/>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We sent the app a 500. It reacted like a cat knocking a glass off the table: “nothing happened here.”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automation suite</a:t>
            </a:r>
          </a:p>
        </p:txBody>
      </p:sp>
      <p:sp>
        <p:nvSpPr>
          <p:cNvPr id="3" name="Text Placeholder 2"/>
          <p:cNvSpPr>
            <a:spLocks noGrp="1"/>
          </p:cNvSpPr>
          <p:nvPr>
            <p:ph type="body" idx="21" sz="quarter"/>
          </p:nvPr>
        </p:nvSpPr>
        <p:spPr/>
        <p:txBody>
          <a:bodyPr/>
          <a:lstStyle/>
          <a:p>
            <a:r>
              <a:t>03</a:t>
            </a:r>
          </a:p>
        </p:txBody>
      </p:sp>
      <p:sp>
        <p:nvSpPr>
          <p:cNvPr id="4" name="Text Placeholder 3"/>
          <p:cNvSpPr>
            <a:spLocks noGrp="1"/>
          </p:cNvSpPr>
          <p:nvPr>
            <p:ph type="body" idx="22" sz="quarter"/>
          </p:nvPr>
        </p:nvSpPr>
        <p:spPr/>
        <p:txBody>
          <a:bodyPr/>
          <a:lstStyle/>
          <a:p>
            <a:r>
              <a:t>Playwright + TypeScript, written as functions — not classes</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22</a:t>
            </a:r>
          </a:p>
        </p:txBody>
      </p:sp>
      <p:sp>
        <p:nvSpPr>
          <p:cNvPr id="6" name="Rounded Rectangle 5"/>
          <p:cNvSpPr/>
          <p:nvPr/>
        </p:nvSpPr>
        <p:spPr>
          <a:xfrm>
            <a:off x="5303520" y="7086600"/>
            <a:ext cx="17007840" cy="1143000"/>
          </a:xfrm>
          <a:prstGeom prst="roundRect">
            <a:avLst>
              <a:gd name="adj" fmla="val 20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532120" y="7287768"/>
            <a:ext cx="731520" cy="73152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Laugh.png"/>
          <p:cNvPicPr>
            <a:picLocks noChangeAspect="1"/>
          </p:cNvPicPr>
          <p:nvPr/>
        </p:nvPicPr>
        <p:blipFill>
          <a:blip r:embed="rId3"/>
          <a:stretch>
            <a:fillRect/>
          </a:stretch>
        </p:blipFill>
        <p:spPr>
          <a:xfrm>
            <a:off x="5707684" y="7463332"/>
            <a:ext cx="380390" cy="380390"/>
          </a:xfrm>
          <a:prstGeom prst="rect">
            <a:avLst/>
          </a:prstGeom>
        </p:spPr>
      </p:pic>
      <p:sp>
        <p:nvSpPr>
          <p:cNvPr id="9" name="TextBox 8"/>
          <p:cNvSpPr txBox="1"/>
          <p:nvPr/>
        </p:nvSpPr>
        <p:spPr>
          <a:xfrm>
            <a:off x="6492240" y="7086600"/>
            <a:ext cx="15636240" cy="114300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0" i="1">
                <a:solidFill>
                  <a:srgbClr val="192B37"/>
                </a:solidFill>
              </a:rPr>
              <a:t>Functional programming: no classes were instantiated in the making of this framework.</a:t>
            </a:r>
          </a:p>
        </p:txBody>
      </p:sp>
      <p:sp>
        <p:nvSpPr>
          <p:cNvPr id="10" name="TextBox 9"/>
          <p:cNvSpPr txBox="1"/>
          <p:nvPr/>
        </p:nvSpPr>
        <p:spPr>
          <a:xfrm>
            <a:off x="5303520" y="8915400"/>
            <a:ext cx="91440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8683C3"/>
                </a:solidFill>
              </a:rPr>
              <a:t>IN THIS CHAPTER</a:t>
            </a:r>
          </a:p>
        </p:txBody>
      </p:sp>
      <p:sp>
        <p:nvSpPr>
          <p:cNvPr id="11" name="Rounded Rectangle 10"/>
          <p:cNvSpPr/>
          <p:nvPr/>
        </p:nvSpPr>
        <p:spPr>
          <a:xfrm>
            <a:off x="5303520" y="9464040"/>
            <a:ext cx="2359152" cy="640080"/>
          </a:xfrm>
          <a:prstGeom prst="roundRect">
            <a:avLst>
              <a:gd name="adj" fmla="val 50000"/>
            </a:avLst>
          </a:prstGeom>
          <a:solidFill>
            <a:srgbClr val="FFFFFF"/>
          </a:solidFill>
          <a:ln w="127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94959" y="9464040"/>
            <a:ext cx="2176272"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Architecture</a:t>
            </a:r>
          </a:p>
        </p:txBody>
      </p:sp>
      <p:sp>
        <p:nvSpPr>
          <p:cNvPr id="13" name="Rounded Rectangle 12"/>
          <p:cNvSpPr/>
          <p:nvPr/>
        </p:nvSpPr>
        <p:spPr>
          <a:xfrm>
            <a:off x="7936992" y="9464040"/>
            <a:ext cx="1604772" cy="640080"/>
          </a:xfrm>
          <a:prstGeom prst="roundRect">
            <a:avLst>
              <a:gd name="adj" fmla="val 50000"/>
            </a:avLst>
          </a:prstGeom>
          <a:solidFill>
            <a:srgbClr val="FFFFFF"/>
          </a:solidFill>
          <a:ln w="127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28431" y="9464040"/>
            <a:ext cx="1421892"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Folders</a:t>
            </a:r>
          </a:p>
        </p:txBody>
      </p:sp>
      <p:sp>
        <p:nvSpPr>
          <p:cNvPr id="15" name="Rounded Rectangle 14"/>
          <p:cNvSpPr/>
          <p:nvPr/>
        </p:nvSpPr>
        <p:spPr>
          <a:xfrm>
            <a:off x="9816084" y="9464040"/>
            <a:ext cx="1906524" cy="640080"/>
          </a:xfrm>
          <a:prstGeom prst="roundRect">
            <a:avLst>
              <a:gd name="adj" fmla="val 50000"/>
            </a:avLst>
          </a:prstGeom>
          <a:solidFill>
            <a:srgbClr val="FFFFFF"/>
          </a:solidFill>
          <a:ln w="127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907524" y="9464040"/>
            <a:ext cx="1723644"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FP vs OOP</a:t>
            </a:r>
          </a:p>
        </p:txBody>
      </p:sp>
      <p:sp>
        <p:nvSpPr>
          <p:cNvPr id="17" name="Rounded Rectangle 16"/>
          <p:cNvSpPr/>
          <p:nvPr/>
        </p:nvSpPr>
        <p:spPr>
          <a:xfrm>
            <a:off x="11996928" y="9464040"/>
            <a:ext cx="1755648" cy="640080"/>
          </a:xfrm>
          <a:prstGeom prst="roundRect">
            <a:avLst>
              <a:gd name="adj" fmla="val 50000"/>
            </a:avLst>
          </a:prstGeom>
          <a:solidFill>
            <a:srgbClr val="FFFFFF"/>
          </a:solidFill>
          <a:ln w="127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088367" y="9464040"/>
            <a:ext cx="1572768"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Concepts</a:t>
            </a:r>
          </a:p>
        </p:txBody>
      </p:sp>
      <p:sp>
        <p:nvSpPr>
          <p:cNvPr id="19" name="Rounded Rectangle 18"/>
          <p:cNvSpPr/>
          <p:nvPr/>
        </p:nvSpPr>
        <p:spPr>
          <a:xfrm>
            <a:off x="14026896" y="9464040"/>
            <a:ext cx="1604772" cy="640080"/>
          </a:xfrm>
          <a:prstGeom prst="roundRect">
            <a:avLst>
              <a:gd name="adj" fmla="val 50000"/>
            </a:avLst>
          </a:prstGeom>
          <a:solidFill>
            <a:srgbClr val="FFFFFF"/>
          </a:solidFill>
          <a:ln w="127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4118336" y="9464040"/>
            <a:ext cx="1421892"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Asserts</a:t>
            </a:r>
          </a:p>
        </p:txBody>
      </p:sp>
      <p:sp>
        <p:nvSpPr>
          <p:cNvPr id="21" name="Rounded Rectangle 20"/>
          <p:cNvSpPr/>
          <p:nvPr/>
        </p:nvSpPr>
        <p:spPr>
          <a:xfrm>
            <a:off x="15905988" y="9464040"/>
            <a:ext cx="1906524" cy="640080"/>
          </a:xfrm>
          <a:prstGeom prst="roundRect">
            <a:avLst>
              <a:gd name="adj" fmla="val 50000"/>
            </a:avLst>
          </a:prstGeom>
          <a:solidFill>
            <a:srgbClr val="FFFFFF"/>
          </a:solidFill>
          <a:ln w="127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5997428" y="9464040"/>
            <a:ext cx="1723644"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Test data</a:t>
            </a:r>
          </a:p>
        </p:txBody>
      </p:sp>
      <p:sp>
        <p:nvSpPr>
          <p:cNvPr id="23" name="Rounded Rectangle 22"/>
          <p:cNvSpPr/>
          <p:nvPr/>
        </p:nvSpPr>
        <p:spPr>
          <a:xfrm>
            <a:off x="18086832" y="9464040"/>
            <a:ext cx="1303020" cy="640080"/>
          </a:xfrm>
          <a:prstGeom prst="roundRect">
            <a:avLst>
              <a:gd name="adj" fmla="val 50000"/>
            </a:avLst>
          </a:prstGeom>
          <a:solidFill>
            <a:srgbClr val="FFFFFF"/>
          </a:solidFill>
          <a:ln w="127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8178272" y="9464040"/>
            <a:ext cx="1120140"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Specs</a:t>
            </a:r>
          </a:p>
        </p:txBody>
      </p:sp>
      <p:sp>
        <p:nvSpPr>
          <p:cNvPr id="25" name="Rounded Rectangle 24"/>
          <p:cNvSpPr/>
          <p:nvPr/>
        </p:nvSpPr>
        <p:spPr>
          <a:xfrm>
            <a:off x="5303520" y="10287000"/>
            <a:ext cx="1906524" cy="640080"/>
          </a:xfrm>
          <a:prstGeom prst="roundRect">
            <a:avLst>
              <a:gd name="adj" fmla="val 50000"/>
            </a:avLst>
          </a:prstGeom>
          <a:solidFill>
            <a:srgbClr val="FFFFFF"/>
          </a:solidFill>
          <a:ln w="127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394959" y="10287000"/>
            <a:ext cx="1723644"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Debugging</a:t>
            </a:r>
          </a:p>
        </p:txBody>
      </p:sp>
      <p:sp>
        <p:nvSpPr>
          <p:cNvPr id="27" name="Rounded Rectangle 26"/>
          <p:cNvSpPr/>
          <p:nvPr/>
        </p:nvSpPr>
        <p:spPr>
          <a:xfrm>
            <a:off x="7484363" y="10287000"/>
            <a:ext cx="1906524" cy="640080"/>
          </a:xfrm>
          <a:prstGeom prst="roundRect">
            <a:avLst>
              <a:gd name="adj" fmla="val 50000"/>
            </a:avLst>
          </a:prstGeom>
          <a:solidFill>
            <a:srgbClr val="FFFFFF"/>
          </a:solidFill>
          <a:ln w="127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575803" y="10287000"/>
            <a:ext cx="1723644"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Reporting</a:t>
            </a:r>
          </a:p>
        </p:txBody>
      </p:sp>
      <p:sp>
        <p:nvSpPr>
          <p:cNvPr id="29" name="Oval 28"/>
          <p:cNvSpPr/>
          <p:nvPr/>
        </p:nvSpPr>
        <p:spPr>
          <a:xfrm>
            <a:off x="20162520" y="8915400"/>
            <a:ext cx="731520" cy="73152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1122640" y="8915400"/>
            <a:ext cx="731520" cy="731520"/>
          </a:xfrm>
          <a:prstGeom prst="ellipse">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2082760" y="8915400"/>
            <a:ext cx="731520" cy="73152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0162520" y="9875520"/>
            <a:ext cx="731520" cy="731520"/>
          </a:xfrm>
          <a:prstGeom prst="ellipse">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1122640" y="9875520"/>
            <a:ext cx="731520" cy="73152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2082760" y="9875520"/>
            <a:ext cx="731520" cy="731520"/>
          </a:xfrm>
          <a:prstGeom prst="ellipse">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Automation</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8683C3"/>
                </a:solidFill>
              </a:rPr>
              <a:t>AUTOMATION SUITE · ARCHITECTURE</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Five layers, each one only talks down</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23</a:t>
            </a:r>
          </a:p>
        </p:txBody>
      </p:sp>
      <p:sp>
        <p:nvSpPr>
          <p:cNvPr id="6" name="Rounded Rectangle 5"/>
          <p:cNvSpPr/>
          <p:nvPr/>
        </p:nvSpPr>
        <p:spPr>
          <a:xfrm>
            <a:off x="612648" y="2926080"/>
            <a:ext cx="20665440" cy="1325880"/>
          </a:xfrm>
          <a:prstGeom prst="roundRect">
            <a:avLst>
              <a:gd name="adj" fmla="val 20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68680" y="3154680"/>
            <a:ext cx="868680" cy="86868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ListChecks.png"/>
          <p:cNvPicPr>
            <a:picLocks noChangeAspect="1"/>
          </p:cNvPicPr>
          <p:nvPr/>
        </p:nvPicPr>
        <p:blipFill>
          <a:blip r:embed="rId3"/>
          <a:stretch>
            <a:fillRect/>
          </a:stretch>
        </p:blipFill>
        <p:spPr>
          <a:xfrm>
            <a:off x="1077163" y="3363163"/>
            <a:ext cx="451713" cy="451713"/>
          </a:xfrm>
          <a:prstGeom prst="rect">
            <a:avLst/>
          </a:prstGeom>
        </p:spPr>
      </p:pic>
      <p:sp>
        <p:nvSpPr>
          <p:cNvPr id="9" name="TextBox 8"/>
          <p:cNvSpPr txBox="1"/>
          <p:nvPr/>
        </p:nvSpPr>
        <p:spPr>
          <a:xfrm>
            <a:off x="1965960" y="3035808"/>
            <a:ext cx="329184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2400" b="1" i="0">
                <a:solidFill>
                  <a:srgbClr val="192B37"/>
                </a:solidFill>
              </a:rPr>
              <a:t>Specs</a:t>
            </a:r>
          </a:p>
        </p:txBody>
      </p:sp>
      <p:sp>
        <p:nvSpPr>
          <p:cNvPr id="10" name="TextBox 9"/>
          <p:cNvSpPr txBox="1"/>
          <p:nvPr/>
        </p:nvSpPr>
        <p:spPr>
          <a:xfrm>
            <a:off x="1965960" y="3611880"/>
            <a:ext cx="329184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500" b="0" i="0">
                <a:solidFill>
                  <a:srgbClr val="5E6A73"/>
                </a:solidFill>
              </a:rPr>
              <a:t>what we check</a:t>
            </a:r>
          </a:p>
        </p:txBody>
      </p:sp>
      <p:sp>
        <p:nvSpPr>
          <p:cNvPr id="11" name="Rounded Rectangle 10"/>
          <p:cNvSpPr/>
          <p:nvPr/>
        </p:nvSpPr>
        <p:spPr>
          <a:xfrm>
            <a:off x="5486400" y="3255264"/>
            <a:ext cx="3108960" cy="667512"/>
          </a:xfrm>
          <a:prstGeom prst="roundRect">
            <a:avLst>
              <a:gd name="adj" fmla="val 50000"/>
            </a:avLst>
          </a:prstGeom>
          <a:solidFill>
            <a:srgbClr val="FFFFFF"/>
          </a:solidFill>
          <a:ln w="127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577840" y="3255264"/>
            <a:ext cx="2926080" cy="667512"/>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tests/api · 6 specs</a:t>
            </a:r>
          </a:p>
        </p:txBody>
      </p:sp>
      <p:sp>
        <p:nvSpPr>
          <p:cNvPr id="13" name="Rounded Rectangle 12"/>
          <p:cNvSpPr/>
          <p:nvPr/>
        </p:nvSpPr>
        <p:spPr>
          <a:xfrm>
            <a:off x="8823960" y="3255264"/>
            <a:ext cx="2971800" cy="667512"/>
          </a:xfrm>
          <a:prstGeom prst="roundRect">
            <a:avLst>
              <a:gd name="adj" fmla="val 50000"/>
            </a:avLst>
          </a:prstGeom>
          <a:solidFill>
            <a:srgbClr val="FFFFFF"/>
          </a:solidFill>
          <a:ln w="127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915400" y="3255264"/>
            <a:ext cx="2788920" cy="667512"/>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tests/ui · 9 specs</a:t>
            </a:r>
          </a:p>
        </p:txBody>
      </p:sp>
      <p:sp>
        <p:nvSpPr>
          <p:cNvPr id="15" name="Rounded Rectangle 14"/>
          <p:cNvSpPr/>
          <p:nvPr/>
        </p:nvSpPr>
        <p:spPr>
          <a:xfrm>
            <a:off x="12024360" y="3255264"/>
            <a:ext cx="3383280" cy="667512"/>
          </a:xfrm>
          <a:prstGeom prst="roundRect">
            <a:avLst>
              <a:gd name="adj" fmla="val 50000"/>
            </a:avLst>
          </a:prstGeom>
          <a:solidFill>
            <a:srgbClr val="FFFFFF"/>
          </a:solidFill>
          <a:ln w="127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115800" y="3255264"/>
            <a:ext cx="3200400" cy="667512"/>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tests/e2e · 1 journey</a:t>
            </a:r>
          </a:p>
        </p:txBody>
      </p:sp>
      <p:sp>
        <p:nvSpPr>
          <p:cNvPr id="17" name="Rounded Rectangle 16"/>
          <p:cNvSpPr/>
          <p:nvPr/>
        </p:nvSpPr>
        <p:spPr>
          <a:xfrm>
            <a:off x="612648" y="4425696"/>
            <a:ext cx="20665440" cy="1325880"/>
          </a:xfrm>
          <a:prstGeom prst="roundRect">
            <a:avLst>
              <a:gd name="adj" fmla="val 20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68680" y="4654296"/>
            <a:ext cx="868680" cy="86868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uPackage.png"/>
          <p:cNvPicPr>
            <a:picLocks noChangeAspect="1"/>
          </p:cNvPicPr>
          <p:nvPr/>
        </p:nvPicPr>
        <p:blipFill>
          <a:blip r:embed="rId4"/>
          <a:stretch>
            <a:fillRect/>
          </a:stretch>
        </p:blipFill>
        <p:spPr>
          <a:xfrm>
            <a:off x="1077163" y="4862779"/>
            <a:ext cx="451713" cy="451713"/>
          </a:xfrm>
          <a:prstGeom prst="rect">
            <a:avLst/>
          </a:prstGeom>
        </p:spPr>
      </p:pic>
      <p:sp>
        <p:nvSpPr>
          <p:cNvPr id="20" name="TextBox 19"/>
          <p:cNvSpPr txBox="1"/>
          <p:nvPr/>
        </p:nvSpPr>
        <p:spPr>
          <a:xfrm>
            <a:off x="1965960" y="4535424"/>
            <a:ext cx="329184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2400" b="1" i="0">
                <a:solidFill>
                  <a:srgbClr val="192B37"/>
                </a:solidFill>
              </a:rPr>
              <a:t>Fixtures</a:t>
            </a:r>
          </a:p>
        </p:txBody>
      </p:sp>
      <p:sp>
        <p:nvSpPr>
          <p:cNvPr id="21" name="TextBox 20"/>
          <p:cNvSpPr txBox="1"/>
          <p:nvPr/>
        </p:nvSpPr>
        <p:spPr>
          <a:xfrm>
            <a:off x="1965960" y="5111496"/>
            <a:ext cx="329184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500" b="0" i="0">
                <a:solidFill>
                  <a:srgbClr val="5E6A73"/>
                </a:solidFill>
              </a:rPr>
              <a:t>what a test receives</a:t>
            </a:r>
          </a:p>
        </p:txBody>
      </p:sp>
      <p:sp>
        <p:nvSpPr>
          <p:cNvPr id="22" name="Rounded Rectangle 21"/>
          <p:cNvSpPr/>
          <p:nvPr/>
        </p:nvSpPr>
        <p:spPr>
          <a:xfrm>
            <a:off x="5486400" y="4754880"/>
            <a:ext cx="914400" cy="667512"/>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577840" y="4754880"/>
            <a:ext cx="731520" cy="667512"/>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api</a:t>
            </a:r>
          </a:p>
        </p:txBody>
      </p:sp>
      <p:sp>
        <p:nvSpPr>
          <p:cNvPr id="24" name="Rounded Rectangle 23"/>
          <p:cNvSpPr/>
          <p:nvPr/>
        </p:nvSpPr>
        <p:spPr>
          <a:xfrm>
            <a:off x="6629400" y="4754880"/>
            <a:ext cx="2011680" cy="667512"/>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720840" y="4754880"/>
            <a:ext cx="1828800" cy="667512"/>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seed (auto)</a:t>
            </a:r>
          </a:p>
        </p:txBody>
      </p:sp>
      <p:sp>
        <p:nvSpPr>
          <p:cNvPr id="26" name="Rounded Rectangle 25"/>
          <p:cNvSpPr/>
          <p:nvPr/>
        </p:nvSpPr>
        <p:spPr>
          <a:xfrm>
            <a:off x="8869680" y="4754880"/>
            <a:ext cx="777240" cy="667512"/>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961119" y="4754880"/>
            <a:ext cx="594360" cy="667512"/>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db</a:t>
            </a:r>
          </a:p>
        </p:txBody>
      </p:sp>
      <p:sp>
        <p:nvSpPr>
          <p:cNvPr id="28" name="Rounded Rectangle 27"/>
          <p:cNvSpPr/>
          <p:nvPr/>
        </p:nvSpPr>
        <p:spPr>
          <a:xfrm>
            <a:off x="9875519" y="4754880"/>
            <a:ext cx="1051560" cy="667512"/>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966959" y="4754880"/>
            <a:ext cx="868680" cy="667512"/>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page</a:t>
            </a:r>
          </a:p>
        </p:txBody>
      </p:sp>
      <p:sp>
        <p:nvSpPr>
          <p:cNvPr id="30" name="Rounded Rectangle 29"/>
          <p:cNvSpPr/>
          <p:nvPr/>
        </p:nvSpPr>
        <p:spPr>
          <a:xfrm>
            <a:off x="11155680" y="4754880"/>
            <a:ext cx="2697480" cy="667512"/>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247119" y="4754880"/>
            <a:ext cx="2514600" cy="667512"/>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users · me · ctx</a:t>
            </a:r>
          </a:p>
        </p:txBody>
      </p:sp>
      <p:sp>
        <p:nvSpPr>
          <p:cNvPr id="32" name="Rounded Rectangle 31"/>
          <p:cNvSpPr/>
          <p:nvPr/>
        </p:nvSpPr>
        <p:spPr>
          <a:xfrm>
            <a:off x="612648" y="5925312"/>
            <a:ext cx="20665440" cy="1325880"/>
          </a:xfrm>
          <a:prstGeom prst="roundRect">
            <a:avLst>
              <a:gd name="adj" fmla="val 20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68680" y="6153912"/>
            <a:ext cx="868680" cy="86868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LuWrench.png"/>
          <p:cNvPicPr>
            <a:picLocks noChangeAspect="1"/>
          </p:cNvPicPr>
          <p:nvPr/>
        </p:nvPicPr>
        <p:blipFill>
          <a:blip r:embed="rId5"/>
          <a:stretch>
            <a:fillRect/>
          </a:stretch>
        </p:blipFill>
        <p:spPr>
          <a:xfrm>
            <a:off x="1077163" y="6362395"/>
            <a:ext cx="451713" cy="451713"/>
          </a:xfrm>
          <a:prstGeom prst="rect">
            <a:avLst/>
          </a:prstGeom>
        </p:spPr>
      </p:pic>
      <p:sp>
        <p:nvSpPr>
          <p:cNvPr id="35" name="TextBox 34"/>
          <p:cNvSpPr txBox="1"/>
          <p:nvPr/>
        </p:nvSpPr>
        <p:spPr>
          <a:xfrm>
            <a:off x="1965960" y="6035040"/>
            <a:ext cx="329184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2400" b="1" i="0">
                <a:solidFill>
                  <a:srgbClr val="192B37"/>
                </a:solidFill>
              </a:rPr>
              <a:t>Helpers</a:t>
            </a:r>
          </a:p>
        </p:txBody>
      </p:sp>
      <p:sp>
        <p:nvSpPr>
          <p:cNvPr id="36" name="TextBox 35"/>
          <p:cNvSpPr txBox="1"/>
          <p:nvPr/>
        </p:nvSpPr>
        <p:spPr>
          <a:xfrm>
            <a:off x="1965960" y="6611112"/>
            <a:ext cx="329184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500" b="0" i="0">
                <a:solidFill>
                  <a:srgbClr val="5E6A73"/>
                </a:solidFill>
              </a:rPr>
              <a:t>how we talk to the app</a:t>
            </a:r>
          </a:p>
        </p:txBody>
      </p:sp>
      <p:sp>
        <p:nvSpPr>
          <p:cNvPr id="37" name="Rounded Rectangle 36"/>
          <p:cNvSpPr/>
          <p:nvPr/>
        </p:nvSpPr>
        <p:spPr>
          <a:xfrm>
            <a:off x="5486400" y="6254496"/>
            <a:ext cx="5989320" cy="667512"/>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577840" y="6254496"/>
            <a:ext cx="5806440" cy="667512"/>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src/api/* — users, transactions, social…</a:t>
            </a:r>
          </a:p>
        </p:txBody>
      </p:sp>
      <p:sp>
        <p:nvSpPr>
          <p:cNvPr id="39" name="Rounded Rectangle 38"/>
          <p:cNvSpPr/>
          <p:nvPr/>
        </p:nvSpPr>
        <p:spPr>
          <a:xfrm>
            <a:off x="11704320" y="6254496"/>
            <a:ext cx="6263640" cy="667512"/>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1795760" y="6254496"/>
            <a:ext cx="6080759" cy="667512"/>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src/ui/* — auth, network, navigation, a11y</a:t>
            </a:r>
          </a:p>
        </p:txBody>
      </p:sp>
      <p:sp>
        <p:nvSpPr>
          <p:cNvPr id="41" name="Rounded Rectangle 40"/>
          <p:cNvSpPr/>
          <p:nvPr/>
        </p:nvSpPr>
        <p:spPr>
          <a:xfrm>
            <a:off x="612648" y="7424928"/>
            <a:ext cx="20665440" cy="1325880"/>
          </a:xfrm>
          <a:prstGeom prst="roundRect">
            <a:avLst>
              <a:gd name="adj" fmla="val 20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868680" y="7653528"/>
            <a:ext cx="868680" cy="86868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LuBlocks.png"/>
          <p:cNvPicPr>
            <a:picLocks noChangeAspect="1"/>
          </p:cNvPicPr>
          <p:nvPr/>
        </p:nvPicPr>
        <p:blipFill>
          <a:blip r:embed="rId6"/>
          <a:stretch>
            <a:fillRect/>
          </a:stretch>
        </p:blipFill>
        <p:spPr>
          <a:xfrm>
            <a:off x="1077163" y="7862011"/>
            <a:ext cx="451713" cy="451713"/>
          </a:xfrm>
          <a:prstGeom prst="rect">
            <a:avLst/>
          </a:prstGeom>
        </p:spPr>
      </p:pic>
      <p:sp>
        <p:nvSpPr>
          <p:cNvPr id="44" name="TextBox 43"/>
          <p:cNvSpPr txBox="1"/>
          <p:nvPr/>
        </p:nvSpPr>
        <p:spPr>
          <a:xfrm>
            <a:off x="1965960" y="7534656"/>
            <a:ext cx="329184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2400" b="1" i="0">
                <a:solidFill>
                  <a:srgbClr val="192B37"/>
                </a:solidFill>
              </a:rPr>
              <a:t>Core</a:t>
            </a:r>
          </a:p>
        </p:txBody>
      </p:sp>
      <p:sp>
        <p:nvSpPr>
          <p:cNvPr id="45" name="TextBox 44"/>
          <p:cNvSpPr txBox="1"/>
          <p:nvPr/>
        </p:nvSpPr>
        <p:spPr>
          <a:xfrm>
            <a:off x="1965960" y="8110728"/>
            <a:ext cx="329184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500" b="0" i="0">
                <a:solidFill>
                  <a:srgbClr val="5E6A73"/>
                </a:solidFill>
              </a:rPr>
              <a:t>pure building blocks</a:t>
            </a:r>
          </a:p>
        </p:txBody>
      </p:sp>
      <p:sp>
        <p:nvSpPr>
          <p:cNvPr id="46" name="Rounded Rectangle 45"/>
          <p:cNvSpPr/>
          <p:nvPr/>
        </p:nvSpPr>
        <p:spPr>
          <a:xfrm>
            <a:off x="5486400" y="7754112"/>
            <a:ext cx="1463040" cy="667512"/>
          </a:xfrm>
          <a:prstGeom prst="roundRect">
            <a:avLst>
              <a:gd name="adj" fmla="val 50000"/>
            </a:avLst>
          </a:prstGeom>
          <a:solidFill>
            <a:srgbClr val="FFFFFF"/>
          </a:solidFill>
          <a:ln w="1270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577840" y="7754112"/>
            <a:ext cx="1280160" cy="667512"/>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http.ts</a:t>
            </a:r>
          </a:p>
        </p:txBody>
      </p:sp>
      <p:sp>
        <p:nvSpPr>
          <p:cNvPr id="48" name="Rounded Rectangle 47"/>
          <p:cNvSpPr/>
          <p:nvPr/>
        </p:nvSpPr>
        <p:spPr>
          <a:xfrm>
            <a:off x="7178040" y="7754112"/>
            <a:ext cx="2011680" cy="667512"/>
          </a:xfrm>
          <a:prstGeom prst="roundRect">
            <a:avLst>
              <a:gd name="adj" fmla="val 50000"/>
            </a:avLst>
          </a:prstGeom>
          <a:solidFill>
            <a:srgbClr val="FFFFFF"/>
          </a:solidFill>
          <a:ln w="1270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7269479" y="7754112"/>
            <a:ext cx="1828800" cy="667512"/>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contract.ts</a:t>
            </a:r>
          </a:p>
        </p:txBody>
      </p:sp>
      <p:sp>
        <p:nvSpPr>
          <p:cNvPr id="50" name="Rounded Rectangle 49"/>
          <p:cNvSpPr/>
          <p:nvPr/>
        </p:nvSpPr>
        <p:spPr>
          <a:xfrm>
            <a:off x="9418320" y="7754112"/>
            <a:ext cx="1188720" cy="667512"/>
          </a:xfrm>
          <a:prstGeom prst="roundRect">
            <a:avLst>
              <a:gd name="adj" fmla="val 50000"/>
            </a:avLst>
          </a:prstGeom>
          <a:solidFill>
            <a:srgbClr val="FFFFFF"/>
          </a:solidFill>
          <a:ln w="1270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509760" y="7754112"/>
            <a:ext cx="1005840" cy="667512"/>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fp.ts</a:t>
            </a:r>
          </a:p>
        </p:txBody>
      </p:sp>
      <p:sp>
        <p:nvSpPr>
          <p:cNvPr id="52" name="Rounded Rectangle 51"/>
          <p:cNvSpPr/>
          <p:nvPr/>
        </p:nvSpPr>
        <p:spPr>
          <a:xfrm>
            <a:off x="10835640" y="7754112"/>
            <a:ext cx="1600200" cy="667512"/>
          </a:xfrm>
          <a:prstGeom prst="roundRect">
            <a:avLst>
              <a:gd name="adj" fmla="val 50000"/>
            </a:avLst>
          </a:prstGeom>
          <a:solidFill>
            <a:srgbClr val="FFFFFF"/>
          </a:solidFill>
          <a:ln w="1270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10927080" y="7754112"/>
            <a:ext cx="1417320" cy="667512"/>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money.ts</a:t>
            </a:r>
          </a:p>
        </p:txBody>
      </p:sp>
      <p:sp>
        <p:nvSpPr>
          <p:cNvPr id="54" name="Rounded Rectangle 53"/>
          <p:cNvSpPr/>
          <p:nvPr/>
        </p:nvSpPr>
        <p:spPr>
          <a:xfrm>
            <a:off x="12664440" y="7754112"/>
            <a:ext cx="1325880" cy="667512"/>
          </a:xfrm>
          <a:prstGeom prst="roundRect">
            <a:avLst>
              <a:gd name="adj" fmla="val 50000"/>
            </a:avLst>
          </a:prstGeom>
          <a:solidFill>
            <a:srgbClr val="FFFFFF"/>
          </a:solidFill>
          <a:ln w="1270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12755880" y="7754112"/>
            <a:ext cx="1143000" cy="667512"/>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mocks/</a:t>
            </a:r>
          </a:p>
        </p:txBody>
      </p:sp>
      <p:sp>
        <p:nvSpPr>
          <p:cNvPr id="56" name="Rounded Rectangle 55"/>
          <p:cNvSpPr/>
          <p:nvPr/>
        </p:nvSpPr>
        <p:spPr>
          <a:xfrm>
            <a:off x="612648" y="8924544"/>
            <a:ext cx="20665440" cy="1325880"/>
          </a:xfrm>
          <a:prstGeom prst="roundRect">
            <a:avLst>
              <a:gd name="adj" fmla="val 20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868680" y="9153144"/>
            <a:ext cx="868680" cy="86868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Picture 57" descr="LuSettings.png"/>
          <p:cNvPicPr>
            <a:picLocks noChangeAspect="1"/>
          </p:cNvPicPr>
          <p:nvPr/>
        </p:nvPicPr>
        <p:blipFill>
          <a:blip r:embed="rId7"/>
          <a:stretch>
            <a:fillRect/>
          </a:stretch>
        </p:blipFill>
        <p:spPr>
          <a:xfrm>
            <a:off x="1077163" y="9361627"/>
            <a:ext cx="451713" cy="451713"/>
          </a:xfrm>
          <a:prstGeom prst="rect">
            <a:avLst/>
          </a:prstGeom>
        </p:spPr>
      </p:pic>
      <p:sp>
        <p:nvSpPr>
          <p:cNvPr id="59" name="TextBox 58"/>
          <p:cNvSpPr txBox="1"/>
          <p:nvPr/>
        </p:nvSpPr>
        <p:spPr>
          <a:xfrm>
            <a:off x="1965960" y="9034272"/>
            <a:ext cx="329184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2400" b="1" i="0">
                <a:solidFill>
                  <a:srgbClr val="192B37"/>
                </a:solidFill>
              </a:rPr>
              <a:t>Runner</a:t>
            </a:r>
          </a:p>
        </p:txBody>
      </p:sp>
      <p:sp>
        <p:nvSpPr>
          <p:cNvPr id="60" name="TextBox 59"/>
          <p:cNvSpPr txBox="1"/>
          <p:nvPr/>
        </p:nvSpPr>
        <p:spPr>
          <a:xfrm>
            <a:off x="1965960" y="9610344"/>
            <a:ext cx="329184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500" b="0" i="0">
                <a:solidFill>
                  <a:srgbClr val="5E6A73"/>
                </a:solidFill>
              </a:rPr>
              <a:t>playwright.config.ts</a:t>
            </a:r>
          </a:p>
        </p:txBody>
      </p:sp>
      <p:sp>
        <p:nvSpPr>
          <p:cNvPr id="61" name="Rounded Rectangle 60"/>
          <p:cNvSpPr/>
          <p:nvPr/>
        </p:nvSpPr>
        <p:spPr>
          <a:xfrm>
            <a:off x="5486400" y="9253728"/>
            <a:ext cx="1874519" cy="667512"/>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5577840" y="9253728"/>
            <a:ext cx="1691639" cy="667512"/>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4 projects</a:t>
            </a:r>
          </a:p>
        </p:txBody>
      </p:sp>
      <p:sp>
        <p:nvSpPr>
          <p:cNvPr id="63" name="Rounded Rectangle 62"/>
          <p:cNvSpPr/>
          <p:nvPr/>
        </p:nvSpPr>
        <p:spPr>
          <a:xfrm>
            <a:off x="7589520" y="9253728"/>
            <a:ext cx="1874519" cy="667512"/>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7680960" y="9253728"/>
            <a:ext cx="1691639" cy="667512"/>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workers: 1</a:t>
            </a:r>
          </a:p>
        </p:txBody>
      </p:sp>
      <p:sp>
        <p:nvSpPr>
          <p:cNvPr id="65" name="Rounded Rectangle 64"/>
          <p:cNvSpPr/>
          <p:nvPr/>
        </p:nvSpPr>
        <p:spPr>
          <a:xfrm>
            <a:off x="9692640" y="9253728"/>
            <a:ext cx="1463040" cy="667512"/>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9784080" y="9253728"/>
            <a:ext cx="1280160" cy="667512"/>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TZ: UTC</a:t>
            </a:r>
          </a:p>
        </p:txBody>
      </p:sp>
      <p:sp>
        <p:nvSpPr>
          <p:cNvPr id="67" name="Rounded Rectangle 66"/>
          <p:cNvSpPr/>
          <p:nvPr/>
        </p:nvSpPr>
        <p:spPr>
          <a:xfrm>
            <a:off x="11384280" y="9253728"/>
            <a:ext cx="2697480" cy="667512"/>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11475720" y="9253728"/>
            <a:ext cx="2514600" cy="667512"/>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trace on failure</a:t>
            </a:r>
          </a:p>
        </p:txBody>
      </p:sp>
      <p:sp>
        <p:nvSpPr>
          <p:cNvPr id="69" name="Rounded Rectangle 68"/>
          <p:cNvSpPr/>
          <p:nvPr/>
        </p:nvSpPr>
        <p:spPr>
          <a:xfrm>
            <a:off x="14310360" y="9253728"/>
            <a:ext cx="2011680" cy="667512"/>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14401800" y="9253728"/>
            <a:ext cx="1828800" cy="667512"/>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list + html</a:t>
            </a:r>
          </a:p>
        </p:txBody>
      </p:sp>
      <p:sp>
        <p:nvSpPr>
          <p:cNvPr id="71" name="Rounded Rectangle 70"/>
          <p:cNvSpPr/>
          <p:nvPr/>
        </p:nvSpPr>
        <p:spPr>
          <a:xfrm>
            <a:off x="21579840" y="2926080"/>
            <a:ext cx="1892807" cy="7360920"/>
          </a:xfrm>
          <a:prstGeom prst="roundRect">
            <a:avLst>
              <a:gd name="adj" fmla="val 15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21579840" y="3108960"/>
            <a:ext cx="1892807"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1700" b="1" i="0">
                <a:solidFill>
                  <a:srgbClr val="8683C3"/>
                </a:solidFill>
              </a:rPr>
              <a:t>depends</a:t>
            </a:r>
          </a:p>
          <a:p>
            <a:pPr algn="ctr">
              <a:lnSpc>
                <a:spcPct val="100000"/>
              </a:lnSpc>
              <a:spcBef>
                <a:spcPts val="0"/>
              </a:spcBef>
              <a:spcAft>
                <a:spcPts val="0"/>
              </a:spcAft>
            </a:pPr>
            <a:r>
              <a:rPr sz="1700" b="1" i="0">
                <a:solidFill>
                  <a:srgbClr val="8683C3"/>
                </a:solidFill>
              </a:rPr>
              <a:t>on</a:t>
            </a:r>
          </a:p>
        </p:txBody>
      </p:sp>
      <p:cxnSp>
        <p:nvCxnSpPr>
          <p:cNvPr id="73" name="Connector 72"/>
          <p:cNvCxnSpPr/>
          <p:nvPr/>
        </p:nvCxnSpPr>
        <p:spPr>
          <a:xfrm>
            <a:off x="22521672" y="4160520"/>
            <a:ext cx="0" cy="5760720"/>
          </a:xfrm>
          <a:prstGeom prst="line">
            <a:avLst/>
          </a:prstGeom>
          <a:ln w="50800">
            <a:solidFill>
              <a:srgbClr val="8683C3"/>
            </a:solidFill>
            <a:tailEnd type="triangle" w="med" len="med"/>
          </a:ln>
        </p:spPr>
        <p:style>
          <a:lnRef idx="2">
            <a:schemeClr val="accent1"/>
          </a:lnRef>
          <a:fillRef idx="0">
            <a:schemeClr val="accent1"/>
          </a:fillRef>
          <a:effectRef idx="1">
            <a:schemeClr val="accent1"/>
          </a:effectRef>
          <a:fontRef idx="minor">
            <a:schemeClr val="tx1"/>
          </a:fontRef>
        </p:style>
      </p:cxnSp>
      <p:sp>
        <p:nvSpPr>
          <p:cNvPr id="74" name="Rounded Rectangle 73"/>
          <p:cNvSpPr/>
          <p:nvPr/>
        </p:nvSpPr>
        <p:spPr>
          <a:xfrm>
            <a:off x="612648" y="10789920"/>
            <a:ext cx="22860000" cy="960120"/>
          </a:xfrm>
          <a:prstGeom prst="roundRect">
            <a:avLst>
              <a:gd name="adj" fmla="val 1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Oval 74"/>
          <p:cNvSpPr/>
          <p:nvPr/>
        </p:nvSpPr>
        <p:spPr>
          <a:xfrm>
            <a:off x="886968" y="10927080"/>
            <a:ext cx="685800" cy="6858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LuLaugh.png"/>
          <p:cNvPicPr>
            <a:picLocks noChangeAspect="1"/>
          </p:cNvPicPr>
          <p:nvPr/>
        </p:nvPicPr>
        <p:blipFill>
          <a:blip r:embed="rId8"/>
          <a:stretch>
            <a:fillRect/>
          </a:stretch>
        </p:blipFill>
        <p:spPr>
          <a:xfrm>
            <a:off x="1051560" y="11091672"/>
            <a:ext cx="356616" cy="356616"/>
          </a:xfrm>
          <a:prstGeom prst="rect">
            <a:avLst/>
          </a:prstGeom>
        </p:spPr>
      </p:pic>
      <p:sp>
        <p:nvSpPr>
          <p:cNvPr id="77" name="TextBox 76"/>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A layered architecture, like lasagna: every layer talks only to the one beneath it. No spaghetti allowed.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Automation</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8683C3"/>
                </a:solidFill>
              </a:rPr>
              <a:t>AUTOMATION SUITE · FOLDERS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A place for everything (and </a:t>
            </a:r>
            <a:r>
              <a:rPr sz="4048" b="0" i="0">
                <a:solidFill>
                  <a:srgbClr val="C2410C"/>
                </a:solidFill>
                <a:latin typeface="Consolas"/>
              </a:rPr>
              <a:t>utils</a:t>
            </a:r>
            <a:r>
              <a:rPr sz="4400" b="0" i="0">
                <a:solidFill>
                  <a:srgbClr val="192B37"/>
                </a:solidFill>
                <a:latin typeface="+mj-lt"/>
              </a:rPr>
              <a:t> is not a junk drawer)</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24</a:t>
            </a:r>
          </a:p>
        </p:txBody>
      </p:sp>
      <p:sp>
        <p:nvSpPr>
          <p:cNvPr id="6" name="Rounded Rectangle 5"/>
          <p:cNvSpPr/>
          <p:nvPr/>
        </p:nvSpPr>
        <p:spPr>
          <a:xfrm>
            <a:off x="612648" y="2926080"/>
            <a:ext cx="10058400" cy="7498079"/>
          </a:xfrm>
          <a:prstGeom prst="roundRect">
            <a:avLst>
              <a:gd name="adj" fmla="val 3414"/>
            </a:avLst>
          </a:prstGeom>
          <a:solidFill>
            <a:srgbClr val="0F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86968" y="312724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79576" y="312724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72184" y="312724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92807" y="2999232"/>
            <a:ext cx="850392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tree playwright -L 2</a:t>
            </a:r>
          </a:p>
        </p:txBody>
      </p:sp>
      <p:sp>
        <p:nvSpPr>
          <p:cNvPr id="11" name="TextBox 10"/>
          <p:cNvSpPr txBox="1"/>
          <p:nvPr/>
        </p:nvSpPr>
        <p:spPr>
          <a:xfrm>
            <a:off x="886968" y="3474720"/>
            <a:ext cx="9601200" cy="6812279"/>
          </a:xfrm>
          <a:prstGeom prst="rect">
            <a:avLst/>
          </a:prstGeom>
          <a:noFill/>
        </p:spPr>
        <p:txBody>
          <a:bodyPr wrap="none" lIns="0" rIns="0" tIns="0" bIns="0">
            <a:noAutofit/>
          </a:bodyPr>
          <a:lstStyle/>
          <a:p>
            <a:pPr>
              <a:lnSpc>
                <a:spcPct val="108000"/>
              </a:lnSpc>
              <a:spcBef>
                <a:spcPts val="0"/>
              </a:spcBef>
              <a:spcAft>
                <a:spcPts val="0"/>
              </a:spcAft>
            </a:pPr>
            <a:r>
              <a:rPr sz="1800">
                <a:solidFill>
                  <a:srgbClr val="D7E3EA"/>
                </a:solidFill>
                <a:latin typeface="Consolas"/>
              </a:rPr>
              <a:t>playwright/</a:t>
            </a:r>
          </a:p>
          <a:p>
            <a:pPr>
              <a:lnSpc>
                <a:spcPct val="108000"/>
              </a:lnSpc>
              <a:spcBef>
                <a:spcPts val="0"/>
              </a:spcBef>
              <a:spcAft>
                <a:spcPts val="0"/>
              </a:spcAft>
            </a:pPr>
            <a:r>
              <a:rPr sz="1800">
                <a:solidFill>
                  <a:srgbClr val="D7E3EA"/>
                </a:solidFill>
                <a:latin typeface="Consolas"/>
              </a:rPr>
              <a:t>├─ playwright.config.ts   # 4 projects</a:t>
            </a:r>
          </a:p>
          <a:p>
            <a:pPr>
              <a:lnSpc>
                <a:spcPct val="108000"/>
              </a:lnSpc>
              <a:spcBef>
                <a:spcPts val="0"/>
              </a:spcBef>
              <a:spcAft>
                <a:spcPts val="0"/>
              </a:spcAft>
            </a:pPr>
            <a:r>
              <a:rPr sz="1800">
                <a:solidFill>
                  <a:srgbClr val="D7E3EA"/>
                </a:solidFill>
                <a:latin typeface="Consolas"/>
              </a:rPr>
              <a:t>├─ src/</a:t>
            </a:r>
          </a:p>
          <a:p>
            <a:pPr>
              <a:lnSpc>
                <a:spcPct val="108000"/>
              </a:lnSpc>
              <a:spcBef>
                <a:spcPts val="0"/>
              </a:spcBef>
              <a:spcAft>
                <a:spcPts val="0"/>
              </a:spcAft>
            </a:pPr>
            <a:r>
              <a:rPr sz="1800">
                <a:solidFill>
                  <a:srgbClr val="D7E3EA"/>
                </a:solidFill>
                <a:latin typeface="Consolas"/>
              </a:rPr>
              <a:t>│  ├─ api/        http · contract · users · transactions…</a:t>
            </a:r>
          </a:p>
          <a:p>
            <a:pPr>
              <a:lnSpc>
                <a:spcPct val="108000"/>
              </a:lnSpc>
              <a:spcBef>
                <a:spcPts val="0"/>
              </a:spcBef>
              <a:spcAft>
                <a:spcPts val="0"/>
              </a:spcAft>
            </a:pPr>
            <a:r>
              <a:rPr sz="1800">
                <a:solidFill>
                  <a:srgbClr val="D7E3EA"/>
                </a:solidFill>
                <a:latin typeface="Consolas"/>
              </a:rPr>
              <a:t>│  ├─ ui/         auth · network · navigation · a11y…</a:t>
            </a:r>
          </a:p>
          <a:p>
            <a:pPr>
              <a:lnSpc>
                <a:spcPct val="108000"/>
              </a:lnSpc>
              <a:spcBef>
                <a:spcPts val="0"/>
              </a:spcBef>
              <a:spcAft>
                <a:spcPts val="0"/>
              </a:spcAft>
            </a:pPr>
            <a:r>
              <a:rPr sz="1800">
                <a:solidFill>
                  <a:srgbClr val="D7E3EA"/>
                </a:solidFill>
                <a:latin typeface="Consolas"/>
              </a:rPr>
              <a:t>│  ├─ fixtures/   index · api · ui</a:t>
            </a:r>
          </a:p>
          <a:p>
            <a:pPr>
              <a:lnSpc>
                <a:spcPct val="108000"/>
              </a:lnSpc>
              <a:spcBef>
                <a:spcPts val="0"/>
              </a:spcBef>
              <a:spcAft>
                <a:spcPts val="0"/>
              </a:spcAft>
            </a:pPr>
            <a:r>
              <a:rPr sz="1800">
                <a:solidFill>
                  <a:srgbClr val="D7E3EA"/>
                </a:solidFill>
                <a:latin typeface="Consolas"/>
              </a:rPr>
              <a:t>│  ├─ mocks/      factories · stubs</a:t>
            </a:r>
          </a:p>
          <a:p>
            <a:pPr>
              <a:lnSpc>
                <a:spcPct val="108000"/>
              </a:lnSpc>
              <a:spcBef>
                <a:spcPts val="0"/>
              </a:spcBef>
              <a:spcAft>
                <a:spcPts val="0"/>
              </a:spcAft>
            </a:pPr>
            <a:r>
              <a:rPr sz="1800">
                <a:solidFill>
                  <a:srgbClr val="D7E3EA"/>
                </a:solidFill>
                <a:latin typeface="Consolas"/>
              </a:rPr>
              <a:t>│  ├─ utils/      fp · money · dates</a:t>
            </a:r>
          </a:p>
          <a:p>
            <a:pPr>
              <a:lnSpc>
                <a:spcPct val="108000"/>
              </a:lnSpc>
              <a:spcBef>
                <a:spcPts val="0"/>
              </a:spcBef>
              <a:spcAft>
                <a:spcPts val="0"/>
              </a:spcAft>
            </a:pPr>
            <a:r>
              <a:rPr sz="1800">
                <a:solidFill>
                  <a:srgbClr val="D7E3EA"/>
                </a:solidFill>
                <a:latin typeface="Consolas"/>
              </a:rPr>
              <a:t>│  ├─ config/     env.ts</a:t>
            </a:r>
          </a:p>
          <a:p>
            <a:pPr>
              <a:lnSpc>
                <a:spcPct val="108000"/>
              </a:lnSpc>
              <a:spcBef>
                <a:spcPts val="0"/>
              </a:spcBef>
              <a:spcAft>
                <a:spcPts val="0"/>
              </a:spcAft>
            </a:pPr>
            <a:r>
              <a:rPr sz="1800">
                <a:solidFill>
                  <a:srgbClr val="D7E3EA"/>
                </a:solidFill>
                <a:latin typeface="Consolas"/>
              </a:rPr>
              <a:t>│  └─ types/      models.ts</a:t>
            </a:r>
          </a:p>
          <a:p>
            <a:pPr>
              <a:lnSpc>
                <a:spcPct val="108000"/>
              </a:lnSpc>
              <a:spcBef>
                <a:spcPts val="0"/>
              </a:spcBef>
              <a:spcAft>
                <a:spcPts val="0"/>
              </a:spcAft>
            </a:pPr>
            <a:r>
              <a:rPr sz="1800">
                <a:solidFill>
                  <a:srgbClr val="D7E3EA"/>
                </a:solidFill>
                <a:latin typeface="Consolas"/>
              </a:rPr>
              <a:t>├─ tests/</a:t>
            </a:r>
          </a:p>
          <a:p>
            <a:pPr>
              <a:lnSpc>
                <a:spcPct val="108000"/>
              </a:lnSpc>
              <a:spcBef>
                <a:spcPts val="0"/>
              </a:spcBef>
              <a:spcAft>
                <a:spcPts val="0"/>
              </a:spcAft>
            </a:pPr>
            <a:r>
              <a:rPr sz="1800">
                <a:solidFill>
                  <a:srgbClr val="D7E3EA"/>
                </a:solidFill>
                <a:latin typeface="Consolas"/>
              </a:rPr>
              <a:t>│  ├─ api/        6 × *.api.spec.ts</a:t>
            </a:r>
          </a:p>
          <a:p>
            <a:pPr>
              <a:lnSpc>
                <a:spcPct val="108000"/>
              </a:lnSpc>
              <a:spcBef>
                <a:spcPts val="0"/>
              </a:spcBef>
              <a:spcAft>
                <a:spcPts val="0"/>
              </a:spcAft>
            </a:pPr>
            <a:r>
              <a:rPr sz="1800">
                <a:solidFill>
                  <a:srgbClr val="D7E3EA"/>
                </a:solidFill>
                <a:latin typeface="Consolas"/>
              </a:rPr>
              <a:t>│  ├─ ui/         9 × *.spec.ts</a:t>
            </a:r>
          </a:p>
          <a:p>
            <a:pPr>
              <a:lnSpc>
                <a:spcPct val="108000"/>
              </a:lnSpc>
              <a:spcBef>
                <a:spcPts val="0"/>
              </a:spcBef>
              <a:spcAft>
                <a:spcPts val="0"/>
              </a:spcAft>
            </a:pPr>
            <a:r>
              <a:rPr sz="1800">
                <a:solidFill>
                  <a:srgbClr val="D7E3EA"/>
                </a:solidFill>
                <a:latin typeface="Consolas"/>
              </a:rPr>
              <a:t>│  └─ e2e/        1 × *.e2e.spec.ts</a:t>
            </a:r>
          </a:p>
          <a:p>
            <a:pPr>
              <a:lnSpc>
                <a:spcPct val="108000"/>
              </a:lnSpc>
              <a:spcBef>
                <a:spcPts val="0"/>
              </a:spcBef>
              <a:spcAft>
                <a:spcPts val="0"/>
              </a:spcAft>
            </a:pPr>
            <a:r>
              <a:rPr sz="1800">
                <a:solidFill>
                  <a:srgbClr val="D7E3EA"/>
                </a:solidFill>
                <a:latin typeface="Consolas"/>
              </a:rPr>
              <a:t>└─ test-data/     public-transactions.json</a:t>
            </a:r>
          </a:p>
        </p:txBody>
      </p:sp>
      <p:sp>
        <p:nvSpPr>
          <p:cNvPr id="12" name="Rounded Rectangle 11"/>
          <p:cNvSpPr/>
          <p:nvPr/>
        </p:nvSpPr>
        <p:spPr>
          <a:xfrm>
            <a:off x="10972800" y="2926080"/>
            <a:ext cx="12499848" cy="1691640"/>
          </a:xfrm>
          <a:prstGeom prst="roundRect">
            <a:avLst>
              <a:gd name="adj" fmla="val 12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1247120" y="3337560"/>
            <a:ext cx="868680" cy="86868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uLink.png"/>
          <p:cNvPicPr>
            <a:picLocks noChangeAspect="1"/>
          </p:cNvPicPr>
          <p:nvPr/>
        </p:nvPicPr>
        <p:blipFill>
          <a:blip r:embed="rId3"/>
          <a:stretch>
            <a:fillRect/>
          </a:stretch>
        </p:blipFill>
        <p:spPr>
          <a:xfrm>
            <a:off x="11455603" y="3546043"/>
            <a:ext cx="451713" cy="451713"/>
          </a:xfrm>
          <a:prstGeom prst="rect">
            <a:avLst/>
          </a:prstGeom>
        </p:spPr>
      </p:pic>
      <p:sp>
        <p:nvSpPr>
          <p:cNvPr id="15" name="TextBox 14"/>
          <p:cNvSpPr txBox="1"/>
          <p:nvPr/>
        </p:nvSpPr>
        <p:spPr>
          <a:xfrm>
            <a:off x="12390120" y="3127248"/>
            <a:ext cx="107899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Path aliases</a:t>
            </a:r>
          </a:p>
        </p:txBody>
      </p:sp>
      <p:sp>
        <p:nvSpPr>
          <p:cNvPr id="16" name="TextBox 15"/>
          <p:cNvSpPr txBox="1"/>
          <p:nvPr/>
        </p:nvSpPr>
        <p:spPr>
          <a:xfrm>
            <a:off x="12390120" y="3730752"/>
            <a:ext cx="10789920" cy="777240"/>
          </a:xfrm>
          <a:prstGeom prst="rect">
            <a:avLst/>
          </a:prstGeom>
          <a:noFill/>
        </p:spPr>
        <p:txBody>
          <a:bodyPr wrap="square" lIns="0" rIns="0" tIns="18288" bIns="18288" anchor="t">
            <a:noAutofit/>
          </a:bodyPr>
          <a:lstStyle/>
          <a:p>
            <a:pPr algn="l">
              <a:lnSpc>
                <a:spcPct val="100000"/>
              </a:lnSpc>
              <a:spcBef>
                <a:spcPts val="0"/>
              </a:spcBef>
              <a:spcAft>
                <a:spcPts val="0"/>
              </a:spcAft>
            </a:pPr>
            <a:r>
              <a:rPr sz="1564" b="0" i="0">
                <a:solidFill>
                  <a:srgbClr val="C2410C"/>
                </a:solidFill>
                <a:latin typeface="Consolas"/>
              </a:rPr>
              <a:t>@fixtures/api</a:t>
            </a:r>
            <a:r>
              <a:rPr sz="1700" b="0" i="0">
                <a:solidFill>
                  <a:srgbClr val="192B37"/>
                </a:solidFill>
              </a:rPr>
              <a:t> · </a:t>
            </a:r>
            <a:r>
              <a:rPr sz="1564" b="0" i="0">
                <a:solidFill>
                  <a:srgbClr val="C2410C"/>
                </a:solidFill>
                <a:latin typeface="Consolas"/>
              </a:rPr>
              <a:t>@ui</a:t>
            </a:r>
            <a:r>
              <a:rPr sz="1700" b="0" i="0">
                <a:solidFill>
                  <a:srgbClr val="192B37"/>
                </a:solidFill>
              </a:rPr>
              <a:t> · </a:t>
            </a:r>
            <a:r>
              <a:rPr sz="1564" b="0" i="0">
                <a:solidFill>
                  <a:srgbClr val="C2410C"/>
                </a:solidFill>
                <a:latin typeface="Consolas"/>
              </a:rPr>
              <a:t>@api</a:t>
            </a:r>
            <a:r>
              <a:rPr sz="1700" b="0" i="0">
                <a:solidFill>
                  <a:srgbClr val="192B37"/>
                </a:solidFill>
              </a:rPr>
              <a:t> · </a:t>
            </a:r>
            <a:r>
              <a:rPr sz="1564" b="0" i="0">
                <a:solidFill>
                  <a:srgbClr val="C2410C"/>
                </a:solidFill>
                <a:latin typeface="Consolas"/>
              </a:rPr>
              <a:t>@mocks</a:t>
            </a:r>
            <a:r>
              <a:rPr sz="1700" b="0" i="0">
                <a:solidFill>
                  <a:srgbClr val="192B37"/>
                </a:solidFill>
              </a:rPr>
              <a:t> · </a:t>
            </a:r>
            <a:r>
              <a:rPr sz="1564" b="0" i="0">
                <a:solidFill>
                  <a:srgbClr val="C2410C"/>
                </a:solidFill>
                <a:latin typeface="Consolas"/>
              </a:rPr>
              <a:t>@config</a:t>
            </a:r>
            <a:r>
              <a:rPr sz="1700" b="0" i="0">
                <a:solidFill>
                  <a:srgbClr val="192B37"/>
                </a:solidFill>
              </a:rPr>
              <a:t> · </a:t>
            </a:r>
            <a:r>
              <a:rPr sz="1564" b="0" i="0">
                <a:solidFill>
                  <a:srgbClr val="C2410C"/>
                </a:solidFill>
                <a:latin typeface="Consolas"/>
              </a:rPr>
              <a:t>@models</a:t>
            </a:r>
          </a:p>
        </p:txBody>
      </p:sp>
      <p:sp>
        <p:nvSpPr>
          <p:cNvPr id="17" name="Rounded Rectangle 16"/>
          <p:cNvSpPr/>
          <p:nvPr/>
        </p:nvSpPr>
        <p:spPr>
          <a:xfrm>
            <a:off x="10972800" y="4828032"/>
            <a:ext cx="12499848" cy="1691640"/>
          </a:xfrm>
          <a:prstGeom prst="roundRect">
            <a:avLst>
              <a:gd name="adj" fmla="val 12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1247120" y="5239512"/>
            <a:ext cx="868680" cy="86868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uPuzzle.png"/>
          <p:cNvPicPr>
            <a:picLocks noChangeAspect="1"/>
          </p:cNvPicPr>
          <p:nvPr/>
        </p:nvPicPr>
        <p:blipFill>
          <a:blip r:embed="rId4"/>
          <a:stretch>
            <a:fillRect/>
          </a:stretch>
        </p:blipFill>
        <p:spPr>
          <a:xfrm>
            <a:off x="11455603" y="5447995"/>
            <a:ext cx="451713" cy="451713"/>
          </a:xfrm>
          <a:prstGeom prst="rect">
            <a:avLst/>
          </a:prstGeom>
        </p:spPr>
      </p:pic>
      <p:sp>
        <p:nvSpPr>
          <p:cNvPr id="20" name="TextBox 19"/>
          <p:cNvSpPr txBox="1"/>
          <p:nvPr/>
        </p:nvSpPr>
        <p:spPr>
          <a:xfrm>
            <a:off x="12390120" y="5029200"/>
            <a:ext cx="107899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One concern per file</a:t>
            </a:r>
          </a:p>
        </p:txBody>
      </p:sp>
      <p:sp>
        <p:nvSpPr>
          <p:cNvPr id="21" name="TextBox 20"/>
          <p:cNvSpPr txBox="1"/>
          <p:nvPr/>
        </p:nvSpPr>
        <p:spPr>
          <a:xfrm>
            <a:off x="12390120" y="5632704"/>
            <a:ext cx="10789920" cy="777240"/>
          </a:xfrm>
          <a:prstGeom prst="rect">
            <a:avLst/>
          </a:prstGeom>
          <a:noFill/>
        </p:spPr>
        <p:txBody>
          <a:bodyPr wrap="square" lIns="0" rIns="0" tIns="18288" bIns="18288" anchor="t">
            <a:noAutofit/>
          </a:bodyPr>
          <a:lstStyle/>
          <a:p>
            <a:pPr algn="l">
              <a:lnSpc>
                <a:spcPct val="100000"/>
              </a:lnSpc>
              <a:spcBef>
                <a:spcPts val="0"/>
              </a:spcBef>
              <a:spcAft>
                <a:spcPts val="0"/>
              </a:spcAft>
            </a:pPr>
            <a:r>
              <a:rPr sz="1564" b="0" i="0">
                <a:solidFill>
                  <a:srgbClr val="C2410C"/>
                </a:solidFill>
                <a:latin typeface="Consolas"/>
              </a:rPr>
              <a:t>network.ts</a:t>
            </a:r>
            <a:r>
              <a:rPr sz="1700" b="0" i="0">
                <a:solidFill>
                  <a:srgbClr val="192B37"/>
                </a:solidFill>
              </a:rPr>
              <a:t> waits &amp; stubs, </a:t>
            </a:r>
            <a:r>
              <a:rPr sz="1564" b="0" i="0">
                <a:solidFill>
                  <a:srgbClr val="C2410C"/>
                </a:solidFill>
                <a:latin typeface="Consolas"/>
              </a:rPr>
              <a:t>auth.ts</a:t>
            </a:r>
            <a:r>
              <a:rPr sz="1700" b="0" i="0">
                <a:solidFill>
                  <a:srgbClr val="192B37"/>
                </a:solidFill>
              </a:rPr>
              <a:t> logs in, </a:t>
            </a:r>
            <a:r>
              <a:rPr sz="1564" b="0" i="0">
                <a:solidFill>
                  <a:srgbClr val="C2410C"/>
                </a:solidFill>
                <a:latin typeface="Consolas"/>
              </a:rPr>
              <a:t>selectors.ts</a:t>
            </a:r>
            <a:r>
              <a:rPr sz="1700" b="0" i="0">
                <a:solidFill>
                  <a:srgbClr val="192B37"/>
                </a:solidFill>
              </a:rPr>
              <a:t> finds</a:t>
            </a:r>
          </a:p>
        </p:txBody>
      </p:sp>
      <p:sp>
        <p:nvSpPr>
          <p:cNvPr id="22" name="Rounded Rectangle 21"/>
          <p:cNvSpPr/>
          <p:nvPr/>
        </p:nvSpPr>
        <p:spPr>
          <a:xfrm>
            <a:off x="10972800" y="6729984"/>
            <a:ext cx="12499848" cy="1691640"/>
          </a:xfrm>
          <a:prstGeom prst="roundRect">
            <a:avLst>
              <a:gd name="adj" fmla="val 12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1247120" y="7141464"/>
            <a:ext cx="868680" cy="86868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LuFolderTree.png"/>
          <p:cNvPicPr>
            <a:picLocks noChangeAspect="1"/>
          </p:cNvPicPr>
          <p:nvPr/>
        </p:nvPicPr>
        <p:blipFill>
          <a:blip r:embed="rId5"/>
          <a:stretch>
            <a:fillRect/>
          </a:stretch>
        </p:blipFill>
        <p:spPr>
          <a:xfrm>
            <a:off x="11455603" y="7349947"/>
            <a:ext cx="451713" cy="451713"/>
          </a:xfrm>
          <a:prstGeom prst="rect">
            <a:avLst/>
          </a:prstGeom>
        </p:spPr>
      </p:pic>
      <p:sp>
        <p:nvSpPr>
          <p:cNvPr id="25" name="TextBox 24"/>
          <p:cNvSpPr txBox="1"/>
          <p:nvPr/>
        </p:nvSpPr>
        <p:spPr>
          <a:xfrm>
            <a:off x="12390120" y="6931152"/>
            <a:ext cx="107899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Tests mirror the app</a:t>
            </a:r>
          </a:p>
        </p:txBody>
      </p:sp>
      <p:sp>
        <p:nvSpPr>
          <p:cNvPr id="26" name="TextBox 25"/>
          <p:cNvSpPr txBox="1"/>
          <p:nvPr/>
        </p:nvSpPr>
        <p:spPr>
          <a:xfrm>
            <a:off x="12390120" y="7534656"/>
            <a:ext cx="10789920" cy="777240"/>
          </a:xfrm>
          <a:prstGeom prst="rect">
            <a:avLst/>
          </a:prstGeom>
          <a:noFill/>
        </p:spPr>
        <p:txBody>
          <a:bodyPr wrap="square" lIns="0" rIns="0" tIns="18288" bIns="18288" anchor="t">
            <a:noAutofit/>
          </a:bodyPr>
          <a:lstStyle/>
          <a:p>
            <a:pPr algn="l">
              <a:lnSpc>
                <a:spcPct val="100000"/>
              </a:lnSpc>
              <a:spcBef>
                <a:spcPts val="0"/>
              </a:spcBef>
              <a:spcAft>
                <a:spcPts val="0"/>
              </a:spcAft>
            </a:pPr>
            <a:r>
              <a:rPr sz="1700" b="0" i="0">
                <a:solidFill>
                  <a:srgbClr val="192B37"/>
                </a:solidFill>
              </a:rPr>
              <a:t>a spec per area: auth, feeds, new transaction, notifications…</a:t>
            </a:r>
          </a:p>
        </p:txBody>
      </p:sp>
      <p:sp>
        <p:nvSpPr>
          <p:cNvPr id="27" name="Rounded Rectangle 26"/>
          <p:cNvSpPr/>
          <p:nvPr/>
        </p:nvSpPr>
        <p:spPr>
          <a:xfrm>
            <a:off x="10972800" y="8631936"/>
            <a:ext cx="12499848" cy="1691640"/>
          </a:xfrm>
          <a:prstGeom prst="roundRect">
            <a:avLst>
              <a:gd name="adj" fmla="val 12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1247120" y="9043416"/>
            <a:ext cx="868680" cy="86868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LuShieldCheck.png"/>
          <p:cNvPicPr>
            <a:picLocks noChangeAspect="1"/>
          </p:cNvPicPr>
          <p:nvPr/>
        </p:nvPicPr>
        <p:blipFill>
          <a:blip r:embed="rId6"/>
          <a:stretch>
            <a:fillRect/>
          </a:stretch>
        </p:blipFill>
        <p:spPr>
          <a:xfrm>
            <a:off x="11455603" y="9251899"/>
            <a:ext cx="451713" cy="451713"/>
          </a:xfrm>
          <a:prstGeom prst="rect">
            <a:avLst/>
          </a:prstGeom>
        </p:spPr>
      </p:pic>
      <p:sp>
        <p:nvSpPr>
          <p:cNvPr id="30" name="TextBox 29"/>
          <p:cNvSpPr txBox="1"/>
          <p:nvPr/>
        </p:nvSpPr>
        <p:spPr>
          <a:xfrm>
            <a:off x="12390120" y="8833104"/>
            <a:ext cx="107899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Typed end to end</a:t>
            </a:r>
          </a:p>
        </p:txBody>
      </p:sp>
      <p:sp>
        <p:nvSpPr>
          <p:cNvPr id="31" name="TextBox 30"/>
          <p:cNvSpPr txBox="1"/>
          <p:nvPr/>
        </p:nvSpPr>
        <p:spPr>
          <a:xfrm>
            <a:off x="12390120" y="9436608"/>
            <a:ext cx="10789920" cy="777240"/>
          </a:xfrm>
          <a:prstGeom prst="rect">
            <a:avLst/>
          </a:prstGeom>
          <a:noFill/>
        </p:spPr>
        <p:txBody>
          <a:bodyPr wrap="square" lIns="0" rIns="0" tIns="18288" bIns="18288" anchor="t">
            <a:noAutofit/>
          </a:bodyPr>
          <a:lstStyle/>
          <a:p>
            <a:pPr algn="l">
              <a:lnSpc>
                <a:spcPct val="100000"/>
              </a:lnSpc>
              <a:spcBef>
                <a:spcPts val="0"/>
              </a:spcBef>
              <a:spcAft>
                <a:spcPts val="0"/>
              </a:spcAft>
            </a:pPr>
            <a:r>
              <a:rPr sz="1564" b="0" i="0">
                <a:solidFill>
                  <a:srgbClr val="C2410C"/>
                </a:solidFill>
                <a:latin typeface="Consolas"/>
              </a:rPr>
              <a:t>models.ts</a:t>
            </a:r>
            <a:r>
              <a:rPr sz="1700" b="0" i="0">
                <a:solidFill>
                  <a:srgbClr val="192B37"/>
                </a:solidFill>
              </a:rPr>
              <a:t> shared types · </a:t>
            </a:r>
            <a:r>
              <a:rPr sz="1564" b="0" i="0">
                <a:solidFill>
                  <a:srgbClr val="C2410C"/>
                </a:solidFill>
                <a:latin typeface="Consolas"/>
              </a:rPr>
              <a:t>npm run typecheck</a:t>
            </a:r>
            <a:r>
              <a:rPr sz="1700" b="0" i="0">
                <a:solidFill>
                  <a:srgbClr val="192B37"/>
                </a:solidFill>
              </a:rPr>
              <a:t> gate</a:t>
            </a:r>
          </a:p>
        </p:txBody>
      </p:sp>
      <p:sp>
        <p:nvSpPr>
          <p:cNvPr id="32" name="Rounded Rectangle 31"/>
          <p:cNvSpPr/>
          <p:nvPr/>
        </p:nvSpPr>
        <p:spPr>
          <a:xfrm>
            <a:off x="612648" y="10789920"/>
            <a:ext cx="22860000" cy="960120"/>
          </a:xfrm>
          <a:prstGeom prst="roundRect">
            <a:avLst>
              <a:gd name="adj" fmla="val 1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86968" y="10927080"/>
            <a:ext cx="685800" cy="6858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LuLaugh.png"/>
          <p:cNvPicPr>
            <a:picLocks noChangeAspect="1"/>
          </p:cNvPicPr>
          <p:nvPr/>
        </p:nvPicPr>
        <p:blipFill>
          <a:blip r:embed="rId7"/>
          <a:stretch>
            <a:fillRect/>
          </a:stretch>
        </p:blipFill>
        <p:spPr>
          <a:xfrm>
            <a:off x="1051560" y="11091672"/>
            <a:ext cx="356616" cy="356616"/>
          </a:xfrm>
          <a:prstGeom prst="rect">
            <a:avLst/>
          </a:prstGeom>
        </p:spPr>
      </p:pic>
      <p:sp>
        <p:nvSpPr>
          <p:cNvPr id="35" name="TextBox 34"/>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Our folder structure is so tidy, </a:t>
            </a:r>
            <a:r>
              <a:rPr sz="1840" b="0" i="1">
                <a:solidFill>
                  <a:srgbClr val="C2410C"/>
                </a:solidFill>
                <a:latin typeface="Consolas"/>
              </a:rPr>
              <a:t>utils/</a:t>
            </a:r>
            <a:r>
              <a:rPr sz="2000" b="0" i="1">
                <a:solidFill>
                  <a:srgbClr val="192B37"/>
                </a:solidFill>
              </a:rPr>
              <a:t> actually contains utilities. We checked twice.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Automation</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8683C3"/>
                </a:solidFill>
              </a:rPr>
              <a:t>AUTOMATION SUITE · FUNCTIONAL VS OOP</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Same login, two philosophies</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25</a:t>
            </a:r>
          </a:p>
        </p:txBody>
      </p:sp>
      <p:sp>
        <p:nvSpPr>
          <p:cNvPr id="6" name="Rounded Rectangle 5"/>
          <p:cNvSpPr/>
          <p:nvPr/>
        </p:nvSpPr>
        <p:spPr>
          <a:xfrm>
            <a:off x="612648" y="2926080"/>
            <a:ext cx="11247120" cy="4206240"/>
          </a:xfrm>
          <a:prstGeom prst="roundRect">
            <a:avLst>
              <a:gd name="adj" fmla="val 6086"/>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86968" y="312724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79576" y="312724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72184" y="312724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92807" y="2999232"/>
            <a:ext cx="969264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page-object style</a:t>
            </a:r>
          </a:p>
        </p:txBody>
      </p:sp>
      <p:sp>
        <p:nvSpPr>
          <p:cNvPr id="11" name="TextBox 10"/>
          <p:cNvSpPr txBox="1"/>
          <p:nvPr/>
        </p:nvSpPr>
        <p:spPr>
          <a:xfrm>
            <a:off x="886968" y="3474720"/>
            <a:ext cx="10789920" cy="3520439"/>
          </a:xfrm>
          <a:prstGeom prst="rect">
            <a:avLst/>
          </a:prstGeom>
          <a:noFill/>
        </p:spPr>
        <p:txBody>
          <a:bodyPr wrap="none" lIns="0" rIns="0" tIns="0" bIns="0">
            <a:noAutofit/>
          </a:bodyPr>
          <a:lstStyle/>
          <a:p>
            <a:pPr>
              <a:lnSpc>
                <a:spcPct val="108000"/>
              </a:lnSpc>
              <a:spcBef>
                <a:spcPts val="0"/>
              </a:spcBef>
              <a:spcAft>
                <a:spcPts val="0"/>
              </a:spcAft>
            </a:pPr>
            <a:r>
              <a:rPr sz="1800" i="1" b="0">
                <a:solidFill>
                  <a:srgbClr val="7F93A3"/>
                </a:solidFill>
                <a:latin typeface="Consolas"/>
              </a:rPr>
              <a:t>// OOP: Page Object (what we did NOT do)</a:t>
            </a:r>
          </a:p>
          <a:p>
            <a:pPr>
              <a:lnSpc>
                <a:spcPct val="108000"/>
              </a:lnSpc>
              <a:spcBef>
                <a:spcPts val="0"/>
              </a:spcBef>
              <a:spcAft>
                <a:spcPts val="0"/>
              </a:spcAft>
            </a:pPr>
            <a:r>
              <a:rPr sz="1800" i="0" b="0">
                <a:solidFill>
                  <a:srgbClr val="FF9C8A"/>
                </a:solidFill>
                <a:latin typeface="Consolas"/>
              </a:rPr>
              <a:t>class</a:t>
            </a:r>
            <a:r>
              <a:rPr sz="1800" i="0" b="0">
                <a:solidFill>
                  <a:srgbClr val="E6EDF3"/>
                </a:solidFill>
                <a:latin typeface="Consolas"/>
              </a:rPr>
              <a:t> </a:t>
            </a:r>
            <a:r>
              <a:rPr sz="1800" i="0" b="0">
                <a:solidFill>
                  <a:srgbClr val="C9B8FF"/>
                </a:solidFill>
                <a:latin typeface="Consolas"/>
              </a:rPr>
              <a:t>LoginPage</a:t>
            </a:r>
            <a:r>
              <a:rPr sz="1800" i="0" b="0">
                <a:solidFill>
                  <a:srgbClr val="E6EDF3"/>
                </a:solidFill>
                <a:latin typeface="Consolas"/>
              </a:rPr>
              <a:t> </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8CCFF0"/>
                </a:solidFill>
                <a:latin typeface="Consolas"/>
              </a:rPr>
              <a:t>constructor</a:t>
            </a:r>
            <a:r>
              <a:rPr sz="1800" i="0" b="0">
                <a:solidFill>
                  <a:srgbClr val="E6EDF3"/>
                </a:solidFill>
                <a:latin typeface="Consolas"/>
              </a:rPr>
              <a:t>(</a:t>
            </a:r>
            <a:r>
              <a:rPr sz="1800" i="0" b="0">
                <a:solidFill>
                  <a:srgbClr val="E6EDF3"/>
                </a:solidFill>
                <a:latin typeface="Consolas"/>
              </a:rPr>
              <a:t>private</a:t>
            </a:r>
            <a:r>
              <a:rPr sz="1800" i="0" b="0">
                <a:solidFill>
                  <a:srgbClr val="E6EDF3"/>
                </a:solidFill>
                <a:latin typeface="Consolas"/>
              </a:rPr>
              <a:t> </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C9B8FF"/>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async</a:t>
            </a:r>
            <a:r>
              <a:rPr sz="1800" i="0" b="0">
                <a:solidFill>
                  <a:srgbClr val="E6EDF3"/>
                </a:solidFill>
                <a:latin typeface="Consolas"/>
              </a:rPr>
              <a:t> </a:t>
            </a:r>
            <a:r>
              <a:rPr sz="1800" i="0" b="0">
                <a:solidFill>
                  <a:srgbClr val="8CCFF0"/>
                </a:solidFill>
                <a:latin typeface="Consolas"/>
              </a:rPr>
              <a:t>login</a:t>
            </a:r>
            <a:r>
              <a:rPr sz="1800" i="0" b="0">
                <a:solidFill>
                  <a:srgbClr val="E6EDF3"/>
                </a:solidFill>
                <a:latin typeface="Consolas"/>
              </a:rPr>
              <a:t>(</a:t>
            </a:r>
            <a:r>
              <a:rPr sz="1800" i="0" b="0">
                <a:solidFill>
                  <a:srgbClr val="E6EDF3"/>
                </a:solidFill>
                <a:latin typeface="Consolas"/>
              </a:rPr>
              <a:t>user</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string</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pass</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string</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FF9C8A"/>
                </a:solidFill>
                <a:latin typeface="Consolas"/>
              </a:rPr>
              <a:t>this</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8CCFF0"/>
                </a:solidFill>
                <a:latin typeface="Consolas"/>
              </a:rPr>
              <a:t>fill</a:t>
            </a:r>
            <a:r>
              <a:rPr sz="1800" i="0" b="0">
                <a:solidFill>
                  <a:srgbClr val="E6EDF3"/>
                </a:solidFill>
                <a:latin typeface="Consolas"/>
              </a:rPr>
              <a:t>(</a:t>
            </a:r>
            <a:r>
              <a:rPr sz="1800" i="0" b="0">
                <a:solidFill>
                  <a:srgbClr val="9BE3B4"/>
                </a:solidFill>
                <a:latin typeface="Consolas"/>
              </a:rPr>
              <a:t>"#username"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user</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FF9C8A"/>
                </a:solidFill>
                <a:latin typeface="Consolas"/>
              </a:rPr>
              <a:t>this</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8CCFF0"/>
                </a:solidFill>
                <a:latin typeface="Consolas"/>
              </a:rPr>
              <a:t>fill</a:t>
            </a:r>
            <a:r>
              <a:rPr sz="1800" i="0" b="0">
                <a:solidFill>
                  <a:srgbClr val="E6EDF3"/>
                </a:solidFill>
                <a:latin typeface="Consolas"/>
              </a:rPr>
              <a:t>(</a:t>
            </a:r>
            <a:r>
              <a:rPr sz="1800" i="0" b="0">
                <a:solidFill>
                  <a:srgbClr val="9BE3B4"/>
                </a:solidFill>
                <a:latin typeface="Consolas"/>
              </a:rPr>
              <a:t>"#password"</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pass</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FF9C8A"/>
                </a:solidFill>
                <a:latin typeface="Consolas"/>
              </a:rPr>
              <a:t>this</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8CCFF0"/>
                </a:solidFill>
                <a:latin typeface="Consolas"/>
              </a:rPr>
              <a:t>click</a:t>
            </a:r>
            <a:r>
              <a:rPr sz="1800" i="0" b="0">
                <a:solidFill>
                  <a:srgbClr val="E6EDF3"/>
                </a:solidFill>
                <a:latin typeface="Consolas"/>
              </a:rPr>
              <a:t>(</a:t>
            </a:r>
            <a:r>
              <a:rPr sz="1800" i="0" b="0">
                <a:solidFill>
                  <a:srgbClr val="9BE3B4"/>
                </a:solidFill>
                <a:latin typeface="Consolas"/>
              </a:rPr>
              <a:t>"#submit"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a:t>
            </a:r>
          </a:p>
          <a:p>
            <a:pPr>
              <a:lnSpc>
                <a:spcPct val="108000"/>
              </a:lnSpc>
              <a:spcBef>
                <a:spcPts val="0"/>
              </a:spcBef>
              <a:spcAft>
                <a:spcPts val="0"/>
              </a:spcAft>
            </a:pPr>
            <a:r>
              <a:rPr sz="1800" i="0" b="0">
                <a:solidFill>
                  <a:srgbClr val="FF9C8A"/>
                </a:solidFill>
                <a:latin typeface="Consolas"/>
              </a:rPr>
              <a:t>await</a:t>
            </a:r>
            <a:r>
              <a:rPr sz="1800" i="0" b="0">
                <a:solidFill>
                  <a:srgbClr val="E6EDF3"/>
                </a:solidFill>
                <a:latin typeface="Consolas"/>
              </a:rPr>
              <a:t> </a:t>
            </a:r>
            <a:r>
              <a:rPr sz="1800" i="0" b="0">
                <a:solidFill>
                  <a:srgbClr val="FF9C8A"/>
                </a:solidFill>
                <a:latin typeface="Consolas"/>
              </a:rPr>
              <a:t>new</a:t>
            </a:r>
            <a:r>
              <a:rPr sz="1800" i="0" b="0">
                <a:solidFill>
                  <a:srgbClr val="E6EDF3"/>
                </a:solidFill>
                <a:latin typeface="Consolas"/>
              </a:rPr>
              <a:t> </a:t>
            </a:r>
            <a:r>
              <a:rPr sz="1800" i="0" b="0">
                <a:solidFill>
                  <a:srgbClr val="8CCFF0"/>
                </a:solidFill>
                <a:latin typeface="Consolas"/>
              </a:rPr>
              <a:t>LoginPage</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login</a:t>
            </a:r>
            <a:r>
              <a:rPr sz="1800" i="0" b="0">
                <a:solidFill>
                  <a:srgbClr val="E6EDF3"/>
                </a:solidFill>
                <a:latin typeface="Consolas"/>
              </a:rPr>
              <a:t>(</a:t>
            </a:r>
            <a:r>
              <a:rPr sz="1800" i="0" b="0">
                <a:solidFill>
                  <a:srgbClr val="9BE3B4"/>
                </a:solidFill>
                <a:latin typeface="Consolas"/>
              </a:rPr>
              <a:t>"Heath93"</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"s3cret"</a:t>
            </a:r>
            <a:r>
              <a:rPr sz="1800" i="0" b="0">
                <a:solidFill>
                  <a:srgbClr val="E6EDF3"/>
                </a:solidFill>
                <a:latin typeface="Consolas"/>
              </a:rPr>
              <a:t>)</a:t>
            </a:r>
            <a:r>
              <a:rPr sz="1800" i="0" b="0">
                <a:solidFill>
                  <a:srgbClr val="E6EDF3"/>
                </a:solidFill>
                <a:latin typeface="Consolas"/>
              </a:rPr>
              <a:t>;</a:t>
            </a:r>
          </a:p>
        </p:txBody>
      </p:sp>
      <p:sp>
        <p:nvSpPr>
          <p:cNvPr id="12" name="Rounded Rectangle 11"/>
          <p:cNvSpPr/>
          <p:nvPr/>
        </p:nvSpPr>
        <p:spPr>
          <a:xfrm>
            <a:off x="12225528" y="2926080"/>
            <a:ext cx="11247120" cy="4206240"/>
          </a:xfrm>
          <a:prstGeom prst="roundRect">
            <a:avLst>
              <a:gd name="adj" fmla="val 6086"/>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2499848" y="312724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792456" y="312724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3085064" y="312724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505688" y="2999232"/>
            <a:ext cx="969264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src/ui/auth.ts (ours)</a:t>
            </a:r>
          </a:p>
        </p:txBody>
      </p:sp>
      <p:sp>
        <p:nvSpPr>
          <p:cNvPr id="17" name="TextBox 16"/>
          <p:cNvSpPr txBox="1"/>
          <p:nvPr/>
        </p:nvSpPr>
        <p:spPr>
          <a:xfrm>
            <a:off x="12499848" y="3474720"/>
            <a:ext cx="10789920" cy="3520439"/>
          </a:xfrm>
          <a:prstGeom prst="rect">
            <a:avLst/>
          </a:prstGeom>
          <a:noFill/>
        </p:spPr>
        <p:txBody>
          <a:bodyPr wrap="none" lIns="0" rIns="0" tIns="0" bIns="0">
            <a:noAutofit/>
          </a:bodyPr>
          <a:lstStyle/>
          <a:p>
            <a:pPr>
              <a:lnSpc>
                <a:spcPct val="108000"/>
              </a:lnSpc>
              <a:spcBef>
                <a:spcPts val="0"/>
              </a:spcBef>
              <a:spcAft>
                <a:spcPts val="0"/>
              </a:spcAft>
            </a:pPr>
            <a:r>
              <a:rPr sz="1800" i="1" b="0">
                <a:solidFill>
                  <a:srgbClr val="7F93A3"/>
                </a:solidFill>
                <a:latin typeface="Consolas"/>
              </a:rPr>
              <a:t>// FP: plain functions, dependency first</a:t>
            </a:r>
          </a:p>
          <a:p>
            <a:pPr>
              <a:lnSpc>
                <a:spcPct val="108000"/>
              </a:lnSpc>
              <a:spcBef>
                <a:spcPts val="0"/>
              </a:spcBef>
              <a:spcAft>
                <a:spcPts val="0"/>
              </a:spcAft>
            </a:pPr>
            <a:r>
              <a:rPr sz="1800" i="0" b="0">
                <a:solidFill>
                  <a:srgbClr val="FF9C8A"/>
                </a:solidFill>
                <a:latin typeface="Consolas"/>
              </a:rPr>
              <a:t>export</a:t>
            </a:r>
            <a:r>
              <a:rPr sz="1800" i="0" b="0">
                <a:solidFill>
                  <a:srgbClr val="E6EDF3"/>
                </a:solidFill>
                <a:latin typeface="Consolas"/>
              </a:rPr>
              <a:t> </a:t>
            </a:r>
            <a:r>
              <a:rPr sz="1800" i="0" b="0">
                <a:solidFill>
                  <a:srgbClr val="FF9C8A"/>
                </a:solidFill>
                <a:latin typeface="Consolas"/>
              </a:rPr>
              <a:t>const</a:t>
            </a:r>
            <a:r>
              <a:rPr sz="1800" i="0" b="0">
                <a:solidFill>
                  <a:srgbClr val="E6EDF3"/>
                </a:solidFill>
                <a:latin typeface="Consolas"/>
              </a:rPr>
              <a:t> </a:t>
            </a:r>
            <a:r>
              <a:rPr sz="1800" i="0" b="0">
                <a:solidFill>
                  <a:srgbClr val="E6EDF3"/>
                </a:solidFill>
                <a:latin typeface="Consolas"/>
              </a:rPr>
              <a:t>loginViaForm</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async</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C9B8FF"/>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u</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string</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p</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string</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8CCFF0"/>
                </a:solidFill>
                <a:latin typeface="Consolas"/>
              </a:rPr>
              <a:t>textbox</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"signin-username"</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fill</a:t>
            </a:r>
            <a:r>
              <a:rPr sz="1800" i="0" b="0">
                <a:solidFill>
                  <a:srgbClr val="E6EDF3"/>
                </a:solidFill>
                <a:latin typeface="Consolas"/>
              </a:rPr>
              <a:t>(</a:t>
            </a:r>
            <a:r>
              <a:rPr sz="1800" i="0" b="0">
                <a:solidFill>
                  <a:srgbClr val="E6EDF3"/>
                </a:solidFill>
                <a:latin typeface="Consolas"/>
              </a:rPr>
              <a:t>u</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8CCFF0"/>
                </a:solidFill>
                <a:latin typeface="Consolas"/>
              </a:rPr>
              <a:t>textbox</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"signin-password"</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fill</a:t>
            </a:r>
            <a:r>
              <a:rPr sz="1800" i="0" b="0">
                <a:solidFill>
                  <a:srgbClr val="E6EDF3"/>
                </a:solidFill>
                <a:latin typeface="Consolas"/>
              </a:rPr>
              <a:t>(</a:t>
            </a:r>
            <a:r>
              <a:rPr sz="1800" i="0" b="0">
                <a:solidFill>
                  <a:srgbClr val="E6EDF3"/>
                </a:solidFill>
                <a:latin typeface="Consolas"/>
              </a:rPr>
              <a:t>p</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const</a:t>
            </a:r>
            <a:r>
              <a:rPr sz="1800" i="0" b="0">
                <a:solidFill>
                  <a:srgbClr val="E6EDF3"/>
                </a:solidFill>
                <a:latin typeface="Consolas"/>
              </a:rPr>
              <a:t> </a:t>
            </a:r>
            <a:r>
              <a:rPr sz="1800" i="0" b="0">
                <a:solidFill>
                  <a:srgbClr val="E6EDF3"/>
                </a:solidFill>
                <a:latin typeface="Consolas"/>
              </a:rPr>
              <a:t>login</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8CCFF0"/>
                </a:solidFill>
                <a:latin typeface="Consolas"/>
              </a:rPr>
              <a:t>waitForApi</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method</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"POST"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path</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"/login"</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8CCFF0"/>
                </a:solidFill>
                <a:latin typeface="Consolas"/>
              </a:rPr>
              <a:t>bySel</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"signin-submit"</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click</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return</a:t>
            </a:r>
            <a:r>
              <a:rPr sz="1800" i="0" b="0">
                <a:solidFill>
                  <a:srgbClr val="E6EDF3"/>
                </a:solidFill>
                <a:latin typeface="Consolas"/>
              </a:rPr>
              <a:t> </a:t>
            </a:r>
            <a:r>
              <a:rPr sz="1800" i="0" b="0">
                <a:solidFill>
                  <a:srgbClr val="E6EDF3"/>
                </a:solidFill>
                <a:latin typeface="Consolas"/>
              </a:rPr>
              <a:t>login</a:t>
            </a:r>
            <a:r>
              <a:rPr sz="1800" i="0" b="0">
                <a:solidFill>
                  <a:srgbClr val="E6EDF3"/>
                </a:solidFill>
                <a:latin typeface="Consolas"/>
              </a:rPr>
              <a:t>;</a:t>
            </a:r>
            <a:r>
              <a:rPr sz="1800" i="0" b="0">
                <a:solidFill>
                  <a:srgbClr val="E6EDF3"/>
                </a:solidFill>
                <a:latin typeface="Consolas"/>
              </a:rPr>
              <a:t>   </a:t>
            </a:r>
            <a:r>
              <a:rPr sz="1800" i="1" b="0">
                <a:solidFill>
                  <a:srgbClr val="7F93A3"/>
                </a:solidFill>
                <a:latin typeface="Consolas"/>
              </a:rPr>
              <a:t>// the response, for the test to assert</a:t>
            </a:r>
          </a:p>
          <a:p>
            <a:pPr>
              <a:lnSpc>
                <a:spcPct val="108000"/>
              </a:lnSpc>
              <a:spcBef>
                <a:spcPts val="0"/>
              </a:spcBef>
              <a:spcAft>
                <a:spcPts val="0"/>
              </a:spcAft>
            </a:pPr>
            <a:r>
              <a:rPr sz="1800" i="0" b="0">
                <a:solidFill>
                  <a:srgbClr val="E6EDF3"/>
                </a:solidFill>
                <a:latin typeface="Consolas"/>
              </a:rPr>
              <a:t>}</a:t>
            </a:r>
            <a:r>
              <a:rPr sz="1800" i="0" b="0">
                <a:solidFill>
                  <a:srgbClr val="E6EDF3"/>
                </a:solidFill>
                <a:latin typeface="Consolas"/>
              </a:rPr>
              <a:t>;</a:t>
            </a:r>
          </a:p>
        </p:txBody>
      </p:sp>
      <p:sp>
        <p:nvSpPr>
          <p:cNvPr id="18" name="Rounded Rectangle 17"/>
          <p:cNvSpPr/>
          <p:nvPr/>
        </p:nvSpPr>
        <p:spPr>
          <a:xfrm>
            <a:off x="612648" y="7360920"/>
            <a:ext cx="11247120" cy="566928"/>
          </a:xfrm>
          <a:prstGeom prst="roundRect">
            <a:avLst>
              <a:gd name="adj" fmla="val 50000"/>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04088" y="7360920"/>
            <a:ext cx="11064240"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1" i="0">
                <a:solidFill>
                  <a:srgbClr val="FFFFFF"/>
                </a:solidFill>
              </a:rPr>
              <a:t>OOP · Page Objects</a:t>
            </a:r>
          </a:p>
        </p:txBody>
      </p:sp>
      <p:sp>
        <p:nvSpPr>
          <p:cNvPr id="20" name="Rounded Rectangle 19"/>
          <p:cNvSpPr/>
          <p:nvPr/>
        </p:nvSpPr>
        <p:spPr>
          <a:xfrm>
            <a:off x="12225528" y="7360920"/>
            <a:ext cx="11247120" cy="566928"/>
          </a:xfrm>
          <a:prstGeom prst="roundRect">
            <a:avLst>
              <a:gd name="adj" fmla="val 50000"/>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316967" y="7360920"/>
            <a:ext cx="11064240"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1" i="0">
                <a:solidFill>
                  <a:srgbClr val="FFFFFF"/>
                </a:solidFill>
              </a:rPr>
              <a:t>FP · functions + fixtures</a:t>
            </a:r>
          </a:p>
        </p:txBody>
      </p:sp>
      <p:sp>
        <p:nvSpPr>
          <p:cNvPr id="22" name="TextBox 21"/>
          <p:cNvSpPr txBox="1"/>
          <p:nvPr/>
        </p:nvSpPr>
        <p:spPr>
          <a:xfrm>
            <a:off x="914400" y="8092440"/>
            <a:ext cx="107899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1080">
                <a:solidFill>
                  <a:srgbClr val="FF5640"/>
                </a:solidFill>
              </a:rPr>
              <a:t>●  </a:t>
            </a:r>
            <a:r>
              <a:rPr sz="1800" b="0" i="0">
                <a:solidFill>
                  <a:srgbClr val="192B37"/>
                </a:solidFill>
              </a:rPr>
              <a:t>state hidden in </a:t>
            </a:r>
            <a:r>
              <a:rPr sz="1656" b="0" i="0">
                <a:solidFill>
                  <a:srgbClr val="C2410C"/>
                </a:solidFill>
                <a:latin typeface="Consolas"/>
              </a:rPr>
              <a:t>this</a:t>
            </a:r>
          </a:p>
        </p:txBody>
      </p:sp>
      <p:sp>
        <p:nvSpPr>
          <p:cNvPr id="23" name="TextBox 22"/>
          <p:cNvSpPr txBox="1"/>
          <p:nvPr/>
        </p:nvSpPr>
        <p:spPr>
          <a:xfrm>
            <a:off x="12527280" y="8092440"/>
            <a:ext cx="107899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1080">
                <a:solidFill>
                  <a:srgbClr val="00A859"/>
                </a:solidFill>
              </a:rPr>
              <a:t>●  </a:t>
            </a:r>
            <a:r>
              <a:rPr sz="1800" b="0" i="0">
                <a:solidFill>
                  <a:srgbClr val="192B37"/>
                </a:solidFill>
              </a:rPr>
              <a:t>no hidden state — inputs in, values out</a:t>
            </a:r>
          </a:p>
        </p:txBody>
      </p:sp>
      <p:sp>
        <p:nvSpPr>
          <p:cNvPr id="24" name="TextBox 23"/>
          <p:cNvSpPr txBox="1"/>
          <p:nvPr/>
        </p:nvSpPr>
        <p:spPr>
          <a:xfrm>
            <a:off x="914400" y="8695944"/>
            <a:ext cx="107899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1080">
                <a:solidFill>
                  <a:srgbClr val="FF5640"/>
                </a:solidFill>
              </a:rPr>
              <a:t>●  </a:t>
            </a:r>
            <a:r>
              <a:rPr sz="1800" b="0" i="0">
                <a:solidFill>
                  <a:srgbClr val="192B37"/>
                </a:solidFill>
              </a:rPr>
              <a:t>inheritance trees (BasePage…)</a:t>
            </a:r>
          </a:p>
        </p:txBody>
      </p:sp>
      <p:sp>
        <p:nvSpPr>
          <p:cNvPr id="25" name="TextBox 24"/>
          <p:cNvSpPr txBox="1"/>
          <p:nvPr/>
        </p:nvSpPr>
        <p:spPr>
          <a:xfrm>
            <a:off x="12527280" y="8695944"/>
            <a:ext cx="107899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1080">
                <a:solidFill>
                  <a:srgbClr val="00A859"/>
                </a:solidFill>
              </a:rPr>
              <a:t>●  </a:t>
            </a:r>
            <a:r>
              <a:rPr sz="1800" b="0" i="0">
                <a:solidFill>
                  <a:srgbClr val="192B37"/>
                </a:solidFill>
              </a:rPr>
              <a:t>composition: small helpers, </a:t>
            </a:r>
            <a:r>
              <a:rPr sz="1656" b="0" i="0">
                <a:solidFill>
                  <a:srgbClr val="C2410C"/>
                </a:solidFill>
                <a:latin typeface="Consolas"/>
              </a:rPr>
              <a:t>pipe</a:t>
            </a:r>
          </a:p>
        </p:txBody>
      </p:sp>
      <p:sp>
        <p:nvSpPr>
          <p:cNvPr id="26" name="TextBox 25"/>
          <p:cNvSpPr txBox="1"/>
          <p:nvPr/>
        </p:nvSpPr>
        <p:spPr>
          <a:xfrm>
            <a:off x="914400" y="9299448"/>
            <a:ext cx="107899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1080">
                <a:solidFill>
                  <a:srgbClr val="FF5640"/>
                </a:solidFill>
              </a:rPr>
              <a:t>●  </a:t>
            </a:r>
            <a:r>
              <a:rPr sz="1800" b="0" i="0">
                <a:solidFill>
                  <a:srgbClr val="192B37"/>
                </a:solidFill>
              </a:rPr>
              <a:t>new instance per page</a:t>
            </a:r>
          </a:p>
        </p:txBody>
      </p:sp>
      <p:sp>
        <p:nvSpPr>
          <p:cNvPr id="27" name="TextBox 26"/>
          <p:cNvSpPr txBox="1"/>
          <p:nvPr/>
        </p:nvSpPr>
        <p:spPr>
          <a:xfrm>
            <a:off x="12527280" y="9299448"/>
            <a:ext cx="107899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1080">
                <a:solidFill>
                  <a:srgbClr val="00A859"/>
                </a:solidFill>
              </a:rPr>
              <a:t>●  </a:t>
            </a:r>
            <a:r>
              <a:rPr sz="1800" b="0" i="0">
                <a:solidFill>
                  <a:srgbClr val="192B37"/>
                </a:solidFill>
              </a:rPr>
              <a:t>fixtures inject ready values</a:t>
            </a:r>
          </a:p>
        </p:txBody>
      </p:sp>
      <p:sp>
        <p:nvSpPr>
          <p:cNvPr id="28" name="TextBox 27"/>
          <p:cNvSpPr txBox="1"/>
          <p:nvPr/>
        </p:nvSpPr>
        <p:spPr>
          <a:xfrm>
            <a:off x="914400" y="9902952"/>
            <a:ext cx="107899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1080">
                <a:solidFill>
                  <a:srgbClr val="FF5640"/>
                </a:solidFill>
              </a:rPr>
              <a:t>●  </a:t>
            </a:r>
            <a:r>
              <a:rPr sz="1800" b="0" i="0">
                <a:solidFill>
                  <a:srgbClr val="192B37"/>
                </a:solidFill>
              </a:rPr>
              <a:t>mocking needs subclasses</a:t>
            </a:r>
          </a:p>
        </p:txBody>
      </p:sp>
      <p:sp>
        <p:nvSpPr>
          <p:cNvPr id="29" name="TextBox 28"/>
          <p:cNvSpPr txBox="1"/>
          <p:nvPr/>
        </p:nvSpPr>
        <p:spPr>
          <a:xfrm>
            <a:off x="12527280" y="9902952"/>
            <a:ext cx="107899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1080">
                <a:solidFill>
                  <a:srgbClr val="00A859"/>
                </a:solidFill>
              </a:rPr>
              <a:t>●  </a:t>
            </a:r>
            <a:r>
              <a:rPr sz="1800" b="0" i="0">
                <a:solidFill>
                  <a:srgbClr val="192B37"/>
                </a:solidFill>
              </a:rPr>
              <a:t>swap a function, stub a route</a:t>
            </a:r>
          </a:p>
        </p:txBody>
      </p:sp>
      <p:sp>
        <p:nvSpPr>
          <p:cNvPr id="30" name="Rounded Rectangle 29"/>
          <p:cNvSpPr/>
          <p:nvPr/>
        </p:nvSpPr>
        <p:spPr>
          <a:xfrm>
            <a:off x="612648" y="10789920"/>
            <a:ext cx="22860000" cy="960120"/>
          </a:xfrm>
          <a:prstGeom prst="roundRect">
            <a:avLst>
              <a:gd name="adj" fmla="val 1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886968" y="10927080"/>
            <a:ext cx="685800" cy="6858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LuLaugh.png"/>
          <p:cNvPicPr>
            <a:picLocks noChangeAspect="1"/>
          </p:cNvPicPr>
          <p:nvPr/>
        </p:nvPicPr>
        <p:blipFill>
          <a:blip r:embed="rId3"/>
          <a:stretch>
            <a:fillRect/>
          </a:stretch>
        </p:blipFill>
        <p:spPr>
          <a:xfrm>
            <a:off x="1051560" y="11091672"/>
            <a:ext cx="356616" cy="356616"/>
          </a:xfrm>
          <a:prstGeom prst="rect">
            <a:avLst/>
          </a:prstGeom>
        </p:spPr>
      </p:pic>
      <p:sp>
        <p:nvSpPr>
          <p:cNvPr id="33" name="TextBox 32"/>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We didn't object to OOP. We just never instantiated 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Automation</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8683C3"/>
                </a:solidFill>
              </a:rPr>
              <a:t>AUTOMATION SUITE · PROGRAMMING CONCEPTS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Eight ideas doing the heavy lifting</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26</a:t>
            </a:r>
          </a:p>
        </p:txBody>
      </p:sp>
      <p:sp>
        <p:nvSpPr>
          <p:cNvPr id="6" name="Rounded Rectangle 5"/>
          <p:cNvSpPr/>
          <p:nvPr/>
        </p:nvSpPr>
        <p:spPr>
          <a:xfrm>
            <a:off x="612648" y="2926080"/>
            <a:ext cx="5532120" cy="2514600"/>
          </a:xfrm>
          <a:prstGeom prst="roundRect">
            <a:avLst>
              <a:gd name="adj" fmla="val 8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86968" y="3200400"/>
            <a:ext cx="822960" cy="82296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SquareFunction.png"/>
          <p:cNvPicPr>
            <a:picLocks noChangeAspect="1"/>
          </p:cNvPicPr>
          <p:nvPr/>
        </p:nvPicPr>
        <p:blipFill>
          <a:blip r:embed="rId3"/>
          <a:stretch>
            <a:fillRect/>
          </a:stretch>
        </p:blipFill>
        <p:spPr>
          <a:xfrm>
            <a:off x="1084478" y="3397910"/>
            <a:ext cx="427939" cy="427939"/>
          </a:xfrm>
          <a:prstGeom prst="rect">
            <a:avLst/>
          </a:prstGeom>
        </p:spPr>
      </p:pic>
      <p:sp>
        <p:nvSpPr>
          <p:cNvPr id="9" name="TextBox 8"/>
          <p:cNvSpPr txBox="1"/>
          <p:nvPr/>
        </p:nvSpPr>
        <p:spPr>
          <a:xfrm>
            <a:off x="4818888" y="3090672"/>
            <a:ext cx="109728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3D9BC8"/>
                </a:solidFill>
                <a:latin typeface="+mj-lt"/>
              </a:rPr>
              <a:t>01</a:t>
            </a:r>
          </a:p>
        </p:txBody>
      </p:sp>
      <p:sp>
        <p:nvSpPr>
          <p:cNvPr id="10" name="TextBox 9"/>
          <p:cNvSpPr txBox="1"/>
          <p:nvPr/>
        </p:nvSpPr>
        <p:spPr>
          <a:xfrm>
            <a:off x="886968" y="4114800"/>
            <a:ext cx="50292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Pure functions</a:t>
            </a:r>
          </a:p>
        </p:txBody>
      </p:sp>
      <p:sp>
        <p:nvSpPr>
          <p:cNvPr id="11" name="TextBox 10"/>
          <p:cNvSpPr txBox="1"/>
          <p:nvPr/>
        </p:nvSpPr>
        <p:spPr>
          <a:xfrm>
            <a:off x="886968" y="4663440"/>
            <a:ext cx="5029200" cy="731520"/>
          </a:xfrm>
          <a:prstGeom prst="rect">
            <a:avLst/>
          </a:prstGeom>
          <a:noFill/>
        </p:spPr>
        <p:txBody>
          <a:bodyPr wrap="square" lIns="0" rIns="0" tIns="18288" bIns="18288" anchor="t">
            <a:noAutofit/>
          </a:bodyPr>
          <a:lstStyle/>
          <a:p>
            <a:pPr algn="l">
              <a:lnSpc>
                <a:spcPct val="100000"/>
              </a:lnSpc>
              <a:spcBef>
                <a:spcPts val="0"/>
              </a:spcBef>
              <a:spcAft>
                <a:spcPts val="0"/>
              </a:spcAft>
            </a:pPr>
            <a:r>
              <a:rPr sz="1472" b="0" i="0">
                <a:solidFill>
                  <a:srgbClr val="C2410C"/>
                </a:solidFill>
                <a:latin typeface="Consolas"/>
              </a:rPr>
              <a:t>matches</a:t>
            </a:r>
            <a:r>
              <a:rPr sz="1600" b="0" i="0">
                <a:solidFill>
                  <a:srgbClr val="192B37"/>
                </a:solidFill>
              </a:rPr>
              <a:t>, </a:t>
            </a:r>
            <a:r>
              <a:rPr sz="1472" b="0" i="0">
                <a:solidFill>
                  <a:srgbClr val="C2410C"/>
                </a:solidFill>
                <a:latin typeface="Consolas"/>
              </a:rPr>
              <a:t>pick</a:t>
            </a:r>
            <a:r>
              <a:rPr sz="1600" b="0" i="0">
                <a:solidFill>
                  <a:srgbClr val="192B37"/>
                </a:solidFill>
              </a:rPr>
              <a:t>, </a:t>
            </a:r>
            <a:r>
              <a:rPr sz="1472" b="0" i="0">
                <a:solidFill>
                  <a:srgbClr val="C2410C"/>
                </a:solidFill>
                <a:latin typeface="Consolas"/>
              </a:rPr>
              <a:t>range</a:t>
            </a:r>
            <a:r>
              <a:rPr sz="1600" b="0" i="0">
                <a:solidFill>
                  <a:srgbClr val="192B37"/>
                </a:solidFill>
              </a:rPr>
              <a:t> in </a:t>
            </a:r>
            <a:r>
              <a:rPr sz="1472" b="0" i="0">
                <a:solidFill>
                  <a:srgbClr val="C2410C"/>
                </a:solidFill>
                <a:latin typeface="Consolas"/>
              </a:rPr>
              <a:t>fp.ts</a:t>
            </a:r>
          </a:p>
        </p:txBody>
      </p:sp>
      <p:sp>
        <p:nvSpPr>
          <p:cNvPr id="12" name="Rounded Rectangle 11"/>
          <p:cNvSpPr/>
          <p:nvPr/>
        </p:nvSpPr>
        <p:spPr>
          <a:xfrm>
            <a:off x="6373368" y="2926080"/>
            <a:ext cx="5532120" cy="2514600"/>
          </a:xfrm>
          <a:prstGeom prst="roundRect">
            <a:avLst>
              <a:gd name="adj" fmla="val 8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647688" y="3200400"/>
            <a:ext cx="822960" cy="82296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uLock.png"/>
          <p:cNvPicPr>
            <a:picLocks noChangeAspect="1"/>
          </p:cNvPicPr>
          <p:nvPr/>
        </p:nvPicPr>
        <p:blipFill>
          <a:blip r:embed="rId4"/>
          <a:stretch>
            <a:fillRect/>
          </a:stretch>
        </p:blipFill>
        <p:spPr>
          <a:xfrm>
            <a:off x="6845198" y="3397910"/>
            <a:ext cx="427939" cy="427939"/>
          </a:xfrm>
          <a:prstGeom prst="rect">
            <a:avLst/>
          </a:prstGeom>
        </p:spPr>
      </p:pic>
      <p:sp>
        <p:nvSpPr>
          <p:cNvPr id="15" name="TextBox 14"/>
          <p:cNvSpPr txBox="1"/>
          <p:nvPr/>
        </p:nvSpPr>
        <p:spPr>
          <a:xfrm>
            <a:off x="10579608" y="3090672"/>
            <a:ext cx="109728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00A859"/>
                </a:solidFill>
                <a:latin typeface="+mj-lt"/>
              </a:rPr>
              <a:t>02</a:t>
            </a:r>
          </a:p>
        </p:txBody>
      </p:sp>
      <p:sp>
        <p:nvSpPr>
          <p:cNvPr id="16" name="TextBox 15"/>
          <p:cNvSpPr txBox="1"/>
          <p:nvPr/>
        </p:nvSpPr>
        <p:spPr>
          <a:xfrm>
            <a:off x="6647688" y="4114800"/>
            <a:ext cx="50292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Immutability</a:t>
            </a:r>
          </a:p>
        </p:txBody>
      </p:sp>
      <p:sp>
        <p:nvSpPr>
          <p:cNvPr id="17" name="TextBox 16"/>
          <p:cNvSpPr txBox="1"/>
          <p:nvPr/>
        </p:nvSpPr>
        <p:spPr>
          <a:xfrm>
            <a:off x="6647688" y="4663440"/>
            <a:ext cx="5029200" cy="731520"/>
          </a:xfrm>
          <a:prstGeom prst="rect">
            <a:avLst/>
          </a:prstGeom>
          <a:noFill/>
        </p:spPr>
        <p:txBody>
          <a:bodyPr wrap="square" lIns="0" rIns="0" tIns="18288" bIns="18288" anchor="t">
            <a:noAutofit/>
          </a:bodyPr>
          <a:lstStyle/>
          <a:p>
            <a:pPr algn="l">
              <a:lnSpc>
                <a:spcPct val="100000"/>
              </a:lnSpc>
              <a:spcBef>
                <a:spcPts val="0"/>
              </a:spcBef>
              <a:spcAft>
                <a:spcPts val="0"/>
              </a:spcAft>
            </a:pPr>
            <a:r>
              <a:rPr sz="1472" b="0" i="0">
                <a:solidFill>
                  <a:srgbClr val="C2410C"/>
                </a:solidFill>
                <a:latin typeface="Consolas"/>
              </a:rPr>
              <a:t>Object.freeze</a:t>
            </a:r>
            <a:r>
              <a:rPr sz="1600" b="0" i="0">
                <a:solidFill>
                  <a:srgbClr val="192B37"/>
                </a:solidFill>
              </a:rPr>
              <a:t> on every API result &amp; factory</a:t>
            </a:r>
          </a:p>
        </p:txBody>
      </p:sp>
      <p:sp>
        <p:nvSpPr>
          <p:cNvPr id="18" name="Rounded Rectangle 17"/>
          <p:cNvSpPr/>
          <p:nvPr/>
        </p:nvSpPr>
        <p:spPr>
          <a:xfrm>
            <a:off x="12134088" y="2926080"/>
            <a:ext cx="5532120" cy="2514600"/>
          </a:xfrm>
          <a:prstGeom prst="roundRect">
            <a:avLst>
              <a:gd name="adj" fmla="val 8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2408408" y="3200400"/>
            <a:ext cx="822960" cy="82296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uLayers.png"/>
          <p:cNvPicPr>
            <a:picLocks noChangeAspect="1"/>
          </p:cNvPicPr>
          <p:nvPr/>
        </p:nvPicPr>
        <p:blipFill>
          <a:blip r:embed="rId5"/>
          <a:stretch>
            <a:fillRect/>
          </a:stretch>
        </p:blipFill>
        <p:spPr>
          <a:xfrm>
            <a:off x="12605918" y="3397910"/>
            <a:ext cx="427939" cy="427939"/>
          </a:xfrm>
          <a:prstGeom prst="rect">
            <a:avLst/>
          </a:prstGeom>
        </p:spPr>
      </p:pic>
      <p:sp>
        <p:nvSpPr>
          <p:cNvPr id="21" name="TextBox 20"/>
          <p:cNvSpPr txBox="1"/>
          <p:nvPr/>
        </p:nvSpPr>
        <p:spPr>
          <a:xfrm>
            <a:off x="16340327" y="3090672"/>
            <a:ext cx="109728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FF5640"/>
                </a:solidFill>
                <a:latin typeface="+mj-lt"/>
              </a:rPr>
              <a:t>03</a:t>
            </a:r>
          </a:p>
        </p:txBody>
      </p:sp>
      <p:sp>
        <p:nvSpPr>
          <p:cNvPr id="22" name="TextBox 21"/>
          <p:cNvSpPr txBox="1"/>
          <p:nvPr/>
        </p:nvSpPr>
        <p:spPr>
          <a:xfrm>
            <a:off x="12408408" y="4114800"/>
            <a:ext cx="50292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Higher-order functions</a:t>
            </a:r>
          </a:p>
        </p:txBody>
      </p:sp>
      <p:sp>
        <p:nvSpPr>
          <p:cNvPr id="23" name="TextBox 22"/>
          <p:cNvSpPr txBox="1"/>
          <p:nvPr/>
        </p:nvSpPr>
        <p:spPr>
          <a:xfrm>
            <a:off x="12408408" y="4663440"/>
            <a:ext cx="5029200" cy="731520"/>
          </a:xfrm>
          <a:prstGeom prst="rect">
            <a:avLst/>
          </a:prstGeom>
          <a:noFill/>
        </p:spPr>
        <p:txBody>
          <a:bodyPr wrap="square" lIns="0" rIns="0" tIns="18288" bIns="18288" anchor="t">
            <a:noAutofit/>
          </a:bodyPr>
          <a:lstStyle/>
          <a:p>
            <a:pPr algn="l">
              <a:lnSpc>
                <a:spcPct val="100000"/>
              </a:lnSpc>
              <a:spcBef>
                <a:spcPts val="0"/>
              </a:spcBef>
              <a:spcAft>
                <a:spcPts val="0"/>
              </a:spcAft>
            </a:pPr>
            <a:r>
              <a:rPr sz="1472" b="0" i="0">
                <a:solidFill>
                  <a:srgbClr val="C2410C"/>
                </a:solidFill>
                <a:latin typeface="Consolas"/>
              </a:rPr>
              <a:t>matchesRequest(m)</a:t>
            </a:r>
            <a:r>
              <a:rPr sz="1600" b="0" i="0">
                <a:solidFill>
                  <a:srgbClr val="192B37"/>
                </a:solidFill>
              </a:rPr>
              <a:t> returns a predicate</a:t>
            </a:r>
          </a:p>
        </p:txBody>
      </p:sp>
      <p:sp>
        <p:nvSpPr>
          <p:cNvPr id="24" name="Rounded Rectangle 23"/>
          <p:cNvSpPr/>
          <p:nvPr/>
        </p:nvSpPr>
        <p:spPr>
          <a:xfrm>
            <a:off x="17894808" y="2926080"/>
            <a:ext cx="5532120" cy="2514600"/>
          </a:xfrm>
          <a:prstGeom prst="roundRect">
            <a:avLst>
              <a:gd name="adj" fmla="val 8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8169128" y="3200400"/>
            <a:ext cx="822960" cy="82296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LuMerge.png"/>
          <p:cNvPicPr>
            <a:picLocks noChangeAspect="1"/>
          </p:cNvPicPr>
          <p:nvPr/>
        </p:nvPicPr>
        <p:blipFill>
          <a:blip r:embed="rId6"/>
          <a:stretch>
            <a:fillRect/>
          </a:stretch>
        </p:blipFill>
        <p:spPr>
          <a:xfrm>
            <a:off x="18366638" y="3397910"/>
            <a:ext cx="427939" cy="427939"/>
          </a:xfrm>
          <a:prstGeom prst="rect">
            <a:avLst/>
          </a:prstGeom>
        </p:spPr>
      </p:pic>
      <p:sp>
        <p:nvSpPr>
          <p:cNvPr id="27" name="TextBox 26"/>
          <p:cNvSpPr txBox="1"/>
          <p:nvPr/>
        </p:nvSpPr>
        <p:spPr>
          <a:xfrm>
            <a:off x="22101048" y="3090672"/>
            <a:ext cx="109728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8683C3"/>
                </a:solidFill>
                <a:latin typeface="+mj-lt"/>
              </a:rPr>
              <a:t>04</a:t>
            </a:r>
          </a:p>
        </p:txBody>
      </p:sp>
      <p:sp>
        <p:nvSpPr>
          <p:cNvPr id="28" name="TextBox 27"/>
          <p:cNvSpPr txBox="1"/>
          <p:nvPr/>
        </p:nvSpPr>
        <p:spPr>
          <a:xfrm>
            <a:off x="18169128" y="4114800"/>
            <a:ext cx="50292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Composition</a:t>
            </a:r>
          </a:p>
        </p:txBody>
      </p:sp>
      <p:sp>
        <p:nvSpPr>
          <p:cNvPr id="29" name="TextBox 28"/>
          <p:cNvSpPr txBox="1"/>
          <p:nvPr/>
        </p:nvSpPr>
        <p:spPr>
          <a:xfrm>
            <a:off x="18169128" y="4663440"/>
            <a:ext cx="5029200" cy="731520"/>
          </a:xfrm>
          <a:prstGeom prst="rect">
            <a:avLst/>
          </a:prstGeom>
          <a:noFill/>
        </p:spPr>
        <p:txBody>
          <a:bodyPr wrap="square" lIns="0" rIns="0" tIns="18288" bIns="18288" anchor="t">
            <a:noAutofit/>
          </a:bodyPr>
          <a:lstStyle/>
          <a:p>
            <a:pPr algn="l">
              <a:lnSpc>
                <a:spcPct val="100000"/>
              </a:lnSpc>
              <a:spcBef>
                <a:spcPts val="0"/>
              </a:spcBef>
              <a:spcAft>
                <a:spcPts val="0"/>
              </a:spcAft>
            </a:pPr>
            <a:r>
              <a:rPr sz="1472" b="0" i="0">
                <a:solidFill>
                  <a:srgbClr val="C2410C"/>
                </a:solidFill>
                <a:latin typeface="Consolas"/>
              </a:rPr>
              <a:t>pipe(...fns)</a:t>
            </a:r>
            <a:r>
              <a:rPr sz="1600" b="0" i="0">
                <a:solidFill>
                  <a:srgbClr val="192B37"/>
                </a:solidFill>
              </a:rPr>
              <a:t> · helpers built from helpers</a:t>
            </a:r>
          </a:p>
        </p:txBody>
      </p:sp>
      <p:sp>
        <p:nvSpPr>
          <p:cNvPr id="30" name="Rounded Rectangle 29"/>
          <p:cNvSpPr/>
          <p:nvPr/>
        </p:nvSpPr>
        <p:spPr>
          <a:xfrm>
            <a:off x="612648" y="5669280"/>
            <a:ext cx="5532120" cy="2514600"/>
          </a:xfrm>
          <a:prstGeom prst="roundRect">
            <a:avLst>
              <a:gd name="adj" fmla="val 8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886968" y="5943600"/>
            <a:ext cx="822960" cy="82296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LuHourglass.png"/>
          <p:cNvPicPr>
            <a:picLocks noChangeAspect="1"/>
          </p:cNvPicPr>
          <p:nvPr/>
        </p:nvPicPr>
        <p:blipFill>
          <a:blip r:embed="rId7"/>
          <a:stretch>
            <a:fillRect/>
          </a:stretch>
        </p:blipFill>
        <p:spPr>
          <a:xfrm>
            <a:off x="1084478" y="6141110"/>
            <a:ext cx="427939" cy="427939"/>
          </a:xfrm>
          <a:prstGeom prst="rect">
            <a:avLst/>
          </a:prstGeom>
        </p:spPr>
      </p:pic>
      <p:sp>
        <p:nvSpPr>
          <p:cNvPr id="33" name="TextBox 32"/>
          <p:cNvSpPr txBox="1"/>
          <p:nvPr/>
        </p:nvSpPr>
        <p:spPr>
          <a:xfrm>
            <a:off x="4818888" y="5833872"/>
            <a:ext cx="109728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DB7D00"/>
                </a:solidFill>
                <a:latin typeface="+mj-lt"/>
              </a:rPr>
              <a:t>05</a:t>
            </a:r>
          </a:p>
        </p:txBody>
      </p:sp>
      <p:sp>
        <p:nvSpPr>
          <p:cNvPr id="34" name="TextBox 33"/>
          <p:cNvSpPr txBox="1"/>
          <p:nvPr/>
        </p:nvSpPr>
        <p:spPr>
          <a:xfrm>
            <a:off x="886968" y="6858000"/>
            <a:ext cx="50292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async / await</a:t>
            </a:r>
          </a:p>
        </p:txBody>
      </p:sp>
      <p:sp>
        <p:nvSpPr>
          <p:cNvPr id="35" name="TextBox 34"/>
          <p:cNvSpPr txBox="1"/>
          <p:nvPr/>
        </p:nvSpPr>
        <p:spPr>
          <a:xfrm>
            <a:off x="886968" y="7406640"/>
            <a:ext cx="5029200" cy="73152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192B37"/>
                </a:solidFill>
              </a:rPr>
              <a:t>every step awaits — no dangling promises</a:t>
            </a:r>
          </a:p>
        </p:txBody>
      </p:sp>
      <p:sp>
        <p:nvSpPr>
          <p:cNvPr id="36" name="Rounded Rectangle 35"/>
          <p:cNvSpPr/>
          <p:nvPr/>
        </p:nvSpPr>
        <p:spPr>
          <a:xfrm>
            <a:off x="6373368" y="5669280"/>
            <a:ext cx="5532120" cy="2514600"/>
          </a:xfrm>
          <a:prstGeom prst="roundRect">
            <a:avLst>
              <a:gd name="adj" fmla="val 8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6647688" y="5943600"/>
            <a:ext cx="822960" cy="82296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LuBraces.png"/>
          <p:cNvPicPr>
            <a:picLocks noChangeAspect="1"/>
          </p:cNvPicPr>
          <p:nvPr/>
        </p:nvPicPr>
        <p:blipFill>
          <a:blip r:embed="rId8"/>
          <a:stretch>
            <a:fillRect/>
          </a:stretch>
        </p:blipFill>
        <p:spPr>
          <a:xfrm>
            <a:off x="6845198" y="6141110"/>
            <a:ext cx="427939" cy="427939"/>
          </a:xfrm>
          <a:prstGeom prst="rect">
            <a:avLst/>
          </a:prstGeom>
        </p:spPr>
      </p:pic>
      <p:sp>
        <p:nvSpPr>
          <p:cNvPr id="39" name="TextBox 38"/>
          <p:cNvSpPr txBox="1"/>
          <p:nvPr/>
        </p:nvSpPr>
        <p:spPr>
          <a:xfrm>
            <a:off x="10579608" y="5833872"/>
            <a:ext cx="109728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729A00"/>
                </a:solidFill>
                <a:latin typeface="+mj-lt"/>
              </a:rPr>
              <a:t>06</a:t>
            </a:r>
          </a:p>
        </p:txBody>
      </p:sp>
      <p:sp>
        <p:nvSpPr>
          <p:cNvPr id="40" name="TextBox 39"/>
          <p:cNvSpPr txBox="1"/>
          <p:nvPr/>
        </p:nvSpPr>
        <p:spPr>
          <a:xfrm>
            <a:off x="6647688" y="6858000"/>
            <a:ext cx="50292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Generics</a:t>
            </a:r>
          </a:p>
        </p:txBody>
      </p:sp>
      <p:sp>
        <p:nvSpPr>
          <p:cNvPr id="41" name="TextBox 40"/>
          <p:cNvSpPr txBox="1"/>
          <p:nvPr/>
        </p:nvSpPr>
        <p:spPr>
          <a:xfrm>
            <a:off x="6647688" y="7406640"/>
            <a:ext cx="5029200" cy="731520"/>
          </a:xfrm>
          <a:prstGeom prst="rect">
            <a:avLst/>
          </a:prstGeom>
          <a:noFill/>
        </p:spPr>
        <p:txBody>
          <a:bodyPr wrap="square" lIns="0" rIns="0" tIns="18288" bIns="18288" anchor="t">
            <a:noAutofit/>
          </a:bodyPr>
          <a:lstStyle/>
          <a:p>
            <a:pPr algn="l">
              <a:lnSpc>
                <a:spcPct val="100000"/>
              </a:lnSpc>
              <a:spcBef>
                <a:spcPts val="0"/>
              </a:spcBef>
              <a:spcAft>
                <a:spcPts val="0"/>
              </a:spcAft>
            </a:pPr>
            <a:r>
              <a:rPr sz="1472" b="0" i="0">
                <a:solidFill>
                  <a:srgbClr val="C2410C"/>
                </a:solidFill>
                <a:latin typeface="Consolas"/>
              </a:rPr>
              <a:t>ApiResult&lt;T&gt;</a:t>
            </a:r>
            <a:r>
              <a:rPr sz="1600" b="0" i="0">
                <a:solidFill>
                  <a:srgbClr val="192B37"/>
                </a:solidFill>
              </a:rPr>
              <a:t> · </a:t>
            </a:r>
            <a:r>
              <a:rPr sz="1472" b="0" i="0">
                <a:solidFill>
                  <a:srgbClr val="C2410C"/>
                </a:solidFill>
                <a:latin typeface="Consolas"/>
              </a:rPr>
              <a:t>send&lt;T&gt;()</a:t>
            </a:r>
            <a:r>
              <a:rPr sz="1600" b="0" i="0">
                <a:solidFill>
                  <a:srgbClr val="192B37"/>
                </a:solidFill>
              </a:rPr>
              <a:t> · </a:t>
            </a:r>
            <a:r>
              <a:rPr sz="1472" b="0" i="0">
                <a:solidFill>
                  <a:srgbClr val="C2410C"/>
                </a:solidFill>
                <a:latin typeface="Consolas"/>
              </a:rPr>
              <a:t>Builder&lt;T&gt;</a:t>
            </a:r>
          </a:p>
        </p:txBody>
      </p:sp>
      <p:sp>
        <p:nvSpPr>
          <p:cNvPr id="42" name="Rounded Rectangle 41"/>
          <p:cNvSpPr/>
          <p:nvPr/>
        </p:nvSpPr>
        <p:spPr>
          <a:xfrm>
            <a:off x="12134088" y="5669280"/>
            <a:ext cx="5532120" cy="2514600"/>
          </a:xfrm>
          <a:prstGeom prst="roundRect">
            <a:avLst>
              <a:gd name="adj" fmla="val 8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2408408" y="5943600"/>
            <a:ext cx="822960" cy="82296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LuPackage.png"/>
          <p:cNvPicPr>
            <a:picLocks noChangeAspect="1"/>
          </p:cNvPicPr>
          <p:nvPr/>
        </p:nvPicPr>
        <p:blipFill>
          <a:blip r:embed="rId9"/>
          <a:stretch>
            <a:fillRect/>
          </a:stretch>
        </p:blipFill>
        <p:spPr>
          <a:xfrm>
            <a:off x="12605918" y="6141110"/>
            <a:ext cx="427939" cy="427939"/>
          </a:xfrm>
          <a:prstGeom prst="rect">
            <a:avLst/>
          </a:prstGeom>
        </p:spPr>
      </p:pic>
      <p:sp>
        <p:nvSpPr>
          <p:cNvPr id="45" name="TextBox 44"/>
          <p:cNvSpPr txBox="1"/>
          <p:nvPr/>
        </p:nvSpPr>
        <p:spPr>
          <a:xfrm>
            <a:off x="16340327" y="5833872"/>
            <a:ext cx="109728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3D9BC8"/>
                </a:solidFill>
                <a:latin typeface="+mj-lt"/>
              </a:rPr>
              <a:t>07</a:t>
            </a:r>
          </a:p>
        </p:txBody>
      </p:sp>
      <p:sp>
        <p:nvSpPr>
          <p:cNvPr id="46" name="TextBox 45"/>
          <p:cNvSpPr txBox="1"/>
          <p:nvPr/>
        </p:nvSpPr>
        <p:spPr>
          <a:xfrm>
            <a:off x="12408408" y="6858000"/>
            <a:ext cx="50292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Dependency injection</a:t>
            </a:r>
          </a:p>
        </p:txBody>
      </p:sp>
      <p:sp>
        <p:nvSpPr>
          <p:cNvPr id="47" name="TextBox 46"/>
          <p:cNvSpPr txBox="1"/>
          <p:nvPr/>
        </p:nvSpPr>
        <p:spPr>
          <a:xfrm>
            <a:off x="12408408" y="7406640"/>
            <a:ext cx="5029200" cy="73152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192B37"/>
                </a:solidFill>
              </a:rPr>
              <a:t>fixtures: </a:t>
            </a:r>
            <a:r>
              <a:rPr sz="1472" b="0" i="0">
                <a:solidFill>
                  <a:srgbClr val="C2410C"/>
                </a:solidFill>
                <a:latin typeface="Consolas"/>
              </a:rPr>
              <a:t>api</a:t>
            </a:r>
            <a:r>
              <a:rPr sz="1600" b="0" i="0">
                <a:solidFill>
                  <a:srgbClr val="192B37"/>
                </a:solidFill>
              </a:rPr>
              <a:t>, </a:t>
            </a:r>
            <a:r>
              <a:rPr sz="1472" b="0" i="0">
                <a:solidFill>
                  <a:srgbClr val="C2410C"/>
                </a:solidFill>
                <a:latin typeface="Consolas"/>
              </a:rPr>
              <a:t>db</a:t>
            </a:r>
            <a:r>
              <a:rPr sz="1600" b="0" i="0">
                <a:solidFill>
                  <a:srgbClr val="192B37"/>
                </a:solidFill>
              </a:rPr>
              <a:t>, </a:t>
            </a:r>
            <a:r>
              <a:rPr sz="1472" b="0" i="0">
                <a:solidFill>
                  <a:srgbClr val="C2410C"/>
                </a:solidFill>
                <a:latin typeface="Consolas"/>
              </a:rPr>
              <a:t>page</a:t>
            </a:r>
            <a:r>
              <a:rPr sz="1600" b="0" i="0">
                <a:solidFill>
                  <a:srgbClr val="192B37"/>
                </a:solidFill>
              </a:rPr>
              <a:t>, </a:t>
            </a:r>
            <a:r>
              <a:rPr sz="1472" b="0" i="0">
                <a:solidFill>
                  <a:srgbClr val="C2410C"/>
                </a:solidFill>
                <a:latin typeface="Consolas"/>
              </a:rPr>
              <a:t>users</a:t>
            </a:r>
          </a:p>
        </p:txBody>
      </p:sp>
      <p:sp>
        <p:nvSpPr>
          <p:cNvPr id="48" name="Rounded Rectangle 47"/>
          <p:cNvSpPr/>
          <p:nvPr/>
        </p:nvSpPr>
        <p:spPr>
          <a:xfrm>
            <a:off x="17894808" y="5669280"/>
            <a:ext cx="5532120" cy="2514600"/>
          </a:xfrm>
          <a:prstGeom prst="roundRect">
            <a:avLst>
              <a:gd name="adj" fmla="val 8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18169128" y="5943600"/>
            <a:ext cx="822960" cy="82296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LuBox.png"/>
          <p:cNvPicPr>
            <a:picLocks noChangeAspect="1"/>
          </p:cNvPicPr>
          <p:nvPr/>
        </p:nvPicPr>
        <p:blipFill>
          <a:blip r:embed="rId10"/>
          <a:stretch>
            <a:fillRect/>
          </a:stretch>
        </p:blipFill>
        <p:spPr>
          <a:xfrm>
            <a:off x="18366638" y="6141110"/>
            <a:ext cx="427939" cy="427939"/>
          </a:xfrm>
          <a:prstGeom prst="rect">
            <a:avLst/>
          </a:prstGeom>
        </p:spPr>
      </p:pic>
      <p:sp>
        <p:nvSpPr>
          <p:cNvPr id="51" name="TextBox 50"/>
          <p:cNvSpPr txBox="1"/>
          <p:nvPr/>
        </p:nvSpPr>
        <p:spPr>
          <a:xfrm>
            <a:off x="22101048" y="5833872"/>
            <a:ext cx="109728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00A859"/>
                </a:solidFill>
                <a:latin typeface="+mj-lt"/>
              </a:rPr>
              <a:t>08</a:t>
            </a:r>
          </a:p>
        </p:txBody>
      </p:sp>
      <p:sp>
        <p:nvSpPr>
          <p:cNvPr id="52" name="TextBox 51"/>
          <p:cNvSpPr txBox="1"/>
          <p:nvPr/>
        </p:nvSpPr>
        <p:spPr>
          <a:xfrm>
            <a:off x="18169128" y="6858000"/>
            <a:ext cx="50292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Closures</a:t>
            </a:r>
          </a:p>
        </p:txBody>
      </p:sp>
      <p:sp>
        <p:nvSpPr>
          <p:cNvPr id="53" name="TextBox 52"/>
          <p:cNvSpPr txBox="1"/>
          <p:nvPr/>
        </p:nvSpPr>
        <p:spPr>
          <a:xfrm>
            <a:off x="18169128" y="7406640"/>
            <a:ext cx="5029200" cy="731520"/>
          </a:xfrm>
          <a:prstGeom prst="rect">
            <a:avLst/>
          </a:prstGeom>
          <a:noFill/>
        </p:spPr>
        <p:txBody>
          <a:bodyPr wrap="square" lIns="0" rIns="0" tIns="18288" bIns="18288" anchor="t">
            <a:noAutofit/>
          </a:bodyPr>
          <a:lstStyle/>
          <a:p>
            <a:pPr algn="l">
              <a:lnSpc>
                <a:spcPct val="100000"/>
              </a:lnSpc>
              <a:spcBef>
                <a:spcPts val="0"/>
              </a:spcBef>
              <a:spcAft>
                <a:spcPts val="0"/>
              </a:spcAft>
            </a:pPr>
            <a:r>
              <a:rPr sz="1472" b="0" i="0">
                <a:solidFill>
                  <a:srgbClr val="C2410C"/>
                </a:solidFill>
                <a:latin typeface="Consolas"/>
              </a:rPr>
              <a:t>recordApi()</a:t>
            </a:r>
            <a:r>
              <a:rPr sz="1600" b="0" i="0">
                <a:solidFill>
                  <a:srgbClr val="192B37"/>
                </a:solidFill>
              </a:rPr>
              <a:t> keeps </a:t>
            </a:r>
            <a:r>
              <a:rPr sz="1472" b="0" i="0">
                <a:solidFill>
                  <a:srgbClr val="C2410C"/>
                </a:solidFill>
                <a:latin typeface="Consolas"/>
              </a:rPr>
              <a:t>seen[]</a:t>
            </a:r>
            <a:r>
              <a:rPr sz="1600" b="0" i="0">
                <a:solidFill>
                  <a:srgbClr val="192B37"/>
                </a:solidFill>
              </a:rPr>
              <a:t> private</a:t>
            </a:r>
          </a:p>
        </p:txBody>
      </p:sp>
      <p:sp>
        <p:nvSpPr>
          <p:cNvPr id="54" name="Rounded Rectangle 53"/>
          <p:cNvSpPr/>
          <p:nvPr/>
        </p:nvSpPr>
        <p:spPr>
          <a:xfrm>
            <a:off x="612648" y="8549640"/>
            <a:ext cx="22860000" cy="1874519"/>
          </a:xfrm>
          <a:prstGeom prst="roundRect">
            <a:avLst>
              <a:gd name="adj" fmla="val 10000"/>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886968" y="875080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179576" y="875080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472184" y="875080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892807" y="8622792"/>
            <a:ext cx="2130552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src/utils/fp.ts</a:t>
            </a:r>
          </a:p>
        </p:txBody>
      </p:sp>
      <p:sp>
        <p:nvSpPr>
          <p:cNvPr id="59" name="TextBox 58"/>
          <p:cNvSpPr txBox="1"/>
          <p:nvPr/>
        </p:nvSpPr>
        <p:spPr>
          <a:xfrm>
            <a:off x="886968" y="9098280"/>
            <a:ext cx="22402800" cy="1188719"/>
          </a:xfrm>
          <a:prstGeom prst="rect">
            <a:avLst/>
          </a:prstGeom>
          <a:noFill/>
        </p:spPr>
        <p:txBody>
          <a:bodyPr wrap="none" lIns="0" rIns="0" tIns="0" bIns="0">
            <a:noAutofit/>
          </a:bodyPr>
          <a:lstStyle/>
          <a:p>
            <a:pPr>
              <a:lnSpc>
                <a:spcPct val="108000"/>
              </a:lnSpc>
              <a:spcBef>
                <a:spcPts val="0"/>
              </a:spcBef>
              <a:spcAft>
                <a:spcPts val="0"/>
              </a:spcAft>
            </a:pPr>
            <a:r>
              <a:rPr sz="1800" i="0" b="0">
                <a:solidFill>
                  <a:srgbClr val="FF9C8A"/>
                </a:solidFill>
                <a:latin typeface="Consolas"/>
              </a:rPr>
              <a:t>export</a:t>
            </a:r>
            <a:r>
              <a:rPr sz="1800" i="0" b="0">
                <a:solidFill>
                  <a:srgbClr val="E6EDF3"/>
                </a:solidFill>
                <a:latin typeface="Consolas"/>
              </a:rPr>
              <a:t> </a:t>
            </a:r>
            <a:r>
              <a:rPr sz="1800" i="0" b="0">
                <a:solidFill>
                  <a:srgbClr val="FF9C8A"/>
                </a:solidFill>
                <a:latin typeface="Consolas"/>
              </a:rPr>
              <a:t>const</a:t>
            </a:r>
            <a:r>
              <a:rPr sz="1800" i="0" b="0">
                <a:solidFill>
                  <a:srgbClr val="E6EDF3"/>
                </a:solidFill>
                <a:latin typeface="Consolas"/>
              </a:rPr>
              <a:t> </a:t>
            </a:r>
            <a:r>
              <a:rPr sz="1800" i="0" b="0">
                <a:solidFill>
                  <a:srgbClr val="E6EDF3"/>
                </a:solidFill>
                <a:latin typeface="Consolas"/>
              </a:rPr>
              <a:t>pipe</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&lt;</a:t>
            </a:r>
            <a:r>
              <a:rPr sz="1800" i="0" b="0">
                <a:solidFill>
                  <a:srgbClr val="C9B8FF"/>
                </a:solidFill>
                <a:latin typeface="Consolas"/>
              </a:rPr>
              <a:t>T</a:t>
            </a:r>
            <a:r>
              <a:rPr sz="1800" i="0" b="0">
                <a:solidFill>
                  <a:srgbClr val="E6EDF3"/>
                </a:solidFill>
                <a:latin typeface="Consolas"/>
              </a:rPr>
              <a:t>&gt;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fns</a:t>
            </a:r>
            <a:r>
              <a:rPr sz="1800" i="0" b="0">
                <a:solidFill>
                  <a:srgbClr val="E6EDF3"/>
                </a:solidFill>
                <a:latin typeface="Consolas"/>
              </a:rPr>
              <a:t>:</a:t>
            </a:r>
            <a:r>
              <a:rPr sz="1800" i="0" b="0">
                <a:solidFill>
                  <a:srgbClr val="E6EDF3"/>
                </a:solidFill>
                <a:latin typeface="Consolas"/>
              </a:rPr>
              <a:t> </a:t>
            </a:r>
            <a:r>
              <a:rPr sz="1800" i="0" b="0">
                <a:solidFill>
                  <a:srgbClr val="8CCFF0"/>
                </a:solidFill>
                <a:latin typeface="Consolas"/>
              </a:rPr>
              <a:t>Array</a:t>
            </a:r>
            <a:r>
              <a:rPr sz="1800" i="0" b="0">
                <a:solidFill>
                  <a:srgbClr val="E6EDF3"/>
                </a:solidFill>
                <a:latin typeface="Consolas"/>
              </a:rPr>
              <a:t>&lt;</a:t>
            </a:r>
            <a:r>
              <a:rPr sz="1800" i="0" b="0">
                <a:solidFill>
                  <a:srgbClr val="E6EDF3"/>
                </a:solidFill>
                <a:latin typeface="Consolas"/>
              </a:rPr>
              <a:t>(</a:t>
            </a:r>
            <a:r>
              <a:rPr sz="1800" i="0" b="0">
                <a:solidFill>
                  <a:srgbClr val="E6EDF3"/>
                </a:solidFill>
                <a:latin typeface="Consolas"/>
              </a:rPr>
              <a:t>value</a:t>
            </a:r>
            <a:r>
              <a:rPr sz="1800" i="0" b="0">
                <a:solidFill>
                  <a:srgbClr val="E6EDF3"/>
                </a:solidFill>
                <a:latin typeface="Consolas"/>
              </a:rPr>
              <a:t>:</a:t>
            </a:r>
            <a:r>
              <a:rPr sz="1800" i="0" b="0">
                <a:solidFill>
                  <a:srgbClr val="E6EDF3"/>
                </a:solidFill>
                <a:latin typeface="Consolas"/>
              </a:rPr>
              <a:t> </a:t>
            </a:r>
            <a:r>
              <a:rPr sz="1800" i="0" b="0">
                <a:solidFill>
                  <a:srgbClr val="C9B8FF"/>
                </a:solidFill>
                <a:latin typeface="Consolas"/>
              </a:rPr>
              <a:t>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C9B8FF"/>
                </a:solidFill>
                <a:latin typeface="Consolas"/>
              </a:rPr>
              <a:t>T</a:t>
            </a:r>
            <a:r>
              <a:rPr sz="1800" i="0" b="0">
                <a:solidFill>
                  <a:srgbClr val="E6EDF3"/>
                </a:solidFill>
                <a:latin typeface="Consolas"/>
              </a:rPr>
              <a:t>&gt;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value</a:t>
            </a:r>
            <a:r>
              <a:rPr sz="1800" i="0" b="0">
                <a:solidFill>
                  <a:srgbClr val="E6EDF3"/>
                </a:solidFill>
                <a:latin typeface="Consolas"/>
              </a:rPr>
              <a:t>:</a:t>
            </a:r>
            <a:r>
              <a:rPr sz="1800" i="0" b="0">
                <a:solidFill>
                  <a:srgbClr val="E6EDF3"/>
                </a:solidFill>
                <a:latin typeface="Consolas"/>
              </a:rPr>
              <a:t> </a:t>
            </a:r>
            <a:r>
              <a:rPr sz="1800" i="0" b="0">
                <a:solidFill>
                  <a:srgbClr val="C9B8FF"/>
                </a:solidFill>
                <a:latin typeface="Consolas"/>
              </a:rPr>
              <a:t>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C9B8FF"/>
                </a:solidFill>
                <a:latin typeface="Consolas"/>
              </a:rPr>
              <a:t>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fns</a:t>
            </a:r>
            <a:r>
              <a:rPr sz="1800" i="0" b="0">
                <a:solidFill>
                  <a:srgbClr val="E6EDF3"/>
                </a:solidFill>
                <a:latin typeface="Consolas"/>
              </a:rPr>
              <a:t>.</a:t>
            </a:r>
            <a:r>
              <a:rPr sz="1800" i="0" b="0">
                <a:solidFill>
                  <a:srgbClr val="8CCFF0"/>
                </a:solidFill>
                <a:latin typeface="Consolas"/>
              </a:rPr>
              <a:t>reduce</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acc</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fn</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8CCFF0"/>
                </a:solidFill>
                <a:latin typeface="Consolas"/>
              </a:rPr>
              <a:t>fn</a:t>
            </a:r>
            <a:r>
              <a:rPr sz="1800" i="0" b="0">
                <a:solidFill>
                  <a:srgbClr val="E6EDF3"/>
                </a:solidFill>
                <a:latin typeface="Consolas"/>
              </a:rPr>
              <a:t>(</a:t>
            </a:r>
            <a:r>
              <a:rPr sz="1800" i="0" b="0">
                <a:solidFill>
                  <a:srgbClr val="E6EDF3"/>
                </a:solidFill>
                <a:latin typeface="Consolas"/>
              </a:rPr>
              <a:t>acc</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value</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FF9C8A"/>
                </a:solidFill>
                <a:latin typeface="Consolas"/>
              </a:rPr>
              <a:t>export</a:t>
            </a:r>
            <a:r>
              <a:rPr sz="1800" i="0" b="0">
                <a:solidFill>
                  <a:srgbClr val="E6EDF3"/>
                </a:solidFill>
                <a:latin typeface="Consolas"/>
              </a:rPr>
              <a:t> </a:t>
            </a:r>
            <a:r>
              <a:rPr sz="1800" i="0" b="0">
                <a:solidFill>
                  <a:srgbClr val="FF9C8A"/>
                </a:solidFill>
                <a:latin typeface="Consolas"/>
              </a:rPr>
              <a:t>const</a:t>
            </a:r>
            <a:r>
              <a:rPr sz="1800" i="0" b="0">
                <a:solidFill>
                  <a:srgbClr val="E6EDF3"/>
                </a:solidFill>
                <a:latin typeface="Consolas"/>
              </a:rPr>
              <a:t> </a:t>
            </a:r>
            <a:r>
              <a:rPr sz="1800" i="0" b="0">
                <a:solidFill>
                  <a:srgbClr val="E6EDF3"/>
                </a:solidFill>
                <a:latin typeface="Consolas"/>
              </a:rPr>
              <a:t>matches</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&lt;</a:t>
            </a:r>
            <a:r>
              <a:rPr sz="1800" i="0" b="0">
                <a:solidFill>
                  <a:srgbClr val="C9B8FF"/>
                </a:solidFill>
                <a:latin typeface="Consolas"/>
              </a:rPr>
              <a:t>T</a:t>
            </a:r>
            <a:r>
              <a:rPr sz="1800" i="0" b="0">
                <a:solidFill>
                  <a:srgbClr val="E6EDF3"/>
                </a:solidFill>
                <a:latin typeface="Consolas"/>
              </a:rPr>
              <a:t> </a:t>
            </a:r>
            <a:r>
              <a:rPr sz="1800" i="0" b="0">
                <a:solidFill>
                  <a:srgbClr val="FF9C8A"/>
                </a:solidFill>
                <a:latin typeface="Consolas"/>
              </a:rPr>
              <a:t>extends</a:t>
            </a:r>
            <a:r>
              <a:rPr sz="1800" i="0" b="0">
                <a:solidFill>
                  <a:srgbClr val="E6EDF3"/>
                </a:solidFill>
                <a:latin typeface="Consolas"/>
              </a:rPr>
              <a:t> </a:t>
            </a:r>
            <a:r>
              <a:rPr sz="1800" i="0" b="0">
                <a:solidFill>
                  <a:srgbClr val="E6EDF3"/>
                </a:solidFill>
                <a:latin typeface="Consolas"/>
              </a:rPr>
              <a:t>object</a:t>
            </a:r>
            <a:r>
              <a:rPr sz="1800" i="0" b="0">
                <a:solidFill>
                  <a:srgbClr val="E6EDF3"/>
                </a:solidFill>
                <a:latin typeface="Consolas"/>
              </a:rPr>
              <a:t>&gt;</a:t>
            </a:r>
            <a:r>
              <a:rPr sz="1800" i="0" b="0">
                <a:solidFill>
                  <a:srgbClr val="E6EDF3"/>
                </a:solidFill>
                <a:latin typeface="Consolas"/>
              </a:rPr>
              <a:t>(</a:t>
            </a:r>
            <a:r>
              <a:rPr sz="1800" i="0" b="0">
                <a:solidFill>
                  <a:srgbClr val="E6EDF3"/>
                </a:solidFill>
                <a:latin typeface="Consolas"/>
              </a:rPr>
              <a:t>partial</a:t>
            </a:r>
            <a:r>
              <a:rPr sz="1800" i="0" b="0">
                <a:solidFill>
                  <a:srgbClr val="E6EDF3"/>
                </a:solidFill>
                <a:latin typeface="Consolas"/>
              </a:rPr>
              <a:t>:</a:t>
            </a:r>
            <a:r>
              <a:rPr sz="1800" i="0" b="0">
                <a:solidFill>
                  <a:srgbClr val="E6EDF3"/>
                </a:solidFill>
                <a:latin typeface="Consolas"/>
              </a:rPr>
              <a:t> </a:t>
            </a:r>
            <a:r>
              <a:rPr sz="1800" i="0" b="0">
                <a:solidFill>
                  <a:srgbClr val="8CCFF0"/>
                </a:solidFill>
                <a:latin typeface="Consolas"/>
              </a:rPr>
              <a:t>Partial</a:t>
            </a:r>
            <a:r>
              <a:rPr sz="1800" i="0" b="0">
                <a:solidFill>
                  <a:srgbClr val="E6EDF3"/>
                </a:solidFill>
                <a:latin typeface="Consolas"/>
              </a:rPr>
              <a:t>&lt;</a:t>
            </a:r>
            <a:r>
              <a:rPr sz="1800" i="0" b="0">
                <a:solidFill>
                  <a:srgbClr val="C9B8FF"/>
                </a:solidFill>
                <a:latin typeface="Consolas"/>
              </a:rPr>
              <a:t>T</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item</a:t>
            </a:r>
            <a:r>
              <a:rPr sz="1800" i="0" b="0">
                <a:solidFill>
                  <a:srgbClr val="E6EDF3"/>
                </a:solidFill>
                <a:latin typeface="Consolas"/>
              </a:rPr>
              <a:t>:</a:t>
            </a:r>
            <a:r>
              <a:rPr sz="1800" i="0" b="0">
                <a:solidFill>
                  <a:srgbClr val="E6EDF3"/>
                </a:solidFill>
                <a:latin typeface="Consolas"/>
              </a:rPr>
              <a:t> </a:t>
            </a:r>
            <a:r>
              <a:rPr sz="1800" i="0" b="0">
                <a:solidFill>
                  <a:srgbClr val="C9B8FF"/>
                </a:solidFill>
                <a:latin typeface="Consolas"/>
              </a:rPr>
              <a:t>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boolean</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p>
          <a:p>
            <a:pPr>
              <a:lnSpc>
                <a:spcPct val="108000"/>
              </a:lnSpc>
              <a:spcBef>
                <a:spcPts val="0"/>
              </a:spcBef>
              <a:spcAft>
                <a:spcPts val="0"/>
              </a:spcAft>
            </a:pPr>
            <a:r>
              <a:rPr sz="1800" i="0" b="0">
                <a:solidFill>
                  <a:srgbClr val="E6EDF3"/>
                </a:solidFill>
                <a:latin typeface="Consolas"/>
              </a:rPr>
              <a:t>  </a:t>
            </a:r>
            <a:r>
              <a:rPr sz="1800" i="0" b="0">
                <a:solidFill>
                  <a:srgbClr val="C9B8FF"/>
                </a:solidFill>
                <a:latin typeface="Consolas"/>
              </a:rPr>
              <a:t>Object</a:t>
            </a:r>
            <a:r>
              <a:rPr sz="1800" i="0" b="0">
                <a:solidFill>
                  <a:srgbClr val="E6EDF3"/>
                </a:solidFill>
                <a:latin typeface="Consolas"/>
              </a:rPr>
              <a:t>.</a:t>
            </a:r>
            <a:r>
              <a:rPr sz="1800" i="0" b="0">
                <a:solidFill>
                  <a:srgbClr val="8CCFF0"/>
                </a:solidFill>
                <a:latin typeface="Consolas"/>
              </a:rPr>
              <a:t>entries</a:t>
            </a:r>
            <a:r>
              <a:rPr sz="1800" i="0" b="0">
                <a:solidFill>
                  <a:srgbClr val="E6EDF3"/>
                </a:solidFill>
                <a:latin typeface="Consolas"/>
              </a:rPr>
              <a:t>(</a:t>
            </a:r>
            <a:r>
              <a:rPr sz="1800" i="0" b="0">
                <a:solidFill>
                  <a:srgbClr val="E6EDF3"/>
                </a:solidFill>
                <a:latin typeface="Consolas"/>
              </a:rPr>
              <a:t>partial</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every</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key</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value</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item</a:t>
            </a:r>
            <a:r>
              <a:rPr sz="1800" i="0" b="0">
                <a:solidFill>
                  <a:srgbClr val="E6EDF3"/>
                </a:solidFill>
                <a:latin typeface="Consolas"/>
              </a:rPr>
              <a:t> </a:t>
            </a:r>
            <a:r>
              <a:rPr sz="1800" i="0" b="0">
                <a:solidFill>
                  <a:srgbClr val="FF9C8A"/>
                </a:solidFill>
                <a:latin typeface="Consolas"/>
              </a:rPr>
              <a:t>as</a:t>
            </a:r>
            <a:r>
              <a:rPr sz="1800" i="0" b="0">
                <a:solidFill>
                  <a:srgbClr val="E6EDF3"/>
                </a:solidFill>
                <a:latin typeface="Consolas"/>
              </a:rPr>
              <a:t> </a:t>
            </a:r>
            <a:r>
              <a:rPr sz="1800" i="0" b="0">
                <a:solidFill>
                  <a:srgbClr val="8CCFF0"/>
                </a:solidFill>
                <a:latin typeface="Consolas"/>
              </a:rPr>
              <a:t>Record</a:t>
            </a:r>
            <a:r>
              <a:rPr sz="1800" i="0" b="0">
                <a:solidFill>
                  <a:srgbClr val="E6EDF3"/>
                </a:solidFill>
                <a:latin typeface="Consolas"/>
              </a:rPr>
              <a:t>&lt;</a:t>
            </a:r>
            <a:r>
              <a:rPr sz="1800" i="0" b="0">
                <a:solidFill>
                  <a:srgbClr val="E6EDF3"/>
                </a:solidFill>
                <a:latin typeface="Consolas"/>
              </a:rPr>
              <a:t>string</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unknown</a:t>
            </a:r>
            <a:r>
              <a:rPr sz="1800" i="0" b="0">
                <a:solidFill>
                  <a:srgbClr val="E6EDF3"/>
                </a:solidFill>
                <a:latin typeface="Consolas"/>
              </a:rPr>
              <a:t>&gt;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key</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value</a:t>
            </a:r>
            <a:r>
              <a:rPr sz="1800" i="0" b="0">
                <a:solidFill>
                  <a:srgbClr val="E6EDF3"/>
                </a:solidFill>
                <a:latin typeface="Consolas"/>
              </a:rPr>
              <a:t>)</a:t>
            </a:r>
            <a:r>
              <a:rPr sz="1800" i="0" b="0">
                <a:solidFill>
                  <a:srgbClr val="E6EDF3"/>
                </a:solidFill>
                <a:latin typeface="Consolas"/>
              </a:rPr>
              <a:t>;</a:t>
            </a:r>
          </a:p>
        </p:txBody>
      </p:sp>
      <p:sp>
        <p:nvSpPr>
          <p:cNvPr id="60" name="Rounded Rectangle 59"/>
          <p:cNvSpPr/>
          <p:nvPr/>
        </p:nvSpPr>
        <p:spPr>
          <a:xfrm>
            <a:off x="612648" y="10789920"/>
            <a:ext cx="22860000" cy="960120"/>
          </a:xfrm>
          <a:prstGeom prst="roundRect">
            <a:avLst>
              <a:gd name="adj" fmla="val 1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Oval 60"/>
          <p:cNvSpPr/>
          <p:nvPr/>
        </p:nvSpPr>
        <p:spPr>
          <a:xfrm>
            <a:off x="886968" y="10927080"/>
            <a:ext cx="685800" cy="6858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2" name="Picture 61" descr="LuLaugh.png"/>
          <p:cNvPicPr>
            <a:picLocks noChangeAspect="1"/>
          </p:cNvPicPr>
          <p:nvPr/>
        </p:nvPicPr>
        <p:blipFill>
          <a:blip r:embed="rId11"/>
          <a:stretch>
            <a:fillRect/>
          </a:stretch>
        </p:blipFill>
        <p:spPr>
          <a:xfrm>
            <a:off x="1051560" y="11091672"/>
            <a:ext cx="356616" cy="356616"/>
          </a:xfrm>
          <a:prstGeom prst="rect">
            <a:avLst/>
          </a:prstGeom>
        </p:spPr>
      </p:pic>
      <p:sp>
        <p:nvSpPr>
          <p:cNvPr id="63" name="TextBox 62"/>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Pure functions: no side effects, no surprises, and absolutely no “works on my machine.”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Automation</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8683C3"/>
                </a:solidFill>
              </a:rPr>
              <a:t>AUTOMATION SUITE · ASSERTS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Assert like you mean it (Playwright retries for you)</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27</a:t>
            </a:r>
          </a:p>
        </p:txBody>
      </p:sp>
      <p:sp>
        <p:nvSpPr>
          <p:cNvPr id="6" name="Rounded Rectangle 5"/>
          <p:cNvSpPr/>
          <p:nvPr/>
        </p:nvSpPr>
        <p:spPr>
          <a:xfrm>
            <a:off x="612648" y="2926080"/>
            <a:ext cx="22860000" cy="1097280"/>
          </a:xfrm>
          <a:prstGeom prst="roundRect">
            <a:avLst>
              <a:gd name="adj" fmla="val 20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22960" y="3090672"/>
            <a:ext cx="768096" cy="768096"/>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RefreshCw.png"/>
          <p:cNvPicPr>
            <a:picLocks noChangeAspect="1"/>
          </p:cNvPicPr>
          <p:nvPr/>
        </p:nvPicPr>
        <p:blipFill>
          <a:blip r:embed="rId3"/>
          <a:stretch>
            <a:fillRect/>
          </a:stretch>
        </p:blipFill>
        <p:spPr>
          <a:xfrm>
            <a:off x="1007303" y="3275015"/>
            <a:ext cx="399409" cy="399409"/>
          </a:xfrm>
          <a:prstGeom prst="rect">
            <a:avLst/>
          </a:prstGeom>
        </p:spPr>
      </p:pic>
      <p:sp>
        <p:nvSpPr>
          <p:cNvPr id="9" name="TextBox 8"/>
          <p:cNvSpPr txBox="1"/>
          <p:nvPr/>
        </p:nvSpPr>
        <p:spPr>
          <a:xfrm>
            <a:off x="1783080" y="2926080"/>
            <a:ext cx="310896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1" i="0">
                <a:solidFill>
                  <a:srgbClr val="192B37"/>
                </a:solidFill>
              </a:rPr>
              <a:t>Web-first</a:t>
            </a:r>
          </a:p>
        </p:txBody>
      </p:sp>
      <p:sp>
        <p:nvSpPr>
          <p:cNvPr id="10" name="Rounded Rectangle 9"/>
          <p:cNvSpPr/>
          <p:nvPr/>
        </p:nvSpPr>
        <p:spPr>
          <a:xfrm>
            <a:off x="4937760" y="3081528"/>
            <a:ext cx="12161520" cy="786384"/>
          </a:xfrm>
          <a:prstGeom prst="roundRect">
            <a:avLst>
              <a:gd name="adj" fmla="val 25000"/>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166360" y="3081528"/>
            <a:ext cx="11795760" cy="786384"/>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E6EDF3"/>
                </a:solidFill>
                <a:latin typeface="Consolas"/>
              </a:rPr>
              <a:t>await expect(alertBar(page)).toHaveText("Transaction Submitted!")</a:t>
            </a:r>
          </a:p>
        </p:txBody>
      </p:sp>
      <p:sp>
        <p:nvSpPr>
          <p:cNvPr id="12" name="TextBox 11"/>
          <p:cNvSpPr txBox="1"/>
          <p:nvPr/>
        </p:nvSpPr>
        <p:spPr>
          <a:xfrm>
            <a:off x="17327880" y="2926080"/>
            <a:ext cx="603504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0" i="0">
                <a:solidFill>
                  <a:srgbClr val="192B37"/>
                </a:solidFill>
              </a:rPr>
              <a:t>retries until true or 5 s</a:t>
            </a:r>
          </a:p>
        </p:txBody>
      </p:sp>
      <p:sp>
        <p:nvSpPr>
          <p:cNvPr id="13" name="Rounded Rectangle 12"/>
          <p:cNvSpPr/>
          <p:nvPr/>
        </p:nvSpPr>
        <p:spPr>
          <a:xfrm>
            <a:off x="612648" y="4169664"/>
            <a:ext cx="22860000" cy="1097280"/>
          </a:xfrm>
          <a:prstGeom prst="roundRect">
            <a:avLst>
              <a:gd name="adj" fmla="val 20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22960" y="4334256"/>
            <a:ext cx="768096" cy="768096"/>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LuCheck.png"/>
          <p:cNvPicPr>
            <a:picLocks noChangeAspect="1"/>
          </p:cNvPicPr>
          <p:nvPr/>
        </p:nvPicPr>
        <p:blipFill>
          <a:blip r:embed="rId4"/>
          <a:stretch>
            <a:fillRect/>
          </a:stretch>
        </p:blipFill>
        <p:spPr>
          <a:xfrm>
            <a:off x="1007303" y="4518599"/>
            <a:ext cx="399409" cy="399409"/>
          </a:xfrm>
          <a:prstGeom prst="rect">
            <a:avLst/>
          </a:prstGeom>
        </p:spPr>
      </p:pic>
      <p:sp>
        <p:nvSpPr>
          <p:cNvPr id="16" name="TextBox 15"/>
          <p:cNvSpPr txBox="1"/>
          <p:nvPr/>
        </p:nvSpPr>
        <p:spPr>
          <a:xfrm>
            <a:off x="1783080" y="4169664"/>
            <a:ext cx="310896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1" i="0">
                <a:solidFill>
                  <a:srgbClr val="192B37"/>
                </a:solidFill>
              </a:rPr>
              <a:t>Value</a:t>
            </a:r>
          </a:p>
        </p:txBody>
      </p:sp>
      <p:sp>
        <p:nvSpPr>
          <p:cNvPr id="17" name="Rounded Rectangle 16"/>
          <p:cNvSpPr/>
          <p:nvPr/>
        </p:nvSpPr>
        <p:spPr>
          <a:xfrm>
            <a:off x="4937760" y="4325112"/>
            <a:ext cx="12161520" cy="786384"/>
          </a:xfrm>
          <a:prstGeom prst="roundRect">
            <a:avLst>
              <a:gd name="adj" fmla="val 25000"/>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166360" y="4325112"/>
            <a:ext cx="11795760" cy="786384"/>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E6EDF3"/>
                </a:solidFill>
                <a:latin typeface="Consolas"/>
              </a:rPr>
              <a:t>expect(res.status).toBe(422); expect(errorsOf(res)).toHaveLength(1)</a:t>
            </a:r>
          </a:p>
        </p:txBody>
      </p:sp>
      <p:sp>
        <p:nvSpPr>
          <p:cNvPr id="19" name="TextBox 18"/>
          <p:cNvSpPr txBox="1"/>
          <p:nvPr/>
        </p:nvSpPr>
        <p:spPr>
          <a:xfrm>
            <a:off x="17327880" y="4169664"/>
            <a:ext cx="603504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0" i="0">
                <a:solidFill>
                  <a:srgbClr val="192B37"/>
                </a:solidFill>
              </a:rPr>
              <a:t>checks once — data is already here</a:t>
            </a:r>
          </a:p>
        </p:txBody>
      </p:sp>
      <p:sp>
        <p:nvSpPr>
          <p:cNvPr id="20" name="Rounded Rectangle 19"/>
          <p:cNvSpPr/>
          <p:nvPr/>
        </p:nvSpPr>
        <p:spPr>
          <a:xfrm>
            <a:off x="612648" y="5413248"/>
            <a:ext cx="22860000" cy="1097280"/>
          </a:xfrm>
          <a:prstGeom prst="roundRect">
            <a:avLst>
              <a:gd name="adj" fmla="val 20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22960" y="5577840"/>
            <a:ext cx="768096" cy="768096"/>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LuDatabase.png"/>
          <p:cNvPicPr>
            <a:picLocks noChangeAspect="1"/>
          </p:cNvPicPr>
          <p:nvPr/>
        </p:nvPicPr>
        <p:blipFill>
          <a:blip r:embed="rId5"/>
          <a:stretch>
            <a:fillRect/>
          </a:stretch>
        </p:blipFill>
        <p:spPr>
          <a:xfrm>
            <a:off x="1007303" y="5762183"/>
            <a:ext cx="399409" cy="399409"/>
          </a:xfrm>
          <a:prstGeom prst="rect">
            <a:avLst/>
          </a:prstGeom>
        </p:spPr>
      </p:pic>
      <p:sp>
        <p:nvSpPr>
          <p:cNvPr id="23" name="TextBox 22"/>
          <p:cNvSpPr txBox="1"/>
          <p:nvPr/>
        </p:nvSpPr>
        <p:spPr>
          <a:xfrm>
            <a:off x="1783080" y="5413248"/>
            <a:ext cx="310896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1" i="0">
                <a:solidFill>
                  <a:srgbClr val="192B37"/>
                </a:solidFill>
              </a:rPr>
              <a:t>Data layer</a:t>
            </a:r>
          </a:p>
        </p:txBody>
      </p:sp>
      <p:sp>
        <p:nvSpPr>
          <p:cNvPr id="24" name="Rounded Rectangle 23"/>
          <p:cNvSpPr/>
          <p:nvPr/>
        </p:nvSpPr>
        <p:spPr>
          <a:xfrm>
            <a:off x="4937760" y="5568696"/>
            <a:ext cx="12161520" cy="786384"/>
          </a:xfrm>
          <a:prstGeom prst="roundRect">
            <a:avLst>
              <a:gd name="adj" fmla="val 25000"/>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166360" y="5568696"/>
            <a:ext cx="11795760" cy="786384"/>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E6EDF3"/>
                </a:solidFill>
                <a:latin typeface="Consolas"/>
              </a:rPr>
              <a:t>expect(aliceAfter.balance).toBe(alice.balance - 4200)</a:t>
            </a:r>
          </a:p>
        </p:txBody>
      </p:sp>
      <p:sp>
        <p:nvSpPr>
          <p:cNvPr id="26" name="TextBox 25"/>
          <p:cNvSpPr txBox="1"/>
          <p:nvPr/>
        </p:nvSpPr>
        <p:spPr>
          <a:xfrm>
            <a:off x="17327880" y="5413248"/>
            <a:ext cx="603504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0" i="0">
                <a:solidFill>
                  <a:srgbClr val="192B37"/>
                </a:solidFill>
              </a:rPr>
              <a:t>verify state in the DB, not just the UI</a:t>
            </a:r>
          </a:p>
        </p:txBody>
      </p:sp>
      <p:sp>
        <p:nvSpPr>
          <p:cNvPr id="27" name="Rounded Rectangle 26"/>
          <p:cNvSpPr/>
          <p:nvPr/>
        </p:nvSpPr>
        <p:spPr>
          <a:xfrm>
            <a:off x="612648" y="6656832"/>
            <a:ext cx="22860000" cy="1097280"/>
          </a:xfrm>
          <a:prstGeom prst="roundRect">
            <a:avLst>
              <a:gd name="adj" fmla="val 20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822960" y="6821424"/>
            <a:ext cx="768096" cy="768096"/>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LuFileCode.png"/>
          <p:cNvPicPr>
            <a:picLocks noChangeAspect="1"/>
          </p:cNvPicPr>
          <p:nvPr/>
        </p:nvPicPr>
        <p:blipFill>
          <a:blip r:embed="rId6"/>
          <a:stretch>
            <a:fillRect/>
          </a:stretch>
        </p:blipFill>
        <p:spPr>
          <a:xfrm>
            <a:off x="1007303" y="7005767"/>
            <a:ext cx="399409" cy="399409"/>
          </a:xfrm>
          <a:prstGeom prst="rect">
            <a:avLst/>
          </a:prstGeom>
        </p:spPr>
      </p:pic>
      <p:sp>
        <p:nvSpPr>
          <p:cNvPr id="30" name="TextBox 29"/>
          <p:cNvSpPr txBox="1"/>
          <p:nvPr/>
        </p:nvSpPr>
        <p:spPr>
          <a:xfrm>
            <a:off x="1783080" y="6656832"/>
            <a:ext cx="310896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1" i="0">
                <a:solidFill>
                  <a:srgbClr val="192B37"/>
                </a:solidFill>
              </a:rPr>
              <a:t>Contract</a:t>
            </a:r>
          </a:p>
        </p:txBody>
      </p:sp>
      <p:sp>
        <p:nvSpPr>
          <p:cNvPr id="31" name="Rounded Rectangle 30"/>
          <p:cNvSpPr/>
          <p:nvPr/>
        </p:nvSpPr>
        <p:spPr>
          <a:xfrm>
            <a:off x="4937760" y="6812280"/>
            <a:ext cx="12161520" cy="786384"/>
          </a:xfrm>
          <a:prstGeom prst="roundRect">
            <a:avLst>
              <a:gd name="adj" fmla="val 25000"/>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166360" y="6812280"/>
            <a:ext cx="11795760" cy="786384"/>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E6EDF3"/>
                </a:solidFill>
                <a:latin typeface="Consolas"/>
              </a:rPr>
              <a:t>expect(verdict.errors, verdict.summary).toEqual([])</a:t>
            </a:r>
          </a:p>
        </p:txBody>
      </p:sp>
      <p:sp>
        <p:nvSpPr>
          <p:cNvPr id="33" name="TextBox 32"/>
          <p:cNvSpPr txBox="1"/>
          <p:nvPr/>
        </p:nvSpPr>
        <p:spPr>
          <a:xfrm>
            <a:off x="17327880" y="6656832"/>
            <a:ext cx="603504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0" i="0">
                <a:solidFill>
                  <a:srgbClr val="192B37"/>
                </a:solidFill>
              </a:rPr>
              <a:t>response matches OpenAPI schema</a:t>
            </a:r>
          </a:p>
        </p:txBody>
      </p:sp>
      <p:sp>
        <p:nvSpPr>
          <p:cNvPr id="34" name="Rounded Rectangle 33"/>
          <p:cNvSpPr/>
          <p:nvPr/>
        </p:nvSpPr>
        <p:spPr>
          <a:xfrm>
            <a:off x="612648" y="7900416"/>
            <a:ext cx="22860000" cy="1097280"/>
          </a:xfrm>
          <a:prstGeom prst="roundRect">
            <a:avLst>
              <a:gd name="adj" fmla="val 20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22960" y="8065008"/>
            <a:ext cx="768096" cy="768096"/>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LuBug.png"/>
          <p:cNvPicPr>
            <a:picLocks noChangeAspect="1"/>
          </p:cNvPicPr>
          <p:nvPr/>
        </p:nvPicPr>
        <p:blipFill>
          <a:blip r:embed="rId7"/>
          <a:stretch>
            <a:fillRect/>
          </a:stretch>
        </p:blipFill>
        <p:spPr>
          <a:xfrm>
            <a:off x="1007303" y="8249351"/>
            <a:ext cx="399409" cy="399409"/>
          </a:xfrm>
          <a:prstGeom prst="rect">
            <a:avLst/>
          </a:prstGeom>
        </p:spPr>
      </p:pic>
      <p:sp>
        <p:nvSpPr>
          <p:cNvPr id="37" name="TextBox 36"/>
          <p:cNvSpPr txBox="1"/>
          <p:nvPr/>
        </p:nvSpPr>
        <p:spPr>
          <a:xfrm>
            <a:off x="1783080" y="7900416"/>
            <a:ext cx="310896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1" i="0">
                <a:solidFill>
                  <a:srgbClr val="192B37"/>
                </a:solidFill>
              </a:rPr>
              <a:t>Known defect</a:t>
            </a:r>
          </a:p>
        </p:txBody>
      </p:sp>
      <p:sp>
        <p:nvSpPr>
          <p:cNvPr id="38" name="Rounded Rectangle 37"/>
          <p:cNvSpPr/>
          <p:nvPr/>
        </p:nvSpPr>
        <p:spPr>
          <a:xfrm>
            <a:off x="4937760" y="8055864"/>
            <a:ext cx="12161520" cy="786384"/>
          </a:xfrm>
          <a:prstGeom prst="roundRect">
            <a:avLst>
              <a:gd name="adj" fmla="val 25000"/>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166360" y="8055864"/>
            <a:ext cx="11795760" cy="786384"/>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E6EDF3"/>
                </a:solidFill>
                <a:latin typeface="Consolas"/>
              </a:rPr>
              <a:t>test.fail(true, "KI-33: a 500 renders the empty state")</a:t>
            </a:r>
          </a:p>
        </p:txBody>
      </p:sp>
      <p:sp>
        <p:nvSpPr>
          <p:cNvPr id="40" name="TextBox 39"/>
          <p:cNvSpPr txBox="1"/>
          <p:nvPr/>
        </p:nvSpPr>
        <p:spPr>
          <a:xfrm>
            <a:off x="17327880" y="7900416"/>
            <a:ext cx="603504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0" i="0">
                <a:solidFill>
                  <a:srgbClr val="192B37"/>
                </a:solidFill>
              </a:rPr>
              <a:t>asserts correct behaviour; flips when fixed</a:t>
            </a:r>
          </a:p>
        </p:txBody>
      </p:sp>
      <p:sp>
        <p:nvSpPr>
          <p:cNvPr id="41" name="Rounded Rectangle 40"/>
          <p:cNvSpPr/>
          <p:nvPr/>
        </p:nvSpPr>
        <p:spPr>
          <a:xfrm>
            <a:off x="612648" y="9144000"/>
            <a:ext cx="22860000" cy="1097280"/>
          </a:xfrm>
          <a:prstGeom prst="roundRect">
            <a:avLst>
              <a:gd name="adj" fmla="val 20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822960" y="9308592"/>
            <a:ext cx="768096" cy="768096"/>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LuRepeat.png"/>
          <p:cNvPicPr>
            <a:picLocks noChangeAspect="1"/>
          </p:cNvPicPr>
          <p:nvPr/>
        </p:nvPicPr>
        <p:blipFill>
          <a:blip r:embed="rId8"/>
          <a:stretch>
            <a:fillRect/>
          </a:stretch>
        </p:blipFill>
        <p:spPr>
          <a:xfrm>
            <a:off x="1007303" y="9492935"/>
            <a:ext cx="399409" cy="399409"/>
          </a:xfrm>
          <a:prstGeom prst="rect">
            <a:avLst/>
          </a:prstGeom>
        </p:spPr>
      </p:pic>
      <p:sp>
        <p:nvSpPr>
          <p:cNvPr id="44" name="TextBox 43"/>
          <p:cNvSpPr txBox="1"/>
          <p:nvPr/>
        </p:nvSpPr>
        <p:spPr>
          <a:xfrm>
            <a:off x="1783080" y="9144000"/>
            <a:ext cx="310896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1" i="0">
                <a:solidFill>
                  <a:srgbClr val="192B37"/>
                </a:solidFill>
              </a:rPr>
              <a:t>Retry block</a:t>
            </a:r>
          </a:p>
        </p:txBody>
      </p:sp>
      <p:sp>
        <p:nvSpPr>
          <p:cNvPr id="45" name="Rounded Rectangle 44"/>
          <p:cNvSpPr/>
          <p:nvPr/>
        </p:nvSpPr>
        <p:spPr>
          <a:xfrm>
            <a:off x="4937760" y="9299448"/>
            <a:ext cx="12161520" cy="786384"/>
          </a:xfrm>
          <a:prstGeom prst="roundRect">
            <a:avLst>
              <a:gd name="adj" fmla="val 25000"/>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5166360" y="9299448"/>
            <a:ext cx="11795760" cy="786384"/>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E6EDF3"/>
                </a:solidFill>
                <a:latin typeface="Consolas"/>
              </a:rPr>
              <a:t>await expect(async () =&gt; { … }).toPass()</a:t>
            </a:r>
          </a:p>
        </p:txBody>
      </p:sp>
      <p:sp>
        <p:nvSpPr>
          <p:cNvPr id="47" name="TextBox 46"/>
          <p:cNvSpPr txBox="1"/>
          <p:nvPr/>
        </p:nvSpPr>
        <p:spPr>
          <a:xfrm>
            <a:off x="17327880" y="9144000"/>
            <a:ext cx="603504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0" i="0">
                <a:solidFill>
                  <a:srgbClr val="192B37"/>
                </a:solidFill>
              </a:rPr>
              <a:t>for genuinely racy UI (L-002)</a:t>
            </a:r>
          </a:p>
        </p:txBody>
      </p:sp>
      <p:sp>
        <p:nvSpPr>
          <p:cNvPr id="48" name="Rounded Rectangle 47"/>
          <p:cNvSpPr/>
          <p:nvPr/>
        </p:nvSpPr>
        <p:spPr>
          <a:xfrm>
            <a:off x="612648" y="10789920"/>
            <a:ext cx="22860000" cy="960120"/>
          </a:xfrm>
          <a:prstGeom prst="roundRect">
            <a:avLst>
              <a:gd name="adj" fmla="val 1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886968" y="10927080"/>
            <a:ext cx="685800" cy="6858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LuLaugh.png"/>
          <p:cNvPicPr>
            <a:picLocks noChangeAspect="1"/>
          </p:cNvPicPr>
          <p:nvPr/>
        </p:nvPicPr>
        <p:blipFill>
          <a:blip r:embed="rId9"/>
          <a:stretch>
            <a:fillRect/>
          </a:stretch>
        </p:blipFill>
        <p:spPr>
          <a:xfrm>
            <a:off x="1051560" y="11091672"/>
            <a:ext cx="356616" cy="356616"/>
          </a:xfrm>
          <a:prstGeom prst="rect">
            <a:avLst/>
          </a:prstGeom>
        </p:spPr>
      </p:pic>
      <p:sp>
        <p:nvSpPr>
          <p:cNvPr id="51" name="TextBox 50"/>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Assert yourself — politely, with a 5-second timeout and automatic retries.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Automation</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8683C3"/>
                </a:solidFill>
              </a:rPr>
              <a:t>AUTOMATION SUITE · TEST DATA MODELLING</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Fresh data for every test, no leftovers</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28</a:t>
            </a:r>
          </a:p>
        </p:txBody>
      </p:sp>
      <p:sp>
        <p:nvSpPr>
          <p:cNvPr id="6" name="Rounded Rectangle 5"/>
          <p:cNvSpPr/>
          <p:nvPr/>
        </p:nvSpPr>
        <p:spPr>
          <a:xfrm>
            <a:off x="612648" y="2926080"/>
            <a:ext cx="4297680" cy="3291840"/>
          </a:xfrm>
          <a:prstGeom prst="roundRect">
            <a:avLst>
              <a:gd name="adj" fmla="val 8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258568" y="3108960"/>
            <a:ext cx="1005840" cy="100584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RefreshCw.png"/>
          <p:cNvPicPr>
            <a:picLocks noChangeAspect="1"/>
          </p:cNvPicPr>
          <p:nvPr/>
        </p:nvPicPr>
        <p:blipFill>
          <a:blip r:embed="rId3"/>
          <a:stretch>
            <a:fillRect/>
          </a:stretch>
        </p:blipFill>
        <p:spPr>
          <a:xfrm>
            <a:off x="2499969" y="3350361"/>
            <a:ext cx="523036" cy="523036"/>
          </a:xfrm>
          <a:prstGeom prst="rect">
            <a:avLst/>
          </a:prstGeom>
        </p:spPr>
      </p:pic>
      <p:sp>
        <p:nvSpPr>
          <p:cNvPr id="9" name="TextBox 8"/>
          <p:cNvSpPr txBox="1"/>
          <p:nvPr/>
        </p:nvSpPr>
        <p:spPr>
          <a:xfrm>
            <a:off x="795528" y="4251960"/>
            <a:ext cx="3931920" cy="548640"/>
          </a:xfrm>
          <a:prstGeom prst="rect">
            <a:avLst/>
          </a:prstGeom>
          <a:noFill/>
        </p:spPr>
        <p:txBody>
          <a:bodyPr wrap="square" lIns="0" rIns="0" tIns="18288" bIns="18288" anchor="t">
            <a:noAutofit/>
          </a:bodyPr>
          <a:lstStyle/>
          <a:p>
            <a:pPr algn="ctr">
              <a:lnSpc>
                <a:spcPct val="100000"/>
              </a:lnSpc>
              <a:spcBef>
                <a:spcPts val="0"/>
              </a:spcBef>
              <a:spcAft>
                <a:spcPts val="0"/>
              </a:spcAft>
            </a:pPr>
            <a:r>
              <a:rPr sz="2100" b="1" i="0">
                <a:solidFill>
                  <a:srgbClr val="192B37"/>
                </a:solidFill>
              </a:rPr>
              <a:t>seed (auto)</a:t>
            </a:r>
          </a:p>
        </p:txBody>
      </p:sp>
      <p:sp>
        <p:nvSpPr>
          <p:cNvPr id="10" name="TextBox 9"/>
          <p:cNvSpPr txBox="1"/>
          <p:nvPr/>
        </p:nvSpPr>
        <p:spPr>
          <a:xfrm>
            <a:off x="795528" y="4846320"/>
            <a:ext cx="3931920" cy="128016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0" i="0">
                <a:solidFill>
                  <a:srgbClr val="192B37"/>
                </a:solidFill>
              </a:rPr>
              <a:t>POST /testData/seed</a:t>
            </a:r>
          </a:p>
          <a:p>
            <a:pPr algn="ctr">
              <a:lnSpc>
                <a:spcPct val="100000"/>
              </a:lnSpc>
              <a:spcBef>
                <a:spcPts val="0"/>
              </a:spcBef>
              <a:spcAft>
                <a:spcPts val="0"/>
              </a:spcAft>
            </a:pPr>
            <a:r>
              <a:rPr sz="1600" b="0" i="0">
                <a:solidFill>
                  <a:srgbClr val="192B37"/>
                </a:solidFill>
              </a:rPr>
              <a:t>before every test</a:t>
            </a:r>
          </a:p>
        </p:txBody>
      </p:sp>
      <p:cxnSp>
        <p:nvCxnSpPr>
          <p:cNvPr id="11" name="Connector 10"/>
          <p:cNvCxnSpPr/>
          <p:nvPr/>
        </p:nvCxnSpPr>
        <p:spPr>
          <a:xfrm>
            <a:off x="4928616" y="4572000"/>
            <a:ext cx="301752" cy="0"/>
          </a:xfrm>
          <a:prstGeom prst="line">
            <a:avLst/>
          </a:prstGeom>
          <a:ln w="31750">
            <a:solidFill>
              <a:srgbClr val="5E6A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248656" y="2926080"/>
            <a:ext cx="4297680" cy="3291840"/>
          </a:xfrm>
          <a:prstGeom prst="roundRect">
            <a:avLst>
              <a:gd name="adj" fmla="val 8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894576" y="3108960"/>
            <a:ext cx="1005840" cy="100584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uSearch.png"/>
          <p:cNvPicPr>
            <a:picLocks noChangeAspect="1"/>
          </p:cNvPicPr>
          <p:nvPr/>
        </p:nvPicPr>
        <p:blipFill>
          <a:blip r:embed="rId4"/>
          <a:stretch>
            <a:fillRect/>
          </a:stretch>
        </p:blipFill>
        <p:spPr>
          <a:xfrm>
            <a:off x="7135977" y="3350361"/>
            <a:ext cx="523036" cy="523036"/>
          </a:xfrm>
          <a:prstGeom prst="rect">
            <a:avLst/>
          </a:prstGeom>
        </p:spPr>
      </p:pic>
      <p:sp>
        <p:nvSpPr>
          <p:cNvPr id="15" name="TextBox 14"/>
          <p:cNvSpPr txBox="1"/>
          <p:nvPr/>
        </p:nvSpPr>
        <p:spPr>
          <a:xfrm>
            <a:off x="5431536" y="4251960"/>
            <a:ext cx="3931920" cy="548640"/>
          </a:xfrm>
          <a:prstGeom prst="rect">
            <a:avLst/>
          </a:prstGeom>
          <a:noFill/>
        </p:spPr>
        <p:txBody>
          <a:bodyPr wrap="square" lIns="0" rIns="0" tIns="18288" bIns="18288" anchor="t">
            <a:noAutofit/>
          </a:bodyPr>
          <a:lstStyle/>
          <a:p>
            <a:pPr algn="ctr">
              <a:lnSpc>
                <a:spcPct val="100000"/>
              </a:lnSpc>
              <a:spcBef>
                <a:spcPts val="0"/>
              </a:spcBef>
              <a:spcAft>
                <a:spcPts val="0"/>
              </a:spcAft>
            </a:pPr>
            <a:r>
              <a:rPr sz="2100" b="1" i="0">
                <a:solidFill>
                  <a:srgbClr val="192B37"/>
                </a:solidFill>
              </a:rPr>
              <a:t>db.find / filter</a:t>
            </a:r>
          </a:p>
        </p:txBody>
      </p:sp>
      <p:sp>
        <p:nvSpPr>
          <p:cNvPr id="16" name="TextBox 15"/>
          <p:cNvSpPr txBox="1"/>
          <p:nvPr/>
        </p:nvSpPr>
        <p:spPr>
          <a:xfrm>
            <a:off x="5431536" y="4846320"/>
            <a:ext cx="3931920" cy="128016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0" i="0">
                <a:solidFill>
                  <a:srgbClr val="192B37"/>
                </a:solidFill>
              </a:rPr>
              <a:t>read real rows:</a:t>
            </a:r>
          </a:p>
          <a:p>
            <a:pPr algn="ctr">
              <a:lnSpc>
                <a:spcPct val="100000"/>
              </a:lnSpc>
              <a:spcBef>
                <a:spcPts val="0"/>
              </a:spcBef>
              <a:spcAft>
                <a:spcPts val="0"/>
              </a:spcAft>
            </a:pPr>
            <a:r>
              <a:rPr sz="1600" b="0" i="0">
                <a:solidFill>
                  <a:srgbClr val="192B37"/>
                </a:solidFill>
              </a:rPr>
              <a:t>users, txns, contacts</a:t>
            </a:r>
          </a:p>
        </p:txBody>
      </p:sp>
      <p:cxnSp>
        <p:nvCxnSpPr>
          <p:cNvPr id="17" name="Connector 16"/>
          <p:cNvCxnSpPr/>
          <p:nvPr/>
        </p:nvCxnSpPr>
        <p:spPr>
          <a:xfrm>
            <a:off x="9564624" y="4572000"/>
            <a:ext cx="301752" cy="0"/>
          </a:xfrm>
          <a:prstGeom prst="line">
            <a:avLst/>
          </a:prstGeom>
          <a:ln w="31750">
            <a:solidFill>
              <a:srgbClr val="5E6A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884664" y="2926080"/>
            <a:ext cx="4297680" cy="3291840"/>
          </a:xfrm>
          <a:prstGeom prst="roundRect">
            <a:avLst>
              <a:gd name="adj" fmla="val 8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530584" y="3108960"/>
            <a:ext cx="1005840" cy="100584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uWandSparkles.png"/>
          <p:cNvPicPr>
            <a:picLocks noChangeAspect="1"/>
          </p:cNvPicPr>
          <p:nvPr/>
        </p:nvPicPr>
        <p:blipFill>
          <a:blip r:embed="rId5"/>
          <a:stretch>
            <a:fillRect/>
          </a:stretch>
        </p:blipFill>
        <p:spPr>
          <a:xfrm>
            <a:off x="11771985" y="3350361"/>
            <a:ext cx="523036" cy="523036"/>
          </a:xfrm>
          <a:prstGeom prst="rect">
            <a:avLst/>
          </a:prstGeom>
        </p:spPr>
      </p:pic>
      <p:sp>
        <p:nvSpPr>
          <p:cNvPr id="21" name="TextBox 20"/>
          <p:cNvSpPr txBox="1"/>
          <p:nvPr/>
        </p:nvSpPr>
        <p:spPr>
          <a:xfrm>
            <a:off x="10067544" y="4251960"/>
            <a:ext cx="3931920" cy="548640"/>
          </a:xfrm>
          <a:prstGeom prst="rect">
            <a:avLst/>
          </a:prstGeom>
          <a:noFill/>
        </p:spPr>
        <p:txBody>
          <a:bodyPr wrap="square" lIns="0" rIns="0" tIns="18288" bIns="18288" anchor="t">
            <a:noAutofit/>
          </a:bodyPr>
          <a:lstStyle/>
          <a:p>
            <a:pPr algn="ctr">
              <a:lnSpc>
                <a:spcPct val="100000"/>
              </a:lnSpc>
              <a:spcBef>
                <a:spcPts val="0"/>
              </a:spcBef>
              <a:spcAft>
                <a:spcPts val="0"/>
              </a:spcAft>
            </a:pPr>
            <a:r>
              <a:rPr sz="2100" b="1" i="0">
                <a:solidFill>
                  <a:srgbClr val="192B37"/>
                </a:solidFill>
              </a:rPr>
              <a:t>factories</a:t>
            </a:r>
          </a:p>
        </p:txBody>
      </p:sp>
      <p:sp>
        <p:nvSpPr>
          <p:cNvPr id="22" name="TextBox 21"/>
          <p:cNvSpPr txBox="1"/>
          <p:nvPr/>
        </p:nvSpPr>
        <p:spPr>
          <a:xfrm>
            <a:off x="10067544" y="4846320"/>
            <a:ext cx="3931920" cy="128016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0" i="0">
                <a:solidFill>
                  <a:srgbClr val="192B37"/>
                </a:solidFill>
              </a:rPr>
              <a:t>buildUser({}, 2)</a:t>
            </a:r>
          </a:p>
          <a:p>
            <a:pPr algn="ctr">
              <a:lnSpc>
                <a:spcPct val="100000"/>
              </a:lnSpc>
              <a:spcBef>
                <a:spcPts val="0"/>
              </a:spcBef>
              <a:spcAft>
                <a:spcPts val="0"/>
              </a:spcAft>
            </a:pPr>
            <a:r>
              <a:rPr sz="1600" b="0" i="0">
                <a:solidFill>
                  <a:srgbClr val="192B37"/>
                </a:solidFill>
              </a:rPr>
              <a:t>→ id usr00002</a:t>
            </a:r>
          </a:p>
        </p:txBody>
      </p:sp>
      <p:cxnSp>
        <p:nvCxnSpPr>
          <p:cNvPr id="23" name="Connector 22"/>
          <p:cNvCxnSpPr/>
          <p:nvPr/>
        </p:nvCxnSpPr>
        <p:spPr>
          <a:xfrm>
            <a:off x="14200632" y="4572000"/>
            <a:ext cx="301752" cy="0"/>
          </a:xfrm>
          <a:prstGeom prst="line">
            <a:avLst/>
          </a:prstGeom>
          <a:ln w="31750">
            <a:solidFill>
              <a:srgbClr val="5E6A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4520672" y="2926080"/>
            <a:ext cx="4297680" cy="3291840"/>
          </a:xfrm>
          <a:prstGeom prst="roundRect">
            <a:avLst>
              <a:gd name="adj" fmla="val 8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6166592" y="3108960"/>
            <a:ext cx="1005840" cy="100584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LuGhost.png"/>
          <p:cNvPicPr>
            <a:picLocks noChangeAspect="1"/>
          </p:cNvPicPr>
          <p:nvPr/>
        </p:nvPicPr>
        <p:blipFill>
          <a:blip r:embed="rId6"/>
          <a:stretch>
            <a:fillRect/>
          </a:stretch>
        </p:blipFill>
        <p:spPr>
          <a:xfrm>
            <a:off x="16407993" y="3350361"/>
            <a:ext cx="523036" cy="523036"/>
          </a:xfrm>
          <a:prstGeom prst="rect">
            <a:avLst/>
          </a:prstGeom>
        </p:spPr>
      </p:pic>
      <p:sp>
        <p:nvSpPr>
          <p:cNvPr id="27" name="TextBox 26"/>
          <p:cNvSpPr txBox="1"/>
          <p:nvPr/>
        </p:nvSpPr>
        <p:spPr>
          <a:xfrm>
            <a:off x="14703552" y="4251960"/>
            <a:ext cx="3931920" cy="548640"/>
          </a:xfrm>
          <a:prstGeom prst="rect">
            <a:avLst/>
          </a:prstGeom>
          <a:noFill/>
        </p:spPr>
        <p:txBody>
          <a:bodyPr wrap="square" lIns="0" rIns="0" tIns="18288" bIns="18288" anchor="t">
            <a:noAutofit/>
          </a:bodyPr>
          <a:lstStyle/>
          <a:p>
            <a:pPr algn="ctr">
              <a:lnSpc>
                <a:spcPct val="100000"/>
              </a:lnSpc>
              <a:spcBef>
                <a:spcPts val="0"/>
              </a:spcBef>
              <a:spcAft>
                <a:spcPts val="0"/>
              </a:spcAft>
            </a:pPr>
            <a:r>
              <a:rPr sz="2100" b="1" i="0">
                <a:solidFill>
                  <a:srgbClr val="192B37"/>
                </a:solidFill>
              </a:rPr>
              <a:t>stubs</a:t>
            </a:r>
          </a:p>
        </p:txBody>
      </p:sp>
      <p:sp>
        <p:nvSpPr>
          <p:cNvPr id="28" name="TextBox 27"/>
          <p:cNvSpPr txBox="1"/>
          <p:nvPr/>
        </p:nvSpPr>
        <p:spPr>
          <a:xfrm>
            <a:off x="14703552" y="4846320"/>
            <a:ext cx="3931920" cy="128016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0" i="0">
                <a:solidFill>
                  <a:srgbClr val="192B37"/>
                </a:solidFill>
              </a:rPr>
              <a:t>stubApi(page, m, body)</a:t>
            </a:r>
          </a:p>
          <a:p>
            <a:pPr algn="ctr">
              <a:lnSpc>
                <a:spcPct val="100000"/>
              </a:lnSpc>
              <a:spcBef>
                <a:spcPts val="0"/>
              </a:spcBef>
              <a:spcAft>
                <a:spcPts val="0"/>
              </a:spcAft>
            </a:pPr>
            <a:r>
              <a:rPr sz="1600" b="0" i="0">
                <a:solidFill>
                  <a:srgbClr val="192B37"/>
                </a:solidFill>
              </a:rPr>
              <a:t>500 · slow · empty</a:t>
            </a:r>
          </a:p>
        </p:txBody>
      </p:sp>
      <p:cxnSp>
        <p:nvCxnSpPr>
          <p:cNvPr id="29" name="Connector 28"/>
          <p:cNvCxnSpPr/>
          <p:nvPr/>
        </p:nvCxnSpPr>
        <p:spPr>
          <a:xfrm>
            <a:off x="18836640" y="4572000"/>
            <a:ext cx="301752" cy="0"/>
          </a:xfrm>
          <a:prstGeom prst="line">
            <a:avLst/>
          </a:prstGeom>
          <a:ln w="31750">
            <a:solidFill>
              <a:srgbClr val="5E6A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9156680" y="2926080"/>
            <a:ext cx="4297680" cy="3291840"/>
          </a:xfrm>
          <a:prstGeom prst="roundRect">
            <a:avLst>
              <a:gd name="adj" fmla="val 8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20802600" y="3108960"/>
            <a:ext cx="1005840" cy="100584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LuDices.png"/>
          <p:cNvPicPr>
            <a:picLocks noChangeAspect="1"/>
          </p:cNvPicPr>
          <p:nvPr/>
        </p:nvPicPr>
        <p:blipFill>
          <a:blip r:embed="rId7"/>
          <a:stretch>
            <a:fillRect/>
          </a:stretch>
        </p:blipFill>
        <p:spPr>
          <a:xfrm>
            <a:off x="21044001" y="3350361"/>
            <a:ext cx="523036" cy="523036"/>
          </a:xfrm>
          <a:prstGeom prst="rect">
            <a:avLst/>
          </a:prstGeom>
        </p:spPr>
      </p:pic>
      <p:sp>
        <p:nvSpPr>
          <p:cNvPr id="33" name="TextBox 32"/>
          <p:cNvSpPr txBox="1"/>
          <p:nvPr/>
        </p:nvSpPr>
        <p:spPr>
          <a:xfrm>
            <a:off x="19339560" y="4251960"/>
            <a:ext cx="3931920" cy="548640"/>
          </a:xfrm>
          <a:prstGeom prst="rect">
            <a:avLst/>
          </a:prstGeom>
          <a:noFill/>
        </p:spPr>
        <p:txBody>
          <a:bodyPr wrap="square" lIns="0" rIns="0" tIns="18288" bIns="18288" anchor="t">
            <a:noAutofit/>
          </a:bodyPr>
          <a:lstStyle/>
          <a:p>
            <a:pPr algn="ctr">
              <a:lnSpc>
                <a:spcPct val="100000"/>
              </a:lnSpc>
              <a:spcBef>
                <a:spcPts val="0"/>
              </a:spcBef>
              <a:spcAft>
                <a:spcPts val="0"/>
              </a:spcAft>
            </a:pPr>
            <a:r>
              <a:rPr sz="2100" b="1" i="0">
                <a:solidFill>
                  <a:srgbClr val="192B37"/>
                </a:solidFill>
              </a:rPr>
              <a:t>Faker</a:t>
            </a:r>
          </a:p>
        </p:txBody>
      </p:sp>
      <p:sp>
        <p:nvSpPr>
          <p:cNvPr id="34" name="TextBox 33"/>
          <p:cNvSpPr txBox="1"/>
          <p:nvPr/>
        </p:nvSpPr>
        <p:spPr>
          <a:xfrm>
            <a:off x="19339560" y="4846320"/>
            <a:ext cx="3931920" cy="128016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0" i="0">
                <a:solidFill>
                  <a:srgbClr val="192B37"/>
                </a:solidFill>
              </a:rPr>
              <a:t>unique sign-ups</a:t>
            </a:r>
          </a:p>
          <a:p>
            <a:pPr algn="ctr">
              <a:lnSpc>
                <a:spcPct val="100000"/>
              </a:lnSpc>
              <a:spcBef>
                <a:spcPts val="0"/>
              </a:spcBef>
              <a:spcAft>
                <a:spcPts val="0"/>
              </a:spcAft>
            </a:pPr>
            <a:r>
              <a:rPr sz="1600" b="0" i="0">
                <a:solidFill>
                  <a:srgbClr val="192B37"/>
                </a:solidFill>
              </a:rPr>
              <a:t>(never real PII)</a:t>
            </a:r>
          </a:p>
        </p:txBody>
      </p:sp>
      <p:sp>
        <p:nvSpPr>
          <p:cNvPr id="35" name="Rounded Rectangle 34"/>
          <p:cNvSpPr/>
          <p:nvPr/>
        </p:nvSpPr>
        <p:spPr>
          <a:xfrm>
            <a:off x="612648" y="6492240"/>
            <a:ext cx="11338560" cy="3931920"/>
          </a:xfrm>
          <a:prstGeom prst="roundRect">
            <a:avLst>
              <a:gd name="adj" fmla="val 6511"/>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886968" y="6693407"/>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79576" y="6693407"/>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472184" y="6693407"/>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892807" y="6565392"/>
            <a:ext cx="978408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src/mocks/factories.ts (abridged)</a:t>
            </a:r>
          </a:p>
        </p:txBody>
      </p:sp>
      <p:sp>
        <p:nvSpPr>
          <p:cNvPr id="40" name="TextBox 39"/>
          <p:cNvSpPr txBox="1"/>
          <p:nvPr/>
        </p:nvSpPr>
        <p:spPr>
          <a:xfrm>
            <a:off x="886968" y="7040879"/>
            <a:ext cx="10881360" cy="3246120"/>
          </a:xfrm>
          <a:prstGeom prst="rect">
            <a:avLst/>
          </a:prstGeom>
          <a:noFill/>
        </p:spPr>
        <p:txBody>
          <a:bodyPr wrap="none" lIns="0" rIns="0" tIns="0" bIns="0">
            <a:noAutofit/>
          </a:bodyPr>
          <a:lstStyle/>
          <a:p>
            <a:pPr>
              <a:lnSpc>
                <a:spcPct val="108000"/>
              </a:lnSpc>
              <a:spcBef>
                <a:spcPts val="0"/>
              </a:spcBef>
              <a:spcAft>
                <a:spcPts val="0"/>
              </a:spcAft>
            </a:pPr>
            <a:r>
              <a:rPr sz="1800" i="0" b="0">
                <a:solidFill>
                  <a:srgbClr val="FF9C8A"/>
                </a:solidFill>
                <a:latin typeface="Consolas"/>
              </a:rPr>
              <a:t>export</a:t>
            </a:r>
            <a:r>
              <a:rPr sz="1800" i="0" b="0">
                <a:solidFill>
                  <a:srgbClr val="E6EDF3"/>
                </a:solidFill>
                <a:latin typeface="Consolas"/>
              </a:rPr>
              <a:t> </a:t>
            </a:r>
            <a:r>
              <a:rPr sz="1800" i="0" b="0">
                <a:solidFill>
                  <a:srgbClr val="FF9C8A"/>
                </a:solidFill>
                <a:latin typeface="Consolas"/>
              </a:rPr>
              <a:t>const</a:t>
            </a:r>
            <a:r>
              <a:rPr sz="1800" i="0" b="0">
                <a:solidFill>
                  <a:srgbClr val="E6EDF3"/>
                </a:solidFill>
                <a:latin typeface="Consolas"/>
              </a:rPr>
              <a:t> </a:t>
            </a:r>
            <a:r>
              <a:rPr sz="1800" i="0" b="0">
                <a:solidFill>
                  <a:srgbClr val="E6EDF3"/>
                </a:solidFill>
                <a:latin typeface="Consolas"/>
              </a:rPr>
              <a:t>buildUser</a:t>
            </a:r>
            <a:r>
              <a:rPr sz="1800" i="0" b="0">
                <a:solidFill>
                  <a:srgbClr val="E6EDF3"/>
                </a:solidFill>
                <a:latin typeface="Consolas"/>
              </a:rPr>
              <a:t>:</a:t>
            </a:r>
            <a:r>
              <a:rPr sz="1800" i="0" b="0">
                <a:solidFill>
                  <a:srgbClr val="E6EDF3"/>
                </a:solidFill>
                <a:latin typeface="Consolas"/>
              </a:rPr>
              <a:t> </a:t>
            </a:r>
            <a:r>
              <a:rPr sz="1800" i="0" b="0">
                <a:solidFill>
                  <a:srgbClr val="8CCFF0"/>
                </a:solidFill>
                <a:latin typeface="Consolas"/>
              </a:rPr>
              <a:t>Builder</a:t>
            </a:r>
            <a:r>
              <a:rPr sz="1800" i="0" b="0">
                <a:solidFill>
                  <a:srgbClr val="E6EDF3"/>
                </a:solidFill>
                <a:latin typeface="Consolas"/>
              </a:rPr>
              <a:t>&lt;</a:t>
            </a:r>
            <a:r>
              <a:rPr sz="1800" i="0" b="0">
                <a:solidFill>
                  <a:srgbClr val="C9B8FF"/>
                </a:solidFill>
                <a:latin typeface="Consolas"/>
              </a:rPr>
              <a:t>User</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overrides</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seq</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FFC56B"/>
                </a:solidFill>
                <a:latin typeface="Consolas"/>
              </a:rPr>
              <a:t>1</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p>
          <a:p>
            <a:pPr>
              <a:lnSpc>
                <a:spcPct val="108000"/>
              </a:lnSpc>
              <a:spcBef>
                <a:spcPts val="0"/>
              </a:spcBef>
              <a:spcAft>
                <a:spcPts val="0"/>
              </a:spcAft>
            </a:pPr>
            <a:r>
              <a:rPr sz="1800" i="0" b="0">
                <a:solidFill>
                  <a:srgbClr val="E6EDF3"/>
                </a:solidFill>
                <a:latin typeface="Consolas"/>
              </a:rPr>
              <a:t>  </a:t>
            </a:r>
            <a:r>
              <a:rPr sz="1800" i="0" b="0">
                <a:solidFill>
                  <a:srgbClr val="C9B8FF"/>
                </a:solidFill>
                <a:latin typeface="Consolas"/>
              </a:rPr>
              <a:t>Object</a:t>
            </a:r>
            <a:r>
              <a:rPr sz="1800" i="0" b="0">
                <a:solidFill>
                  <a:srgbClr val="E6EDF3"/>
                </a:solidFill>
                <a:latin typeface="Consolas"/>
              </a:rPr>
              <a:t>.</a:t>
            </a:r>
            <a:r>
              <a:rPr sz="1800" i="0" b="0">
                <a:solidFill>
                  <a:srgbClr val="8CCFF0"/>
                </a:solidFill>
                <a:latin typeface="Consolas"/>
              </a:rPr>
              <a:t>freeze</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stamps</a:t>
            </a:r>
            <a:r>
              <a:rPr sz="1800" i="0" b="0">
                <a:solidFill>
                  <a:srgbClr val="E6EDF3"/>
                </a:solidFill>
                <a:latin typeface="Consolas"/>
              </a:rPr>
              <a:t>(</a:t>
            </a:r>
            <a:r>
              <a:rPr sz="1800" i="0" b="0">
                <a:solidFill>
                  <a:srgbClr val="9BE3B4"/>
                </a:solidFill>
                <a:latin typeface="Consolas"/>
              </a:rPr>
              <a:t>"usr"</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seq</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1" b="0">
                <a:solidFill>
                  <a:srgbClr val="7F93A3"/>
                </a:solidFill>
                <a:latin typeface="Consolas"/>
              </a:rPr>
              <a:t>// id usr00001, UTC dates</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firstName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lastName</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username</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`${firstName}${seq}`</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balance</a:t>
            </a:r>
            <a:r>
              <a:rPr sz="1800" i="0" b="0">
                <a:solidFill>
                  <a:srgbClr val="E6EDF3"/>
                </a:solidFill>
                <a:latin typeface="Consolas"/>
              </a:rPr>
              <a:t>:</a:t>
            </a:r>
            <a:r>
              <a:rPr sz="1800" i="0" b="0">
                <a:solidFill>
                  <a:srgbClr val="E6EDF3"/>
                </a:solidFill>
                <a:latin typeface="Consolas"/>
              </a:rPr>
              <a:t> </a:t>
            </a:r>
            <a:r>
              <a:rPr sz="1800" i="0" b="0">
                <a:solidFill>
                  <a:srgbClr val="FFC56B"/>
                </a:solidFill>
                <a:latin typeface="Consolas"/>
              </a:rPr>
              <a:t>100_000</a:t>
            </a:r>
            <a:r>
              <a:rPr sz="1800" i="0" b="0">
                <a:solidFill>
                  <a:srgbClr val="E6EDF3"/>
                </a:solidFill>
                <a:latin typeface="Consolas"/>
              </a:rPr>
              <a:t>,</a:t>
            </a:r>
            <a:r>
              <a:rPr sz="1800" i="0" b="0">
                <a:solidFill>
                  <a:srgbClr val="E6EDF3"/>
                </a:solidFill>
                <a:latin typeface="Consolas"/>
              </a:rPr>
              <a:t>                 </a:t>
            </a:r>
            <a:r>
              <a:rPr sz="1800" i="1" b="0">
                <a:solidFill>
                  <a:srgbClr val="7F93A3"/>
                </a:solidFill>
                <a:latin typeface="Consolas"/>
              </a:rPr>
              <a:t>// cents!</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overrides</a:t>
            </a:r>
            <a:r>
              <a:rPr sz="1800" i="0" b="0">
                <a:solidFill>
                  <a:srgbClr val="E6EDF3"/>
                </a:solidFill>
                <a:latin typeface="Consolas"/>
              </a:rPr>
              <a:t>,</a:t>
            </a:r>
            <a:r>
              <a:rPr sz="1800" i="0" b="0">
                <a:solidFill>
                  <a:srgbClr val="E6EDF3"/>
                </a:solidFill>
                <a:latin typeface="Consolas"/>
              </a:rPr>
              <a:t>                     </a:t>
            </a:r>
            <a:r>
              <a:rPr sz="1800" i="1" b="0">
                <a:solidFill>
                  <a:srgbClr val="7F93A3"/>
                </a:solidFill>
                <a:latin typeface="Consolas"/>
              </a:rPr>
              <a:t>// overrides always win</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p:txBody>
      </p:sp>
      <p:sp>
        <p:nvSpPr>
          <p:cNvPr id="41" name="Rounded Rectangle 40"/>
          <p:cNvSpPr/>
          <p:nvPr/>
        </p:nvSpPr>
        <p:spPr>
          <a:xfrm>
            <a:off x="12225528" y="6492240"/>
            <a:ext cx="5440680" cy="1828800"/>
          </a:xfrm>
          <a:prstGeom prst="roundRect">
            <a:avLst>
              <a:gd name="adj" fmla="val 12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2499848" y="6537959"/>
            <a:ext cx="493776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4000" b="0" i="0">
                <a:solidFill>
                  <a:srgbClr val="3D9BC8"/>
                </a:solidFill>
                <a:latin typeface="+mj-lt"/>
              </a:rPr>
              <a:t>100%</a:t>
            </a:r>
          </a:p>
        </p:txBody>
      </p:sp>
      <p:sp>
        <p:nvSpPr>
          <p:cNvPr id="43" name="TextBox 42"/>
          <p:cNvSpPr txBox="1"/>
          <p:nvPr/>
        </p:nvSpPr>
        <p:spPr>
          <a:xfrm>
            <a:off x="12499848" y="7498079"/>
            <a:ext cx="4937760" cy="731520"/>
          </a:xfrm>
          <a:prstGeom prst="rect">
            <a:avLst/>
          </a:prstGeom>
          <a:noFill/>
        </p:spPr>
        <p:txBody>
          <a:bodyPr wrap="square" lIns="0" rIns="0" tIns="18288" bIns="18288" anchor="t">
            <a:noAutofit/>
          </a:bodyPr>
          <a:lstStyle/>
          <a:p>
            <a:pPr algn="l">
              <a:lnSpc>
                <a:spcPct val="100000"/>
              </a:lnSpc>
              <a:spcBef>
                <a:spcPts val="0"/>
              </a:spcBef>
              <a:spcAft>
                <a:spcPts val="0"/>
              </a:spcAft>
            </a:pPr>
            <a:r>
              <a:rPr sz="1700" b="1" i="0">
                <a:solidFill>
                  <a:srgbClr val="192B37"/>
                </a:solidFill>
              </a:rPr>
              <a:t>tests start from the same seed</a:t>
            </a:r>
          </a:p>
        </p:txBody>
      </p:sp>
      <p:sp>
        <p:nvSpPr>
          <p:cNvPr id="44" name="Rounded Rectangle 43"/>
          <p:cNvSpPr/>
          <p:nvPr/>
        </p:nvSpPr>
        <p:spPr>
          <a:xfrm>
            <a:off x="17894808" y="6492240"/>
            <a:ext cx="5440680" cy="1828800"/>
          </a:xfrm>
          <a:prstGeom prst="roundRect">
            <a:avLst>
              <a:gd name="adj" fmla="val 12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8169128" y="6537959"/>
            <a:ext cx="493776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4000" b="0" i="0">
                <a:solidFill>
                  <a:srgbClr val="00A859"/>
                </a:solidFill>
                <a:latin typeface="+mj-lt"/>
              </a:rPr>
              <a:t>0</a:t>
            </a:r>
          </a:p>
        </p:txBody>
      </p:sp>
      <p:sp>
        <p:nvSpPr>
          <p:cNvPr id="46" name="TextBox 45"/>
          <p:cNvSpPr txBox="1"/>
          <p:nvPr/>
        </p:nvSpPr>
        <p:spPr>
          <a:xfrm>
            <a:off x="18169128" y="7498079"/>
            <a:ext cx="4937760" cy="731520"/>
          </a:xfrm>
          <a:prstGeom prst="rect">
            <a:avLst/>
          </a:prstGeom>
          <a:noFill/>
        </p:spPr>
        <p:txBody>
          <a:bodyPr wrap="square" lIns="0" rIns="0" tIns="18288" bIns="18288" anchor="t">
            <a:noAutofit/>
          </a:bodyPr>
          <a:lstStyle/>
          <a:p>
            <a:pPr algn="l">
              <a:lnSpc>
                <a:spcPct val="100000"/>
              </a:lnSpc>
              <a:spcBef>
                <a:spcPts val="0"/>
              </a:spcBef>
              <a:spcAft>
                <a:spcPts val="0"/>
              </a:spcAft>
            </a:pPr>
            <a:r>
              <a:rPr sz="1700" b="1" i="0">
                <a:solidFill>
                  <a:srgbClr val="192B37"/>
                </a:solidFill>
              </a:rPr>
              <a:t>real people in our data</a:t>
            </a:r>
          </a:p>
        </p:txBody>
      </p:sp>
      <p:sp>
        <p:nvSpPr>
          <p:cNvPr id="47" name="Rounded Rectangle 46"/>
          <p:cNvSpPr/>
          <p:nvPr/>
        </p:nvSpPr>
        <p:spPr>
          <a:xfrm>
            <a:off x="12225528" y="8503920"/>
            <a:ext cx="5440680" cy="1828800"/>
          </a:xfrm>
          <a:prstGeom prst="roundRect">
            <a:avLst>
              <a:gd name="adj" fmla="val 12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2499848" y="8549640"/>
            <a:ext cx="493776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4000" b="0" i="0">
                <a:solidFill>
                  <a:srgbClr val="DB7D00"/>
                </a:solidFill>
                <a:latin typeface="+mj-lt"/>
              </a:rPr>
              <a:t>cents</a:t>
            </a:r>
          </a:p>
        </p:txBody>
      </p:sp>
      <p:sp>
        <p:nvSpPr>
          <p:cNvPr id="49" name="TextBox 48"/>
          <p:cNvSpPr txBox="1"/>
          <p:nvPr/>
        </p:nvSpPr>
        <p:spPr>
          <a:xfrm>
            <a:off x="12499848" y="9509760"/>
            <a:ext cx="4937760" cy="731520"/>
          </a:xfrm>
          <a:prstGeom prst="rect">
            <a:avLst/>
          </a:prstGeom>
          <a:noFill/>
        </p:spPr>
        <p:txBody>
          <a:bodyPr wrap="square" lIns="0" rIns="0" tIns="18288" bIns="18288" anchor="t">
            <a:noAutofit/>
          </a:bodyPr>
          <a:lstStyle/>
          <a:p>
            <a:pPr algn="l">
              <a:lnSpc>
                <a:spcPct val="100000"/>
              </a:lnSpc>
              <a:spcBef>
                <a:spcPts val="0"/>
              </a:spcBef>
              <a:spcAft>
                <a:spcPts val="0"/>
              </a:spcAft>
            </a:pPr>
            <a:r>
              <a:rPr sz="1700" b="1" i="0">
                <a:solidFill>
                  <a:srgbClr val="192B37"/>
                </a:solidFill>
              </a:rPr>
              <a:t>stored money unit (KI-18 traps dollars)</a:t>
            </a:r>
          </a:p>
        </p:txBody>
      </p:sp>
      <p:sp>
        <p:nvSpPr>
          <p:cNvPr id="50" name="Rounded Rectangle 49"/>
          <p:cNvSpPr/>
          <p:nvPr/>
        </p:nvSpPr>
        <p:spPr>
          <a:xfrm>
            <a:off x="17894808" y="8503920"/>
            <a:ext cx="5440680" cy="1828800"/>
          </a:xfrm>
          <a:prstGeom prst="roundRect">
            <a:avLst>
              <a:gd name="adj" fmla="val 12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8169128" y="8549640"/>
            <a:ext cx="493776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4000" b="0" i="0">
                <a:solidFill>
                  <a:srgbClr val="FF5640"/>
                </a:solidFill>
                <a:latin typeface="+mj-lt"/>
              </a:rPr>
              <a:t>1</a:t>
            </a:r>
          </a:p>
        </p:txBody>
      </p:sp>
      <p:sp>
        <p:nvSpPr>
          <p:cNvPr id="52" name="TextBox 51"/>
          <p:cNvSpPr txBox="1"/>
          <p:nvPr/>
        </p:nvSpPr>
        <p:spPr>
          <a:xfrm>
            <a:off x="18169128" y="9509760"/>
            <a:ext cx="4937760" cy="731520"/>
          </a:xfrm>
          <a:prstGeom prst="rect">
            <a:avLst/>
          </a:prstGeom>
          <a:noFill/>
        </p:spPr>
        <p:txBody>
          <a:bodyPr wrap="square" lIns="0" rIns="0" tIns="18288" bIns="18288" anchor="t">
            <a:noAutofit/>
          </a:bodyPr>
          <a:lstStyle/>
          <a:p>
            <a:pPr algn="l">
              <a:lnSpc>
                <a:spcPct val="100000"/>
              </a:lnSpc>
              <a:spcBef>
                <a:spcPts val="0"/>
              </a:spcBef>
              <a:spcAft>
                <a:spcPts val="0"/>
              </a:spcAft>
            </a:pPr>
            <a:r>
              <a:rPr sz="1700" b="1" i="0">
                <a:solidFill>
                  <a:srgbClr val="192B37"/>
                </a:solidFill>
              </a:rPr>
              <a:t>worker — the DB is shared</a:t>
            </a:r>
          </a:p>
        </p:txBody>
      </p:sp>
      <p:sp>
        <p:nvSpPr>
          <p:cNvPr id="53" name="Rounded Rectangle 52"/>
          <p:cNvSpPr/>
          <p:nvPr/>
        </p:nvSpPr>
        <p:spPr>
          <a:xfrm>
            <a:off x="612648" y="10789920"/>
            <a:ext cx="22860000" cy="960120"/>
          </a:xfrm>
          <a:prstGeom prst="roundRect">
            <a:avLst>
              <a:gd name="adj" fmla="val 1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Oval 53"/>
          <p:cNvSpPr/>
          <p:nvPr/>
        </p:nvSpPr>
        <p:spPr>
          <a:xfrm>
            <a:off x="886968" y="10927080"/>
            <a:ext cx="685800" cy="6858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LuLaugh.png"/>
          <p:cNvPicPr>
            <a:picLocks noChangeAspect="1"/>
          </p:cNvPicPr>
          <p:nvPr/>
        </p:nvPicPr>
        <p:blipFill>
          <a:blip r:embed="rId8"/>
          <a:stretch>
            <a:fillRect/>
          </a:stretch>
        </p:blipFill>
        <p:spPr>
          <a:xfrm>
            <a:off x="1051560" y="11091672"/>
            <a:ext cx="356616" cy="356616"/>
          </a:xfrm>
          <a:prstGeom prst="rect">
            <a:avLst/>
          </a:prstGeom>
        </p:spPr>
      </p:pic>
      <p:sp>
        <p:nvSpPr>
          <p:cNvPr id="56" name="TextBox 55"/>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Our test data is 100% synthetic, gluten-free, and has never been anywhere near production.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Automation</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8683C3"/>
                </a:solidFill>
              </a:rPr>
              <a:t>AUTOMATION SUITE · SPEC FILES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Anatomy of a spec: the e2e journey</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29</a:t>
            </a:r>
          </a:p>
        </p:txBody>
      </p:sp>
      <p:sp>
        <p:nvSpPr>
          <p:cNvPr id="6" name="Rounded Rectangle 5"/>
          <p:cNvSpPr/>
          <p:nvPr/>
        </p:nvSpPr>
        <p:spPr>
          <a:xfrm>
            <a:off x="612648" y="2926080"/>
            <a:ext cx="14264640" cy="7543800"/>
          </a:xfrm>
          <a:prstGeom prst="roundRect">
            <a:avLst>
              <a:gd name="adj" fmla="val 3393"/>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86968" y="312724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79576" y="312724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72184" y="312724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92807" y="2999232"/>
            <a:ext cx="1271016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tests/e2e/pay-a-friend.e2e.spec.ts (abridged)</a:t>
            </a:r>
          </a:p>
        </p:txBody>
      </p:sp>
      <p:sp>
        <p:nvSpPr>
          <p:cNvPr id="11" name="TextBox 10"/>
          <p:cNvSpPr txBox="1"/>
          <p:nvPr/>
        </p:nvSpPr>
        <p:spPr>
          <a:xfrm>
            <a:off x="886968" y="3474720"/>
            <a:ext cx="13807440" cy="6858000"/>
          </a:xfrm>
          <a:prstGeom prst="rect">
            <a:avLst/>
          </a:prstGeom>
          <a:noFill/>
        </p:spPr>
        <p:txBody>
          <a:bodyPr wrap="none" lIns="0" rIns="0" tIns="0" bIns="0">
            <a:noAutofit/>
          </a:bodyPr>
          <a:lstStyle/>
          <a:p>
            <a:pPr>
              <a:lnSpc>
                <a:spcPct val="108000"/>
              </a:lnSpc>
              <a:spcBef>
                <a:spcPts val="0"/>
              </a:spcBef>
              <a:spcAft>
                <a:spcPts val="0"/>
              </a:spcAft>
            </a:pPr>
            <a:r>
              <a:rPr sz="1800" i="0" b="0">
                <a:solidFill>
                  <a:srgbClr val="FF9C8A"/>
                </a:solidFill>
                <a:latin typeface="Consolas"/>
              </a:rPr>
              <a:t>import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test</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expect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from</a:t>
            </a:r>
            <a:r>
              <a:rPr sz="1800" i="0" b="0">
                <a:solidFill>
                  <a:srgbClr val="E6EDF3"/>
                </a:solidFill>
                <a:latin typeface="Consolas"/>
              </a:rPr>
              <a:t> </a:t>
            </a:r>
            <a:r>
              <a:rPr sz="1800" i="0" b="0">
                <a:solidFill>
                  <a:srgbClr val="9BE3B4"/>
                </a:solidFill>
                <a:latin typeface="Consolas"/>
              </a:rPr>
              <a:t>"@fixtures/ui"</a:t>
            </a:r>
            <a:r>
              <a:rPr sz="1800" i="0" b="0">
                <a:solidFill>
                  <a:srgbClr val="E6EDF3"/>
                </a:solidFill>
                <a:latin typeface="Consolas"/>
              </a:rPr>
              <a:t>;</a:t>
            </a:r>
            <a:r>
              <a:rPr sz="1800" i="0" b="0">
                <a:solidFill>
                  <a:srgbClr val="E6EDF3"/>
                </a:solidFill>
                <a:latin typeface="Consolas"/>
              </a:rPr>
              <a:t>                     </a:t>
            </a:r>
            <a:r>
              <a:rPr sz="1800" i="1" b="0">
                <a:solidFill>
                  <a:srgbClr val="7F93A3"/>
                </a:solidFill>
                <a:latin typeface="Consolas"/>
              </a:rPr>
              <a:t>// ①</a:t>
            </a:r>
          </a:p>
          <a:p>
            <a:pPr>
              <a:lnSpc>
                <a:spcPct val="108000"/>
              </a:lnSpc>
              <a:spcBef>
                <a:spcPts val="0"/>
              </a:spcBef>
              <a:spcAft>
                <a:spcPts val="0"/>
              </a:spcAft>
            </a:pPr>
            <a:r>
              <a:rPr sz="1800" i="0" b="0">
                <a:solidFill>
                  <a:srgbClr val="FF9C8A"/>
                </a:solidFill>
                <a:latin typeface="Consolas"/>
              </a:rPr>
              <a:t>import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loginViaForm</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waitForApi</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bySelLike</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from</a:t>
            </a:r>
            <a:r>
              <a:rPr sz="1800" i="0" b="0">
                <a:solidFill>
                  <a:srgbClr val="E6EDF3"/>
                </a:solidFill>
                <a:latin typeface="Consolas"/>
              </a:rPr>
              <a:t> </a:t>
            </a:r>
            <a:r>
              <a:rPr sz="1800" i="0" b="0">
                <a:solidFill>
                  <a:srgbClr val="9BE3B4"/>
                </a:solidFill>
                <a:latin typeface="Consolas"/>
              </a:rPr>
              <a:t>"@ui"</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p>
          <a:p>
            <a:pPr>
              <a:lnSpc>
                <a:spcPct val="108000"/>
              </a:lnSpc>
              <a:spcBef>
                <a:spcPts val="0"/>
              </a:spcBef>
              <a:spcAft>
                <a:spcPts val="0"/>
              </a:spcAft>
            </a:pPr>
            <a:r>
              <a:rPr sz="1800" i="0" b="0">
                <a:solidFill>
                  <a:srgbClr val="FF9C8A"/>
                </a:solidFill>
                <a:latin typeface="Consolas"/>
              </a:rPr>
              <a:t>test</a:t>
            </a:r>
            <a:r>
              <a:rPr sz="1800" i="0" b="0">
                <a:solidFill>
                  <a:srgbClr val="E6EDF3"/>
                </a:solidFill>
                <a:latin typeface="Consolas"/>
              </a:rPr>
              <a:t>.</a:t>
            </a:r>
            <a:r>
              <a:rPr sz="1800" i="0" b="0">
                <a:solidFill>
                  <a:srgbClr val="FF9C8A"/>
                </a:solidFill>
                <a:latin typeface="Consolas"/>
              </a:rPr>
              <a:t>describe</a:t>
            </a:r>
            <a:r>
              <a:rPr sz="1800" i="0" b="0">
                <a:solidFill>
                  <a:srgbClr val="E6EDF3"/>
                </a:solidFill>
                <a:latin typeface="Consolas"/>
              </a:rPr>
              <a:t>(</a:t>
            </a:r>
            <a:r>
              <a:rPr sz="1800" i="0" b="0">
                <a:solidFill>
                  <a:srgbClr val="9BE3B4"/>
                </a:solidFill>
                <a:latin typeface="Consolas"/>
              </a:rPr>
              <a:t>"Journey: pay a friend"</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tag</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9BE3B4"/>
                </a:solidFill>
                <a:latin typeface="Consolas"/>
              </a:rPr>
              <a:t>"@e2e"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1" b="0">
                <a:solidFill>
                  <a:srgbClr val="7F93A3"/>
                </a:solidFill>
                <a:latin typeface="Consolas"/>
              </a:rPr>
              <a:t>// ②</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test</a:t>
            </a:r>
            <a:r>
              <a:rPr sz="1800" i="0" b="0">
                <a:solidFill>
                  <a:srgbClr val="E6EDF3"/>
                </a:solidFill>
                <a:latin typeface="Consolas"/>
              </a:rPr>
              <a:t>(</a:t>
            </a:r>
            <a:r>
              <a:rPr sz="1800" i="0" b="0">
                <a:solidFill>
                  <a:srgbClr val="9BE3B4"/>
                </a:solidFill>
                <a:latin typeface="Consolas"/>
              </a:rPr>
              <a:t>"Alice pays Bob, Bob reacts, Alice is notified"</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async</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db</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users</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alice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bob</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1" b="0">
                <a:solidFill>
                  <a:srgbClr val="7F93A3"/>
                </a:solidFill>
                <a:latin typeface="Consolas"/>
              </a:rPr>
              <a:t>// ③</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FF9C8A"/>
                </a:solidFill>
                <a:latin typeface="Consolas"/>
              </a:rPr>
              <a:t>test</a:t>
            </a:r>
            <a:r>
              <a:rPr sz="1800" i="0" b="0">
                <a:solidFill>
                  <a:srgbClr val="E6EDF3"/>
                </a:solidFill>
                <a:latin typeface="Consolas"/>
              </a:rPr>
              <a:t>.</a:t>
            </a:r>
            <a:r>
              <a:rPr sz="1800" i="0" b="0">
                <a:solidFill>
                  <a:srgbClr val="FF9C8A"/>
                </a:solidFill>
                <a:latin typeface="Consolas"/>
              </a:rPr>
              <a:t>step</a:t>
            </a:r>
            <a:r>
              <a:rPr sz="1800" i="0" b="0">
                <a:solidFill>
                  <a:srgbClr val="E6EDF3"/>
                </a:solidFill>
                <a:latin typeface="Consolas"/>
              </a:rPr>
              <a:t>(</a:t>
            </a:r>
            <a:r>
              <a:rPr sz="1800" i="0" b="0">
                <a:solidFill>
                  <a:srgbClr val="9BE3B4"/>
                </a:solidFill>
                <a:latin typeface="Consolas"/>
              </a:rPr>
              <a:t>"Alice signs in through the form"</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async</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1" b="0">
                <a:solidFill>
                  <a:srgbClr val="7F93A3"/>
                </a:solidFill>
                <a:latin typeface="Consolas"/>
              </a:rPr>
              <a:t>// ④</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8CCFF0"/>
                </a:solidFill>
                <a:latin typeface="Consolas"/>
              </a:rPr>
              <a:t>loginViaForm</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alice</a:t>
            </a:r>
            <a:r>
              <a:rPr sz="1800" i="0" b="0">
                <a:solidFill>
                  <a:srgbClr val="E6EDF3"/>
                </a:solidFill>
                <a:latin typeface="Consolas"/>
              </a:rPr>
              <a:t>.</a:t>
            </a:r>
            <a:r>
              <a:rPr sz="1800" i="0" b="0">
                <a:solidFill>
                  <a:srgbClr val="E6EDF3"/>
                </a:solidFill>
                <a:latin typeface="Consolas"/>
              </a:rPr>
              <a:t>username</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"s3cret"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FF9C8A"/>
                </a:solidFill>
                <a:latin typeface="Consolas"/>
              </a:rPr>
              <a:t>test</a:t>
            </a:r>
            <a:r>
              <a:rPr sz="1800" i="0" b="0">
                <a:solidFill>
                  <a:srgbClr val="E6EDF3"/>
                </a:solidFill>
                <a:latin typeface="Consolas"/>
              </a:rPr>
              <a:t>.</a:t>
            </a:r>
            <a:r>
              <a:rPr sz="1800" i="0" b="0">
                <a:solidFill>
                  <a:srgbClr val="FF9C8A"/>
                </a:solidFill>
                <a:latin typeface="Consolas"/>
              </a:rPr>
              <a:t>step</a:t>
            </a:r>
            <a:r>
              <a:rPr sz="1800" i="0" b="0">
                <a:solidFill>
                  <a:srgbClr val="E6EDF3"/>
                </a:solidFill>
                <a:latin typeface="Consolas"/>
              </a:rPr>
              <a:t>(</a:t>
            </a:r>
            <a:r>
              <a:rPr sz="1800" i="0" b="0">
                <a:solidFill>
                  <a:srgbClr val="9BE3B4"/>
                </a:solidFill>
                <a:latin typeface="Consolas"/>
              </a:rPr>
              <a:t>"Alice sends Bob a payment"</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async</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const</a:t>
            </a:r>
            <a:r>
              <a:rPr sz="1800" i="0" b="0">
                <a:solidFill>
                  <a:srgbClr val="E6EDF3"/>
                </a:solidFill>
                <a:latin typeface="Consolas"/>
              </a:rPr>
              <a:t> </a:t>
            </a:r>
            <a:r>
              <a:rPr sz="1800" i="0" b="0">
                <a:solidFill>
                  <a:srgbClr val="E6EDF3"/>
                </a:solidFill>
                <a:latin typeface="Consolas"/>
              </a:rPr>
              <a:t>created</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8CCFF0"/>
                </a:solidFill>
                <a:latin typeface="Consolas"/>
              </a:rPr>
              <a:t>waitForApi</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method</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"POST"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path</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"/transactions"</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1" b="0">
                <a:solidFill>
                  <a:srgbClr val="7F93A3"/>
                </a:solidFill>
                <a:latin typeface="Consolas"/>
              </a:rPr>
              <a:t>// ⑤</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8CCFF0"/>
                </a:solidFill>
                <a:latin typeface="Consolas"/>
              </a:rPr>
              <a:t>bySelLike</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"submit-payment"</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click</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expect</a:t>
            </a:r>
            <a:r>
              <a:rPr sz="1800" i="0" b="0">
                <a:solidFill>
                  <a:srgbClr val="E6EDF3"/>
                </a:solidFill>
                <a:latin typeface="Consolas"/>
              </a:rPr>
              <a:t>(</a:t>
            </a:r>
            <a:r>
              <a:rPr sz="1800" i="0" b="0">
                <a:solidFill>
                  <a:srgbClr val="E6EDF3"/>
                </a:solidFill>
                <a:latin typeface="Consolas"/>
              </a:rPr>
              <a:t>(</a:t>
            </a:r>
            <a:r>
              <a:rPr sz="1800" i="0" b="0">
                <a:solidFill>
                  <a:srgbClr val="FF9C8A"/>
                </a:solidFill>
                <a:latin typeface="Consolas"/>
              </a:rPr>
              <a:t>await</a:t>
            </a:r>
            <a:r>
              <a:rPr sz="1800" i="0" b="0">
                <a:solidFill>
                  <a:srgbClr val="E6EDF3"/>
                </a:solidFill>
                <a:latin typeface="Consolas"/>
              </a:rPr>
              <a:t> </a:t>
            </a:r>
            <a:r>
              <a:rPr sz="1800" i="0" b="0">
                <a:solidFill>
                  <a:srgbClr val="E6EDF3"/>
                </a:solidFill>
                <a:latin typeface="Consolas"/>
              </a:rPr>
              <a:t>created</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status</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toBe</a:t>
            </a:r>
            <a:r>
              <a:rPr sz="1800" i="0" b="0">
                <a:solidFill>
                  <a:srgbClr val="E6EDF3"/>
                </a:solidFill>
                <a:latin typeface="Consolas"/>
              </a:rPr>
              <a:t>(</a:t>
            </a:r>
            <a:r>
              <a:rPr sz="1800" i="0" b="0">
                <a:solidFill>
                  <a:srgbClr val="FFC56B"/>
                </a:solidFill>
                <a:latin typeface="Consolas"/>
              </a:rPr>
              <a:t>200</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1" b="0">
                <a:solidFill>
                  <a:srgbClr val="7F93A3"/>
                </a:solidFill>
                <a:latin typeface="Consolas"/>
              </a:rPr>
              <a:t>// ⑥</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FF9C8A"/>
                </a:solidFill>
                <a:latin typeface="Consolas"/>
              </a:rPr>
              <a:t>test</a:t>
            </a:r>
            <a:r>
              <a:rPr sz="1800" i="0" b="0">
                <a:solidFill>
                  <a:srgbClr val="E6EDF3"/>
                </a:solidFill>
                <a:latin typeface="Consolas"/>
              </a:rPr>
              <a:t>.</a:t>
            </a:r>
            <a:r>
              <a:rPr sz="1800" i="0" b="0">
                <a:solidFill>
                  <a:srgbClr val="FF9C8A"/>
                </a:solidFill>
                <a:latin typeface="Consolas"/>
              </a:rPr>
              <a:t>step</a:t>
            </a:r>
            <a:r>
              <a:rPr sz="1800" i="0" b="0">
                <a:solidFill>
                  <a:srgbClr val="E6EDF3"/>
                </a:solidFill>
                <a:latin typeface="Consolas"/>
              </a:rPr>
              <a:t>(</a:t>
            </a:r>
            <a:r>
              <a:rPr sz="1800" i="0" b="0">
                <a:solidFill>
                  <a:srgbClr val="9BE3B4"/>
                </a:solidFill>
                <a:latin typeface="Consolas"/>
              </a:rPr>
              <a:t>"Balances moved in the data layer"</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async</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const</a:t>
            </a:r>
            <a:r>
              <a:rPr sz="1800" i="0" b="0">
                <a:solidFill>
                  <a:srgbClr val="E6EDF3"/>
                </a:solidFill>
                <a:latin typeface="Consolas"/>
              </a:rPr>
              <a:t> </a:t>
            </a:r>
            <a:r>
              <a:rPr sz="1800" i="0" b="0">
                <a:solidFill>
                  <a:srgbClr val="E6EDF3"/>
                </a:solidFill>
                <a:latin typeface="Consolas"/>
              </a:rPr>
              <a:t>after</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E6EDF3"/>
                </a:solidFill>
                <a:latin typeface="Consolas"/>
              </a:rPr>
              <a:t>db</a:t>
            </a:r>
            <a:r>
              <a:rPr sz="1800" i="0" b="0">
                <a:solidFill>
                  <a:srgbClr val="E6EDF3"/>
                </a:solidFill>
                <a:latin typeface="Consolas"/>
              </a:rPr>
              <a:t>.</a:t>
            </a:r>
            <a:r>
              <a:rPr sz="1800" i="0" b="0">
                <a:solidFill>
                  <a:srgbClr val="8CCFF0"/>
                </a:solidFill>
                <a:latin typeface="Consolas"/>
              </a:rPr>
              <a:t>find</a:t>
            </a:r>
            <a:r>
              <a:rPr sz="1800" i="0" b="0">
                <a:solidFill>
                  <a:srgbClr val="E6EDF3"/>
                </a:solidFill>
                <a:latin typeface="Consolas"/>
              </a:rPr>
              <a:t>(</a:t>
            </a:r>
            <a:r>
              <a:rPr sz="1800" i="0" b="0">
                <a:solidFill>
                  <a:srgbClr val="9BE3B4"/>
                </a:solidFill>
                <a:latin typeface="Consolas"/>
              </a:rPr>
              <a:t>"users"</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id</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bob</a:t>
            </a:r>
            <a:r>
              <a:rPr sz="1800" i="0" b="0">
                <a:solidFill>
                  <a:srgbClr val="E6EDF3"/>
                </a:solidFill>
                <a:latin typeface="Consolas"/>
              </a:rPr>
              <a:t>.</a:t>
            </a:r>
            <a:r>
              <a:rPr sz="1800" i="0" b="0">
                <a:solidFill>
                  <a:srgbClr val="E6EDF3"/>
                </a:solidFill>
                <a:latin typeface="Consolas"/>
              </a:rPr>
              <a:t>id</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1" b="0">
                <a:solidFill>
                  <a:srgbClr val="7F93A3"/>
                </a:solidFill>
                <a:latin typeface="Consolas"/>
              </a:rPr>
              <a:t>// ⑦</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expect</a:t>
            </a:r>
            <a:r>
              <a:rPr sz="1800" i="0" b="0">
                <a:solidFill>
                  <a:srgbClr val="E6EDF3"/>
                </a:solidFill>
                <a:latin typeface="Consolas"/>
              </a:rPr>
              <a:t>(</a:t>
            </a:r>
            <a:r>
              <a:rPr sz="1800" i="0" b="0">
                <a:solidFill>
                  <a:srgbClr val="E6EDF3"/>
                </a:solidFill>
                <a:latin typeface="Consolas"/>
              </a:rPr>
              <a:t>after</a:t>
            </a:r>
            <a:r>
              <a:rPr sz="1800" i="0" b="0">
                <a:solidFill>
                  <a:srgbClr val="E6EDF3"/>
                </a:solidFill>
                <a:latin typeface="Consolas"/>
              </a:rPr>
              <a:t>.</a:t>
            </a:r>
            <a:r>
              <a:rPr sz="1800" i="0" b="0">
                <a:solidFill>
                  <a:srgbClr val="E6EDF3"/>
                </a:solidFill>
                <a:latin typeface="Consolas"/>
              </a:rPr>
              <a:t>balance</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toBe</a:t>
            </a:r>
            <a:r>
              <a:rPr sz="1800" i="0" b="0">
                <a:solidFill>
                  <a:srgbClr val="E6EDF3"/>
                </a:solidFill>
                <a:latin typeface="Consolas"/>
              </a:rPr>
              <a:t>(</a:t>
            </a:r>
            <a:r>
              <a:rPr sz="1800" i="0" b="0">
                <a:solidFill>
                  <a:srgbClr val="E6EDF3"/>
                </a:solidFill>
                <a:latin typeface="Consolas"/>
              </a:rPr>
              <a:t>bob</a:t>
            </a:r>
            <a:r>
              <a:rPr sz="1800" i="0" b="0">
                <a:solidFill>
                  <a:srgbClr val="E6EDF3"/>
                </a:solidFill>
                <a:latin typeface="Consolas"/>
              </a:rPr>
              <a:t>.</a:t>
            </a:r>
            <a:r>
              <a:rPr sz="1800" i="0" b="0">
                <a:solidFill>
                  <a:srgbClr val="E6EDF3"/>
                </a:solidFill>
                <a:latin typeface="Consolas"/>
              </a:rPr>
              <a:t>balance</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FFC56B"/>
                </a:solidFill>
                <a:latin typeface="Consolas"/>
              </a:rPr>
              <a:t>4200</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p:txBody>
      </p:sp>
      <p:sp>
        <p:nvSpPr>
          <p:cNvPr id="12" name="Oval 11"/>
          <p:cNvSpPr/>
          <p:nvPr/>
        </p:nvSpPr>
        <p:spPr>
          <a:xfrm>
            <a:off x="15179040" y="3017520"/>
            <a:ext cx="777240" cy="77724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179040" y="3017520"/>
            <a:ext cx="777240"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2200" b="1" i="0">
                <a:solidFill>
                  <a:srgbClr val="FFFFFF"/>
                </a:solidFill>
              </a:rPr>
              <a:t>①</a:t>
            </a:r>
          </a:p>
        </p:txBody>
      </p:sp>
      <p:sp>
        <p:nvSpPr>
          <p:cNvPr id="14" name="TextBox 13"/>
          <p:cNvSpPr txBox="1"/>
          <p:nvPr/>
        </p:nvSpPr>
        <p:spPr>
          <a:xfrm>
            <a:off x="16139159" y="2926080"/>
            <a:ext cx="731520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0" i="0">
                <a:solidFill>
                  <a:srgbClr val="192B37"/>
                </a:solidFill>
              </a:rPr>
              <a:t>Fixtures &amp; helpers via aliases</a:t>
            </a:r>
          </a:p>
        </p:txBody>
      </p:sp>
      <p:sp>
        <p:nvSpPr>
          <p:cNvPr id="15" name="Oval 14"/>
          <p:cNvSpPr/>
          <p:nvPr/>
        </p:nvSpPr>
        <p:spPr>
          <a:xfrm>
            <a:off x="15179040" y="4096511"/>
            <a:ext cx="777240" cy="77724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179040" y="4096511"/>
            <a:ext cx="777240"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2200" b="1" i="0">
                <a:solidFill>
                  <a:srgbClr val="FFFFFF"/>
                </a:solidFill>
              </a:rPr>
              <a:t>②</a:t>
            </a:r>
          </a:p>
        </p:txBody>
      </p:sp>
      <p:sp>
        <p:nvSpPr>
          <p:cNvPr id="17" name="TextBox 16"/>
          <p:cNvSpPr txBox="1"/>
          <p:nvPr/>
        </p:nvSpPr>
        <p:spPr>
          <a:xfrm>
            <a:off x="16139159" y="4005072"/>
            <a:ext cx="731520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0" i="0">
                <a:solidFill>
                  <a:srgbClr val="192B37"/>
                </a:solidFill>
              </a:rPr>
              <a:t>Tag → run with --grep @e2e</a:t>
            </a:r>
          </a:p>
        </p:txBody>
      </p:sp>
      <p:sp>
        <p:nvSpPr>
          <p:cNvPr id="18" name="Oval 17"/>
          <p:cNvSpPr/>
          <p:nvPr/>
        </p:nvSpPr>
        <p:spPr>
          <a:xfrm>
            <a:off x="15179040" y="5175504"/>
            <a:ext cx="777240" cy="77724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179040" y="5175504"/>
            <a:ext cx="777240"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2200" b="1" i="0">
                <a:solidFill>
                  <a:srgbClr val="FFFFFF"/>
                </a:solidFill>
              </a:rPr>
              <a:t>③</a:t>
            </a:r>
          </a:p>
        </p:txBody>
      </p:sp>
      <p:sp>
        <p:nvSpPr>
          <p:cNvPr id="20" name="TextBox 19"/>
          <p:cNvSpPr txBox="1"/>
          <p:nvPr/>
        </p:nvSpPr>
        <p:spPr>
          <a:xfrm>
            <a:off x="16139159" y="5084064"/>
            <a:ext cx="731520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0" i="0">
                <a:solidFill>
                  <a:srgbClr val="192B37"/>
                </a:solidFill>
              </a:rPr>
              <a:t>Fixtures injected, users destructured</a:t>
            </a:r>
          </a:p>
        </p:txBody>
      </p:sp>
      <p:sp>
        <p:nvSpPr>
          <p:cNvPr id="21" name="Oval 20"/>
          <p:cNvSpPr/>
          <p:nvPr/>
        </p:nvSpPr>
        <p:spPr>
          <a:xfrm>
            <a:off x="15179040" y="6254496"/>
            <a:ext cx="777240" cy="77724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179040" y="6254496"/>
            <a:ext cx="777240"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2200" b="1" i="0">
                <a:solidFill>
                  <a:srgbClr val="FFFFFF"/>
                </a:solidFill>
              </a:rPr>
              <a:t>④</a:t>
            </a:r>
          </a:p>
        </p:txBody>
      </p:sp>
      <p:sp>
        <p:nvSpPr>
          <p:cNvPr id="23" name="TextBox 22"/>
          <p:cNvSpPr txBox="1"/>
          <p:nvPr/>
        </p:nvSpPr>
        <p:spPr>
          <a:xfrm>
            <a:off x="16139159" y="6163056"/>
            <a:ext cx="731520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0" i="0">
                <a:solidFill>
                  <a:srgbClr val="192B37"/>
                </a:solidFill>
              </a:rPr>
              <a:t>One test.step per business step</a:t>
            </a:r>
          </a:p>
        </p:txBody>
      </p:sp>
      <p:sp>
        <p:nvSpPr>
          <p:cNvPr id="24" name="Oval 23"/>
          <p:cNvSpPr/>
          <p:nvPr/>
        </p:nvSpPr>
        <p:spPr>
          <a:xfrm>
            <a:off x="15179040" y="7333488"/>
            <a:ext cx="777240" cy="77724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179040" y="7333488"/>
            <a:ext cx="777240"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2200" b="1" i="0">
                <a:solidFill>
                  <a:srgbClr val="FFFFFF"/>
                </a:solidFill>
              </a:rPr>
              <a:t>⑤</a:t>
            </a:r>
          </a:p>
        </p:txBody>
      </p:sp>
      <p:sp>
        <p:nvSpPr>
          <p:cNvPr id="26" name="TextBox 25"/>
          <p:cNvSpPr txBox="1"/>
          <p:nvPr/>
        </p:nvSpPr>
        <p:spPr>
          <a:xfrm>
            <a:off x="16139159" y="7242048"/>
            <a:ext cx="731520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0" i="0">
                <a:solidFill>
                  <a:srgbClr val="192B37"/>
                </a:solidFill>
              </a:rPr>
              <a:t>Start the wait before the click</a:t>
            </a:r>
          </a:p>
        </p:txBody>
      </p:sp>
      <p:sp>
        <p:nvSpPr>
          <p:cNvPr id="27" name="Oval 26"/>
          <p:cNvSpPr/>
          <p:nvPr/>
        </p:nvSpPr>
        <p:spPr>
          <a:xfrm>
            <a:off x="15179040" y="8412480"/>
            <a:ext cx="777240" cy="77724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179040" y="8412480"/>
            <a:ext cx="777240"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2200" b="1" i="0">
                <a:solidFill>
                  <a:srgbClr val="FFFFFF"/>
                </a:solidFill>
              </a:rPr>
              <a:t>⑥</a:t>
            </a:r>
          </a:p>
        </p:txBody>
      </p:sp>
      <p:sp>
        <p:nvSpPr>
          <p:cNvPr id="29" name="TextBox 28"/>
          <p:cNvSpPr txBox="1"/>
          <p:nvPr/>
        </p:nvSpPr>
        <p:spPr>
          <a:xfrm>
            <a:off x="16139159" y="8321040"/>
            <a:ext cx="731520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0" i="0">
                <a:solidFill>
                  <a:srgbClr val="192B37"/>
                </a:solidFill>
              </a:rPr>
              <a:t>Assert the response</a:t>
            </a:r>
          </a:p>
        </p:txBody>
      </p:sp>
      <p:sp>
        <p:nvSpPr>
          <p:cNvPr id="30" name="Oval 29"/>
          <p:cNvSpPr/>
          <p:nvPr/>
        </p:nvSpPr>
        <p:spPr>
          <a:xfrm>
            <a:off x="15179040" y="9491472"/>
            <a:ext cx="777240" cy="77724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179040" y="9491472"/>
            <a:ext cx="777240"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2200" b="1" i="0">
                <a:solidFill>
                  <a:srgbClr val="FFFFFF"/>
                </a:solidFill>
              </a:rPr>
              <a:t>⑦</a:t>
            </a:r>
          </a:p>
        </p:txBody>
      </p:sp>
      <p:sp>
        <p:nvSpPr>
          <p:cNvPr id="32" name="TextBox 31"/>
          <p:cNvSpPr txBox="1"/>
          <p:nvPr/>
        </p:nvSpPr>
        <p:spPr>
          <a:xfrm>
            <a:off x="16139159" y="9400032"/>
            <a:ext cx="731520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0" i="0">
                <a:solidFill>
                  <a:srgbClr val="192B37"/>
                </a:solidFill>
              </a:rPr>
              <a:t>Verify the data layer too</a:t>
            </a:r>
          </a:p>
        </p:txBody>
      </p:sp>
      <p:sp>
        <p:nvSpPr>
          <p:cNvPr id="33" name="Rounded Rectangle 32"/>
          <p:cNvSpPr/>
          <p:nvPr/>
        </p:nvSpPr>
        <p:spPr>
          <a:xfrm>
            <a:off x="612648" y="10789920"/>
            <a:ext cx="22860000" cy="960120"/>
          </a:xfrm>
          <a:prstGeom prst="roundRect">
            <a:avLst>
              <a:gd name="adj" fmla="val 1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86968" y="10927080"/>
            <a:ext cx="685800" cy="6858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LuLaugh.png"/>
          <p:cNvPicPr>
            <a:picLocks noChangeAspect="1"/>
          </p:cNvPicPr>
          <p:nvPr/>
        </p:nvPicPr>
        <p:blipFill>
          <a:blip r:embed="rId3"/>
          <a:stretch>
            <a:fillRect/>
          </a:stretch>
        </p:blipFill>
        <p:spPr>
          <a:xfrm>
            <a:off x="1051560" y="11091672"/>
            <a:ext cx="356616" cy="356616"/>
          </a:xfrm>
          <a:prstGeom prst="rect">
            <a:avLst/>
          </a:prstGeom>
        </p:spPr>
      </p:pic>
      <p:sp>
        <p:nvSpPr>
          <p:cNvPr id="36" name="TextBox 35"/>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A good spec reads like a story: a beginning, a middle, and an </a:t>
            </a:r>
            <a:r>
              <a:rPr sz="1840" b="0" i="1">
                <a:solidFill>
                  <a:srgbClr val="C2410C"/>
                </a:solidFill>
                <a:latin typeface="Consolas"/>
              </a:rPr>
              <a:t>expect</a:t>
            </a:r>
            <a:r>
              <a:rPr sz="2000" b="0" i="1">
                <a:solidFill>
                  <a:srgbClr val="192B37"/>
                </a:solidFill>
              </a:rPr>
              <a:t> with a twist.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Automation</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8683C3"/>
                </a:solidFill>
              </a:rPr>
              <a:t>AUTOMATION SUITE · NETWORK CONTROL</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Wait for it… then stub it, then bend it</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30</a:t>
            </a:r>
          </a:p>
        </p:txBody>
      </p:sp>
      <p:sp>
        <p:nvSpPr>
          <p:cNvPr id="6" name="Rounded Rectangle 5"/>
          <p:cNvSpPr/>
          <p:nvPr/>
        </p:nvSpPr>
        <p:spPr>
          <a:xfrm>
            <a:off x="612648" y="2926080"/>
            <a:ext cx="7406640" cy="7498079"/>
          </a:xfrm>
          <a:prstGeom prst="roundRect">
            <a:avLst>
              <a:gd name="adj" fmla="val 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86968" y="3154680"/>
            <a:ext cx="868680" cy="86868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Hourglass.png"/>
          <p:cNvPicPr>
            <a:picLocks noChangeAspect="1"/>
          </p:cNvPicPr>
          <p:nvPr/>
        </p:nvPicPr>
        <p:blipFill>
          <a:blip r:embed="rId3"/>
          <a:stretch>
            <a:fillRect/>
          </a:stretch>
        </p:blipFill>
        <p:spPr>
          <a:xfrm>
            <a:off x="1095451" y="3363163"/>
            <a:ext cx="451713" cy="451713"/>
          </a:xfrm>
          <a:prstGeom prst="rect">
            <a:avLst/>
          </a:prstGeom>
        </p:spPr>
      </p:pic>
      <p:sp>
        <p:nvSpPr>
          <p:cNvPr id="9" name="TextBox 8"/>
          <p:cNvSpPr txBox="1"/>
          <p:nvPr/>
        </p:nvSpPr>
        <p:spPr>
          <a:xfrm>
            <a:off x="1938528" y="3108960"/>
            <a:ext cx="585216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400" b="1" i="0">
                <a:solidFill>
                  <a:srgbClr val="192B37"/>
                </a:solidFill>
              </a:rPr>
              <a:t>waitForApi</a:t>
            </a:r>
          </a:p>
        </p:txBody>
      </p:sp>
      <p:sp>
        <p:nvSpPr>
          <p:cNvPr id="10" name="TextBox 9"/>
          <p:cNvSpPr txBox="1"/>
          <p:nvPr/>
        </p:nvSpPr>
        <p:spPr>
          <a:xfrm>
            <a:off x="1938528" y="3657600"/>
            <a:ext cx="585216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700" b="0" i="0">
                <a:solidFill>
                  <a:srgbClr val="5E6A73"/>
                </a:solidFill>
              </a:rPr>
              <a:t>wait for the real response</a:t>
            </a:r>
          </a:p>
        </p:txBody>
      </p:sp>
      <p:sp>
        <p:nvSpPr>
          <p:cNvPr id="11" name="Rounded Rectangle 10"/>
          <p:cNvSpPr/>
          <p:nvPr/>
        </p:nvSpPr>
        <p:spPr>
          <a:xfrm>
            <a:off x="886968" y="4480560"/>
            <a:ext cx="6858000" cy="3108960"/>
          </a:xfrm>
          <a:prstGeom prst="roundRect">
            <a:avLst>
              <a:gd name="adj" fmla="val 8235"/>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161288" y="468172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453896" y="468172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746504" y="468172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7128" y="4553712"/>
            <a:ext cx="530352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src/ui/network.ts</a:t>
            </a:r>
          </a:p>
        </p:txBody>
      </p:sp>
      <p:sp>
        <p:nvSpPr>
          <p:cNvPr id="16" name="TextBox 15"/>
          <p:cNvSpPr txBox="1"/>
          <p:nvPr/>
        </p:nvSpPr>
        <p:spPr>
          <a:xfrm>
            <a:off x="1161288" y="5029200"/>
            <a:ext cx="6400800" cy="2423160"/>
          </a:xfrm>
          <a:prstGeom prst="rect">
            <a:avLst/>
          </a:prstGeom>
          <a:noFill/>
        </p:spPr>
        <p:txBody>
          <a:bodyPr wrap="none" lIns="0" rIns="0" tIns="0" bIns="0">
            <a:noAutofit/>
          </a:bodyPr>
          <a:lstStyle/>
          <a:p>
            <a:pPr>
              <a:lnSpc>
                <a:spcPct val="108000"/>
              </a:lnSpc>
              <a:spcBef>
                <a:spcPts val="0"/>
              </a:spcBef>
              <a:spcAft>
                <a:spcPts val="0"/>
              </a:spcAft>
            </a:pPr>
            <a:r>
              <a:rPr sz="1800" i="0" b="0">
                <a:solidFill>
                  <a:srgbClr val="FF9C8A"/>
                </a:solidFill>
                <a:latin typeface="Consolas"/>
              </a:rPr>
              <a:t>const</a:t>
            </a:r>
            <a:r>
              <a:rPr sz="1800" i="0" b="0">
                <a:solidFill>
                  <a:srgbClr val="E6EDF3"/>
                </a:solidFill>
                <a:latin typeface="Consolas"/>
              </a:rPr>
              <a:t> </a:t>
            </a:r>
            <a:r>
              <a:rPr sz="1800" i="0" b="0">
                <a:solidFill>
                  <a:srgbClr val="E6EDF3"/>
                </a:solidFill>
                <a:latin typeface="Consolas"/>
              </a:rPr>
              <a:t>res</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8CCFF0"/>
                </a:solidFill>
                <a:latin typeface="Consolas"/>
              </a:rPr>
              <a:t>waitForApi</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method</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"POST"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path</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"/login"</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FF9C8A"/>
                </a:solidFill>
                <a:latin typeface="Consolas"/>
              </a:rPr>
              <a:t>await</a:t>
            </a:r>
            <a:r>
              <a:rPr sz="1800" i="0" b="0">
                <a:solidFill>
                  <a:srgbClr val="E6EDF3"/>
                </a:solidFill>
                <a:latin typeface="Consolas"/>
              </a:rPr>
              <a:t> </a:t>
            </a:r>
            <a:r>
              <a:rPr sz="1800" i="0" b="0">
                <a:solidFill>
                  <a:srgbClr val="E6EDF3"/>
                </a:solidFill>
                <a:latin typeface="Consolas"/>
              </a:rPr>
              <a:t>submit</a:t>
            </a:r>
            <a:r>
              <a:rPr sz="1800" i="0" b="0">
                <a:solidFill>
                  <a:srgbClr val="E6EDF3"/>
                </a:solidFill>
                <a:latin typeface="Consolas"/>
              </a:rPr>
              <a:t>.</a:t>
            </a:r>
            <a:r>
              <a:rPr sz="1800" i="0" b="0">
                <a:solidFill>
                  <a:srgbClr val="8CCFF0"/>
                </a:solidFill>
                <a:latin typeface="Consolas"/>
              </a:rPr>
              <a:t>click</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FF9C8A"/>
                </a:solidFill>
                <a:latin typeface="Consolas"/>
              </a:rPr>
              <a:t>await</a:t>
            </a:r>
            <a:r>
              <a:rPr sz="1800" i="0" b="0">
                <a:solidFill>
                  <a:srgbClr val="E6EDF3"/>
                </a:solidFill>
                <a:latin typeface="Consolas"/>
              </a:rPr>
              <a:t> </a:t>
            </a:r>
            <a:r>
              <a:rPr sz="1800" i="0" b="0">
                <a:solidFill>
                  <a:srgbClr val="E6EDF3"/>
                </a:solidFill>
                <a:latin typeface="Consolas"/>
              </a:rPr>
              <a:t>res</a:t>
            </a:r>
            <a:r>
              <a:rPr sz="1800" i="0" b="0">
                <a:solidFill>
                  <a:srgbClr val="E6EDF3"/>
                </a:solidFill>
                <a:latin typeface="Consolas"/>
              </a:rPr>
              <a:t>;</a:t>
            </a:r>
          </a:p>
        </p:txBody>
      </p:sp>
      <p:sp>
        <p:nvSpPr>
          <p:cNvPr id="17" name="TextBox 16"/>
          <p:cNvSpPr txBox="1"/>
          <p:nvPr/>
        </p:nvSpPr>
        <p:spPr>
          <a:xfrm>
            <a:off x="886968" y="7863840"/>
            <a:ext cx="685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400" b="1" i="0">
                <a:solidFill>
                  <a:srgbClr val="3D9BC8"/>
                </a:solidFill>
              </a:rPr>
              <a:t>CYPRESS EQUIVALENT</a:t>
            </a:r>
          </a:p>
        </p:txBody>
      </p:sp>
      <p:sp>
        <p:nvSpPr>
          <p:cNvPr id="18" name="Rounded Rectangle 17"/>
          <p:cNvSpPr/>
          <p:nvPr/>
        </p:nvSpPr>
        <p:spPr>
          <a:xfrm>
            <a:off x="886968" y="8321040"/>
            <a:ext cx="6858000" cy="9144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69848" y="8321040"/>
            <a:ext cx="658368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latin typeface="Consolas"/>
              </a:rPr>
              <a:t>cy.intercept().as('x') + cy.wait('@x')</a:t>
            </a:r>
          </a:p>
        </p:txBody>
      </p:sp>
      <p:sp>
        <p:nvSpPr>
          <p:cNvPr id="20" name="TextBox 19"/>
          <p:cNvSpPr txBox="1"/>
          <p:nvPr/>
        </p:nvSpPr>
        <p:spPr>
          <a:xfrm>
            <a:off x="886968" y="9418320"/>
            <a:ext cx="685800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5E6A73"/>
                </a:solidFill>
              </a:rPr>
              <a:t>used by feeds, payments, journeys</a:t>
            </a:r>
          </a:p>
        </p:txBody>
      </p:sp>
      <p:sp>
        <p:nvSpPr>
          <p:cNvPr id="21" name="Rounded Rectangle 20"/>
          <p:cNvSpPr/>
          <p:nvPr/>
        </p:nvSpPr>
        <p:spPr>
          <a:xfrm>
            <a:off x="8293608" y="2926080"/>
            <a:ext cx="7406640" cy="7498079"/>
          </a:xfrm>
          <a:prstGeom prst="roundRect">
            <a:avLst>
              <a:gd name="adj" fmla="val 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567928" y="3154680"/>
            <a:ext cx="868680" cy="86868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LuGhost.png"/>
          <p:cNvPicPr>
            <a:picLocks noChangeAspect="1"/>
          </p:cNvPicPr>
          <p:nvPr/>
        </p:nvPicPr>
        <p:blipFill>
          <a:blip r:embed="rId4"/>
          <a:stretch>
            <a:fillRect/>
          </a:stretch>
        </p:blipFill>
        <p:spPr>
          <a:xfrm>
            <a:off x="8776411" y="3363163"/>
            <a:ext cx="451713" cy="451713"/>
          </a:xfrm>
          <a:prstGeom prst="rect">
            <a:avLst/>
          </a:prstGeom>
        </p:spPr>
      </p:pic>
      <p:sp>
        <p:nvSpPr>
          <p:cNvPr id="24" name="TextBox 23"/>
          <p:cNvSpPr txBox="1"/>
          <p:nvPr/>
        </p:nvSpPr>
        <p:spPr>
          <a:xfrm>
            <a:off x="9619488" y="3108960"/>
            <a:ext cx="585216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400" b="1" i="0">
                <a:solidFill>
                  <a:srgbClr val="192B37"/>
                </a:solidFill>
              </a:rPr>
              <a:t>stubApi</a:t>
            </a:r>
          </a:p>
        </p:txBody>
      </p:sp>
      <p:sp>
        <p:nvSpPr>
          <p:cNvPr id="25" name="TextBox 24"/>
          <p:cNvSpPr txBox="1"/>
          <p:nvPr/>
        </p:nvSpPr>
        <p:spPr>
          <a:xfrm>
            <a:off x="9619488" y="3657600"/>
            <a:ext cx="585216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700" b="0" i="0">
                <a:solidFill>
                  <a:srgbClr val="5E6A73"/>
                </a:solidFill>
              </a:rPr>
              <a:t>replace it with your own</a:t>
            </a:r>
          </a:p>
        </p:txBody>
      </p:sp>
      <p:sp>
        <p:nvSpPr>
          <p:cNvPr id="26" name="Rounded Rectangle 25"/>
          <p:cNvSpPr/>
          <p:nvPr/>
        </p:nvSpPr>
        <p:spPr>
          <a:xfrm>
            <a:off x="8567928" y="4480560"/>
            <a:ext cx="6858000" cy="3108960"/>
          </a:xfrm>
          <a:prstGeom prst="roundRect">
            <a:avLst>
              <a:gd name="adj" fmla="val 8235"/>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842248" y="468172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34856" y="468172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427464" y="468172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48088" y="4553712"/>
            <a:ext cx="530352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src/ui/network.ts</a:t>
            </a:r>
          </a:p>
        </p:txBody>
      </p:sp>
      <p:sp>
        <p:nvSpPr>
          <p:cNvPr id="31" name="TextBox 30"/>
          <p:cNvSpPr txBox="1"/>
          <p:nvPr/>
        </p:nvSpPr>
        <p:spPr>
          <a:xfrm>
            <a:off x="8842248" y="5029200"/>
            <a:ext cx="6400800" cy="2423160"/>
          </a:xfrm>
          <a:prstGeom prst="rect">
            <a:avLst/>
          </a:prstGeom>
          <a:noFill/>
        </p:spPr>
        <p:txBody>
          <a:bodyPr wrap="none" lIns="0" rIns="0" tIns="0" bIns="0">
            <a:noAutofit/>
          </a:bodyPr>
          <a:lstStyle/>
          <a:p>
            <a:pPr>
              <a:lnSpc>
                <a:spcPct val="108000"/>
              </a:lnSpc>
              <a:spcBef>
                <a:spcPts val="0"/>
              </a:spcBef>
              <a:spcAft>
                <a:spcPts val="0"/>
              </a:spcAft>
            </a:pPr>
            <a:r>
              <a:rPr sz="1800" i="0" b="0">
                <a:solidFill>
                  <a:srgbClr val="FF9C8A"/>
                </a:solidFill>
                <a:latin typeface="Consolas"/>
              </a:rPr>
              <a:t>await</a:t>
            </a:r>
            <a:r>
              <a:rPr sz="1800" i="0" b="0">
                <a:solidFill>
                  <a:srgbClr val="E6EDF3"/>
                </a:solidFill>
                <a:latin typeface="Consolas"/>
              </a:rPr>
              <a:t> </a:t>
            </a:r>
            <a:r>
              <a:rPr sz="1800" i="0" b="0">
                <a:solidFill>
                  <a:srgbClr val="8CCFF0"/>
                </a:solidFill>
                <a:latin typeface="Consolas"/>
              </a:rPr>
              <a:t>stubApi</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path</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"/notifications"</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results</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p:txBody>
      </p:sp>
      <p:sp>
        <p:nvSpPr>
          <p:cNvPr id="32" name="TextBox 31"/>
          <p:cNvSpPr txBox="1"/>
          <p:nvPr/>
        </p:nvSpPr>
        <p:spPr>
          <a:xfrm>
            <a:off x="8567928" y="7863840"/>
            <a:ext cx="685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400" b="1" i="0">
                <a:solidFill>
                  <a:srgbClr val="00A859"/>
                </a:solidFill>
              </a:rPr>
              <a:t>CYPRESS EQUIVALENT</a:t>
            </a:r>
          </a:p>
        </p:txBody>
      </p:sp>
      <p:sp>
        <p:nvSpPr>
          <p:cNvPr id="33" name="Rounded Rectangle 32"/>
          <p:cNvSpPr/>
          <p:nvPr/>
        </p:nvSpPr>
        <p:spPr>
          <a:xfrm>
            <a:off x="8567928" y="8321040"/>
            <a:ext cx="6858000" cy="9144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750808" y="8321040"/>
            <a:ext cx="658368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latin typeface="Consolas"/>
              </a:rPr>
              <a:t>cy.intercept(url, { fixture })</a:t>
            </a:r>
          </a:p>
        </p:txBody>
      </p:sp>
      <p:sp>
        <p:nvSpPr>
          <p:cNvPr id="35" name="TextBox 34"/>
          <p:cNvSpPr txBox="1"/>
          <p:nvPr/>
        </p:nvSpPr>
        <p:spPr>
          <a:xfrm>
            <a:off x="8567928" y="9418320"/>
            <a:ext cx="685800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5E6A73"/>
                </a:solidFill>
              </a:rPr>
              <a:t>used by mocked-states (9 tests)</a:t>
            </a:r>
          </a:p>
        </p:txBody>
      </p:sp>
      <p:sp>
        <p:nvSpPr>
          <p:cNvPr id="36" name="Rounded Rectangle 35"/>
          <p:cNvSpPr/>
          <p:nvPr/>
        </p:nvSpPr>
        <p:spPr>
          <a:xfrm>
            <a:off x="15974568" y="2926080"/>
            <a:ext cx="7406640" cy="7498079"/>
          </a:xfrm>
          <a:prstGeom prst="roundRect">
            <a:avLst>
              <a:gd name="adj" fmla="val 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16248888" y="3154680"/>
            <a:ext cx="868680" cy="86868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LuWandSparkles.png"/>
          <p:cNvPicPr>
            <a:picLocks noChangeAspect="1"/>
          </p:cNvPicPr>
          <p:nvPr/>
        </p:nvPicPr>
        <p:blipFill>
          <a:blip r:embed="rId5"/>
          <a:stretch>
            <a:fillRect/>
          </a:stretch>
        </p:blipFill>
        <p:spPr>
          <a:xfrm>
            <a:off x="16457371" y="3363163"/>
            <a:ext cx="451713" cy="451713"/>
          </a:xfrm>
          <a:prstGeom prst="rect">
            <a:avLst/>
          </a:prstGeom>
        </p:spPr>
      </p:pic>
      <p:sp>
        <p:nvSpPr>
          <p:cNvPr id="39" name="TextBox 38"/>
          <p:cNvSpPr txBox="1"/>
          <p:nvPr/>
        </p:nvSpPr>
        <p:spPr>
          <a:xfrm>
            <a:off x="17300448" y="3108960"/>
            <a:ext cx="585216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400" b="1" i="0">
                <a:solidFill>
                  <a:srgbClr val="192B37"/>
                </a:solidFill>
              </a:rPr>
              <a:t>transformApi</a:t>
            </a:r>
          </a:p>
        </p:txBody>
      </p:sp>
      <p:sp>
        <p:nvSpPr>
          <p:cNvPr id="40" name="TextBox 39"/>
          <p:cNvSpPr txBox="1"/>
          <p:nvPr/>
        </p:nvSpPr>
        <p:spPr>
          <a:xfrm>
            <a:off x="17300448" y="3657600"/>
            <a:ext cx="585216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700" b="0" i="0">
                <a:solidFill>
                  <a:srgbClr val="5E6A73"/>
                </a:solidFill>
              </a:rPr>
              <a:t>let it through, then edit</a:t>
            </a:r>
          </a:p>
        </p:txBody>
      </p:sp>
      <p:sp>
        <p:nvSpPr>
          <p:cNvPr id="41" name="Rounded Rectangle 40"/>
          <p:cNvSpPr/>
          <p:nvPr/>
        </p:nvSpPr>
        <p:spPr>
          <a:xfrm>
            <a:off x="16248888" y="4480560"/>
            <a:ext cx="6858000" cy="3108960"/>
          </a:xfrm>
          <a:prstGeom prst="roundRect">
            <a:avLst>
              <a:gd name="adj" fmla="val 8235"/>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16523208" y="468172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6815816" y="468172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7108424" y="468172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7529048" y="4553712"/>
            <a:ext cx="530352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src/ui/network.ts</a:t>
            </a:r>
          </a:p>
        </p:txBody>
      </p:sp>
      <p:sp>
        <p:nvSpPr>
          <p:cNvPr id="46" name="TextBox 45"/>
          <p:cNvSpPr txBox="1"/>
          <p:nvPr/>
        </p:nvSpPr>
        <p:spPr>
          <a:xfrm>
            <a:off x="16523208" y="5029200"/>
            <a:ext cx="6400800" cy="2423160"/>
          </a:xfrm>
          <a:prstGeom prst="rect">
            <a:avLst/>
          </a:prstGeom>
          <a:noFill/>
        </p:spPr>
        <p:txBody>
          <a:bodyPr wrap="none" lIns="0" rIns="0" tIns="0" bIns="0">
            <a:noAutofit/>
          </a:bodyPr>
          <a:lstStyle/>
          <a:p>
            <a:pPr>
              <a:lnSpc>
                <a:spcPct val="108000"/>
              </a:lnSpc>
              <a:spcBef>
                <a:spcPts val="0"/>
              </a:spcBef>
              <a:spcAft>
                <a:spcPts val="0"/>
              </a:spcAft>
            </a:pPr>
            <a:r>
              <a:rPr sz="1800" i="0" b="0">
                <a:solidFill>
                  <a:srgbClr val="FF9C8A"/>
                </a:solidFill>
                <a:latin typeface="Consolas"/>
              </a:rPr>
              <a:t>await</a:t>
            </a:r>
            <a:r>
              <a:rPr sz="1800" i="0" b="0">
                <a:solidFill>
                  <a:srgbClr val="E6EDF3"/>
                </a:solidFill>
                <a:latin typeface="Consolas"/>
              </a:rPr>
              <a:t> </a:t>
            </a:r>
            <a:r>
              <a:rPr sz="1800" i="0" b="0">
                <a:solidFill>
                  <a:srgbClr val="8CCFF0"/>
                </a:solidFill>
                <a:latin typeface="Consolas"/>
              </a:rPr>
              <a:t>transformApi</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path</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"/transactions/public"</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b</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b</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results</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p:txBody>
      </p:sp>
      <p:sp>
        <p:nvSpPr>
          <p:cNvPr id="47" name="TextBox 46"/>
          <p:cNvSpPr txBox="1"/>
          <p:nvPr/>
        </p:nvSpPr>
        <p:spPr>
          <a:xfrm>
            <a:off x="16248888" y="7863840"/>
            <a:ext cx="685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400" b="1" i="0">
                <a:solidFill>
                  <a:srgbClr val="8683C3"/>
                </a:solidFill>
              </a:rPr>
              <a:t>CYPRESS EQUIVALENT</a:t>
            </a:r>
          </a:p>
        </p:txBody>
      </p:sp>
      <p:sp>
        <p:nvSpPr>
          <p:cNvPr id="48" name="Rounded Rectangle 47"/>
          <p:cNvSpPr/>
          <p:nvPr/>
        </p:nvSpPr>
        <p:spPr>
          <a:xfrm>
            <a:off x="16248888" y="8321040"/>
            <a:ext cx="6858000" cy="9144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6431768" y="8321040"/>
            <a:ext cx="658368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latin typeface="Consolas"/>
              </a:rPr>
              <a:t>cy.intercept(url, (req) =&gt; req.reply(…))</a:t>
            </a:r>
          </a:p>
        </p:txBody>
      </p:sp>
      <p:sp>
        <p:nvSpPr>
          <p:cNvPr id="50" name="TextBox 49"/>
          <p:cNvSpPr txBox="1"/>
          <p:nvPr/>
        </p:nvSpPr>
        <p:spPr>
          <a:xfrm>
            <a:off x="16248888" y="9418320"/>
            <a:ext cx="685800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5E6A73"/>
                </a:solidFill>
              </a:rPr>
              <a:t>used for edge-case feeds</a:t>
            </a:r>
          </a:p>
        </p:txBody>
      </p:sp>
      <p:sp>
        <p:nvSpPr>
          <p:cNvPr id="51" name="Rounded Rectangle 50"/>
          <p:cNvSpPr/>
          <p:nvPr/>
        </p:nvSpPr>
        <p:spPr>
          <a:xfrm>
            <a:off x="612648" y="10789920"/>
            <a:ext cx="22860000" cy="960120"/>
          </a:xfrm>
          <a:prstGeom prst="roundRect">
            <a:avLst>
              <a:gd name="adj" fmla="val 1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886968" y="10927080"/>
            <a:ext cx="685800" cy="6858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LuLaugh.png"/>
          <p:cNvPicPr>
            <a:picLocks noChangeAspect="1"/>
          </p:cNvPicPr>
          <p:nvPr/>
        </p:nvPicPr>
        <p:blipFill>
          <a:blip r:embed="rId6"/>
          <a:stretch>
            <a:fillRect/>
          </a:stretch>
        </p:blipFill>
        <p:spPr>
          <a:xfrm>
            <a:off x="1051560" y="11091672"/>
            <a:ext cx="356616" cy="356616"/>
          </a:xfrm>
          <a:prstGeom prst="rect">
            <a:avLst/>
          </a:prstGeom>
        </p:spPr>
      </p:pic>
      <p:sp>
        <p:nvSpPr>
          <p:cNvPr id="54" name="TextBox 53"/>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We intercept so many requests, the API now asks for a lawyer before every response.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Automation</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8683C3"/>
                </a:solidFill>
              </a:rPr>
              <a:t>AUTOMATION SUITE · DEBUGGING</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The trace viewer: CCTV for your tests</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31</a:t>
            </a:r>
          </a:p>
        </p:txBody>
      </p:sp>
      <p:sp>
        <p:nvSpPr>
          <p:cNvPr id="6" name="Rounded Rectangle 5"/>
          <p:cNvSpPr/>
          <p:nvPr/>
        </p:nvSpPr>
        <p:spPr>
          <a:xfrm>
            <a:off x="1297004" y="2926080"/>
            <a:ext cx="11981527" cy="7498079"/>
          </a:xfrm>
          <a:prstGeom prst="roundRect">
            <a:avLst>
              <a:gd name="adj" fmla="val 1463"/>
            </a:avLst>
          </a:prstGeom>
          <a:solidFill>
            <a:srgbClr val="F1F4F7"/>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461596" y="3044952"/>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99340" y="3044952"/>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937084" y="3044952"/>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257124" y="2990088"/>
            <a:ext cx="5486400" cy="256031"/>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348564" y="2990088"/>
            <a:ext cx="5303520" cy="256031"/>
          </a:xfrm>
          <a:prstGeom prst="rect">
            <a:avLst/>
          </a:prstGeom>
          <a:noFill/>
        </p:spPr>
        <p:txBody>
          <a:bodyPr wrap="square" lIns="0" rIns="0" tIns="18288" bIns="18288" anchor="ctr">
            <a:noAutofit/>
          </a:bodyPr>
          <a:lstStyle/>
          <a:p>
            <a:pPr algn="l">
              <a:lnSpc>
                <a:spcPct val="100000"/>
              </a:lnSpc>
              <a:spcBef>
                <a:spcPts val="0"/>
              </a:spcBef>
              <a:spcAft>
                <a:spcPts val="0"/>
              </a:spcAft>
            </a:pPr>
            <a:r>
              <a:rPr sz="1200" b="0" i="0">
                <a:solidFill>
                  <a:srgbClr val="5E6A73"/>
                </a:solidFill>
              </a:rPr>
              <a:t>npx playwright show-trace trace.zip</a:t>
            </a:r>
          </a:p>
        </p:txBody>
      </p:sp>
      <p:pic>
        <p:nvPicPr>
          <p:cNvPr id="12" name="Picture 11" descr="pw-trace.png"/>
          <p:cNvPicPr>
            <a:picLocks noChangeAspect="1"/>
          </p:cNvPicPr>
          <p:nvPr/>
        </p:nvPicPr>
        <p:blipFill>
          <a:blip r:embed="rId3"/>
          <a:stretch>
            <a:fillRect/>
          </a:stretch>
        </p:blipFill>
        <p:spPr>
          <a:xfrm>
            <a:off x="1297004" y="3310128"/>
            <a:ext cx="11981527" cy="7114031"/>
          </a:xfrm>
          <a:prstGeom prst="rect">
            <a:avLst/>
          </a:prstGeom>
          <a:ln w="12700">
            <a:solidFill>
              <a:srgbClr val="D9E1E7"/>
            </a:solidFill>
          </a:ln>
        </p:spPr>
      </p:pic>
      <p:sp>
        <p:nvSpPr>
          <p:cNvPr id="13" name="Rounded Rectangle 12"/>
          <p:cNvSpPr/>
          <p:nvPr/>
        </p:nvSpPr>
        <p:spPr>
          <a:xfrm>
            <a:off x="14264640" y="2926080"/>
            <a:ext cx="9208008" cy="1051560"/>
          </a:xfrm>
          <a:prstGeom prst="roundRect">
            <a:avLst>
              <a:gd name="adj" fmla="val 2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4447520" y="3081528"/>
            <a:ext cx="731520" cy="73152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LuPlay.png"/>
          <p:cNvPicPr>
            <a:picLocks noChangeAspect="1"/>
          </p:cNvPicPr>
          <p:nvPr/>
        </p:nvPicPr>
        <p:blipFill>
          <a:blip r:embed="rId4"/>
          <a:stretch>
            <a:fillRect/>
          </a:stretch>
        </p:blipFill>
        <p:spPr>
          <a:xfrm>
            <a:off x="14623084" y="3257092"/>
            <a:ext cx="380390" cy="380390"/>
          </a:xfrm>
          <a:prstGeom prst="rect">
            <a:avLst/>
          </a:prstGeom>
        </p:spPr>
      </p:pic>
      <p:sp>
        <p:nvSpPr>
          <p:cNvPr id="16" name="TextBox 15"/>
          <p:cNvSpPr txBox="1"/>
          <p:nvPr/>
        </p:nvSpPr>
        <p:spPr>
          <a:xfrm>
            <a:off x="15361920" y="2926080"/>
            <a:ext cx="2834640" cy="105156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1" i="0">
                <a:solidFill>
                  <a:srgbClr val="192B37"/>
                </a:solidFill>
              </a:rPr>
              <a:t>UI mode</a:t>
            </a:r>
          </a:p>
        </p:txBody>
      </p:sp>
      <p:sp>
        <p:nvSpPr>
          <p:cNvPr id="17" name="TextBox 16"/>
          <p:cNvSpPr txBox="1"/>
          <p:nvPr/>
        </p:nvSpPr>
        <p:spPr>
          <a:xfrm>
            <a:off x="18196560" y="2926080"/>
            <a:ext cx="5212080" cy="1051560"/>
          </a:xfrm>
          <a:prstGeom prst="rect">
            <a:avLst/>
          </a:prstGeom>
          <a:noFill/>
        </p:spPr>
        <p:txBody>
          <a:bodyPr wrap="square" lIns="0" rIns="0" tIns="18288" bIns="18288" anchor="ctr">
            <a:noAutofit/>
          </a:bodyPr>
          <a:lstStyle/>
          <a:p>
            <a:pPr algn="l">
              <a:lnSpc>
                <a:spcPct val="100000"/>
              </a:lnSpc>
              <a:spcBef>
                <a:spcPts val="0"/>
              </a:spcBef>
              <a:spcAft>
                <a:spcPts val="0"/>
              </a:spcAft>
            </a:pPr>
            <a:r>
              <a:rPr sz="1472" b="0" i="0">
                <a:solidFill>
                  <a:srgbClr val="C2410C"/>
                </a:solidFill>
                <a:latin typeface="Consolas"/>
              </a:rPr>
              <a:t>npx playwright test --ui</a:t>
            </a:r>
          </a:p>
        </p:txBody>
      </p:sp>
      <p:sp>
        <p:nvSpPr>
          <p:cNvPr id="18" name="Rounded Rectangle 17"/>
          <p:cNvSpPr/>
          <p:nvPr/>
        </p:nvSpPr>
        <p:spPr>
          <a:xfrm>
            <a:off x="14264640" y="4133088"/>
            <a:ext cx="9208008" cy="1051560"/>
          </a:xfrm>
          <a:prstGeom prst="roundRect">
            <a:avLst>
              <a:gd name="adj" fmla="val 2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4447520" y="4288536"/>
            <a:ext cx="731520" cy="73152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uBug.png"/>
          <p:cNvPicPr>
            <a:picLocks noChangeAspect="1"/>
          </p:cNvPicPr>
          <p:nvPr/>
        </p:nvPicPr>
        <p:blipFill>
          <a:blip r:embed="rId5"/>
          <a:stretch>
            <a:fillRect/>
          </a:stretch>
        </p:blipFill>
        <p:spPr>
          <a:xfrm>
            <a:off x="14623084" y="4464100"/>
            <a:ext cx="380390" cy="380390"/>
          </a:xfrm>
          <a:prstGeom prst="rect">
            <a:avLst/>
          </a:prstGeom>
        </p:spPr>
      </p:pic>
      <p:sp>
        <p:nvSpPr>
          <p:cNvPr id="21" name="TextBox 20"/>
          <p:cNvSpPr txBox="1"/>
          <p:nvPr/>
        </p:nvSpPr>
        <p:spPr>
          <a:xfrm>
            <a:off x="15361920" y="4133088"/>
            <a:ext cx="2834640" cy="105156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1" i="0">
                <a:solidFill>
                  <a:srgbClr val="192B37"/>
                </a:solidFill>
              </a:rPr>
              <a:t>Step debugger</a:t>
            </a:r>
          </a:p>
        </p:txBody>
      </p:sp>
      <p:sp>
        <p:nvSpPr>
          <p:cNvPr id="22" name="TextBox 21"/>
          <p:cNvSpPr txBox="1"/>
          <p:nvPr/>
        </p:nvSpPr>
        <p:spPr>
          <a:xfrm>
            <a:off x="18196560" y="4133088"/>
            <a:ext cx="5212080" cy="1051560"/>
          </a:xfrm>
          <a:prstGeom prst="rect">
            <a:avLst/>
          </a:prstGeom>
          <a:noFill/>
        </p:spPr>
        <p:txBody>
          <a:bodyPr wrap="square" lIns="0" rIns="0" tIns="18288" bIns="18288" anchor="ctr">
            <a:noAutofit/>
          </a:bodyPr>
          <a:lstStyle/>
          <a:p>
            <a:pPr algn="l">
              <a:lnSpc>
                <a:spcPct val="100000"/>
              </a:lnSpc>
              <a:spcBef>
                <a:spcPts val="0"/>
              </a:spcBef>
              <a:spcAft>
                <a:spcPts val="0"/>
              </a:spcAft>
            </a:pPr>
            <a:r>
              <a:rPr sz="1472" b="0" i="0">
                <a:solidFill>
                  <a:srgbClr val="C2410C"/>
                </a:solidFill>
                <a:latin typeface="Consolas"/>
              </a:rPr>
              <a:t>--debug</a:t>
            </a:r>
            <a:r>
              <a:rPr sz="1600" b="0" i="0">
                <a:solidFill>
                  <a:srgbClr val="192B37"/>
                </a:solidFill>
              </a:rPr>
              <a:t> · VS Code ▶ breakpoints</a:t>
            </a:r>
          </a:p>
        </p:txBody>
      </p:sp>
      <p:sp>
        <p:nvSpPr>
          <p:cNvPr id="23" name="Rounded Rectangle 22"/>
          <p:cNvSpPr/>
          <p:nvPr/>
        </p:nvSpPr>
        <p:spPr>
          <a:xfrm>
            <a:off x="14264640" y="5340096"/>
            <a:ext cx="9208008" cy="1051560"/>
          </a:xfrm>
          <a:prstGeom prst="roundRect">
            <a:avLst>
              <a:gd name="adj" fmla="val 2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4447520" y="5495544"/>
            <a:ext cx="731520" cy="73152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uHistory.png"/>
          <p:cNvPicPr>
            <a:picLocks noChangeAspect="1"/>
          </p:cNvPicPr>
          <p:nvPr/>
        </p:nvPicPr>
        <p:blipFill>
          <a:blip r:embed="rId6"/>
          <a:stretch>
            <a:fillRect/>
          </a:stretch>
        </p:blipFill>
        <p:spPr>
          <a:xfrm>
            <a:off x="14623084" y="5671108"/>
            <a:ext cx="380390" cy="380390"/>
          </a:xfrm>
          <a:prstGeom prst="rect">
            <a:avLst/>
          </a:prstGeom>
        </p:spPr>
      </p:pic>
      <p:sp>
        <p:nvSpPr>
          <p:cNvPr id="26" name="TextBox 25"/>
          <p:cNvSpPr txBox="1"/>
          <p:nvPr/>
        </p:nvSpPr>
        <p:spPr>
          <a:xfrm>
            <a:off x="15361920" y="5340096"/>
            <a:ext cx="2834640" cy="105156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1" i="0">
                <a:solidFill>
                  <a:srgbClr val="192B37"/>
                </a:solidFill>
              </a:rPr>
              <a:t>Trace on failure</a:t>
            </a:r>
          </a:p>
        </p:txBody>
      </p:sp>
      <p:sp>
        <p:nvSpPr>
          <p:cNvPr id="27" name="TextBox 26"/>
          <p:cNvSpPr txBox="1"/>
          <p:nvPr/>
        </p:nvSpPr>
        <p:spPr>
          <a:xfrm>
            <a:off x="18196560" y="5340096"/>
            <a:ext cx="5212080" cy="1051560"/>
          </a:xfrm>
          <a:prstGeom prst="rect">
            <a:avLst/>
          </a:prstGeom>
          <a:noFill/>
        </p:spPr>
        <p:txBody>
          <a:bodyPr wrap="square" lIns="0" rIns="0" tIns="18288" bIns="18288" anchor="ctr">
            <a:noAutofit/>
          </a:bodyPr>
          <a:lstStyle/>
          <a:p>
            <a:pPr algn="l">
              <a:lnSpc>
                <a:spcPct val="100000"/>
              </a:lnSpc>
              <a:spcBef>
                <a:spcPts val="0"/>
              </a:spcBef>
              <a:spcAft>
                <a:spcPts val="0"/>
              </a:spcAft>
            </a:pPr>
            <a:r>
              <a:rPr sz="1472" b="0" i="0">
                <a:solidFill>
                  <a:srgbClr val="C2410C"/>
                </a:solidFill>
                <a:latin typeface="Consolas"/>
              </a:rPr>
              <a:t>trace: "retain-on-failure"</a:t>
            </a:r>
          </a:p>
        </p:txBody>
      </p:sp>
      <p:sp>
        <p:nvSpPr>
          <p:cNvPr id="28" name="TextBox 27"/>
          <p:cNvSpPr txBox="1"/>
          <p:nvPr/>
        </p:nvSpPr>
        <p:spPr>
          <a:xfrm>
            <a:off x="14264640" y="6629400"/>
            <a:ext cx="91440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8683C3"/>
                </a:solidFill>
              </a:rPr>
              <a:t>REAL BUGS WE HIT WHILE BUILDING IT</a:t>
            </a:r>
          </a:p>
        </p:txBody>
      </p:sp>
      <p:sp>
        <p:nvSpPr>
          <p:cNvPr id="29" name="Rounded Rectangle 28"/>
          <p:cNvSpPr/>
          <p:nvPr/>
        </p:nvSpPr>
        <p:spPr>
          <a:xfrm>
            <a:off x="14264640" y="7333488"/>
            <a:ext cx="1463040" cy="566928"/>
          </a:xfrm>
          <a:prstGeom prst="roundRect">
            <a:avLst>
              <a:gd name="adj" fmla="val 50000"/>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4356080" y="7333488"/>
            <a:ext cx="1280160"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1" i="0">
                <a:solidFill>
                  <a:srgbClr val="FFFFFF"/>
                </a:solidFill>
              </a:rPr>
              <a:t>L-002</a:t>
            </a:r>
          </a:p>
        </p:txBody>
      </p:sp>
      <p:sp>
        <p:nvSpPr>
          <p:cNvPr id="31" name="TextBox 30"/>
          <p:cNvSpPr txBox="1"/>
          <p:nvPr/>
        </p:nvSpPr>
        <p:spPr>
          <a:xfrm>
            <a:off x="15910559" y="7132320"/>
            <a:ext cx="7562088" cy="100584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0" i="0">
                <a:solidFill>
                  <a:srgbClr val="192B37"/>
                </a:solidFill>
              </a:rPr>
              <a:t>“Sign Up” click swallowed by blur validation → retry with </a:t>
            </a:r>
            <a:r>
              <a:rPr sz="1564" b="0" i="0">
                <a:solidFill>
                  <a:srgbClr val="C2410C"/>
                </a:solidFill>
                <a:latin typeface="Consolas"/>
              </a:rPr>
              <a:t>toPass</a:t>
            </a:r>
          </a:p>
        </p:txBody>
      </p:sp>
      <p:sp>
        <p:nvSpPr>
          <p:cNvPr id="32" name="Rounded Rectangle 31"/>
          <p:cNvSpPr/>
          <p:nvPr/>
        </p:nvSpPr>
        <p:spPr>
          <a:xfrm>
            <a:off x="14264640" y="8449056"/>
            <a:ext cx="1463040" cy="566928"/>
          </a:xfrm>
          <a:prstGeom prst="roundRect">
            <a:avLst>
              <a:gd name="adj" fmla="val 50000"/>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4356080" y="8449056"/>
            <a:ext cx="1280160"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1" i="0">
                <a:solidFill>
                  <a:srgbClr val="FFFFFF"/>
                </a:solidFill>
              </a:rPr>
              <a:t>L-003</a:t>
            </a:r>
          </a:p>
        </p:txBody>
      </p:sp>
      <p:sp>
        <p:nvSpPr>
          <p:cNvPr id="34" name="TextBox 33"/>
          <p:cNvSpPr txBox="1"/>
          <p:nvPr/>
        </p:nvSpPr>
        <p:spPr>
          <a:xfrm>
            <a:off x="15910559" y="8247888"/>
            <a:ext cx="7562088" cy="100584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0" i="0">
                <a:solidFill>
                  <a:srgbClr val="192B37"/>
                </a:solidFill>
              </a:rPr>
              <a:t>Re-clicking a selected tab doesn't refetch → reload</a:t>
            </a:r>
          </a:p>
        </p:txBody>
      </p:sp>
      <p:sp>
        <p:nvSpPr>
          <p:cNvPr id="35" name="Rounded Rectangle 34"/>
          <p:cNvSpPr/>
          <p:nvPr/>
        </p:nvSpPr>
        <p:spPr>
          <a:xfrm>
            <a:off x="14264640" y="9564624"/>
            <a:ext cx="1463040" cy="566928"/>
          </a:xfrm>
          <a:prstGeom prst="roundRect">
            <a:avLst>
              <a:gd name="adj" fmla="val 50000"/>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4356080" y="9564624"/>
            <a:ext cx="1280160"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1" i="0">
                <a:solidFill>
                  <a:srgbClr val="FFFFFF"/>
                </a:solidFill>
              </a:rPr>
              <a:t>L-005</a:t>
            </a:r>
          </a:p>
        </p:txBody>
      </p:sp>
      <p:sp>
        <p:nvSpPr>
          <p:cNvPr id="37" name="TextBox 36"/>
          <p:cNvSpPr txBox="1"/>
          <p:nvPr/>
        </p:nvSpPr>
        <p:spPr>
          <a:xfrm>
            <a:off x="15910559" y="9363456"/>
            <a:ext cx="7562088" cy="1005840"/>
          </a:xfrm>
          <a:prstGeom prst="rect">
            <a:avLst/>
          </a:prstGeom>
          <a:noFill/>
        </p:spPr>
        <p:txBody>
          <a:bodyPr wrap="square" lIns="0" rIns="0" tIns="18288" bIns="18288" anchor="ctr">
            <a:noAutofit/>
          </a:bodyPr>
          <a:lstStyle/>
          <a:p>
            <a:pPr algn="l">
              <a:lnSpc>
                <a:spcPct val="100000"/>
              </a:lnSpc>
              <a:spcBef>
                <a:spcPts val="0"/>
              </a:spcBef>
              <a:spcAft>
                <a:spcPts val="0"/>
              </a:spcAft>
            </a:pPr>
            <a:r>
              <a:rPr sz="1564" b="0" i="0">
                <a:solidFill>
                  <a:srgbClr val="C2410C"/>
                </a:solidFill>
                <a:latin typeface="Consolas"/>
              </a:rPr>
              <a:t>pkill -f</a:t>
            </a:r>
            <a:r>
              <a:rPr sz="1700" b="0" i="0">
                <a:solidFill>
                  <a:srgbClr val="192B37"/>
                </a:solidFill>
              </a:rPr>
              <a:t> matched its own shell and killed it</a:t>
            </a:r>
          </a:p>
        </p:txBody>
      </p:sp>
      <p:sp>
        <p:nvSpPr>
          <p:cNvPr id="38" name="Rounded Rectangle 37"/>
          <p:cNvSpPr/>
          <p:nvPr/>
        </p:nvSpPr>
        <p:spPr>
          <a:xfrm>
            <a:off x="612648" y="10789920"/>
            <a:ext cx="22860000" cy="960120"/>
          </a:xfrm>
          <a:prstGeom prst="roundRect">
            <a:avLst>
              <a:gd name="adj" fmla="val 1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886968" y="10927080"/>
            <a:ext cx="685800" cy="6858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LuLaugh.png"/>
          <p:cNvPicPr>
            <a:picLocks noChangeAspect="1"/>
          </p:cNvPicPr>
          <p:nvPr/>
        </p:nvPicPr>
        <p:blipFill>
          <a:blip r:embed="rId7"/>
          <a:stretch>
            <a:fillRect/>
          </a:stretch>
        </p:blipFill>
        <p:spPr>
          <a:xfrm>
            <a:off x="1051560" y="11091672"/>
            <a:ext cx="356616" cy="356616"/>
          </a:xfrm>
          <a:prstGeom prst="rect">
            <a:avLst/>
          </a:prstGeom>
        </p:spPr>
      </p:pic>
      <p:sp>
        <p:nvSpPr>
          <p:cNvPr id="41" name="TextBox 40"/>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Debugging: being the detective in a crime story where you also wrote the missing </a:t>
            </a:r>
            <a:r>
              <a:rPr sz="1840" b="0" i="1">
                <a:solidFill>
                  <a:srgbClr val="C2410C"/>
                </a:solidFill>
                <a:latin typeface="Consolas"/>
              </a:rPr>
              <a:t>await</a:t>
            </a:r>
            <a:r>
              <a:rPr sz="2000" b="0" i="1">
                <a:solidFill>
                  <a:srgbClr val="192B37"/>
                </a:solidFill>
              </a:rP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Automation</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8683C3"/>
                </a:solidFill>
              </a:rPr>
              <a:t>AUTOMATION SUITE · REPORTING</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223 green ticks, framed and hung in the hallway</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32</a:t>
            </a:r>
          </a:p>
        </p:txBody>
      </p:sp>
      <p:sp>
        <p:nvSpPr>
          <p:cNvPr id="6" name="Rounded Rectangle 5"/>
          <p:cNvSpPr/>
          <p:nvPr/>
        </p:nvSpPr>
        <p:spPr>
          <a:xfrm>
            <a:off x="688258" y="2926080"/>
            <a:ext cx="8078378" cy="7498079"/>
          </a:xfrm>
          <a:prstGeom prst="roundRect">
            <a:avLst>
              <a:gd name="adj" fmla="val 1463"/>
            </a:avLst>
          </a:prstGeom>
          <a:solidFill>
            <a:srgbClr val="F1F4F7"/>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52850" y="3044952"/>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90594" y="3044952"/>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28338" y="3044952"/>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648378" y="2990088"/>
            <a:ext cx="5486400" cy="256031"/>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739818" y="2990088"/>
            <a:ext cx="5303520" cy="256031"/>
          </a:xfrm>
          <a:prstGeom prst="rect">
            <a:avLst/>
          </a:prstGeom>
          <a:noFill/>
        </p:spPr>
        <p:txBody>
          <a:bodyPr wrap="square" lIns="0" rIns="0" tIns="18288" bIns="18288" anchor="ctr">
            <a:noAutofit/>
          </a:bodyPr>
          <a:lstStyle/>
          <a:p>
            <a:pPr algn="l">
              <a:lnSpc>
                <a:spcPct val="100000"/>
              </a:lnSpc>
              <a:spcBef>
                <a:spcPts val="0"/>
              </a:spcBef>
              <a:spcAft>
                <a:spcPts val="0"/>
              </a:spcAft>
            </a:pPr>
            <a:r>
              <a:rPr sz="1200" b="0" i="0">
                <a:solidFill>
                  <a:srgbClr val="5E6A73"/>
                </a:solidFill>
              </a:rPr>
              <a:t>localhost:9323 · HTML report</a:t>
            </a:r>
          </a:p>
        </p:txBody>
      </p:sp>
      <p:pic>
        <p:nvPicPr>
          <p:cNvPr id="12" name="Picture 11" descr="pw-report.png"/>
          <p:cNvPicPr>
            <a:picLocks noChangeAspect="1"/>
          </p:cNvPicPr>
          <p:nvPr/>
        </p:nvPicPr>
        <p:blipFill>
          <a:blip r:embed="rId3"/>
          <a:stretch>
            <a:fillRect/>
          </a:stretch>
        </p:blipFill>
        <p:spPr>
          <a:xfrm>
            <a:off x="688258" y="3310128"/>
            <a:ext cx="8078378" cy="7114031"/>
          </a:xfrm>
          <a:prstGeom prst="rect">
            <a:avLst/>
          </a:prstGeom>
          <a:ln w="12700">
            <a:solidFill>
              <a:srgbClr val="D9E1E7"/>
            </a:solidFill>
          </a:ln>
        </p:spPr>
      </p:pic>
      <p:sp>
        <p:nvSpPr>
          <p:cNvPr id="13" name="Rounded Rectangle 12"/>
          <p:cNvSpPr/>
          <p:nvPr/>
        </p:nvSpPr>
        <p:spPr>
          <a:xfrm>
            <a:off x="9716276" y="2926080"/>
            <a:ext cx="6993606" cy="4572000"/>
          </a:xfrm>
          <a:prstGeom prst="roundRect">
            <a:avLst>
              <a:gd name="adj" fmla="val 2400"/>
            </a:avLst>
          </a:prstGeom>
          <a:solidFill>
            <a:srgbClr val="F1F4F7"/>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9880868" y="3044952"/>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118612" y="3044952"/>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356356" y="3044952"/>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676396" y="2990088"/>
            <a:ext cx="5486400" cy="256031"/>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767836" y="2990088"/>
            <a:ext cx="5303520" cy="256031"/>
          </a:xfrm>
          <a:prstGeom prst="rect">
            <a:avLst/>
          </a:prstGeom>
          <a:noFill/>
        </p:spPr>
        <p:txBody>
          <a:bodyPr wrap="square" lIns="0" rIns="0" tIns="18288" bIns="18288" anchor="ctr">
            <a:noAutofit/>
          </a:bodyPr>
          <a:lstStyle/>
          <a:p>
            <a:pPr algn="l">
              <a:lnSpc>
                <a:spcPct val="100000"/>
              </a:lnSpc>
              <a:spcBef>
                <a:spcPts val="0"/>
              </a:spcBef>
              <a:spcAft>
                <a:spcPts val="0"/>
              </a:spcAft>
            </a:pPr>
            <a:r>
              <a:rPr sz="1200" b="0" i="0">
                <a:solidFill>
                  <a:srgbClr val="5E6A73"/>
                </a:solidFill>
              </a:rPr>
              <a:t>journey · test steps</a:t>
            </a:r>
          </a:p>
        </p:txBody>
      </p:sp>
      <p:pic>
        <p:nvPicPr>
          <p:cNvPr id="19" name="Picture 18" descr="pw-report-e2e.png"/>
          <p:cNvPicPr>
            <a:picLocks noChangeAspect="1"/>
          </p:cNvPicPr>
          <p:nvPr/>
        </p:nvPicPr>
        <p:blipFill>
          <a:blip r:embed="rId4"/>
          <a:stretch>
            <a:fillRect/>
          </a:stretch>
        </p:blipFill>
        <p:spPr>
          <a:xfrm>
            <a:off x="9716276" y="3310128"/>
            <a:ext cx="6993606" cy="4187952"/>
          </a:xfrm>
          <a:prstGeom prst="rect">
            <a:avLst/>
          </a:prstGeom>
          <a:ln w="12700">
            <a:solidFill>
              <a:srgbClr val="D9E1E7"/>
            </a:solidFill>
          </a:ln>
        </p:spPr>
      </p:pic>
      <p:sp>
        <p:nvSpPr>
          <p:cNvPr id="20" name="TextBox 19"/>
          <p:cNvSpPr txBox="1"/>
          <p:nvPr/>
        </p:nvSpPr>
        <p:spPr>
          <a:xfrm>
            <a:off x="9098280" y="7726679"/>
            <a:ext cx="82296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8683C3"/>
                </a:solidFill>
              </a:rPr>
              <a:t>TESTS PER PROJECT</a:t>
            </a:r>
          </a:p>
        </p:txBody>
      </p:sp>
      <p:graphicFrame>
        <p:nvGraphicFramePr>
          <p:cNvPr id="21" name="Chart 20"/>
          <p:cNvGraphicFramePr>
            <a:graphicFrameLocks noGrp="1"/>
          </p:cNvGraphicFramePr>
          <p:nvPr/>
        </p:nvGraphicFramePr>
        <p:xfrm>
          <a:off x="8961120" y="8046720"/>
          <a:ext cx="8503920" cy="2514600"/>
        </p:xfrm>
        <a:graphic>
          <a:graphicData uri="http://schemas.openxmlformats.org/drawingml/2006/chart">
            <c:chart xmlns:c="http://schemas.openxmlformats.org/drawingml/2006/chart" r:id="rId5"/>
          </a:graphicData>
        </a:graphic>
      </p:graphicFrame>
      <p:sp>
        <p:nvSpPr>
          <p:cNvPr id="22" name="Rounded Rectangle 21"/>
          <p:cNvSpPr/>
          <p:nvPr/>
        </p:nvSpPr>
        <p:spPr>
          <a:xfrm>
            <a:off x="17647920" y="2926080"/>
            <a:ext cx="5824728" cy="1353312"/>
          </a:xfrm>
          <a:prstGeom prst="roundRect">
            <a:avLst>
              <a:gd name="adj" fmla="val 1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7922240" y="2926080"/>
            <a:ext cx="2743200" cy="1353312"/>
          </a:xfrm>
          <a:prstGeom prst="rect">
            <a:avLst/>
          </a:prstGeom>
          <a:noFill/>
        </p:spPr>
        <p:txBody>
          <a:bodyPr wrap="square" lIns="0" rIns="0" tIns="18288" bIns="18288" anchor="ctr">
            <a:noAutofit/>
          </a:bodyPr>
          <a:lstStyle/>
          <a:p>
            <a:pPr algn="l">
              <a:lnSpc>
                <a:spcPct val="100000"/>
              </a:lnSpc>
              <a:spcBef>
                <a:spcPts val="0"/>
              </a:spcBef>
              <a:spcAft>
                <a:spcPts val="0"/>
              </a:spcAft>
            </a:pPr>
            <a:r>
              <a:rPr sz="4200" b="0" i="0">
                <a:solidFill>
                  <a:srgbClr val="00A859"/>
                </a:solidFill>
                <a:latin typeface="+mj-lt"/>
              </a:rPr>
              <a:t>223</a:t>
            </a:r>
          </a:p>
        </p:txBody>
      </p:sp>
      <p:sp>
        <p:nvSpPr>
          <p:cNvPr id="24" name="TextBox 23"/>
          <p:cNvSpPr txBox="1"/>
          <p:nvPr/>
        </p:nvSpPr>
        <p:spPr>
          <a:xfrm>
            <a:off x="20574000" y="2926080"/>
            <a:ext cx="2834640" cy="1353312"/>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192B37"/>
                </a:solidFill>
              </a:rPr>
              <a:t>passed</a:t>
            </a:r>
          </a:p>
        </p:txBody>
      </p:sp>
      <p:sp>
        <p:nvSpPr>
          <p:cNvPr id="25" name="Rounded Rectangle 24"/>
          <p:cNvSpPr/>
          <p:nvPr/>
        </p:nvSpPr>
        <p:spPr>
          <a:xfrm>
            <a:off x="17647920" y="4443984"/>
            <a:ext cx="5824728" cy="1353312"/>
          </a:xfrm>
          <a:prstGeom prst="roundRect">
            <a:avLst>
              <a:gd name="adj" fmla="val 1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7922240" y="4443984"/>
            <a:ext cx="2743200" cy="1353312"/>
          </a:xfrm>
          <a:prstGeom prst="rect">
            <a:avLst/>
          </a:prstGeom>
          <a:noFill/>
        </p:spPr>
        <p:txBody>
          <a:bodyPr wrap="square" lIns="0" rIns="0" tIns="18288" bIns="18288" anchor="ctr">
            <a:noAutofit/>
          </a:bodyPr>
          <a:lstStyle/>
          <a:p>
            <a:pPr algn="l">
              <a:lnSpc>
                <a:spcPct val="100000"/>
              </a:lnSpc>
              <a:spcBef>
                <a:spcPts val="0"/>
              </a:spcBef>
              <a:spcAft>
                <a:spcPts val="0"/>
              </a:spcAft>
            </a:pPr>
            <a:r>
              <a:rPr sz="4200" b="0" i="0">
                <a:solidFill>
                  <a:srgbClr val="FF5640"/>
                </a:solidFill>
                <a:latin typeface="+mj-lt"/>
              </a:rPr>
              <a:t>0</a:t>
            </a:r>
          </a:p>
        </p:txBody>
      </p:sp>
      <p:sp>
        <p:nvSpPr>
          <p:cNvPr id="27" name="TextBox 26"/>
          <p:cNvSpPr txBox="1"/>
          <p:nvPr/>
        </p:nvSpPr>
        <p:spPr>
          <a:xfrm>
            <a:off x="20574000" y="4443984"/>
            <a:ext cx="2834640" cy="1353312"/>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192B37"/>
                </a:solidFill>
              </a:rPr>
              <a:t>failed</a:t>
            </a:r>
          </a:p>
        </p:txBody>
      </p:sp>
      <p:sp>
        <p:nvSpPr>
          <p:cNvPr id="28" name="Rounded Rectangle 27"/>
          <p:cNvSpPr/>
          <p:nvPr/>
        </p:nvSpPr>
        <p:spPr>
          <a:xfrm>
            <a:off x="17647920" y="5961888"/>
            <a:ext cx="5824728" cy="1353312"/>
          </a:xfrm>
          <a:prstGeom prst="roundRect">
            <a:avLst>
              <a:gd name="adj" fmla="val 1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7922240" y="5961888"/>
            <a:ext cx="2743200" cy="1353312"/>
          </a:xfrm>
          <a:prstGeom prst="rect">
            <a:avLst/>
          </a:prstGeom>
          <a:noFill/>
        </p:spPr>
        <p:txBody>
          <a:bodyPr wrap="square" lIns="0" rIns="0" tIns="18288" bIns="18288" anchor="ctr">
            <a:noAutofit/>
          </a:bodyPr>
          <a:lstStyle/>
          <a:p>
            <a:pPr algn="l">
              <a:lnSpc>
                <a:spcPct val="100000"/>
              </a:lnSpc>
              <a:spcBef>
                <a:spcPts val="0"/>
              </a:spcBef>
              <a:spcAft>
                <a:spcPts val="0"/>
              </a:spcAft>
            </a:pPr>
            <a:r>
              <a:rPr sz="4200" b="0" i="0">
                <a:solidFill>
                  <a:srgbClr val="DB7D00"/>
                </a:solidFill>
                <a:latin typeface="+mj-lt"/>
              </a:rPr>
              <a:t>0</a:t>
            </a:r>
          </a:p>
        </p:txBody>
      </p:sp>
      <p:sp>
        <p:nvSpPr>
          <p:cNvPr id="30" name="TextBox 29"/>
          <p:cNvSpPr txBox="1"/>
          <p:nvPr/>
        </p:nvSpPr>
        <p:spPr>
          <a:xfrm>
            <a:off x="20574000" y="5961888"/>
            <a:ext cx="2834640" cy="1353312"/>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192B37"/>
                </a:solidFill>
              </a:rPr>
              <a:t>flaky</a:t>
            </a:r>
          </a:p>
        </p:txBody>
      </p:sp>
      <p:sp>
        <p:nvSpPr>
          <p:cNvPr id="31" name="Rounded Rectangle 30"/>
          <p:cNvSpPr/>
          <p:nvPr/>
        </p:nvSpPr>
        <p:spPr>
          <a:xfrm>
            <a:off x="17647920" y="7479792"/>
            <a:ext cx="5824728" cy="1353312"/>
          </a:xfrm>
          <a:prstGeom prst="roundRect">
            <a:avLst>
              <a:gd name="adj" fmla="val 1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7922240" y="7479792"/>
            <a:ext cx="2743200" cy="1353312"/>
          </a:xfrm>
          <a:prstGeom prst="rect">
            <a:avLst/>
          </a:prstGeom>
          <a:noFill/>
        </p:spPr>
        <p:txBody>
          <a:bodyPr wrap="square" lIns="0" rIns="0" tIns="18288" bIns="18288" anchor="ctr">
            <a:noAutofit/>
          </a:bodyPr>
          <a:lstStyle/>
          <a:p>
            <a:pPr algn="l">
              <a:lnSpc>
                <a:spcPct val="100000"/>
              </a:lnSpc>
              <a:spcBef>
                <a:spcPts val="0"/>
              </a:spcBef>
              <a:spcAft>
                <a:spcPts val="0"/>
              </a:spcAft>
            </a:pPr>
            <a:r>
              <a:rPr sz="4200" b="0" i="0">
                <a:solidFill>
                  <a:srgbClr val="3D9BC8"/>
                </a:solidFill>
                <a:latin typeface="+mj-lt"/>
              </a:rPr>
              <a:t>1</a:t>
            </a:r>
          </a:p>
        </p:txBody>
      </p:sp>
      <p:sp>
        <p:nvSpPr>
          <p:cNvPr id="33" name="TextBox 32"/>
          <p:cNvSpPr txBox="1"/>
          <p:nvPr/>
        </p:nvSpPr>
        <p:spPr>
          <a:xfrm>
            <a:off x="20574000" y="7479792"/>
            <a:ext cx="2834640" cy="1353312"/>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192B37"/>
                </a:solidFill>
              </a:rPr>
              <a:t>skipped (by design)</a:t>
            </a:r>
          </a:p>
        </p:txBody>
      </p:sp>
      <p:sp>
        <p:nvSpPr>
          <p:cNvPr id="34" name="Rounded Rectangle 33"/>
          <p:cNvSpPr/>
          <p:nvPr/>
        </p:nvSpPr>
        <p:spPr>
          <a:xfrm>
            <a:off x="17647920" y="8997696"/>
            <a:ext cx="5824728" cy="1353312"/>
          </a:xfrm>
          <a:prstGeom prst="roundRect">
            <a:avLst>
              <a:gd name="adj" fmla="val 1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7922240" y="8997696"/>
            <a:ext cx="2743200" cy="1353312"/>
          </a:xfrm>
          <a:prstGeom prst="rect">
            <a:avLst/>
          </a:prstGeom>
          <a:noFill/>
        </p:spPr>
        <p:txBody>
          <a:bodyPr wrap="square" lIns="0" rIns="0" tIns="18288" bIns="18288" anchor="ctr">
            <a:noAutofit/>
          </a:bodyPr>
          <a:lstStyle/>
          <a:p>
            <a:pPr algn="l">
              <a:lnSpc>
                <a:spcPct val="100000"/>
              </a:lnSpc>
              <a:spcBef>
                <a:spcPts val="0"/>
              </a:spcBef>
              <a:spcAft>
                <a:spcPts val="0"/>
              </a:spcAft>
            </a:pPr>
            <a:r>
              <a:rPr sz="3400" b="0" i="0">
                <a:solidFill>
                  <a:srgbClr val="8683C3"/>
                </a:solidFill>
                <a:latin typeface="+mj-lt"/>
              </a:rPr>
              <a:t>12.1 min</a:t>
            </a:r>
          </a:p>
        </p:txBody>
      </p:sp>
      <p:sp>
        <p:nvSpPr>
          <p:cNvPr id="36" name="TextBox 35"/>
          <p:cNvSpPr txBox="1"/>
          <p:nvPr/>
        </p:nvSpPr>
        <p:spPr>
          <a:xfrm>
            <a:off x="20574000" y="8997696"/>
            <a:ext cx="2834640" cy="1353312"/>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192B37"/>
                </a:solidFill>
              </a:rPr>
              <a:t>1 worker, shared DB</a:t>
            </a:r>
          </a:p>
        </p:txBody>
      </p:sp>
      <p:sp>
        <p:nvSpPr>
          <p:cNvPr id="37" name="Rounded Rectangle 36"/>
          <p:cNvSpPr/>
          <p:nvPr/>
        </p:nvSpPr>
        <p:spPr>
          <a:xfrm>
            <a:off x="612648" y="10789920"/>
            <a:ext cx="22860000" cy="960120"/>
          </a:xfrm>
          <a:prstGeom prst="roundRect">
            <a:avLst>
              <a:gd name="adj" fmla="val 1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886968" y="10927080"/>
            <a:ext cx="685800" cy="6858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LuLaugh.png"/>
          <p:cNvPicPr>
            <a:picLocks noChangeAspect="1"/>
          </p:cNvPicPr>
          <p:nvPr/>
        </p:nvPicPr>
        <p:blipFill>
          <a:blip r:embed="rId6"/>
          <a:stretch>
            <a:fillRect/>
          </a:stretch>
        </p:blipFill>
        <p:spPr>
          <a:xfrm>
            <a:off x="1051560" y="11091672"/>
            <a:ext cx="356616" cy="356616"/>
          </a:xfrm>
          <a:prstGeom prst="rect">
            <a:avLst/>
          </a:prstGeom>
        </p:spPr>
      </p:pic>
      <p:sp>
        <p:nvSpPr>
          <p:cNvPr id="40" name="TextBox 39"/>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Our report is so green, the HTML file applied for environmental certification.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Automation</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8683C3"/>
                </a:solidFill>
              </a:rPr>
              <a:t>AUTOMATION SUITE · RESULTS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Run history and the health of the whole rig</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33</a:t>
            </a:r>
          </a:p>
        </p:txBody>
      </p:sp>
      <p:sp>
        <p:nvSpPr>
          <p:cNvPr id="6" name="TextBox 5"/>
          <p:cNvSpPr txBox="1"/>
          <p:nvPr/>
        </p:nvSpPr>
        <p:spPr>
          <a:xfrm>
            <a:off x="612648" y="2880360"/>
            <a:ext cx="109728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8683C3"/>
                </a:solidFill>
              </a:rPr>
              <a:t>TESTS IN THE SUITE — HOW IT GREW</a:t>
            </a:r>
          </a:p>
        </p:txBody>
      </p:sp>
      <p:graphicFrame>
        <p:nvGraphicFramePr>
          <p:cNvPr id="7" name="Chart 6"/>
          <p:cNvGraphicFramePr>
            <a:graphicFrameLocks noGrp="1"/>
          </p:cNvGraphicFramePr>
          <p:nvPr/>
        </p:nvGraphicFramePr>
        <p:xfrm>
          <a:off x="457200" y="3200400"/>
          <a:ext cx="11521440" cy="4023360"/>
        </p:xfrm>
        <a:graphic>
          <a:graphicData uri="http://schemas.openxmlformats.org/drawingml/2006/chart">
            <c:chart xmlns:c="http://schemas.openxmlformats.org/drawingml/2006/chart" r:id="rId3"/>
          </a:graphicData>
        </a:graphic>
      </p:graphicFrame>
      <p:sp>
        <p:nvSpPr>
          <p:cNvPr id="8" name="TextBox 7"/>
          <p:cNvSpPr txBox="1"/>
          <p:nvPr/>
        </p:nvSpPr>
        <p:spPr>
          <a:xfrm>
            <a:off x="12252960" y="2880360"/>
            <a:ext cx="109728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8683C3"/>
                </a:solidFill>
              </a:rPr>
              <a:t>API p95 LATENCY (ms) — PERF SMOKE</a:t>
            </a:r>
          </a:p>
        </p:txBody>
      </p:sp>
      <p:graphicFrame>
        <p:nvGraphicFramePr>
          <p:cNvPr id="9" name="Chart 8"/>
          <p:cNvGraphicFramePr>
            <a:graphicFrameLocks noGrp="1"/>
          </p:cNvGraphicFramePr>
          <p:nvPr/>
        </p:nvGraphicFramePr>
        <p:xfrm>
          <a:off x="12161520" y="3200400"/>
          <a:ext cx="11338560" cy="4023360"/>
        </p:xfrm>
        <a:graphic>
          <a:graphicData uri="http://schemas.openxmlformats.org/drawingml/2006/chart">
            <c:chart xmlns:c="http://schemas.openxmlformats.org/drawingml/2006/chart" r:id="rId4"/>
          </a:graphicData>
        </a:graphic>
      </p:graphicFrame>
      <p:sp>
        <p:nvSpPr>
          <p:cNvPr id="10" name="Rounded Rectangle 9"/>
          <p:cNvSpPr/>
          <p:nvPr/>
        </p:nvSpPr>
        <p:spPr>
          <a:xfrm>
            <a:off x="612648" y="7498079"/>
            <a:ext cx="22860000" cy="2926080"/>
          </a:xfrm>
          <a:prstGeom prst="roundRect">
            <a:avLst>
              <a:gd name="adj" fmla="val 8750"/>
            </a:avLst>
          </a:prstGeom>
          <a:solidFill>
            <a:srgbClr val="0F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86968" y="769924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79576" y="769924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472184" y="769924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92807" y="7571231"/>
            <a:ext cx="2130552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environment doctor</a:t>
            </a:r>
          </a:p>
        </p:txBody>
      </p:sp>
      <p:sp>
        <p:nvSpPr>
          <p:cNvPr id="15" name="TextBox 14"/>
          <p:cNvSpPr txBox="1"/>
          <p:nvPr/>
        </p:nvSpPr>
        <p:spPr>
          <a:xfrm>
            <a:off x="886968" y="8046719"/>
            <a:ext cx="22402800" cy="2240280"/>
          </a:xfrm>
          <a:prstGeom prst="rect">
            <a:avLst/>
          </a:prstGeom>
          <a:noFill/>
        </p:spPr>
        <p:txBody>
          <a:bodyPr wrap="none" lIns="0" rIns="0" tIns="0" bIns="0">
            <a:noAutofit/>
          </a:bodyPr>
          <a:lstStyle/>
          <a:p>
            <a:pPr>
              <a:lnSpc>
                <a:spcPct val="108000"/>
              </a:lnSpc>
              <a:spcBef>
                <a:spcPts val="0"/>
              </a:spcBef>
              <a:spcAft>
                <a:spcPts val="0"/>
              </a:spcAft>
            </a:pPr>
            <a:r>
              <a:rPr sz="1800" b="1">
                <a:solidFill>
                  <a:srgbClr val="7EE787"/>
                </a:solidFill>
                <a:latin typeface="Consolas"/>
              </a:rPr>
              <a:t>$ </a:t>
            </a:r>
            <a:r>
              <a:rPr sz="1800">
                <a:solidFill>
                  <a:srgbClr val="FFFFFF"/>
                </a:solidFill>
                <a:latin typeface="Consolas"/>
              </a:rPr>
              <a:t>node tap26/scripts/doctor.mjs</a:t>
            </a:r>
          </a:p>
          <a:p>
            <a:pPr>
              <a:lnSpc>
                <a:spcPct val="108000"/>
              </a:lnSpc>
              <a:spcBef>
                <a:spcPts val="0"/>
              </a:spcBef>
              <a:spcAft>
                <a:spcPts val="0"/>
              </a:spcAft>
            </a:pPr>
            <a:r>
              <a:rPr sz="1800">
                <a:solidFill>
                  <a:srgbClr val="7EE787"/>
                </a:solidFill>
                <a:latin typeface="Consolas"/>
              </a:rPr>
              <a:t>✔ Node.js v22.22.0   ✔ Yarn v1.22.22   ✔ @playwright/test 1.56.0   ✔ Port 3000 UI   ✔ Port 3001 API   ✔ Port 3100 Swagger UI</a:t>
            </a:r>
          </a:p>
          <a:p>
            <a:pPr>
              <a:lnSpc>
                <a:spcPct val="108000"/>
              </a:lnSpc>
              <a:spcBef>
                <a:spcPts val="0"/>
              </a:spcBef>
              <a:spcAft>
                <a:spcPts val="0"/>
              </a:spcAft>
            </a:pPr>
            <a:r>
              <a:rPr sz="1800">
                <a:solidFill>
                  <a:srgbClr val="7EE787"/>
                </a:solidFill>
                <a:latin typeface="Consolas"/>
              </a:rPr>
              <a:t>✔ API reachable  GET /testData/users → 200, 5 users (3 ms)     ✔ OpenAPI spec 3.0.3, 25 paths / 35 operations</a:t>
            </a:r>
          </a:p>
          <a:p>
            <a:pPr>
              <a:lnSpc>
                <a:spcPct val="108000"/>
              </a:lnSpc>
              <a:spcBef>
                <a:spcPts val="0"/>
              </a:spcBef>
              <a:spcAft>
                <a:spcPts val="0"/>
              </a:spcAft>
            </a:pPr>
            <a:r>
              <a:rPr sz="1800">
                <a:solidFill>
                  <a:srgbClr val="FFC56B"/>
                </a:solidFill>
                <a:latin typeface="Consolas"/>
              </a:rPr>
              <a:t>17 ok · 0 warning(s) · 0 error(s)</a:t>
            </a:r>
          </a:p>
        </p:txBody>
      </p:sp>
      <p:sp>
        <p:nvSpPr>
          <p:cNvPr id="16" name="Rounded Rectangle 15"/>
          <p:cNvSpPr/>
          <p:nvPr/>
        </p:nvSpPr>
        <p:spPr>
          <a:xfrm>
            <a:off x="612648" y="10789920"/>
            <a:ext cx="22860000" cy="960120"/>
          </a:xfrm>
          <a:prstGeom prst="roundRect">
            <a:avLst>
              <a:gd name="adj" fmla="val 1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86968" y="10927080"/>
            <a:ext cx="685800" cy="6858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uLaugh.png"/>
          <p:cNvPicPr>
            <a:picLocks noChangeAspect="1"/>
          </p:cNvPicPr>
          <p:nvPr/>
        </p:nvPicPr>
        <p:blipFill>
          <a:blip r:embed="rId5"/>
          <a:stretch>
            <a:fillRect/>
          </a:stretch>
        </p:blipFill>
        <p:spPr>
          <a:xfrm>
            <a:off x="1051560" y="11091672"/>
            <a:ext cx="356616" cy="356616"/>
          </a:xfrm>
          <a:prstGeom prst="rect">
            <a:avLst/>
          </a:prstGeom>
        </p:spPr>
      </p:pic>
      <p:sp>
        <p:nvSpPr>
          <p:cNvPr id="19" name="TextBox 18"/>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/users answers in 7 ms. /transactions/public takes 417 ms — it's busy reading everyone's business.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Cypress vs Playwright</a:t>
            </a:r>
          </a:p>
        </p:txBody>
      </p:sp>
      <p:sp>
        <p:nvSpPr>
          <p:cNvPr id="3" name="Text Placeholder 2"/>
          <p:cNvSpPr>
            <a:spLocks noGrp="1"/>
          </p:cNvSpPr>
          <p:nvPr>
            <p:ph type="body" idx="21" sz="quarter"/>
          </p:nvPr>
        </p:nvSpPr>
        <p:spPr/>
        <p:txBody>
          <a:bodyPr/>
          <a:lstStyle/>
          <a:p>
            <a:r>
              <a:t>04</a:t>
            </a:r>
          </a:p>
        </p:txBody>
      </p:sp>
      <p:sp>
        <p:nvSpPr>
          <p:cNvPr id="4" name="Text Placeholder 3"/>
          <p:cNvSpPr>
            <a:spLocks noGrp="1"/>
          </p:cNvSpPr>
          <p:nvPr>
            <p:ph type="body" idx="22" sz="quarter"/>
          </p:nvPr>
        </p:nvSpPr>
        <p:spPr/>
        <p:txBody>
          <a:bodyPr/>
          <a:lstStyle/>
          <a:p>
            <a:r>
              <a:t>Two great tools, one honest comparison (with a clear favourite)</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34</a:t>
            </a:r>
          </a:p>
        </p:txBody>
      </p:sp>
      <p:sp>
        <p:nvSpPr>
          <p:cNvPr id="6" name="Rounded Rectangle 5"/>
          <p:cNvSpPr/>
          <p:nvPr/>
        </p:nvSpPr>
        <p:spPr>
          <a:xfrm>
            <a:off x="5303520" y="7086600"/>
            <a:ext cx="17007840" cy="1143000"/>
          </a:xfrm>
          <a:prstGeom prst="roundRect">
            <a:avLst>
              <a:gd name="adj" fmla="val 20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532120" y="7287768"/>
            <a:ext cx="731520" cy="73152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Laugh.png"/>
          <p:cNvPicPr>
            <a:picLocks noChangeAspect="1"/>
          </p:cNvPicPr>
          <p:nvPr/>
        </p:nvPicPr>
        <p:blipFill>
          <a:blip r:embed="rId3"/>
          <a:stretch>
            <a:fillRect/>
          </a:stretch>
        </p:blipFill>
        <p:spPr>
          <a:xfrm>
            <a:off x="5707684" y="7463332"/>
            <a:ext cx="380390" cy="380390"/>
          </a:xfrm>
          <a:prstGeom prst="rect">
            <a:avLst/>
          </a:prstGeom>
        </p:spPr>
      </p:pic>
      <p:sp>
        <p:nvSpPr>
          <p:cNvPr id="9" name="TextBox 8"/>
          <p:cNvSpPr txBox="1"/>
          <p:nvPr/>
        </p:nvSpPr>
        <p:spPr>
          <a:xfrm>
            <a:off x="6492240" y="7086600"/>
            <a:ext cx="15636240" cy="114300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0" i="1">
                <a:solidFill>
                  <a:srgbClr val="192B37"/>
                </a:solidFill>
              </a:rPr>
              <a:t>Two frameworks walk into a browser. Only one of them can open a second tab.</a:t>
            </a:r>
          </a:p>
        </p:txBody>
      </p:sp>
      <p:sp>
        <p:nvSpPr>
          <p:cNvPr id="10" name="TextBox 9"/>
          <p:cNvSpPr txBox="1"/>
          <p:nvPr/>
        </p:nvSpPr>
        <p:spPr>
          <a:xfrm>
            <a:off x="5303520" y="8915400"/>
            <a:ext cx="91440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DB7D00"/>
                </a:solidFill>
              </a:rPr>
              <a:t>IN THIS CHAPTER</a:t>
            </a:r>
          </a:p>
        </p:txBody>
      </p:sp>
      <p:sp>
        <p:nvSpPr>
          <p:cNvPr id="11" name="Rounded Rectangle 10"/>
          <p:cNvSpPr/>
          <p:nvPr/>
        </p:nvSpPr>
        <p:spPr>
          <a:xfrm>
            <a:off x="5303520" y="9464040"/>
            <a:ext cx="2208276" cy="640080"/>
          </a:xfrm>
          <a:prstGeom prst="roundRect">
            <a:avLst>
              <a:gd name="adj" fmla="val 50000"/>
            </a:avLst>
          </a:prstGeom>
          <a:solidFill>
            <a:srgbClr val="FFFFFF"/>
          </a:solidFill>
          <a:ln w="1270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94959" y="9464040"/>
            <a:ext cx="2025395"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At a glance</a:t>
            </a:r>
          </a:p>
        </p:txBody>
      </p:sp>
      <p:sp>
        <p:nvSpPr>
          <p:cNvPr id="13" name="Rounded Rectangle 12"/>
          <p:cNvSpPr/>
          <p:nvPr/>
        </p:nvSpPr>
        <p:spPr>
          <a:xfrm>
            <a:off x="7786116" y="9464040"/>
            <a:ext cx="2359152" cy="640080"/>
          </a:xfrm>
          <a:prstGeom prst="roundRect">
            <a:avLst>
              <a:gd name="adj" fmla="val 50000"/>
            </a:avLst>
          </a:prstGeom>
          <a:solidFill>
            <a:srgbClr val="FFFFFF"/>
          </a:solidFill>
          <a:ln w="1270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877556" y="9464040"/>
            <a:ext cx="2176272"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Architecture</a:t>
            </a:r>
          </a:p>
        </p:txBody>
      </p:sp>
      <p:sp>
        <p:nvSpPr>
          <p:cNvPr id="15" name="Rounded Rectangle 14"/>
          <p:cNvSpPr/>
          <p:nvPr/>
        </p:nvSpPr>
        <p:spPr>
          <a:xfrm>
            <a:off x="10419588" y="9464040"/>
            <a:ext cx="2208276" cy="640080"/>
          </a:xfrm>
          <a:prstGeom prst="roundRect">
            <a:avLst>
              <a:gd name="adj" fmla="val 50000"/>
            </a:avLst>
          </a:prstGeom>
          <a:solidFill>
            <a:srgbClr val="FFFFFF"/>
          </a:solidFill>
          <a:ln w="1270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511028" y="9464040"/>
            <a:ext cx="2025395"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Pros &amp; cons</a:t>
            </a:r>
          </a:p>
        </p:txBody>
      </p:sp>
      <p:sp>
        <p:nvSpPr>
          <p:cNvPr id="17" name="Rounded Rectangle 16"/>
          <p:cNvSpPr/>
          <p:nvPr/>
        </p:nvSpPr>
        <p:spPr>
          <a:xfrm>
            <a:off x="12902184" y="9464040"/>
            <a:ext cx="1755648" cy="640080"/>
          </a:xfrm>
          <a:prstGeom prst="roundRect">
            <a:avLst>
              <a:gd name="adj" fmla="val 50000"/>
            </a:avLst>
          </a:prstGeom>
          <a:solidFill>
            <a:srgbClr val="FFFFFF"/>
          </a:solidFill>
          <a:ln w="1270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993624" y="9464040"/>
            <a:ext cx="1572768"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Features</a:t>
            </a:r>
          </a:p>
        </p:txBody>
      </p:sp>
      <p:sp>
        <p:nvSpPr>
          <p:cNvPr id="19" name="Rounded Rectangle 18"/>
          <p:cNvSpPr/>
          <p:nvPr/>
        </p:nvSpPr>
        <p:spPr>
          <a:xfrm>
            <a:off x="14932151" y="9464040"/>
            <a:ext cx="1755648" cy="640080"/>
          </a:xfrm>
          <a:prstGeom prst="roundRect">
            <a:avLst>
              <a:gd name="adj" fmla="val 50000"/>
            </a:avLst>
          </a:prstGeom>
          <a:solidFill>
            <a:srgbClr val="FFFFFF"/>
          </a:solidFill>
          <a:ln w="1270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5023592" y="9464040"/>
            <a:ext cx="1572768"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Adoption</a:t>
            </a:r>
          </a:p>
        </p:txBody>
      </p:sp>
      <p:sp>
        <p:nvSpPr>
          <p:cNvPr id="21" name="Rounded Rectangle 20"/>
          <p:cNvSpPr/>
          <p:nvPr/>
        </p:nvSpPr>
        <p:spPr>
          <a:xfrm>
            <a:off x="5303520" y="10287000"/>
            <a:ext cx="3113532" cy="640080"/>
          </a:xfrm>
          <a:prstGeom prst="roundRect">
            <a:avLst>
              <a:gd name="adj" fmla="val 50000"/>
            </a:avLst>
          </a:prstGeom>
          <a:solidFill>
            <a:srgbClr val="FFFFFF"/>
          </a:solidFill>
          <a:ln w="1270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394959" y="10287000"/>
            <a:ext cx="2930652"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Code side by side</a:t>
            </a:r>
          </a:p>
        </p:txBody>
      </p:sp>
      <p:sp>
        <p:nvSpPr>
          <p:cNvPr id="23" name="Rounded Rectangle 22"/>
          <p:cNvSpPr/>
          <p:nvPr/>
        </p:nvSpPr>
        <p:spPr>
          <a:xfrm>
            <a:off x="8691372" y="10287000"/>
            <a:ext cx="1906524" cy="640080"/>
          </a:xfrm>
          <a:prstGeom prst="roundRect">
            <a:avLst>
              <a:gd name="adj" fmla="val 50000"/>
            </a:avLst>
          </a:prstGeom>
          <a:solidFill>
            <a:srgbClr val="FFFFFF"/>
          </a:solidFill>
          <a:ln w="1270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82811" y="10287000"/>
            <a:ext cx="1723644"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Migration</a:t>
            </a:r>
          </a:p>
        </p:txBody>
      </p:sp>
      <p:sp>
        <p:nvSpPr>
          <p:cNvPr id="25" name="Oval 24"/>
          <p:cNvSpPr/>
          <p:nvPr/>
        </p:nvSpPr>
        <p:spPr>
          <a:xfrm>
            <a:off x="20162520" y="8915400"/>
            <a:ext cx="731520" cy="73152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1122640" y="8915400"/>
            <a:ext cx="731520" cy="731520"/>
          </a:xfrm>
          <a:prstGeom prst="ellipse">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2082760" y="8915400"/>
            <a:ext cx="731520" cy="73152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0162520" y="9875520"/>
            <a:ext cx="731520" cy="731520"/>
          </a:xfrm>
          <a:prstGeom prst="ellipse">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1122640" y="9875520"/>
            <a:ext cx="731520" cy="73152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2082760" y="9875520"/>
            <a:ext cx="731520" cy="731520"/>
          </a:xfrm>
          <a:prstGeom prst="ellipse">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Cy vs PW</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DB7D00"/>
                </a:solidFill>
              </a:rPr>
              <a:t>CYPRESS VS PLAYWRIGHT · AT A GLANCE</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Same goal, different engines</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35</a:t>
            </a:r>
          </a:p>
        </p:txBody>
      </p:sp>
      <p:sp>
        <p:nvSpPr>
          <p:cNvPr id="6" name="Rounded Rectangle 5"/>
          <p:cNvSpPr/>
          <p:nvPr/>
        </p:nvSpPr>
        <p:spPr>
          <a:xfrm>
            <a:off x="612648" y="2926080"/>
            <a:ext cx="11155680" cy="7498079"/>
          </a:xfrm>
          <a:prstGeom prst="roundRect">
            <a:avLst>
              <a:gd name="adj" fmla="val 4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32688" y="3154680"/>
            <a:ext cx="1005840" cy="100584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Drama.png"/>
          <p:cNvPicPr>
            <a:picLocks noChangeAspect="1"/>
          </p:cNvPicPr>
          <p:nvPr/>
        </p:nvPicPr>
        <p:blipFill>
          <a:blip r:embed="rId3"/>
          <a:stretch>
            <a:fillRect/>
          </a:stretch>
        </p:blipFill>
        <p:spPr>
          <a:xfrm>
            <a:off x="1174089" y="3396081"/>
            <a:ext cx="523036" cy="523036"/>
          </a:xfrm>
          <a:prstGeom prst="rect">
            <a:avLst/>
          </a:prstGeom>
        </p:spPr>
      </p:pic>
      <p:sp>
        <p:nvSpPr>
          <p:cNvPr id="9" name="TextBox 8"/>
          <p:cNvSpPr txBox="1"/>
          <p:nvPr/>
        </p:nvSpPr>
        <p:spPr>
          <a:xfrm>
            <a:off x="2167128" y="3154680"/>
            <a:ext cx="8229600" cy="1005840"/>
          </a:xfrm>
          <a:prstGeom prst="rect">
            <a:avLst/>
          </a:prstGeom>
          <a:noFill/>
        </p:spPr>
        <p:txBody>
          <a:bodyPr wrap="square" lIns="0" rIns="0" tIns="18288" bIns="18288" anchor="ctr">
            <a:noAutofit/>
          </a:bodyPr>
          <a:lstStyle/>
          <a:p>
            <a:pPr algn="l">
              <a:lnSpc>
                <a:spcPct val="100000"/>
              </a:lnSpc>
              <a:spcBef>
                <a:spcPts val="0"/>
              </a:spcBef>
              <a:spcAft>
                <a:spcPts val="0"/>
              </a:spcAft>
            </a:pPr>
            <a:r>
              <a:rPr sz="3400" b="0" i="0">
                <a:solidFill>
                  <a:srgbClr val="192B37"/>
                </a:solidFill>
                <a:latin typeface="+mj-lt"/>
              </a:rPr>
              <a:t>Playwright</a:t>
            </a:r>
          </a:p>
        </p:txBody>
      </p:sp>
      <p:sp>
        <p:nvSpPr>
          <p:cNvPr id="10" name="Rounded Rectangle 9"/>
          <p:cNvSpPr/>
          <p:nvPr/>
        </p:nvSpPr>
        <p:spPr>
          <a:xfrm>
            <a:off x="932688" y="4480560"/>
            <a:ext cx="10515600" cy="84124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07008" y="4480560"/>
            <a:ext cx="301752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5E6A73"/>
                </a:solidFill>
              </a:rPr>
              <a:t>Made by</a:t>
            </a:r>
          </a:p>
        </p:txBody>
      </p:sp>
      <p:sp>
        <p:nvSpPr>
          <p:cNvPr id="12" name="TextBox 11"/>
          <p:cNvSpPr txBox="1"/>
          <p:nvPr/>
        </p:nvSpPr>
        <p:spPr>
          <a:xfrm>
            <a:off x="4270248" y="4480560"/>
            <a:ext cx="704088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800" b="0" i="0">
                <a:solidFill>
                  <a:srgbClr val="192B37"/>
                </a:solidFill>
              </a:rPr>
              <a:t>Microsoft · Apache-2.0</a:t>
            </a:r>
          </a:p>
        </p:txBody>
      </p:sp>
      <p:sp>
        <p:nvSpPr>
          <p:cNvPr id="13" name="Rounded Rectangle 12"/>
          <p:cNvSpPr/>
          <p:nvPr/>
        </p:nvSpPr>
        <p:spPr>
          <a:xfrm>
            <a:off x="932688" y="5458968"/>
            <a:ext cx="10515600" cy="84124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07008" y="5458968"/>
            <a:ext cx="301752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5E6A73"/>
                </a:solidFill>
              </a:rPr>
              <a:t>Latest</a:t>
            </a:r>
          </a:p>
        </p:txBody>
      </p:sp>
      <p:sp>
        <p:nvSpPr>
          <p:cNvPr id="15" name="TextBox 14"/>
          <p:cNvSpPr txBox="1"/>
          <p:nvPr/>
        </p:nvSpPr>
        <p:spPr>
          <a:xfrm>
            <a:off x="4270248" y="5458968"/>
            <a:ext cx="704088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800" b="1" i="0">
                <a:solidFill>
                  <a:srgbClr val="192B37"/>
                </a:solidFill>
              </a:rPr>
              <a:t>1.64.1</a:t>
            </a:r>
            <a:r>
              <a:rPr sz="1800" b="0" i="0">
                <a:solidFill>
                  <a:srgbClr val="192B37"/>
                </a:solidFill>
              </a:rPr>
              <a:t> (we use 1.56.0)</a:t>
            </a:r>
          </a:p>
        </p:txBody>
      </p:sp>
      <p:sp>
        <p:nvSpPr>
          <p:cNvPr id="16" name="Rounded Rectangle 15"/>
          <p:cNvSpPr/>
          <p:nvPr/>
        </p:nvSpPr>
        <p:spPr>
          <a:xfrm>
            <a:off x="932688" y="6437376"/>
            <a:ext cx="10515600" cy="84124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07008" y="6437376"/>
            <a:ext cx="301752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5E6A73"/>
                </a:solidFill>
              </a:rPr>
              <a:t>Runs</a:t>
            </a:r>
          </a:p>
        </p:txBody>
      </p:sp>
      <p:sp>
        <p:nvSpPr>
          <p:cNvPr id="18" name="TextBox 17"/>
          <p:cNvSpPr txBox="1"/>
          <p:nvPr/>
        </p:nvSpPr>
        <p:spPr>
          <a:xfrm>
            <a:off x="4270248" y="6437376"/>
            <a:ext cx="704088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800" b="0" i="0">
                <a:solidFill>
                  <a:srgbClr val="192B37"/>
                </a:solidFill>
              </a:rPr>
              <a:t>in </a:t>
            </a:r>
            <a:r>
              <a:rPr sz="1800" b="1" i="0">
                <a:solidFill>
                  <a:srgbClr val="192B37"/>
                </a:solidFill>
              </a:rPr>
              <a:t>Node</a:t>
            </a:r>
            <a:r>
              <a:rPr sz="1800" b="0" i="0">
                <a:solidFill>
                  <a:srgbClr val="192B37"/>
                </a:solidFill>
              </a:rPr>
              <a:t>, drives browsers remotely</a:t>
            </a:r>
          </a:p>
        </p:txBody>
      </p:sp>
      <p:sp>
        <p:nvSpPr>
          <p:cNvPr id="19" name="Rounded Rectangle 18"/>
          <p:cNvSpPr/>
          <p:nvPr/>
        </p:nvSpPr>
        <p:spPr>
          <a:xfrm>
            <a:off x="932688" y="7415783"/>
            <a:ext cx="10515600" cy="84124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207008" y="7415783"/>
            <a:ext cx="301752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5E6A73"/>
                </a:solidFill>
              </a:rPr>
              <a:t>Browsers</a:t>
            </a:r>
          </a:p>
        </p:txBody>
      </p:sp>
      <p:sp>
        <p:nvSpPr>
          <p:cNvPr id="21" name="TextBox 20"/>
          <p:cNvSpPr txBox="1"/>
          <p:nvPr/>
        </p:nvSpPr>
        <p:spPr>
          <a:xfrm>
            <a:off x="4270248" y="7415783"/>
            <a:ext cx="704088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800" b="0" i="0">
                <a:solidFill>
                  <a:srgbClr val="192B37"/>
                </a:solidFill>
              </a:rPr>
              <a:t>Chromium · </a:t>
            </a:r>
            <a:r>
              <a:rPr sz="1800" b="1" i="0">
                <a:solidFill>
                  <a:srgbClr val="192B37"/>
                </a:solidFill>
              </a:rPr>
              <a:t>Firefox</a:t>
            </a:r>
            <a:r>
              <a:rPr sz="1800" b="0" i="0">
                <a:solidFill>
                  <a:srgbClr val="192B37"/>
                </a:solidFill>
              </a:rPr>
              <a:t> · </a:t>
            </a:r>
            <a:r>
              <a:rPr sz="1800" b="1" i="0">
                <a:solidFill>
                  <a:srgbClr val="192B37"/>
                </a:solidFill>
              </a:rPr>
              <a:t>WebKit</a:t>
            </a:r>
          </a:p>
        </p:txBody>
      </p:sp>
      <p:sp>
        <p:nvSpPr>
          <p:cNvPr id="22" name="Rounded Rectangle 21"/>
          <p:cNvSpPr/>
          <p:nvPr/>
        </p:nvSpPr>
        <p:spPr>
          <a:xfrm>
            <a:off x="932688" y="8394192"/>
            <a:ext cx="10515600" cy="84124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07008" y="8394192"/>
            <a:ext cx="301752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5E6A73"/>
                </a:solidFill>
              </a:rPr>
              <a:t>Languages</a:t>
            </a:r>
          </a:p>
        </p:txBody>
      </p:sp>
      <p:sp>
        <p:nvSpPr>
          <p:cNvPr id="24" name="TextBox 23"/>
          <p:cNvSpPr txBox="1"/>
          <p:nvPr/>
        </p:nvSpPr>
        <p:spPr>
          <a:xfrm>
            <a:off x="4270248" y="8394192"/>
            <a:ext cx="704088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800" b="0" i="0">
                <a:solidFill>
                  <a:srgbClr val="192B37"/>
                </a:solidFill>
              </a:rPr>
              <a:t>TS/JS · Python · Java · .NET</a:t>
            </a:r>
          </a:p>
        </p:txBody>
      </p:sp>
      <p:sp>
        <p:nvSpPr>
          <p:cNvPr id="25" name="Rounded Rectangle 24"/>
          <p:cNvSpPr/>
          <p:nvPr/>
        </p:nvSpPr>
        <p:spPr>
          <a:xfrm>
            <a:off x="932688" y="9372600"/>
            <a:ext cx="10515600" cy="84124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207008" y="9372600"/>
            <a:ext cx="301752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5E6A73"/>
                </a:solidFill>
              </a:rPr>
              <a:t>Parallel</a:t>
            </a:r>
          </a:p>
        </p:txBody>
      </p:sp>
      <p:sp>
        <p:nvSpPr>
          <p:cNvPr id="27" name="TextBox 26"/>
          <p:cNvSpPr txBox="1"/>
          <p:nvPr/>
        </p:nvSpPr>
        <p:spPr>
          <a:xfrm>
            <a:off x="4270248" y="9372600"/>
            <a:ext cx="704088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800" b="1" i="0">
                <a:solidFill>
                  <a:srgbClr val="192B37"/>
                </a:solidFill>
              </a:rPr>
              <a:t>built in &amp; free</a:t>
            </a:r>
            <a:r>
              <a:rPr sz="1800" b="0" i="0">
                <a:solidFill>
                  <a:srgbClr val="192B37"/>
                </a:solidFill>
              </a:rPr>
              <a:t> · sharding</a:t>
            </a:r>
          </a:p>
        </p:txBody>
      </p:sp>
      <p:sp>
        <p:nvSpPr>
          <p:cNvPr id="28" name="Rounded Rectangle 27"/>
          <p:cNvSpPr/>
          <p:nvPr/>
        </p:nvSpPr>
        <p:spPr>
          <a:xfrm>
            <a:off x="12316968" y="2926080"/>
            <a:ext cx="11155680" cy="7498079"/>
          </a:xfrm>
          <a:prstGeom prst="roundRect">
            <a:avLst>
              <a:gd name="adj" fmla="val 4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2637008" y="3154680"/>
            <a:ext cx="1005840" cy="100584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LuTreePine.png"/>
          <p:cNvPicPr>
            <a:picLocks noChangeAspect="1"/>
          </p:cNvPicPr>
          <p:nvPr/>
        </p:nvPicPr>
        <p:blipFill>
          <a:blip r:embed="rId4"/>
          <a:stretch>
            <a:fillRect/>
          </a:stretch>
        </p:blipFill>
        <p:spPr>
          <a:xfrm>
            <a:off x="12878409" y="3396081"/>
            <a:ext cx="523036" cy="523036"/>
          </a:xfrm>
          <a:prstGeom prst="rect">
            <a:avLst/>
          </a:prstGeom>
        </p:spPr>
      </p:pic>
      <p:sp>
        <p:nvSpPr>
          <p:cNvPr id="31" name="TextBox 30"/>
          <p:cNvSpPr txBox="1"/>
          <p:nvPr/>
        </p:nvSpPr>
        <p:spPr>
          <a:xfrm>
            <a:off x="13871448" y="3154680"/>
            <a:ext cx="8229600" cy="1005840"/>
          </a:xfrm>
          <a:prstGeom prst="rect">
            <a:avLst/>
          </a:prstGeom>
          <a:noFill/>
        </p:spPr>
        <p:txBody>
          <a:bodyPr wrap="square" lIns="0" rIns="0" tIns="18288" bIns="18288" anchor="ctr">
            <a:noAutofit/>
          </a:bodyPr>
          <a:lstStyle/>
          <a:p>
            <a:pPr algn="l">
              <a:lnSpc>
                <a:spcPct val="100000"/>
              </a:lnSpc>
              <a:spcBef>
                <a:spcPts val="0"/>
              </a:spcBef>
              <a:spcAft>
                <a:spcPts val="0"/>
              </a:spcAft>
            </a:pPr>
            <a:r>
              <a:rPr sz="3400" b="0" i="0">
                <a:solidFill>
                  <a:srgbClr val="192B37"/>
                </a:solidFill>
                <a:latin typeface="+mj-lt"/>
              </a:rPr>
              <a:t>Cypress</a:t>
            </a:r>
          </a:p>
        </p:txBody>
      </p:sp>
      <p:sp>
        <p:nvSpPr>
          <p:cNvPr id="32" name="Rounded Rectangle 31"/>
          <p:cNvSpPr/>
          <p:nvPr/>
        </p:nvSpPr>
        <p:spPr>
          <a:xfrm>
            <a:off x="12637008" y="4480560"/>
            <a:ext cx="10515600" cy="84124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2911328" y="4480560"/>
            <a:ext cx="301752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5E6A73"/>
                </a:solidFill>
              </a:rPr>
              <a:t>Made by</a:t>
            </a:r>
          </a:p>
        </p:txBody>
      </p:sp>
      <p:sp>
        <p:nvSpPr>
          <p:cNvPr id="34" name="TextBox 33"/>
          <p:cNvSpPr txBox="1"/>
          <p:nvPr/>
        </p:nvSpPr>
        <p:spPr>
          <a:xfrm>
            <a:off x="15974567" y="4480560"/>
            <a:ext cx="704088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800" b="0" i="0">
                <a:solidFill>
                  <a:srgbClr val="192B37"/>
                </a:solidFill>
              </a:rPr>
              <a:t>Cypress.io · MIT</a:t>
            </a:r>
          </a:p>
        </p:txBody>
      </p:sp>
      <p:sp>
        <p:nvSpPr>
          <p:cNvPr id="35" name="Rounded Rectangle 34"/>
          <p:cNvSpPr/>
          <p:nvPr/>
        </p:nvSpPr>
        <p:spPr>
          <a:xfrm>
            <a:off x="12637008" y="5458968"/>
            <a:ext cx="10515600" cy="84124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2911328" y="5458968"/>
            <a:ext cx="301752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5E6A73"/>
                </a:solidFill>
              </a:rPr>
              <a:t>Latest</a:t>
            </a:r>
          </a:p>
        </p:txBody>
      </p:sp>
      <p:sp>
        <p:nvSpPr>
          <p:cNvPr id="37" name="TextBox 36"/>
          <p:cNvSpPr txBox="1"/>
          <p:nvPr/>
        </p:nvSpPr>
        <p:spPr>
          <a:xfrm>
            <a:off x="15974567" y="5458968"/>
            <a:ext cx="704088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800" b="1" i="0">
                <a:solidFill>
                  <a:srgbClr val="192B37"/>
                </a:solidFill>
              </a:rPr>
              <a:t>16.2.0</a:t>
            </a:r>
            <a:r>
              <a:rPr sz="1800" b="0" i="0">
                <a:solidFill>
                  <a:srgbClr val="192B37"/>
                </a:solidFill>
              </a:rPr>
              <a:t> (13 Oct 2026)</a:t>
            </a:r>
          </a:p>
        </p:txBody>
      </p:sp>
      <p:sp>
        <p:nvSpPr>
          <p:cNvPr id="38" name="Rounded Rectangle 37"/>
          <p:cNvSpPr/>
          <p:nvPr/>
        </p:nvSpPr>
        <p:spPr>
          <a:xfrm>
            <a:off x="12637008" y="6437376"/>
            <a:ext cx="10515600" cy="84124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2911328" y="6437376"/>
            <a:ext cx="301752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5E6A73"/>
                </a:solidFill>
              </a:rPr>
              <a:t>Runs</a:t>
            </a:r>
          </a:p>
        </p:txBody>
      </p:sp>
      <p:sp>
        <p:nvSpPr>
          <p:cNvPr id="40" name="TextBox 39"/>
          <p:cNvSpPr txBox="1"/>
          <p:nvPr/>
        </p:nvSpPr>
        <p:spPr>
          <a:xfrm>
            <a:off x="15974567" y="6437376"/>
            <a:ext cx="704088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800" b="1" i="0">
                <a:solidFill>
                  <a:srgbClr val="192B37"/>
                </a:solidFill>
              </a:rPr>
              <a:t>inside the browser</a:t>
            </a:r>
            <a:r>
              <a:rPr sz="1800" b="0" i="0">
                <a:solidFill>
                  <a:srgbClr val="192B37"/>
                </a:solidFill>
              </a:rPr>
              <a:t>, same run loop</a:t>
            </a:r>
          </a:p>
        </p:txBody>
      </p:sp>
      <p:sp>
        <p:nvSpPr>
          <p:cNvPr id="41" name="Rounded Rectangle 40"/>
          <p:cNvSpPr/>
          <p:nvPr/>
        </p:nvSpPr>
        <p:spPr>
          <a:xfrm>
            <a:off x="12637008" y="7415783"/>
            <a:ext cx="10515600" cy="84124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2911328" y="7415783"/>
            <a:ext cx="301752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5E6A73"/>
                </a:solidFill>
              </a:rPr>
              <a:t>Browsers</a:t>
            </a:r>
          </a:p>
        </p:txBody>
      </p:sp>
      <p:sp>
        <p:nvSpPr>
          <p:cNvPr id="43" name="TextBox 42"/>
          <p:cNvSpPr txBox="1"/>
          <p:nvPr/>
        </p:nvSpPr>
        <p:spPr>
          <a:xfrm>
            <a:off x="15974567" y="7415783"/>
            <a:ext cx="704088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800" b="0" i="0">
                <a:solidFill>
                  <a:srgbClr val="192B37"/>
                </a:solidFill>
              </a:rPr>
              <a:t>Chrome family · Edge · Firefox · WebKit (exp.)</a:t>
            </a:r>
          </a:p>
        </p:txBody>
      </p:sp>
      <p:sp>
        <p:nvSpPr>
          <p:cNvPr id="44" name="Rounded Rectangle 43"/>
          <p:cNvSpPr/>
          <p:nvPr/>
        </p:nvSpPr>
        <p:spPr>
          <a:xfrm>
            <a:off x="12637008" y="8394192"/>
            <a:ext cx="10515600" cy="84124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2911328" y="8394192"/>
            <a:ext cx="301752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5E6A73"/>
                </a:solidFill>
              </a:rPr>
              <a:t>Languages</a:t>
            </a:r>
          </a:p>
        </p:txBody>
      </p:sp>
      <p:sp>
        <p:nvSpPr>
          <p:cNvPr id="46" name="TextBox 45"/>
          <p:cNvSpPr txBox="1"/>
          <p:nvPr/>
        </p:nvSpPr>
        <p:spPr>
          <a:xfrm>
            <a:off x="15974567" y="8394192"/>
            <a:ext cx="704088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800" b="0" i="0">
                <a:solidFill>
                  <a:srgbClr val="192B37"/>
                </a:solidFill>
              </a:rPr>
              <a:t>JavaScript / TypeScript only</a:t>
            </a:r>
          </a:p>
        </p:txBody>
      </p:sp>
      <p:sp>
        <p:nvSpPr>
          <p:cNvPr id="47" name="Rounded Rectangle 46"/>
          <p:cNvSpPr/>
          <p:nvPr/>
        </p:nvSpPr>
        <p:spPr>
          <a:xfrm>
            <a:off x="12637008" y="9372600"/>
            <a:ext cx="10515600" cy="841248"/>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2911328" y="9372600"/>
            <a:ext cx="301752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5E6A73"/>
                </a:solidFill>
              </a:rPr>
              <a:t>Parallel</a:t>
            </a:r>
          </a:p>
        </p:txBody>
      </p:sp>
      <p:sp>
        <p:nvSpPr>
          <p:cNvPr id="49" name="TextBox 48"/>
          <p:cNvSpPr txBox="1"/>
          <p:nvPr/>
        </p:nvSpPr>
        <p:spPr>
          <a:xfrm>
            <a:off x="15974567" y="9372600"/>
            <a:ext cx="7040880" cy="841248"/>
          </a:xfrm>
          <a:prstGeom prst="rect">
            <a:avLst/>
          </a:prstGeom>
          <a:noFill/>
        </p:spPr>
        <p:txBody>
          <a:bodyPr wrap="square" lIns="0" rIns="0" tIns="18288" bIns="18288" anchor="ctr">
            <a:noAutofit/>
          </a:bodyPr>
          <a:lstStyle/>
          <a:p>
            <a:pPr algn="l">
              <a:lnSpc>
                <a:spcPct val="100000"/>
              </a:lnSpc>
              <a:spcBef>
                <a:spcPts val="0"/>
              </a:spcBef>
              <a:spcAft>
                <a:spcPts val="0"/>
              </a:spcAft>
            </a:pPr>
            <a:r>
              <a:rPr sz="1800" b="0" i="0">
                <a:solidFill>
                  <a:srgbClr val="192B37"/>
                </a:solidFill>
              </a:rPr>
              <a:t>via </a:t>
            </a:r>
            <a:r>
              <a:rPr sz="1800" b="1" i="0">
                <a:solidFill>
                  <a:srgbClr val="192B37"/>
                </a:solidFill>
              </a:rPr>
              <a:t>Cypress Cloud</a:t>
            </a:r>
            <a:r>
              <a:rPr sz="1800" b="0" i="0">
                <a:solidFill>
                  <a:srgbClr val="192B37"/>
                </a:solidFill>
              </a:rPr>
              <a:t> (</a:t>
            </a:r>
            <a:r>
              <a:rPr sz="1656" b="0" i="0">
                <a:solidFill>
                  <a:srgbClr val="C2410C"/>
                </a:solidFill>
                <a:latin typeface="Consolas"/>
              </a:rPr>
              <a:t>--record</a:t>
            </a:r>
            <a:r>
              <a:rPr sz="1800" b="0" i="0">
                <a:solidFill>
                  <a:srgbClr val="192B37"/>
                </a:solidFill>
              </a:rPr>
              <a:t>)</a:t>
            </a:r>
          </a:p>
        </p:txBody>
      </p:sp>
      <p:sp>
        <p:nvSpPr>
          <p:cNvPr id="50" name="Oval 49"/>
          <p:cNvSpPr/>
          <p:nvPr/>
        </p:nvSpPr>
        <p:spPr>
          <a:xfrm>
            <a:off x="11494008" y="5989320"/>
            <a:ext cx="1097280" cy="109728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494008" y="5989320"/>
            <a:ext cx="1097280" cy="1097280"/>
          </a:xfrm>
          <a:prstGeom prst="rect">
            <a:avLst/>
          </a:prstGeom>
          <a:noFill/>
        </p:spPr>
        <p:txBody>
          <a:bodyPr wrap="square" lIns="0" rIns="0" tIns="18288" bIns="18288" anchor="ctr">
            <a:noAutofit/>
          </a:bodyPr>
          <a:lstStyle/>
          <a:p>
            <a:pPr algn="ctr">
              <a:lnSpc>
                <a:spcPct val="100000"/>
              </a:lnSpc>
              <a:spcBef>
                <a:spcPts val="0"/>
              </a:spcBef>
              <a:spcAft>
                <a:spcPts val="0"/>
              </a:spcAft>
            </a:pPr>
            <a:r>
              <a:rPr sz="2600" b="1" i="0">
                <a:solidFill>
                  <a:srgbClr val="FFFFFF"/>
                </a:solidFill>
              </a:rPr>
              <a:t>VS</a:t>
            </a:r>
          </a:p>
        </p:txBody>
      </p:sp>
      <p:sp>
        <p:nvSpPr>
          <p:cNvPr id="52" name="Rounded Rectangle 51"/>
          <p:cNvSpPr/>
          <p:nvPr/>
        </p:nvSpPr>
        <p:spPr>
          <a:xfrm>
            <a:off x="612648" y="10789920"/>
            <a:ext cx="22860000" cy="960120"/>
          </a:xfrm>
          <a:prstGeom prst="roundRect">
            <a:avLst>
              <a:gd name="adj" fmla="val 1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Oval 52"/>
          <p:cNvSpPr/>
          <p:nvPr/>
        </p:nvSpPr>
        <p:spPr>
          <a:xfrm>
            <a:off x="886968" y="10927080"/>
            <a:ext cx="685800" cy="68580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LuLaugh.png"/>
          <p:cNvPicPr>
            <a:picLocks noChangeAspect="1"/>
          </p:cNvPicPr>
          <p:nvPr/>
        </p:nvPicPr>
        <p:blipFill>
          <a:blip r:embed="rId5"/>
          <a:stretch>
            <a:fillRect/>
          </a:stretch>
        </p:blipFill>
        <p:spPr>
          <a:xfrm>
            <a:off x="1051560" y="11091672"/>
            <a:ext cx="356616" cy="356616"/>
          </a:xfrm>
          <a:prstGeom prst="rect">
            <a:avLst/>
          </a:prstGeom>
        </p:spPr>
      </p:pic>
      <p:sp>
        <p:nvSpPr>
          <p:cNvPr id="55" name="TextBox 54"/>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Cypress lives inside your browser. Playwright just remotes in — very work-from-home.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Cy vs PW</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DB7D00"/>
                </a:solidFill>
              </a:rPr>
              <a:t>CYPRESS VS PLAYWRIGHT · ARCHITECTURE</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Inside the browser vs. remote control</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36</a:t>
            </a:r>
          </a:p>
        </p:txBody>
      </p:sp>
      <p:sp>
        <p:nvSpPr>
          <p:cNvPr id="6" name="Rounded Rectangle 5"/>
          <p:cNvSpPr/>
          <p:nvPr/>
        </p:nvSpPr>
        <p:spPr>
          <a:xfrm>
            <a:off x="612648" y="2926080"/>
            <a:ext cx="11155680" cy="7498079"/>
          </a:xfrm>
          <a:prstGeom prst="roundRect">
            <a:avLst>
              <a:gd name="adj" fmla="val 4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3063240"/>
            <a:ext cx="100584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600" b="1" i="0">
                <a:solidFill>
                  <a:srgbClr val="3D9BC8"/>
                </a:solidFill>
              </a:rPr>
              <a:t>Cypress</a:t>
            </a:r>
          </a:p>
        </p:txBody>
      </p:sp>
      <p:sp>
        <p:nvSpPr>
          <p:cNvPr id="8" name="Rounded Rectangle 7"/>
          <p:cNvSpPr/>
          <p:nvPr/>
        </p:nvSpPr>
        <p:spPr>
          <a:xfrm>
            <a:off x="914400" y="3749039"/>
            <a:ext cx="7315200" cy="5120640"/>
          </a:xfrm>
          <a:prstGeom prst="roundRect">
            <a:avLst>
              <a:gd name="adj" fmla="val 5000"/>
            </a:avLst>
          </a:prstGeom>
          <a:solidFill>
            <a:srgbClr val="FFFFFF"/>
          </a:solidFill>
          <a:ln w="254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97280" y="3794760"/>
            <a:ext cx="694944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400" b="1" i="0">
                <a:solidFill>
                  <a:srgbClr val="3D9BC8"/>
                </a:solidFill>
              </a:rPr>
              <a:t>BROWSER (one at a time)</a:t>
            </a:r>
          </a:p>
        </p:txBody>
      </p:sp>
      <p:sp>
        <p:nvSpPr>
          <p:cNvPr id="10" name="Rounded Rectangle 9"/>
          <p:cNvSpPr/>
          <p:nvPr/>
        </p:nvSpPr>
        <p:spPr>
          <a:xfrm>
            <a:off x="1188720" y="4343400"/>
            <a:ext cx="3291840" cy="1828800"/>
          </a:xfrm>
          <a:prstGeom prst="roundRect">
            <a:avLst>
              <a:gd name="adj" fmla="val 10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88720" y="4343400"/>
            <a:ext cx="3291840" cy="1828800"/>
          </a:xfrm>
          <a:prstGeom prst="rect">
            <a:avLst/>
          </a:prstGeom>
          <a:noFill/>
        </p:spPr>
        <p:txBody>
          <a:bodyPr wrap="square" lIns="0" rIns="0" tIns="18288" bIns="18288" anchor="ctr">
            <a:noAutofit/>
          </a:bodyPr>
          <a:lstStyle/>
          <a:p>
            <a:pPr algn="ctr">
              <a:lnSpc>
                <a:spcPct val="100000"/>
              </a:lnSpc>
              <a:spcBef>
                <a:spcPts val="0"/>
              </a:spcBef>
              <a:spcAft>
                <a:spcPts val="0"/>
              </a:spcAft>
            </a:pPr>
            <a:r>
              <a:rPr sz="1800" b="1" i="0">
                <a:solidFill>
                  <a:srgbClr val="192B37"/>
                </a:solidFill>
              </a:rPr>
              <a:t>Your app</a:t>
            </a:r>
          </a:p>
          <a:p>
            <a:pPr algn="ctr">
              <a:lnSpc>
                <a:spcPct val="100000"/>
              </a:lnSpc>
              <a:spcBef>
                <a:spcPts val="0"/>
              </a:spcBef>
              <a:spcAft>
                <a:spcPts val="0"/>
              </a:spcAft>
            </a:pPr>
            <a:r>
              <a:rPr sz="1800" b="1" i="0">
                <a:solidFill>
                  <a:srgbClr val="192B37"/>
                </a:solidFill>
              </a:rPr>
              <a:t>(iframe)</a:t>
            </a:r>
          </a:p>
        </p:txBody>
      </p:sp>
      <p:sp>
        <p:nvSpPr>
          <p:cNvPr id="12" name="Rounded Rectangle 11"/>
          <p:cNvSpPr/>
          <p:nvPr/>
        </p:nvSpPr>
        <p:spPr>
          <a:xfrm>
            <a:off x="4709160" y="4343400"/>
            <a:ext cx="3291840" cy="1828800"/>
          </a:xfrm>
          <a:prstGeom prst="roundRect">
            <a:avLst>
              <a:gd name="adj" fmla="val 10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09160" y="4343400"/>
            <a:ext cx="3291840" cy="1828800"/>
          </a:xfrm>
          <a:prstGeom prst="rect">
            <a:avLst/>
          </a:prstGeom>
          <a:noFill/>
        </p:spPr>
        <p:txBody>
          <a:bodyPr wrap="square" lIns="0" rIns="0" tIns="18288" bIns="18288" anchor="ctr">
            <a:noAutofit/>
          </a:bodyPr>
          <a:lstStyle/>
          <a:p>
            <a:pPr algn="ctr">
              <a:lnSpc>
                <a:spcPct val="100000"/>
              </a:lnSpc>
              <a:spcBef>
                <a:spcPts val="0"/>
              </a:spcBef>
              <a:spcAft>
                <a:spcPts val="0"/>
              </a:spcAft>
            </a:pPr>
            <a:r>
              <a:rPr sz="1800" b="1" i="0">
                <a:solidFill>
                  <a:srgbClr val="192B37"/>
                </a:solidFill>
              </a:rPr>
              <a:t>Your test</a:t>
            </a:r>
          </a:p>
          <a:p>
            <a:pPr algn="ctr">
              <a:lnSpc>
                <a:spcPct val="100000"/>
              </a:lnSpc>
              <a:spcBef>
                <a:spcPts val="0"/>
              </a:spcBef>
              <a:spcAft>
                <a:spcPts val="0"/>
              </a:spcAft>
            </a:pPr>
            <a:r>
              <a:rPr sz="1800" b="1" i="0">
                <a:solidFill>
                  <a:srgbClr val="192B37"/>
                </a:solidFill>
              </a:rPr>
              <a:t>code</a:t>
            </a:r>
          </a:p>
        </p:txBody>
      </p:sp>
      <p:cxnSp>
        <p:nvCxnSpPr>
          <p:cNvPr id="14" name="Connector 13"/>
          <p:cNvCxnSpPr/>
          <p:nvPr/>
        </p:nvCxnSpPr>
        <p:spPr>
          <a:xfrm>
            <a:off x="4526280" y="5257800"/>
            <a:ext cx="137160" cy="0"/>
          </a:xfrm>
          <a:prstGeom prst="line">
            <a:avLst/>
          </a:prstGeom>
          <a:ln w="25400">
            <a:solidFill>
              <a:srgbClr val="5E6A73"/>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188720" y="6400800"/>
            <a:ext cx="6766560" cy="2377440"/>
          </a:xfrm>
          <a:prstGeom prst="rect">
            <a:avLst/>
          </a:prstGeom>
          <a:noFill/>
        </p:spPr>
        <p:txBody>
          <a:bodyPr wrap="square" lIns="0" rIns="0" tIns="18288" bIns="18288" anchor="t">
            <a:noAutofit/>
          </a:bodyPr>
          <a:lstStyle/>
          <a:p>
            <a:pPr algn="l">
              <a:lnSpc>
                <a:spcPct val="100000"/>
              </a:lnSpc>
              <a:spcBef>
                <a:spcPts val="0"/>
              </a:spcBef>
              <a:spcAft>
                <a:spcPts val="0"/>
              </a:spcAft>
            </a:pPr>
            <a:r>
              <a:rPr sz="960">
                <a:solidFill>
                  <a:srgbClr val="3D9BC8"/>
                </a:solidFill>
              </a:rPr>
              <a:t>●  </a:t>
            </a:r>
            <a:r>
              <a:rPr sz="1600" b="0" i="0">
                <a:solidFill>
                  <a:srgbClr val="192B37"/>
                </a:solidFill>
              </a:rPr>
              <a:t>same run loop → direct access to </a:t>
            </a:r>
            <a:r>
              <a:rPr sz="1472" b="0" i="0">
                <a:solidFill>
                  <a:srgbClr val="C2410C"/>
                </a:solidFill>
                <a:latin typeface="Consolas"/>
              </a:rPr>
              <a:t>window</a:t>
            </a:r>
          </a:p>
          <a:p>
            <a:pPr algn="l">
              <a:lnSpc>
                <a:spcPct val="100000"/>
              </a:lnSpc>
              <a:spcBef>
                <a:spcPts val="600"/>
              </a:spcBef>
              <a:spcAft>
                <a:spcPts val="0"/>
              </a:spcAft>
            </a:pPr>
            <a:r>
              <a:rPr sz="960">
                <a:solidFill>
                  <a:srgbClr val="3D9BC8"/>
                </a:solidFill>
              </a:rPr>
              <a:t>●  </a:t>
            </a:r>
            <a:r>
              <a:rPr sz="1600" b="0" i="0">
                <a:solidFill>
                  <a:srgbClr val="192B37"/>
                </a:solidFill>
              </a:rPr>
              <a:t>command queue + automatic retries</a:t>
            </a:r>
          </a:p>
          <a:p>
            <a:pPr algn="l">
              <a:lnSpc>
                <a:spcPct val="100000"/>
              </a:lnSpc>
              <a:spcBef>
                <a:spcPts val="600"/>
              </a:spcBef>
              <a:spcAft>
                <a:spcPts val="0"/>
              </a:spcAft>
            </a:pPr>
            <a:r>
              <a:rPr sz="960">
                <a:solidFill>
                  <a:srgbClr val="3D9BC8"/>
                </a:solidFill>
              </a:rPr>
              <a:t>●  </a:t>
            </a:r>
            <a:r>
              <a:rPr sz="1600" b="0" i="0">
                <a:solidFill>
                  <a:srgbClr val="192B37"/>
                </a:solidFill>
              </a:rPr>
              <a:t>one superdomain per test (</a:t>
            </a:r>
            <a:r>
              <a:rPr sz="1472" b="0" i="0">
                <a:solidFill>
                  <a:srgbClr val="C2410C"/>
                </a:solidFill>
                <a:latin typeface="Consolas"/>
              </a:rPr>
              <a:t>cy.origin</a:t>
            </a:r>
            <a:r>
              <a:rPr sz="1600" b="0" i="0">
                <a:solidFill>
                  <a:srgbClr val="192B37"/>
                </a:solidFill>
              </a:rPr>
              <a:t>)</a:t>
            </a:r>
          </a:p>
        </p:txBody>
      </p:sp>
      <p:sp>
        <p:nvSpPr>
          <p:cNvPr id="16" name="Rounded Rectangle 15"/>
          <p:cNvSpPr/>
          <p:nvPr/>
        </p:nvSpPr>
        <p:spPr>
          <a:xfrm>
            <a:off x="8595360" y="3749039"/>
            <a:ext cx="2880360" cy="5120640"/>
          </a:xfrm>
          <a:prstGeom prst="roundRect">
            <a:avLst>
              <a:gd name="adj" fmla="val 8000"/>
            </a:avLst>
          </a:prstGeom>
          <a:solidFill>
            <a:srgbClr val="FFFFFF"/>
          </a:solidFill>
          <a:ln w="254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86800" y="3931920"/>
            <a:ext cx="2697480" cy="4754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0" i="0">
                <a:solidFill>
                  <a:srgbClr val="192B37"/>
                </a:solidFill>
              </a:rPr>
              <a:t>Node server</a:t>
            </a:r>
          </a:p>
          <a:p>
            <a:pPr algn="ctr">
              <a:lnSpc>
                <a:spcPct val="100000"/>
              </a:lnSpc>
              <a:spcBef>
                <a:spcPts val="0"/>
              </a:spcBef>
              <a:spcAft>
                <a:spcPts val="0"/>
              </a:spcAft>
            </a:pPr>
          </a:p>
          <a:p>
            <a:pPr algn="ctr">
              <a:lnSpc>
                <a:spcPct val="100000"/>
              </a:lnSpc>
              <a:spcBef>
                <a:spcPts val="0"/>
              </a:spcBef>
              <a:spcAft>
                <a:spcPts val="0"/>
              </a:spcAft>
            </a:pPr>
            <a:r>
              <a:rPr sz="1600" b="0" i="0">
                <a:solidFill>
                  <a:srgbClr val="192B37"/>
                </a:solidFill>
              </a:rPr>
              <a:t>screenshots</a:t>
            </a:r>
          </a:p>
          <a:p>
            <a:pPr algn="ctr">
              <a:lnSpc>
                <a:spcPct val="100000"/>
              </a:lnSpc>
              <a:spcBef>
                <a:spcPts val="0"/>
              </a:spcBef>
              <a:spcAft>
                <a:spcPts val="0"/>
              </a:spcAft>
            </a:pPr>
            <a:r>
              <a:rPr sz="1600" b="0" i="0">
                <a:solidFill>
                  <a:srgbClr val="192B37"/>
                </a:solidFill>
              </a:rPr>
              <a:t>files</a:t>
            </a:r>
          </a:p>
          <a:p>
            <a:pPr algn="ctr">
              <a:lnSpc>
                <a:spcPct val="100000"/>
              </a:lnSpc>
              <a:spcBef>
                <a:spcPts val="0"/>
              </a:spcBef>
              <a:spcAft>
                <a:spcPts val="0"/>
              </a:spcAft>
            </a:pPr>
            <a:r>
              <a:rPr sz="1472" b="0" i="0">
                <a:solidFill>
                  <a:srgbClr val="C2410C"/>
                </a:solidFill>
                <a:latin typeface="Consolas"/>
              </a:rPr>
              <a:t>cy.task</a:t>
            </a:r>
          </a:p>
        </p:txBody>
      </p:sp>
      <p:cxnSp>
        <p:nvCxnSpPr>
          <p:cNvPr id="18" name="Connector 17"/>
          <p:cNvCxnSpPr/>
          <p:nvPr/>
        </p:nvCxnSpPr>
        <p:spPr>
          <a:xfrm>
            <a:off x="8275320" y="6309360"/>
            <a:ext cx="274320" cy="0"/>
          </a:xfrm>
          <a:prstGeom prst="line">
            <a:avLst/>
          </a:prstGeom>
          <a:ln w="25400">
            <a:solidFill>
              <a:srgbClr val="5E6A73"/>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14400" y="9052560"/>
            <a:ext cx="10607040" cy="11887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0" i="1">
                <a:solidFill>
                  <a:srgbClr val="192B37"/>
                </a:solidFill>
              </a:rPr>
              <a:t>Great developer UX and time-travel snapshots — but one browser, one tab.</a:t>
            </a:r>
          </a:p>
        </p:txBody>
      </p:sp>
      <p:sp>
        <p:nvSpPr>
          <p:cNvPr id="20" name="Rounded Rectangle 19"/>
          <p:cNvSpPr/>
          <p:nvPr/>
        </p:nvSpPr>
        <p:spPr>
          <a:xfrm>
            <a:off x="12316968" y="2926080"/>
            <a:ext cx="11155680" cy="7498079"/>
          </a:xfrm>
          <a:prstGeom prst="roundRect">
            <a:avLst>
              <a:gd name="adj" fmla="val 4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618720" y="3063240"/>
            <a:ext cx="100584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600" b="1" i="0">
                <a:solidFill>
                  <a:srgbClr val="DB7D00"/>
                </a:solidFill>
              </a:rPr>
              <a:t>Playwright</a:t>
            </a:r>
          </a:p>
        </p:txBody>
      </p:sp>
      <p:sp>
        <p:nvSpPr>
          <p:cNvPr id="22" name="Rounded Rectangle 21"/>
          <p:cNvSpPr/>
          <p:nvPr/>
        </p:nvSpPr>
        <p:spPr>
          <a:xfrm>
            <a:off x="12618720" y="3749039"/>
            <a:ext cx="3108960" cy="5120640"/>
          </a:xfrm>
          <a:prstGeom prst="roundRect">
            <a:avLst>
              <a:gd name="adj" fmla="val 8000"/>
            </a:avLst>
          </a:prstGeom>
          <a:solidFill>
            <a:srgbClr val="FFFFFF"/>
          </a:solidFill>
          <a:ln w="254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710160" y="3931920"/>
            <a:ext cx="2926080" cy="4754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0" i="0">
                <a:solidFill>
                  <a:srgbClr val="192B37"/>
                </a:solidFill>
              </a:rPr>
              <a:t>Node test</a:t>
            </a:r>
          </a:p>
          <a:p>
            <a:pPr algn="ctr">
              <a:lnSpc>
                <a:spcPct val="100000"/>
              </a:lnSpc>
              <a:spcBef>
                <a:spcPts val="0"/>
              </a:spcBef>
              <a:spcAft>
                <a:spcPts val="0"/>
              </a:spcAft>
            </a:pPr>
            <a:r>
              <a:rPr sz="1600" b="0" i="0">
                <a:solidFill>
                  <a:srgbClr val="192B37"/>
                </a:solidFill>
              </a:rPr>
              <a:t>runner</a:t>
            </a:r>
          </a:p>
          <a:p>
            <a:pPr algn="ctr">
              <a:lnSpc>
                <a:spcPct val="100000"/>
              </a:lnSpc>
              <a:spcBef>
                <a:spcPts val="0"/>
              </a:spcBef>
              <a:spcAft>
                <a:spcPts val="0"/>
              </a:spcAft>
            </a:pPr>
          </a:p>
          <a:p>
            <a:pPr algn="ctr">
              <a:lnSpc>
                <a:spcPct val="100000"/>
              </a:lnSpc>
              <a:spcBef>
                <a:spcPts val="0"/>
              </a:spcBef>
              <a:spcAft>
                <a:spcPts val="0"/>
              </a:spcAft>
            </a:pPr>
            <a:r>
              <a:rPr sz="1600" b="0" i="0">
                <a:solidFill>
                  <a:srgbClr val="192B37"/>
                </a:solidFill>
              </a:rPr>
              <a:t>fixtures</a:t>
            </a:r>
          </a:p>
          <a:p>
            <a:pPr algn="ctr">
              <a:lnSpc>
                <a:spcPct val="100000"/>
              </a:lnSpc>
              <a:spcBef>
                <a:spcPts val="0"/>
              </a:spcBef>
              <a:spcAft>
                <a:spcPts val="0"/>
              </a:spcAft>
            </a:pPr>
            <a:r>
              <a:rPr sz="1600" b="0" i="0">
                <a:solidFill>
                  <a:srgbClr val="192B37"/>
                </a:solidFill>
              </a:rPr>
              <a:t>workers</a:t>
            </a:r>
          </a:p>
          <a:p>
            <a:pPr algn="ctr">
              <a:lnSpc>
                <a:spcPct val="100000"/>
              </a:lnSpc>
              <a:spcBef>
                <a:spcPts val="0"/>
              </a:spcBef>
              <a:spcAft>
                <a:spcPts val="0"/>
              </a:spcAft>
            </a:pPr>
            <a:r>
              <a:rPr sz="1600" b="0" i="0">
                <a:solidFill>
                  <a:srgbClr val="192B37"/>
                </a:solidFill>
              </a:rPr>
              <a:t>shards</a:t>
            </a:r>
          </a:p>
        </p:txBody>
      </p:sp>
      <p:cxnSp>
        <p:nvCxnSpPr>
          <p:cNvPr id="24" name="Connector 23"/>
          <p:cNvCxnSpPr/>
          <p:nvPr/>
        </p:nvCxnSpPr>
        <p:spPr>
          <a:xfrm flipV="1">
            <a:off x="15773400" y="4526279"/>
            <a:ext cx="914400" cy="1783081"/>
          </a:xfrm>
          <a:prstGeom prst="line">
            <a:avLst/>
          </a:prstGeom>
          <a:ln w="25400">
            <a:solidFill>
              <a:srgbClr val="5E6A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6733520" y="3749039"/>
            <a:ext cx="6446520" cy="1554480"/>
          </a:xfrm>
          <a:prstGeom prst="roundRect">
            <a:avLst>
              <a:gd name="adj" fmla="val 10000"/>
            </a:avLst>
          </a:prstGeom>
          <a:solidFill>
            <a:srgbClr val="FFFFFF"/>
          </a:solidFill>
          <a:ln w="254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6916400" y="3794759"/>
            <a:ext cx="27432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1700" b="1" i="0">
                <a:solidFill>
                  <a:srgbClr val="3D9BC8"/>
                </a:solidFill>
              </a:rPr>
              <a:t>Chromium</a:t>
            </a:r>
          </a:p>
        </p:txBody>
      </p:sp>
      <p:sp>
        <p:nvSpPr>
          <p:cNvPr id="27" name="Rounded Rectangle 26"/>
          <p:cNvSpPr/>
          <p:nvPr/>
        </p:nvSpPr>
        <p:spPr>
          <a:xfrm>
            <a:off x="16916400" y="4343400"/>
            <a:ext cx="2880360" cy="777240"/>
          </a:xfrm>
          <a:prstGeom prst="roundRect">
            <a:avLst>
              <a:gd name="adj" fmla="val 20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6916400" y="4343400"/>
            <a:ext cx="2880360"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context 1 · tabs</a:t>
            </a:r>
          </a:p>
        </p:txBody>
      </p:sp>
      <p:sp>
        <p:nvSpPr>
          <p:cNvPr id="29" name="Rounded Rectangle 28"/>
          <p:cNvSpPr/>
          <p:nvPr/>
        </p:nvSpPr>
        <p:spPr>
          <a:xfrm>
            <a:off x="20025360" y="4343400"/>
            <a:ext cx="2880360" cy="777240"/>
          </a:xfrm>
          <a:prstGeom prst="roundRect">
            <a:avLst>
              <a:gd name="adj" fmla="val 20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20025360" y="4343400"/>
            <a:ext cx="2880360"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context 2 · tabs</a:t>
            </a:r>
          </a:p>
        </p:txBody>
      </p:sp>
      <p:cxnSp>
        <p:nvCxnSpPr>
          <p:cNvPr id="31" name="Connector 30"/>
          <p:cNvCxnSpPr/>
          <p:nvPr/>
        </p:nvCxnSpPr>
        <p:spPr>
          <a:xfrm flipV="1">
            <a:off x="15773400" y="6263640"/>
            <a:ext cx="914400" cy="45720"/>
          </a:xfrm>
          <a:prstGeom prst="line">
            <a:avLst/>
          </a:prstGeom>
          <a:ln w="25400">
            <a:solidFill>
              <a:srgbClr val="5E6A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6733520" y="5486400"/>
            <a:ext cx="6446520" cy="1554480"/>
          </a:xfrm>
          <a:prstGeom prst="roundRect">
            <a:avLst>
              <a:gd name="adj" fmla="val 10000"/>
            </a:avLst>
          </a:prstGeom>
          <a:solidFill>
            <a:srgbClr val="FFFFFF"/>
          </a:solidFill>
          <a:ln w="254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6916400" y="5532120"/>
            <a:ext cx="27432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1700" b="1" i="0">
                <a:solidFill>
                  <a:srgbClr val="FF5640"/>
                </a:solidFill>
              </a:rPr>
              <a:t>Firefox</a:t>
            </a:r>
          </a:p>
        </p:txBody>
      </p:sp>
      <p:sp>
        <p:nvSpPr>
          <p:cNvPr id="34" name="Rounded Rectangle 33"/>
          <p:cNvSpPr/>
          <p:nvPr/>
        </p:nvSpPr>
        <p:spPr>
          <a:xfrm>
            <a:off x="16916400" y="6080760"/>
            <a:ext cx="2880360" cy="777240"/>
          </a:xfrm>
          <a:prstGeom prst="roundRect">
            <a:avLst>
              <a:gd name="adj" fmla="val 20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6916400" y="6080760"/>
            <a:ext cx="2880360"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context 1 · tabs</a:t>
            </a:r>
          </a:p>
        </p:txBody>
      </p:sp>
      <p:sp>
        <p:nvSpPr>
          <p:cNvPr id="36" name="Rounded Rectangle 35"/>
          <p:cNvSpPr/>
          <p:nvPr/>
        </p:nvSpPr>
        <p:spPr>
          <a:xfrm>
            <a:off x="20025360" y="6080760"/>
            <a:ext cx="2880360" cy="777240"/>
          </a:xfrm>
          <a:prstGeom prst="roundRect">
            <a:avLst>
              <a:gd name="adj" fmla="val 20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20025360" y="6080760"/>
            <a:ext cx="2880360"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context 2 · tabs</a:t>
            </a:r>
          </a:p>
        </p:txBody>
      </p:sp>
      <p:cxnSp>
        <p:nvCxnSpPr>
          <p:cNvPr id="38" name="Connector 37"/>
          <p:cNvCxnSpPr/>
          <p:nvPr/>
        </p:nvCxnSpPr>
        <p:spPr>
          <a:xfrm>
            <a:off x="15773400" y="6309360"/>
            <a:ext cx="914400" cy="1691640"/>
          </a:xfrm>
          <a:prstGeom prst="line">
            <a:avLst/>
          </a:prstGeom>
          <a:ln w="25400">
            <a:solidFill>
              <a:srgbClr val="5E6A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16733520" y="7223759"/>
            <a:ext cx="6446520" cy="1554480"/>
          </a:xfrm>
          <a:prstGeom prst="roundRect">
            <a:avLst>
              <a:gd name="adj" fmla="val 10000"/>
            </a:avLst>
          </a:prstGeom>
          <a:solidFill>
            <a:srgbClr val="FFFFFF"/>
          </a:solidFill>
          <a:ln w="254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6916400" y="7269479"/>
            <a:ext cx="27432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1700" b="1" i="0">
                <a:solidFill>
                  <a:srgbClr val="8683C3"/>
                </a:solidFill>
              </a:rPr>
              <a:t>WebKit</a:t>
            </a:r>
          </a:p>
        </p:txBody>
      </p:sp>
      <p:sp>
        <p:nvSpPr>
          <p:cNvPr id="41" name="Rounded Rectangle 40"/>
          <p:cNvSpPr/>
          <p:nvPr/>
        </p:nvSpPr>
        <p:spPr>
          <a:xfrm>
            <a:off x="16916400" y="7818119"/>
            <a:ext cx="2880360" cy="777240"/>
          </a:xfrm>
          <a:prstGeom prst="roundRect">
            <a:avLst>
              <a:gd name="adj" fmla="val 20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6916400" y="7818119"/>
            <a:ext cx="2880360"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context 1 · tabs</a:t>
            </a:r>
          </a:p>
        </p:txBody>
      </p:sp>
      <p:sp>
        <p:nvSpPr>
          <p:cNvPr id="43" name="Rounded Rectangle 42"/>
          <p:cNvSpPr/>
          <p:nvPr/>
        </p:nvSpPr>
        <p:spPr>
          <a:xfrm>
            <a:off x="20025360" y="7818119"/>
            <a:ext cx="2880360" cy="777240"/>
          </a:xfrm>
          <a:prstGeom prst="roundRect">
            <a:avLst>
              <a:gd name="adj" fmla="val 20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20025360" y="7818119"/>
            <a:ext cx="2880360"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context 2 · tabs</a:t>
            </a:r>
          </a:p>
        </p:txBody>
      </p:sp>
      <p:sp>
        <p:nvSpPr>
          <p:cNvPr id="45" name="TextBox 44"/>
          <p:cNvSpPr txBox="1"/>
          <p:nvPr/>
        </p:nvSpPr>
        <p:spPr>
          <a:xfrm>
            <a:off x="12618720" y="9052560"/>
            <a:ext cx="10607040" cy="11887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0" i="1">
                <a:solidFill>
                  <a:srgbClr val="192B37"/>
                </a:solidFill>
              </a:rPr>
              <a:t>Isolated contexts per test, many tabs and origins — Alice and Bob in one test.</a:t>
            </a:r>
          </a:p>
        </p:txBody>
      </p:sp>
      <p:sp>
        <p:nvSpPr>
          <p:cNvPr id="46" name="Rounded Rectangle 45"/>
          <p:cNvSpPr/>
          <p:nvPr/>
        </p:nvSpPr>
        <p:spPr>
          <a:xfrm>
            <a:off x="612648" y="10789920"/>
            <a:ext cx="22860000" cy="960120"/>
          </a:xfrm>
          <a:prstGeom prst="roundRect">
            <a:avLst>
              <a:gd name="adj" fmla="val 1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886968" y="10927080"/>
            <a:ext cx="685800" cy="68580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LuLaugh.png"/>
          <p:cNvPicPr>
            <a:picLocks noChangeAspect="1"/>
          </p:cNvPicPr>
          <p:nvPr/>
        </p:nvPicPr>
        <p:blipFill>
          <a:blip r:embed="rId3"/>
          <a:stretch>
            <a:fillRect/>
          </a:stretch>
        </p:blipFill>
        <p:spPr>
          <a:xfrm>
            <a:off x="1051560" y="11091672"/>
            <a:ext cx="356616" cy="356616"/>
          </a:xfrm>
          <a:prstGeom prst="rect">
            <a:avLst/>
          </a:prstGeom>
        </p:spPr>
      </p:pic>
      <p:sp>
        <p:nvSpPr>
          <p:cNvPr id="49" name="TextBox 48"/>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Cypress moved into the browser's house. Playwright just has the keys to three of them.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Cy vs PW</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DB7D00"/>
                </a:solidFill>
              </a:rPr>
              <a:t>CYPRESS VS PLAYWRIGHT · PROS &amp; CONS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Honest scorecard — with a clear winner for us</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37</a:t>
            </a:r>
          </a:p>
        </p:txBody>
      </p:sp>
      <p:sp>
        <p:nvSpPr>
          <p:cNvPr id="6" name="Rounded Rectangle 5"/>
          <p:cNvSpPr/>
          <p:nvPr/>
        </p:nvSpPr>
        <p:spPr>
          <a:xfrm>
            <a:off x="612648" y="2926080"/>
            <a:ext cx="13898880" cy="4526280"/>
          </a:xfrm>
          <a:prstGeom prst="roundRect">
            <a:avLst>
              <a:gd name="adj" fmla="val 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86968" y="3154680"/>
            <a:ext cx="731520" cy="73152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ThumbsUp.png"/>
          <p:cNvPicPr>
            <a:picLocks noChangeAspect="1"/>
          </p:cNvPicPr>
          <p:nvPr/>
        </p:nvPicPr>
        <p:blipFill>
          <a:blip r:embed="rId3"/>
          <a:stretch>
            <a:fillRect/>
          </a:stretch>
        </p:blipFill>
        <p:spPr>
          <a:xfrm>
            <a:off x="1062532" y="3330244"/>
            <a:ext cx="380390" cy="380390"/>
          </a:xfrm>
          <a:prstGeom prst="rect">
            <a:avLst/>
          </a:prstGeom>
        </p:spPr>
      </p:pic>
      <p:sp>
        <p:nvSpPr>
          <p:cNvPr id="9" name="TextBox 8"/>
          <p:cNvSpPr txBox="1"/>
          <p:nvPr/>
        </p:nvSpPr>
        <p:spPr>
          <a:xfrm>
            <a:off x="1801368" y="3154680"/>
            <a:ext cx="12435840" cy="731520"/>
          </a:xfrm>
          <a:prstGeom prst="rect">
            <a:avLst/>
          </a:prstGeom>
          <a:noFill/>
        </p:spPr>
        <p:txBody>
          <a:bodyPr wrap="square" lIns="0" rIns="0" tIns="18288" bIns="18288" anchor="ctr">
            <a:noAutofit/>
          </a:bodyPr>
          <a:lstStyle/>
          <a:p>
            <a:pPr algn="l">
              <a:lnSpc>
                <a:spcPct val="100000"/>
              </a:lnSpc>
              <a:spcBef>
                <a:spcPts val="0"/>
              </a:spcBef>
              <a:spcAft>
                <a:spcPts val="0"/>
              </a:spcAft>
            </a:pPr>
            <a:r>
              <a:rPr sz="2200" b="1" i="0">
                <a:solidFill>
                  <a:srgbClr val="192B37"/>
                </a:solidFill>
              </a:rPr>
              <a:t>Playwright · pros</a:t>
            </a:r>
          </a:p>
        </p:txBody>
      </p:sp>
      <p:sp>
        <p:nvSpPr>
          <p:cNvPr id="10" name="TextBox 9"/>
          <p:cNvSpPr txBox="1"/>
          <p:nvPr/>
        </p:nvSpPr>
        <p:spPr>
          <a:xfrm>
            <a:off x="978408" y="4114800"/>
            <a:ext cx="6492240" cy="3246120"/>
          </a:xfrm>
          <a:prstGeom prst="rect">
            <a:avLst/>
          </a:prstGeom>
          <a:noFill/>
        </p:spPr>
        <p:txBody>
          <a:bodyPr wrap="square" lIns="0" rIns="0" tIns="18288" bIns="18288" anchor="t">
            <a:noAutofit/>
          </a:bodyPr>
          <a:lstStyle/>
          <a:p>
            <a:pPr algn="l">
              <a:lnSpc>
                <a:spcPct val="100000"/>
              </a:lnSpc>
              <a:spcBef>
                <a:spcPts val="0"/>
              </a:spcBef>
              <a:spcAft>
                <a:spcPts val="0"/>
              </a:spcAft>
            </a:pPr>
            <a:r>
              <a:rPr sz="1320">
                <a:solidFill>
                  <a:srgbClr val="00A859"/>
                </a:solidFill>
              </a:rPr>
              <a:t>●  </a:t>
            </a:r>
            <a:r>
              <a:rPr sz="2200" b="0" i="0">
                <a:solidFill>
                  <a:srgbClr val="192B37"/>
                </a:solidFill>
              </a:rPr>
              <a:t>Chromium, Firefox </a:t>
            </a:r>
            <a:r>
              <a:rPr sz="2200" b="1" i="0">
                <a:solidFill>
                  <a:srgbClr val="192B37"/>
                </a:solidFill>
              </a:rPr>
              <a:t>and WebKit</a:t>
            </a:r>
            <a:r>
              <a:rPr sz="2200" b="0" i="0">
                <a:solidFill>
                  <a:srgbClr val="192B37"/>
                </a:solidFill>
              </a:rPr>
              <a:t> — stable, not experimental</a:t>
            </a:r>
          </a:p>
          <a:p>
            <a:pPr algn="l">
              <a:lnSpc>
                <a:spcPct val="100000"/>
              </a:lnSpc>
              <a:spcBef>
                <a:spcPts val="1800"/>
              </a:spcBef>
              <a:spcAft>
                <a:spcPts val="0"/>
              </a:spcAft>
            </a:pPr>
            <a:r>
              <a:rPr sz="1320">
                <a:solidFill>
                  <a:srgbClr val="00A859"/>
                </a:solidFill>
              </a:rPr>
              <a:t>●  </a:t>
            </a:r>
            <a:r>
              <a:rPr sz="2200" b="0" i="0">
                <a:solidFill>
                  <a:srgbClr val="192B37"/>
                </a:solidFill>
              </a:rPr>
              <a:t>Multi-tab, multi-origin, multi-context in </a:t>
            </a:r>
            <a:r>
              <a:rPr sz="2200" b="1" i="0">
                <a:solidFill>
                  <a:srgbClr val="192B37"/>
                </a:solidFill>
              </a:rPr>
              <a:t>one test</a:t>
            </a:r>
          </a:p>
          <a:p>
            <a:pPr algn="l">
              <a:lnSpc>
                <a:spcPct val="100000"/>
              </a:lnSpc>
              <a:spcBef>
                <a:spcPts val="1800"/>
              </a:spcBef>
              <a:spcAft>
                <a:spcPts val="0"/>
              </a:spcAft>
            </a:pPr>
            <a:r>
              <a:rPr sz="1320">
                <a:solidFill>
                  <a:srgbClr val="00A859"/>
                </a:solidFill>
              </a:rPr>
              <a:t>●  </a:t>
            </a:r>
            <a:r>
              <a:rPr sz="2200" b="0" i="0">
                <a:solidFill>
                  <a:srgbClr val="192B37"/>
                </a:solidFill>
              </a:rPr>
              <a:t>Parallelism &amp; sharding </a:t>
            </a:r>
            <a:r>
              <a:rPr sz="2200" b="1" i="0">
                <a:solidFill>
                  <a:srgbClr val="192B37"/>
                </a:solidFill>
              </a:rPr>
              <a:t>built in and free</a:t>
            </a:r>
          </a:p>
        </p:txBody>
      </p:sp>
      <p:sp>
        <p:nvSpPr>
          <p:cNvPr id="11" name="TextBox 10"/>
          <p:cNvSpPr txBox="1"/>
          <p:nvPr/>
        </p:nvSpPr>
        <p:spPr>
          <a:xfrm>
            <a:off x="7653527" y="4114800"/>
            <a:ext cx="6492240" cy="3246120"/>
          </a:xfrm>
          <a:prstGeom prst="rect">
            <a:avLst/>
          </a:prstGeom>
          <a:noFill/>
        </p:spPr>
        <p:txBody>
          <a:bodyPr wrap="square" lIns="0" rIns="0" tIns="18288" bIns="18288" anchor="t">
            <a:noAutofit/>
          </a:bodyPr>
          <a:lstStyle/>
          <a:p>
            <a:pPr algn="l">
              <a:lnSpc>
                <a:spcPct val="100000"/>
              </a:lnSpc>
              <a:spcBef>
                <a:spcPts val="0"/>
              </a:spcBef>
              <a:spcAft>
                <a:spcPts val="0"/>
              </a:spcAft>
            </a:pPr>
            <a:r>
              <a:rPr sz="1320">
                <a:solidFill>
                  <a:srgbClr val="00A859"/>
                </a:solidFill>
              </a:rPr>
              <a:t>●  </a:t>
            </a:r>
            <a:r>
              <a:rPr sz="2200" b="0" i="0">
                <a:solidFill>
                  <a:srgbClr val="192B37"/>
                </a:solidFill>
              </a:rPr>
              <a:t>TS/JS, Python, Java, .NET — skills travel</a:t>
            </a:r>
          </a:p>
          <a:p>
            <a:pPr algn="l">
              <a:lnSpc>
                <a:spcPct val="100000"/>
              </a:lnSpc>
              <a:spcBef>
                <a:spcPts val="1800"/>
              </a:spcBef>
              <a:spcAft>
                <a:spcPts val="0"/>
              </a:spcAft>
            </a:pPr>
            <a:r>
              <a:rPr sz="1320">
                <a:solidFill>
                  <a:srgbClr val="00A859"/>
                </a:solidFill>
              </a:rPr>
              <a:t>●  </a:t>
            </a:r>
            <a:r>
              <a:rPr sz="2200" b="0" i="0">
                <a:solidFill>
                  <a:srgbClr val="192B37"/>
                </a:solidFill>
              </a:rPr>
              <a:t>Trace Viewer + UI Mode for debugging</a:t>
            </a:r>
          </a:p>
          <a:p>
            <a:pPr algn="l">
              <a:lnSpc>
                <a:spcPct val="100000"/>
              </a:lnSpc>
              <a:spcBef>
                <a:spcPts val="1800"/>
              </a:spcBef>
              <a:spcAft>
                <a:spcPts val="0"/>
              </a:spcAft>
            </a:pPr>
            <a:r>
              <a:rPr sz="1320">
                <a:solidFill>
                  <a:srgbClr val="00A859"/>
                </a:solidFill>
              </a:rPr>
              <a:t>●  </a:t>
            </a:r>
            <a:r>
              <a:rPr sz="2200" b="0" i="0">
                <a:solidFill>
                  <a:srgbClr val="192B37"/>
                </a:solidFill>
              </a:rPr>
              <a:t>First-class API testing, fixtures, agents (MCP, Healer)</a:t>
            </a:r>
          </a:p>
        </p:txBody>
      </p:sp>
      <p:sp>
        <p:nvSpPr>
          <p:cNvPr id="12" name="Rounded Rectangle 11"/>
          <p:cNvSpPr/>
          <p:nvPr/>
        </p:nvSpPr>
        <p:spPr>
          <a:xfrm>
            <a:off x="14785848" y="2926080"/>
            <a:ext cx="8686800" cy="4526280"/>
          </a:xfrm>
          <a:prstGeom prst="roundRect">
            <a:avLst>
              <a:gd name="adj" fmla="val 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5060168" y="3154680"/>
            <a:ext cx="731520" cy="73152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uThumbsDown.png"/>
          <p:cNvPicPr>
            <a:picLocks noChangeAspect="1"/>
          </p:cNvPicPr>
          <p:nvPr/>
        </p:nvPicPr>
        <p:blipFill>
          <a:blip r:embed="rId4"/>
          <a:stretch>
            <a:fillRect/>
          </a:stretch>
        </p:blipFill>
        <p:spPr>
          <a:xfrm>
            <a:off x="15235732" y="3330244"/>
            <a:ext cx="380390" cy="380390"/>
          </a:xfrm>
          <a:prstGeom prst="rect">
            <a:avLst/>
          </a:prstGeom>
        </p:spPr>
      </p:pic>
      <p:sp>
        <p:nvSpPr>
          <p:cNvPr id="15" name="TextBox 14"/>
          <p:cNvSpPr txBox="1"/>
          <p:nvPr/>
        </p:nvSpPr>
        <p:spPr>
          <a:xfrm>
            <a:off x="15974568" y="3154680"/>
            <a:ext cx="7223760" cy="731520"/>
          </a:xfrm>
          <a:prstGeom prst="rect">
            <a:avLst/>
          </a:prstGeom>
          <a:noFill/>
        </p:spPr>
        <p:txBody>
          <a:bodyPr wrap="square" lIns="0" rIns="0" tIns="18288" bIns="18288" anchor="ctr">
            <a:noAutofit/>
          </a:bodyPr>
          <a:lstStyle/>
          <a:p>
            <a:pPr algn="l">
              <a:lnSpc>
                <a:spcPct val="100000"/>
              </a:lnSpc>
              <a:spcBef>
                <a:spcPts val="0"/>
              </a:spcBef>
              <a:spcAft>
                <a:spcPts val="0"/>
              </a:spcAft>
            </a:pPr>
            <a:r>
              <a:rPr sz="2200" b="1" i="0">
                <a:solidFill>
                  <a:srgbClr val="192B37"/>
                </a:solidFill>
              </a:rPr>
              <a:t>Playwright · cons</a:t>
            </a:r>
          </a:p>
        </p:txBody>
      </p:sp>
      <p:sp>
        <p:nvSpPr>
          <p:cNvPr id="16" name="TextBox 15"/>
          <p:cNvSpPr txBox="1"/>
          <p:nvPr/>
        </p:nvSpPr>
        <p:spPr>
          <a:xfrm>
            <a:off x="15151608" y="4114800"/>
            <a:ext cx="7955279" cy="3246120"/>
          </a:xfrm>
          <a:prstGeom prst="rect">
            <a:avLst/>
          </a:prstGeom>
          <a:noFill/>
        </p:spPr>
        <p:txBody>
          <a:bodyPr wrap="square" lIns="0" rIns="0" tIns="18288" bIns="18288" anchor="t">
            <a:noAutofit/>
          </a:bodyPr>
          <a:lstStyle/>
          <a:p>
            <a:pPr algn="l">
              <a:lnSpc>
                <a:spcPct val="100000"/>
              </a:lnSpc>
              <a:spcBef>
                <a:spcPts val="0"/>
              </a:spcBef>
              <a:spcAft>
                <a:spcPts val="0"/>
              </a:spcAft>
            </a:pPr>
            <a:r>
              <a:rPr sz="1320">
                <a:solidFill>
                  <a:srgbClr val="FF5640"/>
                </a:solidFill>
              </a:rPr>
              <a:t>●  </a:t>
            </a:r>
            <a:r>
              <a:rPr sz="2200" b="0" i="0">
                <a:solidFill>
                  <a:srgbClr val="192B37"/>
                </a:solidFill>
              </a:rPr>
              <a:t>Patched Firefox/WebKit, not branded Safari</a:t>
            </a:r>
          </a:p>
          <a:p>
            <a:pPr algn="l">
              <a:lnSpc>
                <a:spcPct val="100000"/>
              </a:lnSpc>
              <a:spcBef>
                <a:spcPts val="1800"/>
              </a:spcBef>
              <a:spcAft>
                <a:spcPts val="0"/>
              </a:spcAft>
            </a:pPr>
            <a:r>
              <a:rPr sz="1320">
                <a:solidFill>
                  <a:srgbClr val="FF5640"/>
                </a:solidFill>
              </a:rPr>
              <a:t>●  </a:t>
            </a:r>
            <a:r>
              <a:rPr sz="2200" b="0" i="0">
                <a:solidFill>
                  <a:srgbClr val="192B37"/>
                </a:solidFill>
              </a:rPr>
              <a:t>Forget an </a:t>
            </a:r>
            <a:r>
              <a:rPr sz="2024" b="0" i="0">
                <a:solidFill>
                  <a:srgbClr val="C2410C"/>
                </a:solidFill>
                <a:latin typeface="Consolas"/>
              </a:rPr>
              <a:t>await</a:t>
            </a:r>
            <a:r>
              <a:rPr sz="2200" b="0" i="0">
                <a:solidFill>
                  <a:srgbClr val="192B37"/>
                </a:solidFill>
              </a:rPr>
              <a:t> → classic bug</a:t>
            </a:r>
          </a:p>
          <a:p>
            <a:pPr algn="l">
              <a:lnSpc>
                <a:spcPct val="100000"/>
              </a:lnSpc>
              <a:spcBef>
                <a:spcPts val="1800"/>
              </a:spcBef>
              <a:spcAft>
                <a:spcPts val="0"/>
              </a:spcAft>
            </a:pPr>
            <a:r>
              <a:rPr sz="1320">
                <a:solidFill>
                  <a:srgbClr val="FF5640"/>
                </a:solidFill>
              </a:rPr>
              <a:t>●  </a:t>
            </a:r>
            <a:r>
              <a:rPr sz="2200" b="0" i="0">
                <a:solidFill>
                  <a:srgbClr val="192B37"/>
                </a:solidFill>
              </a:rPr>
              <a:t>More concepts up front (fixtures, projects)</a:t>
            </a:r>
          </a:p>
        </p:txBody>
      </p:sp>
      <p:sp>
        <p:nvSpPr>
          <p:cNvPr id="17" name="Rounded Rectangle 16"/>
          <p:cNvSpPr/>
          <p:nvPr/>
        </p:nvSpPr>
        <p:spPr>
          <a:xfrm>
            <a:off x="612648" y="7680960"/>
            <a:ext cx="13898880" cy="2743200"/>
          </a:xfrm>
          <a:prstGeom prst="roundRect">
            <a:avLst>
              <a:gd name="adj" fmla="val 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86968" y="7909560"/>
            <a:ext cx="731520" cy="73152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uThumbsUp.png"/>
          <p:cNvPicPr>
            <a:picLocks noChangeAspect="1"/>
          </p:cNvPicPr>
          <p:nvPr/>
        </p:nvPicPr>
        <p:blipFill>
          <a:blip r:embed="rId3"/>
          <a:stretch>
            <a:fillRect/>
          </a:stretch>
        </p:blipFill>
        <p:spPr>
          <a:xfrm>
            <a:off x="1062532" y="8085124"/>
            <a:ext cx="380390" cy="380390"/>
          </a:xfrm>
          <a:prstGeom prst="rect">
            <a:avLst/>
          </a:prstGeom>
        </p:spPr>
      </p:pic>
      <p:sp>
        <p:nvSpPr>
          <p:cNvPr id="20" name="TextBox 19"/>
          <p:cNvSpPr txBox="1"/>
          <p:nvPr/>
        </p:nvSpPr>
        <p:spPr>
          <a:xfrm>
            <a:off x="1801368" y="7909560"/>
            <a:ext cx="12435840" cy="731520"/>
          </a:xfrm>
          <a:prstGeom prst="rect">
            <a:avLst/>
          </a:prstGeom>
          <a:noFill/>
        </p:spPr>
        <p:txBody>
          <a:bodyPr wrap="square" lIns="0" rIns="0" tIns="18288" bIns="18288" anchor="ctr">
            <a:noAutofit/>
          </a:bodyPr>
          <a:lstStyle/>
          <a:p>
            <a:pPr algn="l">
              <a:lnSpc>
                <a:spcPct val="100000"/>
              </a:lnSpc>
              <a:spcBef>
                <a:spcPts val="0"/>
              </a:spcBef>
              <a:spcAft>
                <a:spcPts val="0"/>
              </a:spcAft>
            </a:pPr>
            <a:r>
              <a:rPr sz="2200" b="1" i="0">
                <a:solidFill>
                  <a:srgbClr val="192B37"/>
                </a:solidFill>
              </a:rPr>
              <a:t>Cypress · pros</a:t>
            </a:r>
          </a:p>
        </p:txBody>
      </p:sp>
      <p:sp>
        <p:nvSpPr>
          <p:cNvPr id="21" name="TextBox 20"/>
          <p:cNvSpPr txBox="1"/>
          <p:nvPr/>
        </p:nvSpPr>
        <p:spPr>
          <a:xfrm>
            <a:off x="978408" y="8869680"/>
            <a:ext cx="6492240" cy="1463040"/>
          </a:xfrm>
          <a:prstGeom prst="rect">
            <a:avLst/>
          </a:prstGeom>
          <a:noFill/>
        </p:spPr>
        <p:txBody>
          <a:bodyPr wrap="square" lIns="0" rIns="0" tIns="18288" bIns="18288" anchor="t">
            <a:noAutofit/>
          </a:bodyPr>
          <a:lstStyle/>
          <a:p>
            <a:pPr algn="l">
              <a:lnSpc>
                <a:spcPct val="100000"/>
              </a:lnSpc>
              <a:spcBef>
                <a:spcPts val="0"/>
              </a:spcBef>
              <a:spcAft>
                <a:spcPts val="0"/>
              </a:spcAft>
            </a:pPr>
            <a:r>
              <a:rPr sz="1320">
                <a:solidFill>
                  <a:srgbClr val="3D9BC8"/>
                </a:solidFill>
              </a:rPr>
              <a:t>●  </a:t>
            </a:r>
            <a:r>
              <a:rPr sz="2200" b="0" i="0">
                <a:solidFill>
                  <a:srgbClr val="192B37"/>
                </a:solidFill>
              </a:rPr>
              <a:t>Friendly runner, </a:t>
            </a:r>
            <a:r>
              <a:rPr sz="2200" b="1" i="0">
                <a:solidFill>
                  <a:srgbClr val="192B37"/>
                </a:solidFill>
              </a:rPr>
              <a:t>time-travel</a:t>
            </a:r>
            <a:r>
              <a:rPr sz="2200" b="0" i="0">
                <a:solidFill>
                  <a:srgbClr val="192B37"/>
                </a:solidFill>
              </a:rPr>
              <a:t> command log</a:t>
            </a:r>
          </a:p>
          <a:p>
            <a:pPr algn="l">
              <a:lnSpc>
                <a:spcPct val="100000"/>
              </a:lnSpc>
              <a:spcBef>
                <a:spcPts val="1800"/>
              </a:spcBef>
              <a:spcAft>
                <a:spcPts val="0"/>
              </a:spcAft>
            </a:pPr>
            <a:r>
              <a:rPr sz="1320">
                <a:solidFill>
                  <a:srgbClr val="3D9BC8"/>
                </a:solidFill>
              </a:rPr>
              <a:t>●  </a:t>
            </a:r>
            <a:r>
              <a:rPr sz="2200" b="0" i="0">
                <a:solidFill>
                  <a:srgbClr val="192B37"/>
                </a:solidFill>
              </a:rPr>
              <a:t>Direct access to app objects</a:t>
            </a:r>
          </a:p>
        </p:txBody>
      </p:sp>
      <p:sp>
        <p:nvSpPr>
          <p:cNvPr id="22" name="TextBox 21"/>
          <p:cNvSpPr txBox="1"/>
          <p:nvPr/>
        </p:nvSpPr>
        <p:spPr>
          <a:xfrm>
            <a:off x="7653527" y="8869680"/>
            <a:ext cx="6492240" cy="1463040"/>
          </a:xfrm>
          <a:prstGeom prst="rect">
            <a:avLst/>
          </a:prstGeom>
          <a:noFill/>
        </p:spPr>
        <p:txBody>
          <a:bodyPr wrap="square" lIns="0" rIns="0" tIns="18288" bIns="18288" anchor="t">
            <a:noAutofit/>
          </a:bodyPr>
          <a:lstStyle/>
          <a:p>
            <a:pPr algn="l">
              <a:lnSpc>
                <a:spcPct val="100000"/>
              </a:lnSpc>
              <a:spcBef>
                <a:spcPts val="0"/>
              </a:spcBef>
              <a:spcAft>
                <a:spcPts val="0"/>
              </a:spcAft>
            </a:pPr>
            <a:r>
              <a:rPr sz="1320">
                <a:solidFill>
                  <a:srgbClr val="3D9BC8"/>
                </a:solidFill>
              </a:rPr>
              <a:t>●  </a:t>
            </a:r>
            <a:r>
              <a:rPr sz="2200" b="0" i="0">
                <a:solidFill>
                  <a:srgbClr val="192B37"/>
                </a:solidFill>
              </a:rPr>
              <a:t>Mature component testing</a:t>
            </a:r>
          </a:p>
          <a:p>
            <a:pPr algn="l">
              <a:lnSpc>
                <a:spcPct val="100000"/>
              </a:lnSpc>
              <a:spcBef>
                <a:spcPts val="1800"/>
              </a:spcBef>
              <a:spcAft>
                <a:spcPts val="0"/>
              </a:spcAft>
            </a:pPr>
            <a:r>
              <a:rPr sz="1320">
                <a:solidFill>
                  <a:srgbClr val="3D9BC8"/>
                </a:solidFill>
              </a:rPr>
              <a:t>●  </a:t>
            </a:r>
            <a:r>
              <a:rPr sz="2200" b="0" i="0">
                <a:solidFill>
                  <a:srgbClr val="192B37"/>
                </a:solidFill>
              </a:rPr>
              <a:t>It built the RWA we test today</a:t>
            </a:r>
          </a:p>
        </p:txBody>
      </p:sp>
      <p:sp>
        <p:nvSpPr>
          <p:cNvPr id="23" name="Rounded Rectangle 22"/>
          <p:cNvSpPr/>
          <p:nvPr/>
        </p:nvSpPr>
        <p:spPr>
          <a:xfrm>
            <a:off x="14785848" y="7680960"/>
            <a:ext cx="8686800" cy="2743200"/>
          </a:xfrm>
          <a:prstGeom prst="roundRect">
            <a:avLst>
              <a:gd name="adj" fmla="val 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5060168" y="7909560"/>
            <a:ext cx="731520" cy="73152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uThumbsDown.png"/>
          <p:cNvPicPr>
            <a:picLocks noChangeAspect="1"/>
          </p:cNvPicPr>
          <p:nvPr/>
        </p:nvPicPr>
        <p:blipFill>
          <a:blip r:embed="rId4"/>
          <a:stretch>
            <a:fillRect/>
          </a:stretch>
        </p:blipFill>
        <p:spPr>
          <a:xfrm>
            <a:off x="15235732" y="8085124"/>
            <a:ext cx="380390" cy="380390"/>
          </a:xfrm>
          <a:prstGeom prst="rect">
            <a:avLst/>
          </a:prstGeom>
        </p:spPr>
      </p:pic>
      <p:sp>
        <p:nvSpPr>
          <p:cNvPr id="26" name="TextBox 25"/>
          <p:cNvSpPr txBox="1"/>
          <p:nvPr/>
        </p:nvSpPr>
        <p:spPr>
          <a:xfrm>
            <a:off x="15974568" y="7909560"/>
            <a:ext cx="7223760" cy="731520"/>
          </a:xfrm>
          <a:prstGeom prst="rect">
            <a:avLst/>
          </a:prstGeom>
          <a:noFill/>
        </p:spPr>
        <p:txBody>
          <a:bodyPr wrap="square" lIns="0" rIns="0" tIns="18288" bIns="18288" anchor="ctr">
            <a:noAutofit/>
          </a:bodyPr>
          <a:lstStyle/>
          <a:p>
            <a:pPr algn="l">
              <a:lnSpc>
                <a:spcPct val="100000"/>
              </a:lnSpc>
              <a:spcBef>
                <a:spcPts val="0"/>
              </a:spcBef>
              <a:spcAft>
                <a:spcPts val="0"/>
              </a:spcAft>
            </a:pPr>
            <a:r>
              <a:rPr sz="2200" b="1" i="0">
                <a:solidFill>
                  <a:srgbClr val="192B37"/>
                </a:solidFill>
              </a:rPr>
              <a:t>Cypress · cons</a:t>
            </a:r>
          </a:p>
        </p:txBody>
      </p:sp>
      <p:sp>
        <p:nvSpPr>
          <p:cNvPr id="27" name="TextBox 26"/>
          <p:cNvSpPr txBox="1"/>
          <p:nvPr/>
        </p:nvSpPr>
        <p:spPr>
          <a:xfrm>
            <a:off x="15151608" y="8869680"/>
            <a:ext cx="7955279" cy="1463040"/>
          </a:xfrm>
          <a:prstGeom prst="rect">
            <a:avLst/>
          </a:prstGeom>
          <a:noFill/>
        </p:spPr>
        <p:txBody>
          <a:bodyPr wrap="square" lIns="0" rIns="0" tIns="18288" bIns="18288" anchor="t">
            <a:noAutofit/>
          </a:bodyPr>
          <a:lstStyle/>
          <a:p>
            <a:pPr algn="l">
              <a:lnSpc>
                <a:spcPct val="100000"/>
              </a:lnSpc>
              <a:spcBef>
                <a:spcPts val="0"/>
              </a:spcBef>
              <a:spcAft>
                <a:spcPts val="0"/>
              </a:spcAft>
            </a:pPr>
            <a:r>
              <a:rPr sz="1320">
                <a:solidFill>
                  <a:srgbClr val="DB7D00"/>
                </a:solidFill>
              </a:rPr>
              <a:t>●  </a:t>
            </a:r>
            <a:r>
              <a:rPr sz="2200" b="0" i="0">
                <a:solidFill>
                  <a:srgbClr val="192B37"/>
                </a:solidFill>
              </a:rPr>
              <a:t>1 browser · 1 superdomain · JS only</a:t>
            </a:r>
          </a:p>
          <a:p>
            <a:pPr algn="l">
              <a:lnSpc>
                <a:spcPct val="100000"/>
              </a:lnSpc>
              <a:spcBef>
                <a:spcPts val="1800"/>
              </a:spcBef>
              <a:spcAft>
                <a:spcPts val="0"/>
              </a:spcAft>
            </a:pPr>
            <a:r>
              <a:rPr sz="1320">
                <a:solidFill>
                  <a:srgbClr val="DB7D00"/>
                </a:solidFill>
              </a:rPr>
              <a:t>●  </a:t>
            </a:r>
            <a:r>
              <a:rPr sz="2200" b="0" i="0">
                <a:solidFill>
                  <a:srgbClr val="192B37"/>
                </a:solidFill>
              </a:rPr>
              <a:t>Parallel needs Cloud (free: 500 results/mo)</a:t>
            </a:r>
          </a:p>
        </p:txBody>
      </p:sp>
      <p:sp>
        <p:nvSpPr>
          <p:cNvPr id="28" name="Rounded Rectangle 27"/>
          <p:cNvSpPr/>
          <p:nvPr/>
        </p:nvSpPr>
        <p:spPr>
          <a:xfrm>
            <a:off x="612648" y="10789920"/>
            <a:ext cx="22860000" cy="960120"/>
          </a:xfrm>
          <a:prstGeom prst="roundRect">
            <a:avLst>
              <a:gd name="adj" fmla="val 1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886968" y="10927080"/>
            <a:ext cx="685800" cy="68580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LuLaugh.png"/>
          <p:cNvPicPr>
            <a:picLocks noChangeAspect="1"/>
          </p:cNvPicPr>
          <p:nvPr/>
        </p:nvPicPr>
        <p:blipFill>
          <a:blip r:embed="rId5"/>
          <a:stretch>
            <a:fillRect/>
          </a:stretch>
        </p:blipFill>
        <p:spPr>
          <a:xfrm>
            <a:off x="1051560" y="11091672"/>
            <a:ext cx="356616" cy="356616"/>
          </a:xfrm>
          <a:prstGeom prst="rect">
            <a:avLst/>
          </a:prstGeom>
        </p:spPr>
      </p:pic>
      <p:sp>
        <p:nvSpPr>
          <p:cNvPr id="31" name="TextBox 30"/>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Every framework has pros and cons. Playwright's cons list finished early and went parallel.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Cy vs PW</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DB7D00"/>
                </a:solidFill>
              </a:rPr>
              <a:t>CYPRESS VS PLAYWRIGHT · FEATURES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Feature matrix: ticks testers actually like</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38</a:t>
            </a:r>
          </a:p>
        </p:txBody>
      </p:sp>
      <p:sp>
        <p:nvSpPr>
          <p:cNvPr id="6" name="Rounded Rectangle 5"/>
          <p:cNvSpPr/>
          <p:nvPr/>
        </p:nvSpPr>
        <p:spPr>
          <a:xfrm>
            <a:off x="612648" y="2926080"/>
            <a:ext cx="22860000" cy="731520"/>
          </a:xfrm>
          <a:prstGeom prst="roundRect">
            <a:avLst>
              <a:gd name="adj" fmla="val 20000"/>
            </a:avLst>
          </a:prstGeom>
          <a:solidFill>
            <a:srgbClr val="192B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2926080"/>
            <a:ext cx="10972800" cy="731520"/>
          </a:xfrm>
          <a:prstGeom prst="rect">
            <a:avLst/>
          </a:prstGeom>
          <a:noFill/>
        </p:spPr>
        <p:txBody>
          <a:bodyPr wrap="square" lIns="0" rIns="0" tIns="18288" bIns="18288" anchor="ctr">
            <a:noAutofit/>
          </a:bodyPr>
          <a:lstStyle/>
          <a:p>
            <a:pPr algn="l">
              <a:lnSpc>
                <a:spcPct val="100000"/>
              </a:lnSpc>
              <a:spcBef>
                <a:spcPts val="0"/>
              </a:spcBef>
              <a:spcAft>
                <a:spcPts val="0"/>
              </a:spcAft>
            </a:pPr>
            <a:r>
              <a:rPr sz="1800" b="1" i="0">
                <a:solidFill>
                  <a:srgbClr val="FFFFFF"/>
                </a:solidFill>
              </a:rPr>
              <a:t>Capability</a:t>
            </a:r>
          </a:p>
        </p:txBody>
      </p:sp>
      <p:sp>
        <p:nvSpPr>
          <p:cNvPr id="8" name="TextBox 7"/>
          <p:cNvSpPr txBox="1"/>
          <p:nvPr/>
        </p:nvSpPr>
        <p:spPr>
          <a:xfrm>
            <a:off x="12161520" y="2926080"/>
            <a:ext cx="3657600" cy="731520"/>
          </a:xfrm>
          <a:prstGeom prst="rect">
            <a:avLst/>
          </a:prstGeom>
          <a:noFill/>
        </p:spPr>
        <p:txBody>
          <a:bodyPr wrap="square" lIns="0" rIns="0" tIns="18288" bIns="18288" anchor="ctr">
            <a:noAutofit/>
          </a:bodyPr>
          <a:lstStyle/>
          <a:p>
            <a:pPr algn="ctr">
              <a:lnSpc>
                <a:spcPct val="100000"/>
              </a:lnSpc>
              <a:spcBef>
                <a:spcPts val="0"/>
              </a:spcBef>
              <a:spcAft>
                <a:spcPts val="0"/>
              </a:spcAft>
            </a:pPr>
            <a:r>
              <a:rPr sz="1800" b="1" i="0">
                <a:solidFill>
                  <a:srgbClr val="FFFFFF"/>
                </a:solidFill>
              </a:rPr>
              <a:t>Playwright</a:t>
            </a:r>
          </a:p>
        </p:txBody>
      </p:sp>
      <p:sp>
        <p:nvSpPr>
          <p:cNvPr id="9" name="TextBox 8"/>
          <p:cNvSpPr txBox="1"/>
          <p:nvPr/>
        </p:nvSpPr>
        <p:spPr>
          <a:xfrm>
            <a:off x="16093440" y="2926080"/>
            <a:ext cx="3657600" cy="731520"/>
          </a:xfrm>
          <a:prstGeom prst="rect">
            <a:avLst/>
          </a:prstGeom>
          <a:noFill/>
        </p:spPr>
        <p:txBody>
          <a:bodyPr wrap="square" lIns="0" rIns="0" tIns="18288" bIns="18288" anchor="ctr">
            <a:noAutofit/>
          </a:bodyPr>
          <a:lstStyle/>
          <a:p>
            <a:pPr algn="ctr">
              <a:lnSpc>
                <a:spcPct val="100000"/>
              </a:lnSpc>
              <a:spcBef>
                <a:spcPts val="0"/>
              </a:spcBef>
              <a:spcAft>
                <a:spcPts val="0"/>
              </a:spcAft>
            </a:pPr>
            <a:r>
              <a:rPr sz="1800" b="1" i="0">
                <a:solidFill>
                  <a:srgbClr val="FFFFFF"/>
                </a:solidFill>
              </a:rPr>
              <a:t>Cypress</a:t>
            </a:r>
          </a:p>
        </p:txBody>
      </p:sp>
      <p:sp>
        <p:nvSpPr>
          <p:cNvPr id="10" name="TextBox 9"/>
          <p:cNvSpPr txBox="1"/>
          <p:nvPr/>
        </p:nvSpPr>
        <p:spPr>
          <a:xfrm>
            <a:off x="19751040" y="2926080"/>
            <a:ext cx="3566160" cy="731520"/>
          </a:xfrm>
          <a:prstGeom prst="rect">
            <a:avLst/>
          </a:prstGeom>
          <a:noFill/>
        </p:spPr>
        <p:txBody>
          <a:bodyPr wrap="square" lIns="0" rIns="0" tIns="18288" bIns="18288" anchor="ctr">
            <a:noAutofit/>
          </a:bodyPr>
          <a:lstStyle/>
          <a:p>
            <a:pPr algn="ctr">
              <a:lnSpc>
                <a:spcPct val="100000"/>
              </a:lnSpc>
              <a:spcBef>
                <a:spcPts val="0"/>
              </a:spcBef>
              <a:spcAft>
                <a:spcPts val="0"/>
              </a:spcAft>
            </a:pPr>
            <a:r>
              <a:rPr sz="1300" b="0" i="0">
                <a:solidFill>
                  <a:srgbClr val="FFFFFF"/>
                </a:solidFill>
              </a:rPr>
              <a:t>green yes · orange partial · red no</a:t>
            </a:r>
          </a:p>
        </p:txBody>
      </p:sp>
      <p:sp>
        <p:nvSpPr>
          <p:cNvPr id="11" name="Rectangle 10"/>
          <p:cNvSpPr/>
          <p:nvPr/>
        </p:nvSpPr>
        <p:spPr>
          <a:xfrm>
            <a:off x="612648" y="3749039"/>
            <a:ext cx="19202400" cy="54864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3749039"/>
            <a:ext cx="10972800" cy="54864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0" i="0">
                <a:solidFill>
                  <a:srgbClr val="192B37"/>
                </a:solidFill>
              </a:rPr>
              <a:t>Chromium / Chrome</a:t>
            </a:r>
          </a:p>
        </p:txBody>
      </p:sp>
      <p:sp>
        <p:nvSpPr>
          <p:cNvPr id="13" name="Oval 12"/>
          <p:cNvSpPr/>
          <p:nvPr/>
        </p:nvSpPr>
        <p:spPr>
          <a:xfrm>
            <a:off x="13716000" y="3813048"/>
            <a:ext cx="420624" cy="42062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uCheck.png"/>
          <p:cNvPicPr>
            <a:picLocks noChangeAspect="1"/>
          </p:cNvPicPr>
          <p:nvPr/>
        </p:nvPicPr>
        <p:blipFill>
          <a:blip r:embed="rId3"/>
          <a:stretch>
            <a:fillRect/>
          </a:stretch>
        </p:blipFill>
        <p:spPr>
          <a:xfrm>
            <a:off x="13800124" y="3897172"/>
            <a:ext cx="252374" cy="252374"/>
          </a:xfrm>
          <a:prstGeom prst="rect">
            <a:avLst/>
          </a:prstGeom>
        </p:spPr>
      </p:pic>
      <p:sp>
        <p:nvSpPr>
          <p:cNvPr id="15" name="Oval 14"/>
          <p:cNvSpPr/>
          <p:nvPr/>
        </p:nvSpPr>
        <p:spPr>
          <a:xfrm>
            <a:off x="17647920" y="3813048"/>
            <a:ext cx="420624" cy="42062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uCheck.png"/>
          <p:cNvPicPr>
            <a:picLocks noChangeAspect="1"/>
          </p:cNvPicPr>
          <p:nvPr/>
        </p:nvPicPr>
        <p:blipFill>
          <a:blip r:embed="rId3"/>
          <a:stretch>
            <a:fillRect/>
          </a:stretch>
        </p:blipFill>
        <p:spPr>
          <a:xfrm>
            <a:off x="17732044" y="3897172"/>
            <a:ext cx="252374" cy="252374"/>
          </a:xfrm>
          <a:prstGeom prst="rect">
            <a:avLst/>
          </a:prstGeom>
        </p:spPr>
      </p:pic>
      <p:sp>
        <p:nvSpPr>
          <p:cNvPr id="17" name="TextBox 16"/>
          <p:cNvSpPr txBox="1"/>
          <p:nvPr/>
        </p:nvSpPr>
        <p:spPr>
          <a:xfrm>
            <a:off x="914400" y="4297679"/>
            <a:ext cx="10972800" cy="54864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0" i="0">
                <a:solidFill>
                  <a:srgbClr val="192B37"/>
                </a:solidFill>
              </a:rPr>
              <a:t>Firefox</a:t>
            </a:r>
          </a:p>
        </p:txBody>
      </p:sp>
      <p:sp>
        <p:nvSpPr>
          <p:cNvPr id="18" name="Oval 17"/>
          <p:cNvSpPr/>
          <p:nvPr/>
        </p:nvSpPr>
        <p:spPr>
          <a:xfrm>
            <a:off x="13716000" y="4361688"/>
            <a:ext cx="420624" cy="42062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uCheck.png"/>
          <p:cNvPicPr>
            <a:picLocks noChangeAspect="1"/>
          </p:cNvPicPr>
          <p:nvPr/>
        </p:nvPicPr>
        <p:blipFill>
          <a:blip r:embed="rId3"/>
          <a:stretch>
            <a:fillRect/>
          </a:stretch>
        </p:blipFill>
        <p:spPr>
          <a:xfrm>
            <a:off x="13800124" y="4445812"/>
            <a:ext cx="252374" cy="252374"/>
          </a:xfrm>
          <a:prstGeom prst="rect">
            <a:avLst/>
          </a:prstGeom>
        </p:spPr>
      </p:pic>
      <p:sp>
        <p:nvSpPr>
          <p:cNvPr id="20" name="Oval 19"/>
          <p:cNvSpPr/>
          <p:nvPr/>
        </p:nvSpPr>
        <p:spPr>
          <a:xfrm>
            <a:off x="17647920" y="4361688"/>
            <a:ext cx="420624" cy="42062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uCheck.png"/>
          <p:cNvPicPr>
            <a:picLocks noChangeAspect="1"/>
          </p:cNvPicPr>
          <p:nvPr/>
        </p:nvPicPr>
        <p:blipFill>
          <a:blip r:embed="rId3"/>
          <a:stretch>
            <a:fillRect/>
          </a:stretch>
        </p:blipFill>
        <p:spPr>
          <a:xfrm>
            <a:off x="17732044" y="4445812"/>
            <a:ext cx="252374" cy="252374"/>
          </a:xfrm>
          <a:prstGeom prst="rect">
            <a:avLst/>
          </a:prstGeom>
        </p:spPr>
      </p:pic>
      <p:sp>
        <p:nvSpPr>
          <p:cNvPr id="22" name="Rectangle 21"/>
          <p:cNvSpPr/>
          <p:nvPr/>
        </p:nvSpPr>
        <p:spPr>
          <a:xfrm>
            <a:off x="612648" y="4846320"/>
            <a:ext cx="19202400" cy="54864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4400" y="4846320"/>
            <a:ext cx="10972800" cy="54864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0" i="0">
                <a:solidFill>
                  <a:srgbClr val="192B37"/>
                </a:solidFill>
              </a:rPr>
              <a:t>WebKit (Safari engine)</a:t>
            </a:r>
          </a:p>
        </p:txBody>
      </p:sp>
      <p:sp>
        <p:nvSpPr>
          <p:cNvPr id="24" name="Oval 23"/>
          <p:cNvSpPr/>
          <p:nvPr/>
        </p:nvSpPr>
        <p:spPr>
          <a:xfrm>
            <a:off x="13716000" y="4910328"/>
            <a:ext cx="420624" cy="42062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uCheck.png"/>
          <p:cNvPicPr>
            <a:picLocks noChangeAspect="1"/>
          </p:cNvPicPr>
          <p:nvPr/>
        </p:nvPicPr>
        <p:blipFill>
          <a:blip r:embed="rId3"/>
          <a:stretch>
            <a:fillRect/>
          </a:stretch>
        </p:blipFill>
        <p:spPr>
          <a:xfrm>
            <a:off x="13800124" y="4994452"/>
            <a:ext cx="252374" cy="252374"/>
          </a:xfrm>
          <a:prstGeom prst="rect">
            <a:avLst/>
          </a:prstGeom>
        </p:spPr>
      </p:pic>
      <p:sp>
        <p:nvSpPr>
          <p:cNvPr id="26" name="Oval 25"/>
          <p:cNvSpPr/>
          <p:nvPr/>
        </p:nvSpPr>
        <p:spPr>
          <a:xfrm>
            <a:off x="17647920" y="4910328"/>
            <a:ext cx="420624" cy="420624"/>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LuCircleDot.png"/>
          <p:cNvPicPr>
            <a:picLocks noChangeAspect="1"/>
          </p:cNvPicPr>
          <p:nvPr/>
        </p:nvPicPr>
        <p:blipFill>
          <a:blip r:embed="rId4"/>
          <a:stretch>
            <a:fillRect/>
          </a:stretch>
        </p:blipFill>
        <p:spPr>
          <a:xfrm>
            <a:off x="17732044" y="4994452"/>
            <a:ext cx="252374" cy="252374"/>
          </a:xfrm>
          <a:prstGeom prst="rect">
            <a:avLst/>
          </a:prstGeom>
        </p:spPr>
      </p:pic>
      <p:sp>
        <p:nvSpPr>
          <p:cNvPr id="28" name="TextBox 27"/>
          <p:cNvSpPr txBox="1"/>
          <p:nvPr/>
        </p:nvSpPr>
        <p:spPr>
          <a:xfrm>
            <a:off x="914400" y="5394959"/>
            <a:ext cx="10972800" cy="54864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0" i="0">
                <a:solidFill>
                  <a:srgbClr val="192B37"/>
                </a:solidFill>
              </a:rPr>
              <a:t>Multiple tabs in a test</a:t>
            </a:r>
          </a:p>
        </p:txBody>
      </p:sp>
      <p:sp>
        <p:nvSpPr>
          <p:cNvPr id="29" name="Oval 28"/>
          <p:cNvSpPr/>
          <p:nvPr/>
        </p:nvSpPr>
        <p:spPr>
          <a:xfrm>
            <a:off x="13716000" y="5458968"/>
            <a:ext cx="420624" cy="42062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LuCheck.png"/>
          <p:cNvPicPr>
            <a:picLocks noChangeAspect="1"/>
          </p:cNvPicPr>
          <p:nvPr/>
        </p:nvPicPr>
        <p:blipFill>
          <a:blip r:embed="rId3"/>
          <a:stretch>
            <a:fillRect/>
          </a:stretch>
        </p:blipFill>
        <p:spPr>
          <a:xfrm>
            <a:off x="13800124" y="5543092"/>
            <a:ext cx="252374" cy="252374"/>
          </a:xfrm>
          <a:prstGeom prst="rect">
            <a:avLst/>
          </a:prstGeom>
        </p:spPr>
      </p:pic>
      <p:sp>
        <p:nvSpPr>
          <p:cNvPr id="31" name="Oval 30"/>
          <p:cNvSpPr/>
          <p:nvPr/>
        </p:nvSpPr>
        <p:spPr>
          <a:xfrm>
            <a:off x="17647920" y="5458968"/>
            <a:ext cx="420624" cy="420624"/>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LuCircleDot.png"/>
          <p:cNvPicPr>
            <a:picLocks noChangeAspect="1"/>
          </p:cNvPicPr>
          <p:nvPr/>
        </p:nvPicPr>
        <p:blipFill>
          <a:blip r:embed="rId4"/>
          <a:stretch>
            <a:fillRect/>
          </a:stretch>
        </p:blipFill>
        <p:spPr>
          <a:xfrm>
            <a:off x="17732044" y="5543092"/>
            <a:ext cx="252374" cy="252374"/>
          </a:xfrm>
          <a:prstGeom prst="rect">
            <a:avLst/>
          </a:prstGeom>
        </p:spPr>
      </p:pic>
      <p:sp>
        <p:nvSpPr>
          <p:cNvPr id="33" name="Rectangle 32"/>
          <p:cNvSpPr/>
          <p:nvPr/>
        </p:nvSpPr>
        <p:spPr>
          <a:xfrm>
            <a:off x="612648" y="5943600"/>
            <a:ext cx="19202400" cy="54864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14400" y="5943600"/>
            <a:ext cx="10972800" cy="54864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0" i="0">
                <a:solidFill>
                  <a:srgbClr val="192B37"/>
                </a:solidFill>
              </a:rPr>
              <a:t>Multiple origins in a test</a:t>
            </a:r>
          </a:p>
        </p:txBody>
      </p:sp>
      <p:sp>
        <p:nvSpPr>
          <p:cNvPr id="35" name="Oval 34"/>
          <p:cNvSpPr/>
          <p:nvPr/>
        </p:nvSpPr>
        <p:spPr>
          <a:xfrm>
            <a:off x="13716000" y="6007608"/>
            <a:ext cx="420624" cy="42062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LuCheck.png"/>
          <p:cNvPicPr>
            <a:picLocks noChangeAspect="1"/>
          </p:cNvPicPr>
          <p:nvPr/>
        </p:nvPicPr>
        <p:blipFill>
          <a:blip r:embed="rId3"/>
          <a:stretch>
            <a:fillRect/>
          </a:stretch>
        </p:blipFill>
        <p:spPr>
          <a:xfrm>
            <a:off x="13800124" y="6091732"/>
            <a:ext cx="252374" cy="252374"/>
          </a:xfrm>
          <a:prstGeom prst="rect">
            <a:avLst/>
          </a:prstGeom>
        </p:spPr>
      </p:pic>
      <p:sp>
        <p:nvSpPr>
          <p:cNvPr id="37" name="Oval 36"/>
          <p:cNvSpPr/>
          <p:nvPr/>
        </p:nvSpPr>
        <p:spPr>
          <a:xfrm>
            <a:off x="17647920" y="6007608"/>
            <a:ext cx="420624" cy="420624"/>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LuCircleDot.png"/>
          <p:cNvPicPr>
            <a:picLocks noChangeAspect="1"/>
          </p:cNvPicPr>
          <p:nvPr/>
        </p:nvPicPr>
        <p:blipFill>
          <a:blip r:embed="rId4"/>
          <a:stretch>
            <a:fillRect/>
          </a:stretch>
        </p:blipFill>
        <p:spPr>
          <a:xfrm>
            <a:off x="17732044" y="6091732"/>
            <a:ext cx="252374" cy="252374"/>
          </a:xfrm>
          <a:prstGeom prst="rect">
            <a:avLst/>
          </a:prstGeom>
        </p:spPr>
      </p:pic>
      <p:sp>
        <p:nvSpPr>
          <p:cNvPr id="39" name="TextBox 38"/>
          <p:cNvSpPr txBox="1"/>
          <p:nvPr/>
        </p:nvSpPr>
        <p:spPr>
          <a:xfrm>
            <a:off x="914400" y="6492240"/>
            <a:ext cx="10972800" cy="54864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0" i="0">
                <a:solidFill>
                  <a:srgbClr val="192B37"/>
                </a:solidFill>
              </a:rPr>
              <a:t>Several users / contexts at once</a:t>
            </a:r>
          </a:p>
        </p:txBody>
      </p:sp>
      <p:sp>
        <p:nvSpPr>
          <p:cNvPr id="40" name="Oval 39"/>
          <p:cNvSpPr/>
          <p:nvPr/>
        </p:nvSpPr>
        <p:spPr>
          <a:xfrm>
            <a:off x="13716000" y="6556248"/>
            <a:ext cx="420624" cy="42062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LuCheck.png"/>
          <p:cNvPicPr>
            <a:picLocks noChangeAspect="1"/>
          </p:cNvPicPr>
          <p:nvPr/>
        </p:nvPicPr>
        <p:blipFill>
          <a:blip r:embed="rId3"/>
          <a:stretch>
            <a:fillRect/>
          </a:stretch>
        </p:blipFill>
        <p:spPr>
          <a:xfrm>
            <a:off x="13800124" y="6640372"/>
            <a:ext cx="252374" cy="252374"/>
          </a:xfrm>
          <a:prstGeom prst="rect">
            <a:avLst/>
          </a:prstGeom>
        </p:spPr>
      </p:pic>
      <p:sp>
        <p:nvSpPr>
          <p:cNvPr id="42" name="Oval 41"/>
          <p:cNvSpPr/>
          <p:nvPr/>
        </p:nvSpPr>
        <p:spPr>
          <a:xfrm>
            <a:off x="17647920" y="6556248"/>
            <a:ext cx="420624" cy="420624"/>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LuX.png"/>
          <p:cNvPicPr>
            <a:picLocks noChangeAspect="1"/>
          </p:cNvPicPr>
          <p:nvPr/>
        </p:nvPicPr>
        <p:blipFill>
          <a:blip r:embed="rId5"/>
          <a:stretch>
            <a:fillRect/>
          </a:stretch>
        </p:blipFill>
        <p:spPr>
          <a:xfrm>
            <a:off x="17732044" y="6640372"/>
            <a:ext cx="252374" cy="252374"/>
          </a:xfrm>
          <a:prstGeom prst="rect">
            <a:avLst/>
          </a:prstGeom>
        </p:spPr>
      </p:pic>
      <p:sp>
        <p:nvSpPr>
          <p:cNvPr id="44" name="Rectangle 43"/>
          <p:cNvSpPr/>
          <p:nvPr/>
        </p:nvSpPr>
        <p:spPr>
          <a:xfrm>
            <a:off x="612648" y="7040879"/>
            <a:ext cx="19202400" cy="54864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4400" y="7040879"/>
            <a:ext cx="10972800" cy="54864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0" i="0">
                <a:solidFill>
                  <a:srgbClr val="192B37"/>
                </a:solidFill>
              </a:rPr>
              <a:t>Free parallel runs &amp; sharding</a:t>
            </a:r>
          </a:p>
        </p:txBody>
      </p:sp>
      <p:sp>
        <p:nvSpPr>
          <p:cNvPr id="46" name="Oval 45"/>
          <p:cNvSpPr/>
          <p:nvPr/>
        </p:nvSpPr>
        <p:spPr>
          <a:xfrm>
            <a:off x="13716000" y="7104888"/>
            <a:ext cx="420624" cy="42062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LuCheck.png"/>
          <p:cNvPicPr>
            <a:picLocks noChangeAspect="1"/>
          </p:cNvPicPr>
          <p:nvPr/>
        </p:nvPicPr>
        <p:blipFill>
          <a:blip r:embed="rId3"/>
          <a:stretch>
            <a:fillRect/>
          </a:stretch>
        </p:blipFill>
        <p:spPr>
          <a:xfrm>
            <a:off x="13800124" y="7189012"/>
            <a:ext cx="252374" cy="252374"/>
          </a:xfrm>
          <a:prstGeom prst="rect">
            <a:avLst/>
          </a:prstGeom>
        </p:spPr>
      </p:pic>
      <p:sp>
        <p:nvSpPr>
          <p:cNvPr id="48" name="Oval 47"/>
          <p:cNvSpPr/>
          <p:nvPr/>
        </p:nvSpPr>
        <p:spPr>
          <a:xfrm>
            <a:off x="17647920" y="7104888"/>
            <a:ext cx="420624" cy="420624"/>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LuCircleDot.png"/>
          <p:cNvPicPr>
            <a:picLocks noChangeAspect="1"/>
          </p:cNvPicPr>
          <p:nvPr/>
        </p:nvPicPr>
        <p:blipFill>
          <a:blip r:embed="rId4"/>
          <a:stretch>
            <a:fillRect/>
          </a:stretch>
        </p:blipFill>
        <p:spPr>
          <a:xfrm>
            <a:off x="17732044" y="7189012"/>
            <a:ext cx="252374" cy="252374"/>
          </a:xfrm>
          <a:prstGeom prst="rect">
            <a:avLst/>
          </a:prstGeom>
        </p:spPr>
      </p:pic>
      <p:sp>
        <p:nvSpPr>
          <p:cNvPr id="50" name="TextBox 49"/>
          <p:cNvSpPr txBox="1"/>
          <p:nvPr/>
        </p:nvSpPr>
        <p:spPr>
          <a:xfrm>
            <a:off x="914400" y="7589520"/>
            <a:ext cx="10972800" cy="54864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0" i="0">
                <a:solidFill>
                  <a:srgbClr val="192B37"/>
                </a:solidFill>
              </a:rPr>
              <a:t>Languages beyond JS/TS</a:t>
            </a:r>
          </a:p>
        </p:txBody>
      </p:sp>
      <p:sp>
        <p:nvSpPr>
          <p:cNvPr id="51" name="Oval 50"/>
          <p:cNvSpPr/>
          <p:nvPr/>
        </p:nvSpPr>
        <p:spPr>
          <a:xfrm>
            <a:off x="13716000" y="7653528"/>
            <a:ext cx="420624" cy="42062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LuCheck.png"/>
          <p:cNvPicPr>
            <a:picLocks noChangeAspect="1"/>
          </p:cNvPicPr>
          <p:nvPr/>
        </p:nvPicPr>
        <p:blipFill>
          <a:blip r:embed="rId3"/>
          <a:stretch>
            <a:fillRect/>
          </a:stretch>
        </p:blipFill>
        <p:spPr>
          <a:xfrm>
            <a:off x="13800124" y="7737652"/>
            <a:ext cx="252374" cy="252374"/>
          </a:xfrm>
          <a:prstGeom prst="rect">
            <a:avLst/>
          </a:prstGeom>
        </p:spPr>
      </p:pic>
      <p:sp>
        <p:nvSpPr>
          <p:cNvPr id="53" name="Oval 52"/>
          <p:cNvSpPr/>
          <p:nvPr/>
        </p:nvSpPr>
        <p:spPr>
          <a:xfrm>
            <a:off x="17647920" y="7653528"/>
            <a:ext cx="420624" cy="420624"/>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LuX.png"/>
          <p:cNvPicPr>
            <a:picLocks noChangeAspect="1"/>
          </p:cNvPicPr>
          <p:nvPr/>
        </p:nvPicPr>
        <p:blipFill>
          <a:blip r:embed="rId5"/>
          <a:stretch>
            <a:fillRect/>
          </a:stretch>
        </p:blipFill>
        <p:spPr>
          <a:xfrm>
            <a:off x="17732044" y="7737652"/>
            <a:ext cx="252374" cy="252374"/>
          </a:xfrm>
          <a:prstGeom prst="rect">
            <a:avLst/>
          </a:prstGeom>
        </p:spPr>
      </p:pic>
      <p:sp>
        <p:nvSpPr>
          <p:cNvPr id="55" name="Rectangle 54"/>
          <p:cNvSpPr/>
          <p:nvPr/>
        </p:nvSpPr>
        <p:spPr>
          <a:xfrm>
            <a:off x="612648" y="8138159"/>
            <a:ext cx="19202400" cy="54864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914400" y="8138159"/>
            <a:ext cx="10972800" cy="54864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0" i="0">
                <a:solidFill>
                  <a:srgbClr val="192B37"/>
                </a:solidFill>
              </a:rPr>
              <a:t>API testing without a browser</a:t>
            </a:r>
          </a:p>
        </p:txBody>
      </p:sp>
      <p:sp>
        <p:nvSpPr>
          <p:cNvPr id="57" name="Oval 56"/>
          <p:cNvSpPr/>
          <p:nvPr/>
        </p:nvSpPr>
        <p:spPr>
          <a:xfrm>
            <a:off x="13716000" y="8202167"/>
            <a:ext cx="420624" cy="42062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Picture 57" descr="LuCheck.png"/>
          <p:cNvPicPr>
            <a:picLocks noChangeAspect="1"/>
          </p:cNvPicPr>
          <p:nvPr/>
        </p:nvPicPr>
        <p:blipFill>
          <a:blip r:embed="rId3"/>
          <a:stretch>
            <a:fillRect/>
          </a:stretch>
        </p:blipFill>
        <p:spPr>
          <a:xfrm>
            <a:off x="13800124" y="8286292"/>
            <a:ext cx="252374" cy="252374"/>
          </a:xfrm>
          <a:prstGeom prst="rect">
            <a:avLst/>
          </a:prstGeom>
        </p:spPr>
      </p:pic>
      <p:sp>
        <p:nvSpPr>
          <p:cNvPr id="59" name="Oval 58"/>
          <p:cNvSpPr/>
          <p:nvPr/>
        </p:nvSpPr>
        <p:spPr>
          <a:xfrm>
            <a:off x="17647920" y="8202167"/>
            <a:ext cx="420624" cy="420624"/>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LuCircleDot.png"/>
          <p:cNvPicPr>
            <a:picLocks noChangeAspect="1"/>
          </p:cNvPicPr>
          <p:nvPr/>
        </p:nvPicPr>
        <p:blipFill>
          <a:blip r:embed="rId4"/>
          <a:stretch>
            <a:fillRect/>
          </a:stretch>
        </p:blipFill>
        <p:spPr>
          <a:xfrm>
            <a:off x="17732044" y="8286292"/>
            <a:ext cx="252374" cy="252374"/>
          </a:xfrm>
          <a:prstGeom prst="rect">
            <a:avLst/>
          </a:prstGeom>
        </p:spPr>
      </p:pic>
      <p:sp>
        <p:nvSpPr>
          <p:cNvPr id="61" name="TextBox 60"/>
          <p:cNvSpPr txBox="1"/>
          <p:nvPr/>
        </p:nvSpPr>
        <p:spPr>
          <a:xfrm>
            <a:off x="914400" y="8686800"/>
            <a:ext cx="10972800" cy="54864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0" i="0">
                <a:solidFill>
                  <a:srgbClr val="192B37"/>
                </a:solidFill>
              </a:rPr>
              <a:t>Time-travel debugging</a:t>
            </a:r>
          </a:p>
        </p:txBody>
      </p:sp>
      <p:sp>
        <p:nvSpPr>
          <p:cNvPr id="62" name="Oval 61"/>
          <p:cNvSpPr/>
          <p:nvPr/>
        </p:nvSpPr>
        <p:spPr>
          <a:xfrm>
            <a:off x="13716000" y="8750808"/>
            <a:ext cx="420624" cy="42062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LuCheck.png"/>
          <p:cNvPicPr>
            <a:picLocks noChangeAspect="1"/>
          </p:cNvPicPr>
          <p:nvPr/>
        </p:nvPicPr>
        <p:blipFill>
          <a:blip r:embed="rId3"/>
          <a:stretch>
            <a:fillRect/>
          </a:stretch>
        </p:blipFill>
        <p:spPr>
          <a:xfrm>
            <a:off x="13800124" y="8834932"/>
            <a:ext cx="252374" cy="252374"/>
          </a:xfrm>
          <a:prstGeom prst="rect">
            <a:avLst/>
          </a:prstGeom>
        </p:spPr>
      </p:pic>
      <p:sp>
        <p:nvSpPr>
          <p:cNvPr id="64" name="Oval 63"/>
          <p:cNvSpPr/>
          <p:nvPr/>
        </p:nvSpPr>
        <p:spPr>
          <a:xfrm>
            <a:off x="17647920" y="8750808"/>
            <a:ext cx="420624" cy="42062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LuCheck.png"/>
          <p:cNvPicPr>
            <a:picLocks noChangeAspect="1"/>
          </p:cNvPicPr>
          <p:nvPr/>
        </p:nvPicPr>
        <p:blipFill>
          <a:blip r:embed="rId3"/>
          <a:stretch>
            <a:fillRect/>
          </a:stretch>
        </p:blipFill>
        <p:spPr>
          <a:xfrm>
            <a:off x="17732044" y="8834932"/>
            <a:ext cx="252374" cy="252374"/>
          </a:xfrm>
          <a:prstGeom prst="rect">
            <a:avLst/>
          </a:prstGeom>
        </p:spPr>
      </p:pic>
      <p:sp>
        <p:nvSpPr>
          <p:cNvPr id="66" name="Rectangle 65"/>
          <p:cNvSpPr/>
          <p:nvPr/>
        </p:nvSpPr>
        <p:spPr>
          <a:xfrm>
            <a:off x="612648" y="9235440"/>
            <a:ext cx="19202400" cy="548640"/>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914400" y="9235440"/>
            <a:ext cx="10972800" cy="54864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0" i="0">
                <a:solidFill>
                  <a:srgbClr val="192B37"/>
                </a:solidFill>
              </a:rPr>
              <a:t>Component testing</a:t>
            </a:r>
          </a:p>
        </p:txBody>
      </p:sp>
      <p:sp>
        <p:nvSpPr>
          <p:cNvPr id="68" name="Oval 67"/>
          <p:cNvSpPr/>
          <p:nvPr/>
        </p:nvSpPr>
        <p:spPr>
          <a:xfrm>
            <a:off x="13716000" y="9299448"/>
            <a:ext cx="420624" cy="42062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LuCheck.png"/>
          <p:cNvPicPr>
            <a:picLocks noChangeAspect="1"/>
          </p:cNvPicPr>
          <p:nvPr/>
        </p:nvPicPr>
        <p:blipFill>
          <a:blip r:embed="rId3"/>
          <a:stretch>
            <a:fillRect/>
          </a:stretch>
        </p:blipFill>
        <p:spPr>
          <a:xfrm>
            <a:off x="13800124" y="9383572"/>
            <a:ext cx="252374" cy="252374"/>
          </a:xfrm>
          <a:prstGeom prst="rect">
            <a:avLst/>
          </a:prstGeom>
        </p:spPr>
      </p:pic>
      <p:sp>
        <p:nvSpPr>
          <p:cNvPr id="70" name="Oval 69"/>
          <p:cNvSpPr/>
          <p:nvPr/>
        </p:nvSpPr>
        <p:spPr>
          <a:xfrm>
            <a:off x="17647920" y="9299448"/>
            <a:ext cx="420624" cy="42062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LuCheck.png"/>
          <p:cNvPicPr>
            <a:picLocks noChangeAspect="1"/>
          </p:cNvPicPr>
          <p:nvPr/>
        </p:nvPicPr>
        <p:blipFill>
          <a:blip r:embed="rId3"/>
          <a:stretch>
            <a:fillRect/>
          </a:stretch>
        </p:blipFill>
        <p:spPr>
          <a:xfrm>
            <a:off x="17732044" y="9383572"/>
            <a:ext cx="252374" cy="252374"/>
          </a:xfrm>
          <a:prstGeom prst="rect">
            <a:avLst/>
          </a:prstGeom>
        </p:spPr>
      </p:pic>
      <p:sp>
        <p:nvSpPr>
          <p:cNvPr id="72" name="TextBox 71"/>
          <p:cNvSpPr txBox="1"/>
          <p:nvPr/>
        </p:nvSpPr>
        <p:spPr>
          <a:xfrm>
            <a:off x="914400" y="9784080"/>
            <a:ext cx="10972800" cy="54864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0" i="0">
                <a:solidFill>
                  <a:srgbClr val="192B37"/>
                </a:solidFill>
              </a:rPr>
              <a:t>Built-in AI test agents / MCP</a:t>
            </a:r>
          </a:p>
        </p:txBody>
      </p:sp>
      <p:sp>
        <p:nvSpPr>
          <p:cNvPr id="73" name="Oval 72"/>
          <p:cNvSpPr/>
          <p:nvPr/>
        </p:nvSpPr>
        <p:spPr>
          <a:xfrm>
            <a:off x="13716000" y="9848088"/>
            <a:ext cx="420624" cy="420624"/>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cture 73" descr="LuCheck.png"/>
          <p:cNvPicPr>
            <a:picLocks noChangeAspect="1"/>
          </p:cNvPicPr>
          <p:nvPr/>
        </p:nvPicPr>
        <p:blipFill>
          <a:blip r:embed="rId3"/>
          <a:stretch>
            <a:fillRect/>
          </a:stretch>
        </p:blipFill>
        <p:spPr>
          <a:xfrm>
            <a:off x="13800124" y="9932212"/>
            <a:ext cx="252374" cy="252374"/>
          </a:xfrm>
          <a:prstGeom prst="rect">
            <a:avLst/>
          </a:prstGeom>
        </p:spPr>
      </p:pic>
      <p:sp>
        <p:nvSpPr>
          <p:cNvPr id="75" name="Oval 74"/>
          <p:cNvSpPr/>
          <p:nvPr/>
        </p:nvSpPr>
        <p:spPr>
          <a:xfrm>
            <a:off x="17647920" y="9848088"/>
            <a:ext cx="420624" cy="420624"/>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LuCircleDot.png"/>
          <p:cNvPicPr>
            <a:picLocks noChangeAspect="1"/>
          </p:cNvPicPr>
          <p:nvPr/>
        </p:nvPicPr>
        <p:blipFill>
          <a:blip r:embed="rId4"/>
          <a:stretch>
            <a:fillRect/>
          </a:stretch>
        </p:blipFill>
        <p:spPr>
          <a:xfrm>
            <a:off x="17732044" y="9932212"/>
            <a:ext cx="252374" cy="252374"/>
          </a:xfrm>
          <a:prstGeom prst="rect">
            <a:avLst/>
          </a:prstGeom>
        </p:spPr>
      </p:pic>
      <p:sp>
        <p:nvSpPr>
          <p:cNvPr id="77" name="Rounded Rectangle 76"/>
          <p:cNvSpPr/>
          <p:nvPr/>
        </p:nvSpPr>
        <p:spPr>
          <a:xfrm>
            <a:off x="20071080" y="3749039"/>
            <a:ext cx="3401568" cy="3108960"/>
          </a:xfrm>
          <a:prstGeom prst="roundRect">
            <a:avLst>
              <a:gd name="adj" fmla="val 6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20391120" y="3886200"/>
            <a:ext cx="2761488" cy="1234440"/>
          </a:xfrm>
          <a:prstGeom prst="rect">
            <a:avLst/>
          </a:prstGeom>
          <a:noFill/>
        </p:spPr>
        <p:txBody>
          <a:bodyPr wrap="square" lIns="0" rIns="0" tIns="18288" bIns="18288" anchor="ctr">
            <a:noAutofit/>
          </a:bodyPr>
          <a:lstStyle/>
          <a:p>
            <a:pPr algn="l">
              <a:lnSpc>
                <a:spcPct val="100000"/>
              </a:lnSpc>
              <a:spcBef>
                <a:spcPts val="0"/>
              </a:spcBef>
              <a:spcAft>
                <a:spcPts val="0"/>
              </a:spcAft>
            </a:pPr>
            <a:r>
              <a:rPr sz="4000" b="0" i="0">
                <a:solidFill>
                  <a:srgbClr val="DB7D00"/>
                </a:solidFill>
                <a:latin typeface="+mj-lt"/>
              </a:rPr>
              <a:t>12/12</a:t>
            </a:r>
          </a:p>
        </p:txBody>
      </p:sp>
      <p:sp>
        <p:nvSpPr>
          <p:cNvPr id="79" name="TextBox 78"/>
          <p:cNvSpPr txBox="1"/>
          <p:nvPr/>
        </p:nvSpPr>
        <p:spPr>
          <a:xfrm>
            <a:off x="20391120" y="5166359"/>
            <a:ext cx="2761488" cy="68580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192B37"/>
                </a:solidFill>
              </a:rPr>
              <a:t>Playwright</a:t>
            </a:r>
          </a:p>
        </p:txBody>
      </p:sp>
      <p:sp>
        <p:nvSpPr>
          <p:cNvPr id="80" name="Rounded Rectangle 79"/>
          <p:cNvSpPr/>
          <p:nvPr/>
        </p:nvSpPr>
        <p:spPr>
          <a:xfrm>
            <a:off x="20071080" y="7086600"/>
            <a:ext cx="3401568" cy="3108960"/>
          </a:xfrm>
          <a:prstGeom prst="roundRect">
            <a:avLst>
              <a:gd name="adj" fmla="val 6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20391120" y="7223760"/>
            <a:ext cx="2761488" cy="1234440"/>
          </a:xfrm>
          <a:prstGeom prst="rect">
            <a:avLst/>
          </a:prstGeom>
          <a:noFill/>
        </p:spPr>
        <p:txBody>
          <a:bodyPr wrap="square" lIns="0" rIns="0" tIns="18288" bIns="18288" anchor="ctr">
            <a:noAutofit/>
          </a:bodyPr>
          <a:lstStyle/>
          <a:p>
            <a:pPr algn="l">
              <a:lnSpc>
                <a:spcPct val="100000"/>
              </a:lnSpc>
              <a:spcBef>
                <a:spcPts val="0"/>
              </a:spcBef>
              <a:spcAft>
                <a:spcPts val="0"/>
              </a:spcAft>
            </a:pPr>
            <a:r>
              <a:rPr sz="4000" b="0" i="0">
                <a:solidFill>
                  <a:srgbClr val="3D9BC8"/>
                </a:solidFill>
                <a:latin typeface="+mj-lt"/>
              </a:rPr>
              <a:t>4/12</a:t>
            </a:r>
          </a:p>
        </p:txBody>
      </p:sp>
      <p:sp>
        <p:nvSpPr>
          <p:cNvPr id="82" name="TextBox 81"/>
          <p:cNvSpPr txBox="1"/>
          <p:nvPr/>
        </p:nvSpPr>
        <p:spPr>
          <a:xfrm>
            <a:off x="20391120" y="8503920"/>
            <a:ext cx="2761488" cy="68580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192B37"/>
                </a:solidFill>
              </a:rPr>
              <a:t>Cypress (+6 partial)</a:t>
            </a:r>
          </a:p>
        </p:txBody>
      </p:sp>
      <p:sp>
        <p:nvSpPr>
          <p:cNvPr id="83" name="Rounded Rectangle 82"/>
          <p:cNvSpPr/>
          <p:nvPr/>
        </p:nvSpPr>
        <p:spPr>
          <a:xfrm>
            <a:off x="612648" y="10789920"/>
            <a:ext cx="22860000" cy="960120"/>
          </a:xfrm>
          <a:prstGeom prst="roundRect">
            <a:avLst>
              <a:gd name="adj" fmla="val 1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Oval 83"/>
          <p:cNvSpPr/>
          <p:nvPr/>
        </p:nvSpPr>
        <p:spPr>
          <a:xfrm>
            <a:off x="886968" y="10927080"/>
            <a:ext cx="685800" cy="68580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5" name="Picture 84" descr="LuLaugh.png"/>
          <p:cNvPicPr>
            <a:picLocks noChangeAspect="1"/>
          </p:cNvPicPr>
          <p:nvPr/>
        </p:nvPicPr>
        <p:blipFill>
          <a:blip r:embed="rId6"/>
          <a:stretch>
            <a:fillRect/>
          </a:stretch>
        </p:blipFill>
        <p:spPr>
          <a:xfrm>
            <a:off x="1051560" y="11091672"/>
            <a:ext cx="356616" cy="356616"/>
          </a:xfrm>
          <a:prstGeom prst="rect">
            <a:avLst/>
          </a:prstGeom>
        </p:spPr>
      </p:pic>
      <p:sp>
        <p:nvSpPr>
          <p:cNvPr id="86" name="TextBox 85"/>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Checkmarks: the only kind of ticks a tester is happy to find on a Friday afternoon.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Cy vs PW</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DB7D00"/>
                </a:solidFill>
              </a:rPr>
              <a:t>CYPRESS VS PLAYWRIGHT · ADOPTION</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The numbers (dated, sourced, and a bit lopsided)</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39</a:t>
            </a:r>
          </a:p>
        </p:txBody>
      </p:sp>
      <p:sp>
        <p:nvSpPr>
          <p:cNvPr id="6" name="TextBox 5"/>
          <p:cNvSpPr txBox="1"/>
          <p:nvPr/>
        </p:nvSpPr>
        <p:spPr>
          <a:xfrm>
            <a:off x="612648" y="2880360"/>
            <a:ext cx="73152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DB7D00"/>
                </a:solidFill>
              </a:rPr>
              <a:t>NPM WEEKLY DOWNLOADS (MILLIONS)</a:t>
            </a:r>
          </a:p>
        </p:txBody>
      </p:sp>
      <p:graphicFrame>
        <p:nvGraphicFramePr>
          <p:cNvPr id="7" name="Chart 6"/>
          <p:cNvGraphicFramePr>
            <a:graphicFrameLocks noGrp="1"/>
          </p:cNvGraphicFramePr>
          <p:nvPr/>
        </p:nvGraphicFramePr>
        <p:xfrm>
          <a:off x="457200" y="3291840"/>
          <a:ext cx="7498079" cy="5120640"/>
        </p:xfrm>
        <a:graphic>
          <a:graphicData uri="http://schemas.openxmlformats.org/drawingml/2006/chart">
            <c:chart xmlns:c="http://schemas.openxmlformats.org/drawingml/2006/chart" r:id="rId3"/>
          </a:graphicData>
        </a:graphic>
      </p:graphicFrame>
      <p:sp>
        <p:nvSpPr>
          <p:cNvPr id="8" name="TextBox 7"/>
          <p:cNvSpPr txBox="1"/>
          <p:nvPr/>
        </p:nvSpPr>
        <p:spPr>
          <a:xfrm>
            <a:off x="8229600" y="2880360"/>
            <a:ext cx="73152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DB7D00"/>
                </a:solidFill>
              </a:rPr>
              <a:t>GITHUB STARS (THOUSANDS)</a:t>
            </a:r>
          </a:p>
        </p:txBody>
      </p:sp>
      <p:graphicFrame>
        <p:nvGraphicFramePr>
          <p:cNvPr id="9" name="Chart 8"/>
          <p:cNvGraphicFramePr>
            <a:graphicFrameLocks noGrp="1"/>
          </p:cNvGraphicFramePr>
          <p:nvPr/>
        </p:nvGraphicFramePr>
        <p:xfrm>
          <a:off x="8092440" y="3291840"/>
          <a:ext cx="7498079" cy="5120640"/>
        </p:xfrm>
        <a:graphic>
          <a:graphicData uri="http://schemas.openxmlformats.org/drawingml/2006/chart">
            <c:chart xmlns:c="http://schemas.openxmlformats.org/drawingml/2006/chart" r:id="rId4"/>
          </a:graphicData>
        </a:graphic>
      </p:graphicFrame>
      <p:sp>
        <p:nvSpPr>
          <p:cNvPr id="10" name="TextBox 9"/>
          <p:cNvSpPr txBox="1"/>
          <p:nvPr/>
        </p:nvSpPr>
        <p:spPr>
          <a:xfrm>
            <a:off x="15864840" y="2880360"/>
            <a:ext cx="758952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DB7D00"/>
                </a:solidFill>
              </a:rPr>
              <a:t>STATE OF JS 2024 · USED AT WORK</a:t>
            </a:r>
          </a:p>
        </p:txBody>
      </p:sp>
      <p:graphicFrame>
        <p:nvGraphicFramePr>
          <p:cNvPr id="11" name="Chart 10"/>
          <p:cNvGraphicFramePr>
            <a:graphicFrameLocks noGrp="1"/>
          </p:cNvGraphicFramePr>
          <p:nvPr/>
        </p:nvGraphicFramePr>
        <p:xfrm>
          <a:off x="15727680" y="3291840"/>
          <a:ext cx="7772400" cy="5120640"/>
        </p:xfrm>
        <a:graphic>
          <a:graphicData uri="http://schemas.openxmlformats.org/drawingml/2006/chart">
            <c:chart xmlns:c="http://schemas.openxmlformats.org/drawingml/2006/chart" r:id="rId5"/>
          </a:graphicData>
        </a:graphic>
      </p:graphicFrame>
      <p:sp>
        <p:nvSpPr>
          <p:cNvPr id="12" name="Rounded Rectangle 11"/>
          <p:cNvSpPr/>
          <p:nvPr/>
        </p:nvSpPr>
        <p:spPr>
          <a:xfrm>
            <a:off x="612648" y="8641080"/>
            <a:ext cx="7406640" cy="1783080"/>
          </a:xfrm>
          <a:prstGeom prst="roundRect">
            <a:avLst>
              <a:gd name="adj" fmla="val 1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86968" y="8641080"/>
            <a:ext cx="3108960" cy="1783080"/>
          </a:xfrm>
          <a:prstGeom prst="rect">
            <a:avLst/>
          </a:prstGeom>
          <a:noFill/>
        </p:spPr>
        <p:txBody>
          <a:bodyPr wrap="square" lIns="0" rIns="0" tIns="18288" bIns="18288" anchor="ctr">
            <a:noAutofit/>
          </a:bodyPr>
          <a:lstStyle/>
          <a:p>
            <a:pPr algn="l">
              <a:lnSpc>
                <a:spcPct val="100000"/>
              </a:lnSpc>
              <a:spcBef>
                <a:spcPts val="0"/>
              </a:spcBef>
              <a:spcAft>
                <a:spcPts val="0"/>
              </a:spcAft>
            </a:pPr>
            <a:r>
              <a:rPr sz="3400" b="0" i="0">
                <a:solidFill>
                  <a:srgbClr val="DB7D00"/>
                </a:solidFill>
                <a:latin typeface="+mj-lt"/>
              </a:rPr>
              <a:t>≈ 13 : 1</a:t>
            </a:r>
          </a:p>
        </p:txBody>
      </p:sp>
      <p:sp>
        <p:nvSpPr>
          <p:cNvPr id="14" name="TextBox 13"/>
          <p:cNvSpPr txBox="1"/>
          <p:nvPr/>
        </p:nvSpPr>
        <p:spPr>
          <a:xfrm>
            <a:off x="3995928" y="8641080"/>
            <a:ext cx="3840480" cy="178308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192B37"/>
                </a:solidFill>
              </a:rPr>
              <a:t>downloads — counts CI installs, not people</a:t>
            </a:r>
          </a:p>
        </p:txBody>
      </p:sp>
      <p:sp>
        <p:nvSpPr>
          <p:cNvPr id="15" name="Rounded Rectangle 14"/>
          <p:cNvSpPr/>
          <p:nvPr/>
        </p:nvSpPr>
        <p:spPr>
          <a:xfrm>
            <a:off x="8311896" y="8641080"/>
            <a:ext cx="7406640" cy="1783080"/>
          </a:xfrm>
          <a:prstGeom prst="roundRect">
            <a:avLst>
              <a:gd name="adj" fmla="val 1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586216" y="8641080"/>
            <a:ext cx="3108960" cy="1783080"/>
          </a:xfrm>
          <a:prstGeom prst="rect">
            <a:avLst/>
          </a:prstGeom>
          <a:noFill/>
        </p:spPr>
        <p:txBody>
          <a:bodyPr wrap="square" lIns="0" rIns="0" tIns="18288" bIns="18288" anchor="ctr">
            <a:noAutofit/>
          </a:bodyPr>
          <a:lstStyle/>
          <a:p>
            <a:pPr algn="l">
              <a:lnSpc>
                <a:spcPct val="100000"/>
              </a:lnSpc>
              <a:spcBef>
                <a:spcPts val="0"/>
              </a:spcBef>
              <a:spcAft>
                <a:spcPts val="0"/>
              </a:spcAft>
            </a:pPr>
            <a:r>
              <a:rPr sz="3400" b="0" i="0">
                <a:solidFill>
                  <a:srgbClr val="8683C3"/>
                </a:solidFill>
                <a:latin typeface="+mj-lt"/>
              </a:rPr>
              <a:t>≈ 1.9 ×</a:t>
            </a:r>
          </a:p>
        </p:txBody>
      </p:sp>
      <p:sp>
        <p:nvSpPr>
          <p:cNvPr id="17" name="TextBox 16"/>
          <p:cNvSpPr txBox="1"/>
          <p:nvPr/>
        </p:nvSpPr>
        <p:spPr>
          <a:xfrm>
            <a:off x="11695176" y="8641080"/>
            <a:ext cx="3840480" cy="178308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192B37"/>
                </a:solidFill>
              </a:rPr>
              <a:t>more GitHub stars</a:t>
            </a:r>
          </a:p>
        </p:txBody>
      </p:sp>
      <p:sp>
        <p:nvSpPr>
          <p:cNvPr id="18" name="Rounded Rectangle 17"/>
          <p:cNvSpPr/>
          <p:nvPr/>
        </p:nvSpPr>
        <p:spPr>
          <a:xfrm>
            <a:off x="16011144" y="8641080"/>
            <a:ext cx="7406640" cy="1783080"/>
          </a:xfrm>
          <a:prstGeom prst="roundRect">
            <a:avLst>
              <a:gd name="adj" fmla="val 1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6285464" y="8641080"/>
            <a:ext cx="3108960" cy="1783080"/>
          </a:xfrm>
          <a:prstGeom prst="rect">
            <a:avLst/>
          </a:prstGeom>
          <a:noFill/>
        </p:spPr>
        <p:txBody>
          <a:bodyPr wrap="square" lIns="0" rIns="0" tIns="18288" bIns="18288" anchor="ctr">
            <a:noAutofit/>
          </a:bodyPr>
          <a:lstStyle/>
          <a:p>
            <a:pPr algn="l">
              <a:lnSpc>
                <a:spcPct val="100000"/>
              </a:lnSpc>
              <a:spcBef>
                <a:spcPts val="0"/>
              </a:spcBef>
              <a:spcAft>
                <a:spcPts val="0"/>
              </a:spcAft>
            </a:pPr>
            <a:r>
              <a:rPr sz="3400" b="0" i="0">
                <a:solidFill>
                  <a:srgbClr val="00A859"/>
                </a:solidFill>
                <a:latin typeface="+mj-lt"/>
              </a:rPr>
              <a:t>≈ tie</a:t>
            </a:r>
          </a:p>
        </p:txBody>
      </p:sp>
      <p:sp>
        <p:nvSpPr>
          <p:cNvPr id="20" name="TextBox 19"/>
          <p:cNvSpPr txBox="1"/>
          <p:nvPr/>
        </p:nvSpPr>
        <p:spPr>
          <a:xfrm>
            <a:off x="19394424" y="8641080"/>
            <a:ext cx="3840480" cy="178308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192B37"/>
                </a:solidFill>
              </a:rPr>
              <a:t>at work in 2024 — the race is close</a:t>
            </a:r>
          </a:p>
        </p:txBody>
      </p:sp>
      <p:sp>
        <p:nvSpPr>
          <p:cNvPr id="21" name="Rounded Rectangle 20"/>
          <p:cNvSpPr/>
          <p:nvPr/>
        </p:nvSpPr>
        <p:spPr>
          <a:xfrm>
            <a:off x="612648" y="10789920"/>
            <a:ext cx="22860000" cy="960120"/>
          </a:xfrm>
          <a:prstGeom prst="roundRect">
            <a:avLst>
              <a:gd name="adj" fmla="val 1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86968" y="10927080"/>
            <a:ext cx="685800" cy="68580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LuLaugh.png"/>
          <p:cNvPicPr>
            <a:picLocks noChangeAspect="1"/>
          </p:cNvPicPr>
          <p:nvPr/>
        </p:nvPicPr>
        <p:blipFill>
          <a:blip r:embed="rId6"/>
          <a:stretch>
            <a:fillRect/>
          </a:stretch>
        </p:blipFill>
        <p:spPr>
          <a:xfrm>
            <a:off x="1051560" y="11091672"/>
            <a:ext cx="356616" cy="356616"/>
          </a:xfrm>
          <a:prstGeom prst="rect">
            <a:avLst/>
          </a:prstGeom>
        </p:spPr>
      </p:pic>
      <p:sp>
        <p:nvSpPr>
          <p:cNvPr id="24" name="TextBox 23"/>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Playwright 3,674 vs Cypress 3,603 at work — the closest race since tabs vs spaces.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Cy vs PW</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DB7D00"/>
                </a:solidFill>
              </a:rPr>
              <a:t>APPROACH · EXAMPLE 1</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Programmatic login: custom command vs. plain function</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40</a:t>
            </a:r>
          </a:p>
        </p:txBody>
      </p:sp>
      <p:sp>
        <p:nvSpPr>
          <p:cNvPr id="6" name="Rounded Rectangle 5"/>
          <p:cNvSpPr/>
          <p:nvPr/>
        </p:nvSpPr>
        <p:spPr>
          <a:xfrm>
            <a:off x="612648" y="2926080"/>
            <a:ext cx="11247120" cy="6126480"/>
          </a:xfrm>
          <a:prstGeom prst="roundRect">
            <a:avLst>
              <a:gd name="adj" fmla="val 4179"/>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86968" y="312724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79576" y="312724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72184" y="312724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92807" y="2999232"/>
            <a:ext cx="969264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Cypress · custom command</a:t>
            </a:r>
          </a:p>
        </p:txBody>
      </p:sp>
      <p:sp>
        <p:nvSpPr>
          <p:cNvPr id="11" name="TextBox 10"/>
          <p:cNvSpPr txBox="1"/>
          <p:nvPr/>
        </p:nvSpPr>
        <p:spPr>
          <a:xfrm>
            <a:off x="886968" y="3474720"/>
            <a:ext cx="10789920" cy="5440680"/>
          </a:xfrm>
          <a:prstGeom prst="rect">
            <a:avLst/>
          </a:prstGeom>
          <a:noFill/>
        </p:spPr>
        <p:txBody>
          <a:bodyPr wrap="none" lIns="0" rIns="0" tIns="0" bIns="0">
            <a:noAutofit/>
          </a:bodyPr>
          <a:lstStyle/>
          <a:p>
            <a:pPr>
              <a:lnSpc>
                <a:spcPct val="108000"/>
              </a:lnSpc>
              <a:spcBef>
                <a:spcPts val="0"/>
              </a:spcBef>
              <a:spcAft>
                <a:spcPts val="0"/>
              </a:spcAft>
            </a:pPr>
            <a:r>
              <a:rPr sz="1800" i="1" b="0">
                <a:solidFill>
                  <a:srgbClr val="7F93A3"/>
                </a:solidFill>
                <a:latin typeface="Consolas"/>
              </a:rPr>
              <a:t>// cypress/support/commands.ts</a:t>
            </a:r>
          </a:p>
          <a:p>
            <a:pPr>
              <a:lnSpc>
                <a:spcPct val="108000"/>
              </a:lnSpc>
              <a:spcBef>
                <a:spcPts val="0"/>
              </a:spcBef>
              <a:spcAft>
                <a:spcPts val="0"/>
              </a:spcAft>
            </a:pPr>
            <a:r>
              <a:rPr sz="1800" i="0" b="0">
                <a:solidFill>
                  <a:srgbClr val="C9B8FF"/>
                </a:solidFill>
                <a:latin typeface="Consolas"/>
              </a:rPr>
              <a:t>Cypress</a:t>
            </a:r>
            <a:r>
              <a:rPr sz="1800" i="0" b="0">
                <a:solidFill>
                  <a:srgbClr val="E6EDF3"/>
                </a:solidFill>
                <a:latin typeface="Consolas"/>
              </a:rPr>
              <a:t>.</a:t>
            </a:r>
            <a:r>
              <a:rPr sz="1800" i="0" b="0">
                <a:solidFill>
                  <a:srgbClr val="C9B8FF"/>
                </a:solidFill>
                <a:latin typeface="Consolas"/>
              </a:rPr>
              <a:t>Commands</a:t>
            </a:r>
            <a:r>
              <a:rPr sz="1800" i="0" b="0">
                <a:solidFill>
                  <a:srgbClr val="E6EDF3"/>
                </a:solidFill>
                <a:latin typeface="Consolas"/>
              </a:rPr>
              <a:t>.</a:t>
            </a:r>
            <a:r>
              <a:rPr sz="1800" i="0" b="0">
                <a:solidFill>
                  <a:srgbClr val="8CCFF0"/>
                </a:solidFill>
                <a:latin typeface="Consolas"/>
              </a:rPr>
              <a:t>add</a:t>
            </a:r>
            <a:r>
              <a:rPr sz="1800" i="0" b="0">
                <a:solidFill>
                  <a:srgbClr val="E6EDF3"/>
                </a:solidFill>
                <a:latin typeface="Consolas"/>
              </a:rPr>
              <a:t>(</a:t>
            </a:r>
            <a:r>
              <a:rPr sz="1800" i="0" b="0">
                <a:solidFill>
                  <a:srgbClr val="9BE3B4"/>
                </a:solidFill>
                <a:latin typeface="Consolas"/>
              </a:rPr>
              <a:t>"loginByXstate"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username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password</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cy</a:t>
            </a:r>
            <a:r>
              <a:rPr sz="1800" i="0" b="0">
                <a:solidFill>
                  <a:srgbClr val="E6EDF3"/>
                </a:solidFill>
                <a:latin typeface="Consolas"/>
              </a:rPr>
              <a:t>.</a:t>
            </a:r>
            <a:r>
              <a:rPr sz="1800" i="0" b="0">
                <a:solidFill>
                  <a:srgbClr val="8CCFF0"/>
                </a:solidFill>
                <a:latin typeface="Consolas"/>
              </a:rPr>
              <a:t>intercept</a:t>
            </a:r>
            <a:r>
              <a:rPr sz="1800" i="0" b="0">
                <a:solidFill>
                  <a:srgbClr val="E6EDF3"/>
                </a:solidFill>
                <a:latin typeface="Consolas"/>
              </a:rPr>
              <a:t>(</a:t>
            </a:r>
            <a:r>
              <a:rPr sz="1800" i="0" b="0">
                <a:solidFill>
                  <a:srgbClr val="9BE3B4"/>
                </a:solidFill>
                <a:latin typeface="Consolas"/>
              </a:rPr>
              <a:t>"POST"</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"/login"</a:t>
            </a:r>
            <a:r>
              <a:rPr sz="1800" i="0" b="0">
                <a:solidFill>
                  <a:srgbClr val="E6EDF3"/>
                </a:solidFill>
                <a:latin typeface="Consolas"/>
              </a:rPr>
              <a:t>)</a:t>
            </a:r>
            <a:r>
              <a:rPr sz="1800" i="0" b="0">
                <a:solidFill>
                  <a:srgbClr val="E6EDF3"/>
                </a:solidFill>
                <a:latin typeface="Consolas"/>
              </a:rPr>
              <a:t>.</a:t>
            </a:r>
            <a:r>
              <a:rPr sz="1800" i="0" b="0">
                <a:solidFill>
                  <a:srgbClr val="FF9C8A"/>
                </a:solidFill>
                <a:latin typeface="Consolas"/>
              </a:rPr>
              <a:t>as</a:t>
            </a:r>
            <a:r>
              <a:rPr sz="1800" i="0" b="0">
                <a:solidFill>
                  <a:srgbClr val="E6EDF3"/>
                </a:solidFill>
                <a:latin typeface="Consolas"/>
              </a:rPr>
              <a:t>(</a:t>
            </a:r>
            <a:r>
              <a:rPr sz="1800" i="0" b="0">
                <a:solidFill>
                  <a:srgbClr val="9BE3B4"/>
                </a:solidFill>
                <a:latin typeface="Consolas"/>
              </a:rPr>
              <a:t>"loginUser"</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cy</a:t>
            </a:r>
            <a:r>
              <a:rPr sz="1800" i="0" b="0">
                <a:solidFill>
                  <a:srgbClr val="E6EDF3"/>
                </a:solidFill>
                <a:latin typeface="Consolas"/>
              </a:rPr>
              <a:t>.</a:t>
            </a:r>
            <a:r>
              <a:rPr sz="1800" i="0" b="0">
                <a:solidFill>
                  <a:srgbClr val="8CCFF0"/>
                </a:solidFill>
                <a:latin typeface="Consolas"/>
              </a:rPr>
              <a:t>visit</a:t>
            </a:r>
            <a:r>
              <a:rPr sz="1800" i="0" b="0">
                <a:solidFill>
                  <a:srgbClr val="E6EDF3"/>
                </a:solidFill>
                <a:latin typeface="Consolas"/>
              </a:rPr>
              <a:t>(</a:t>
            </a:r>
            <a:r>
              <a:rPr sz="1800" i="0" b="0">
                <a:solidFill>
                  <a:srgbClr val="9BE3B4"/>
                </a:solidFill>
                <a:latin typeface="Consolas"/>
              </a:rPr>
              <a:t>"/signin"</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cy</a:t>
            </a:r>
            <a:r>
              <a:rPr sz="1800" i="0" b="0">
                <a:solidFill>
                  <a:srgbClr val="E6EDF3"/>
                </a:solidFill>
                <a:latin typeface="Consolas"/>
              </a:rPr>
              <a:t>.</a:t>
            </a:r>
            <a:r>
              <a:rPr sz="1800" i="0" b="0">
                <a:solidFill>
                  <a:srgbClr val="8CCFF0"/>
                </a:solidFill>
                <a:latin typeface="Consolas"/>
              </a:rPr>
              <a:t>window</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then</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win</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win</a:t>
            </a:r>
            <a:r>
              <a:rPr sz="1800" i="0" b="0">
                <a:solidFill>
                  <a:srgbClr val="E6EDF3"/>
                </a:solidFill>
                <a:latin typeface="Consolas"/>
              </a:rPr>
              <a:t>.</a:t>
            </a:r>
            <a:r>
              <a:rPr sz="1800" i="0" b="0">
                <a:solidFill>
                  <a:srgbClr val="E6EDF3"/>
                </a:solidFill>
                <a:latin typeface="Consolas"/>
              </a:rPr>
              <a:t>authService</a:t>
            </a:r>
            <a:r>
              <a:rPr sz="1800" i="0" b="0">
                <a:solidFill>
                  <a:srgbClr val="E6EDF3"/>
                </a:solidFill>
                <a:latin typeface="Consolas"/>
              </a:rPr>
              <a:t>.</a:t>
            </a:r>
            <a:r>
              <a:rPr sz="1800" i="0" b="0">
                <a:solidFill>
                  <a:srgbClr val="8CCFF0"/>
                </a:solidFill>
                <a:latin typeface="Consolas"/>
              </a:rPr>
              <a:t>send</a:t>
            </a:r>
            <a:r>
              <a:rPr sz="1800" i="0" b="0">
                <a:solidFill>
                  <a:srgbClr val="E6EDF3"/>
                </a:solidFill>
                <a:latin typeface="Consolas"/>
              </a:rPr>
              <a:t>(</a:t>
            </a:r>
            <a:r>
              <a:rPr sz="1800" i="0" b="0">
                <a:solidFill>
                  <a:srgbClr val="9BE3B4"/>
                </a:solidFill>
                <a:latin typeface="Consolas"/>
              </a:rPr>
              <a:t>"LOGIN"</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username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password</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cy</a:t>
            </a:r>
            <a:r>
              <a:rPr sz="1800" i="0" b="0">
                <a:solidFill>
                  <a:srgbClr val="E6EDF3"/>
                </a:solidFill>
                <a:latin typeface="Consolas"/>
              </a:rPr>
              <a:t>.</a:t>
            </a:r>
            <a:r>
              <a:rPr sz="1800" i="0" b="0">
                <a:solidFill>
                  <a:srgbClr val="8CCFF0"/>
                </a:solidFill>
                <a:latin typeface="Consolas"/>
              </a:rPr>
              <a:t>wait</a:t>
            </a:r>
            <a:r>
              <a:rPr sz="1800" i="0" b="0">
                <a:solidFill>
                  <a:srgbClr val="E6EDF3"/>
                </a:solidFill>
                <a:latin typeface="Consolas"/>
              </a:rPr>
              <a:t>(</a:t>
            </a:r>
            <a:r>
              <a:rPr sz="1800" i="0" b="0">
                <a:solidFill>
                  <a:srgbClr val="9BE3B4"/>
                </a:solidFill>
                <a:latin typeface="Consolas"/>
              </a:rPr>
              <a:t>"@loginUser"</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return</a:t>
            </a:r>
            <a:r>
              <a:rPr sz="1800" i="0" b="0">
                <a:solidFill>
                  <a:srgbClr val="E6EDF3"/>
                </a:solidFill>
                <a:latin typeface="Consolas"/>
              </a:rPr>
              <a:t> </a:t>
            </a:r>
            <a:r>
              <a:rPr sz="1800" i="0" b="0">
                <a:solidFill>
                  <a:srgbClr val="E6EDF3"/>
                </a:solidFill>
                <a:latin typeface="Consolas"/>
              </a:rPr>
              <a:t>cy</a:t>
            </a:r>
            <a:r>
              <a:rPr sz="1800" i="0" b="0">
                <a:solidFill>
                  <a:srgbClr val="E6EDF3"/>
                </a:solidFill>
                <a:latin typeface="Consolas"/>
              </a:rPr>
              <a:t>.</a:t>
            </a:r>
            <a:r>
              <a:rPr sz="1800" i="0" b="0">
                <a:solidFill>
                  <a:srgbClr val="8CCFF0"/>
                </a:solidFill>
                <a:latin typeface="Consolas"/>
              </a:rPr>
              <a:t>getBySel</a:t>
            </a:r>
            <a:r>
              <a:rPr sz="1800" i="0" b="0">
                <a:solidFill>
                  <a:srgbClr val="E6EDF3"/>
                </a:solidFill>
                <a:latin typeface="Consolas"/>
              </a:rPr>
              <a:t>(</a:t>
            </a:r>
            <a:r>
              <a:rPr sz="1800" i="0" b="0">
                <a:solidFill>
                  <a:srgbClr val="9BE3B4"/>
                </a:solidFill>
                <a:latin typeface="Consolas"/>
              </a:rPr>
              <a:t>"list-skeleton"</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should</a:t>
            </a:r>
            <a:r>
              <a:rPr sz="1800" i="0" b="0">
                <a:solidFill>
                  <a:srgbClr val="E6EDF3"/>
                </a:solidFill>
                <a:latin typeface="Consolas"/>
              </a:rPr>
              <a:t>(</a:t>
            </a:r>
            <a:r>
              <a:rPr sz="1800" i="0" b="0">
                <a:solidFill>
                  <a:srgbClr val="9BE3B4"/>
                </a:solidFill>
                <a:latin typeface="Consolas"/>
              </a:rPr>
              <a:t>"not.exist"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p>
          <a:p>
            <a:pPr>
              <a:lnSpc>
                <a:spcPct val="108000"/>
              </a:lnSpc>
              <a:spcBef>
                <a:spcPts val="0"/>
              </a:spcBef>
              <a:spcAft>
                <a:spcPts val="0"/>
              </a:spcAft>
            </a:pPr>
            <a:r>
              <a:rPr sz="1800" i="1" b="0">
                <a:solidFill>
                  <a:srgbClr val="7F93A3"/>
                </a:solidFill>
                <a:latin typeface="Consolas"/>
              </a:rPr>
              <a:t>// in a spec</a:t>
            </a:r>
          </a:p>
          <a:p>
            <a:pPr>
              <a:lnSpc>
                <a:spcPct val="108000"/>
              </a:lnSpc>
              <a:spcBef>
                <a:spcPts val="0"/>
              </a:spcBef>
              <a:spcAft>
                <a:spcPts val="0"/>
              </a:spcAft>
            </a:pPr>
            <a:r>
              <a:rPr sz="1800" i="0" b="0">
                <a:solidFill>
                  <a:srgbClr val="E6EDF3"/>
                </a:solidFill>
                <a:latin typeface="Consolas"/>
              </a:rPr>
              <a:t>cy</a:t>
            </a:r>
            <a:r>
              <a:rPr sz="1800" i="0" b="0">
                <a:solidFill>
                  <a:srgbClr val="E6EDF3"/>
                </a:solidFill>
                <a:latin typeface="Consolas"/>
              </a:rPr>
              <a:t>.</a:t>
            </a:r>
            <a:r>
              <a:rPr sz="1800" i="0" b="0">
                <a:solidFill>
                  <a:srgbClr val="8CCFF0"/>
                </a:solidFill>
                <a:latin typeface="Consolas"/>
              </a:rPr>
              <a:t>loginByXstate</a:t>
            </a:r>
            <a:r>
              <a:rPr sz="1800" i="0" b="0">
                <a:solidFill>
                  <a:srgbClr val="E6EDF3"/>
                </a:solidFill>
                <a:latin typeface="Consolas"/>
              </a:rPr>
              <a:t>(</a:t>
            </a:r>
            <a:r>
              <a:rPr sz="1800" i="0" b="0">
                <a:solidFill>
                  <a:srgbClr val="E6EDF3"/>
                </a:solidFill>
                <a:latin typeface="Consolas"/>
              </a:rPr>
              <a:t>ctx</a:t>
            </a:r>
            <a:r>
              <a:rPr sz="1800" i="0" b="0">
                <a:solidFill>
                  <a:srgbClr val="E6EDF3"/>
                </a:solidFill>
                <a:latin typeface="Consolas"/>
              </a:rPr>
              <a:t>.</a:t>
            </a:r>
            <a:r>
              <a:rPr sz="1800" i="0" b="0">
                <a:solidFill>
                  <a:srgbClr val="E6EDF3"/>
                </a:solidFill>
                <a:latin typeface="Consolas"/>
              </a:rPr>
              <a:t>user</a:t>
            </a:r>
            <a:r>
              <a:rPr sz="1800" i="0" b="0">
                <a:solidFill>
                  <a:srgbClr val="E6EDF3"/>
                </a:solidFill>
                <a:latin typeface="Consolas"/>
              </a:rPr>
              <a:t>.</a:t>
            </a:r>
            <a:r>
              <a:rPr sz="1800" i="0" b="0">
                <a:solidFill>
                  <a:srgbClr val="E6EDF3"/>
                </a:solidFill>
                <a:latin typeface="Consolas"/>
              </a:rPr>
              <a:t>username</a:t>
            </a:r>
            <a:r>
              <a:rPr sz="1800" i="0" b="0">
                <a:solidFill>
                  <a:srgbClr val="E6EDF3"/>
                </a:solidFill>
                <a:latin typeface="Consolas"/>
              </a:rPr>
              <a:t>)</a:t>
            </a:r>
            <a:r>
              <a:rPr sz="1800" i="0" b="0">
                <a:solidFill>
                  <a:srgbClr val="E6EDF3"/>
                </a:solidFill>
                <a:latin typeface="Consolas"/>
              </a:rPr>
              <a:t>;</a:t>
            </a:r>
          </a:p>
        </p:txBody>
      </p:sp>
      <p:sp>
        <p:nvSpPr>
          <p:cNvPr id="12" name="Rounded Rectangle 11"/>
          <p:cNvSpPr/>
          <p:nvPr/>
        </p:nvSpPr>
        <p:spPr>
          <a:xfrm>
            <a:off x="12225528" y="2926080"/>
            <a:ext cx="11247120" cy="6126480"/>
          </a:xfrm>
          <a:prstGeom prst="roundRect">
            <a:avLst>
              <a:gd name="adj" fmla="val 4179"/>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2499848" y="312724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792456" y="312724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3085064" y="312724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505688" y="2999232"/>
            <a:ext cx="969264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Playwright · plain function</a:t>
            </a:r>
          </a:p>
        </p:txBody>
      </p:sp>
      <p:sp>
        <p:nvSpPr>
          <p:cNvPr id="17" name="TextBox 16"/>
          <p:cNvSpPr txBox="1"/>
          <p:nvPr/>
        </p:nvSpPr>
        <p:spPr>
          <a:xfrm>
            <a:off x="12499848" y="3474720"/>
            <a:ext cx="10789920" cy="5440680"/>
          </a:xfrm>
          <a:prstGeom prst="rect">
            <a:avLst/>
          </a:prstGeom>
          <a:noFill/>
        </p:spPr>
        <p:txBody>
          <a:bodyPr wrap="none" lIns="0" rIns="0" tIns="0" bIns="0">
            <a:noAutofit/>
          </a:bodyPr>
          <a:lstStyle/>
          <a:p>
            <a:pPr>
              <a:lnSpc>
                <a:spcPct val="108000"/>
              </a:lnSpc>
              <a:spcBef>
                <a:spcPts val="0"/>
              </a:spcBef>
              <a:spcAft>
                <a:spcPts val="0"/>
              </a:spcAft>
            </a:pPr>
            <a:r>
              <a:rPr sz="1800" i="1" b="0">
                <a:solidFill>
                  <a:srgbClr val="7F93A3"/>
                </a:solidFill>
                <a:latin typeface="Consolas"/>
              </a:rPr>
              <a:t>// playwright/src/ui/auth.ts</a:t>
            </a:r>
          </a:p>
          <a:p>
            <a:pPr>
              <a:lnSpc>
                <a:spcPct val="108000"/>
              </a:lnSpc>
              <a:spcBef>
                <a:spcPts val="0"/>
              </a:spcBef>
              <a:spcAft>
                <a:spcPts val="0"/>
              </a:spcAft>
            </a:pPr>
            <a:r>
              <a:rPr sz="1800" i="0" b="0">
                <a:solidFill>
                  <a:srgbClr val="FF9C8A"/>
                </a:solidFill>
                <a:latin typeface="Consolas"/>
              </a:rPr>
              <a:t>export</a:t>
            </a:r>
            <a:r>
              <a:rPr sz="1800" i="0" b="0">
                <a:solidFill>
                  <a:srgbClr val="E6EDF3"/>
                </a:solidFill>
                <a:latin typeface="Consolas"/>
              </a:rPr>
              <a:t> </a:t>
            </a:r>
            <a:r>
              <a:rPr sz="1800" i="0" b="0">
                <a:solidFill>
                  <a:srgbClr val="FF9C8A"/>
                </a:solidFill>
                <a:latin typeface="Consolas"/>
              </a:rPr>
              <a:t>const</a:t>
            </a:r>
            <a:r>
              <a:rPr sz="1800" i="0" b="0">
                <a:solidFill>
                  <a:srgbClr val="E6EDF3"/>
                </a:solidFill>
                <a:latin typeface="Consolas"/>
              </a:rPr>
              <a:t> </a:t>
            </a:r>
            <a:r>
              <a:rPr sz="1800" i="0" b="0">
                <a:solidFill>
                  <a:srgbClr val="E6EDF3"/>
                </a:solidFill>
                <a:latin typeface="Consolas"/>
              </a:rPr>
              <a:t>loginByXstate</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async</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C9B8FF"/>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username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string</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password</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env</a:t>
            </a:r>
            <a:r>
              <a:rPr sz="1800" i="0" b="0">
                <a:solidFill>
                  <a:srgbClr val="E6EDF3"/>
                </a:solidFill>
                <a:latin typeface="Consolas"/>
              </a:rPr>
              <a:t>.</a:t>
            </a:r>
            <a:r>
              <a:rPr sz="1800" i="0" b="0">
                <a:solidFill>
                  <a:srgbClr val="E6EDF3"/>
                </a:solidFill>
                <a:latin typeface="Consolas"/>
              </a:rPr>
              <a:t>defaultPassword</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E6EDF3"/>
                </a:solidFill>
                <a:latin typeface="Consolas"/>
              </a:rPr>
              <a:t>page</a:t>
            </a:r>
            <a:r>
              <a:rPr sz="1800" i="0" b="0">
                <a:solidFill>
                  <a:srgbClr val="E6EDF3"/>
                </a:solidFill>
                <a:latin typeface="Consolas"/>
              </a:rPr>
              <a:t>.</a:t>
            </a:r>
            <a:r>
              <a:rPr sz="1800" i="0" b="0">
                <a:solidFill>
                  <a:srgbClr val="8CCFF0"/>
                </a:solidFill>
                <a:latin typeface="Consolas"/>
              </a:rPr>
              <a:t>goto</a:t>
            </a:r>
            <a:r>
              <a:rPr sz="1800" i="0" b="0">
                <a:solidFill>
                  <a:srgbClr val="E6EDF3"/>
                </a:solidFill>
                <a:latin typeface="Consolas"/>
              </a:rPr>
              <a:t>(</a:t>
            </a:r>
            <a:r>
              <a:rPr sz="1800" i="0" b="0">
                <a:solidFill>
                  <a:srgbClr val="9BE3B4"/>
                </a:solidFill>
                <a:latin typeface="Consolas"/>
              </a:rPr>
              <a:t>"/signin"</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8CCFF0"/>
                </a:solidFill>
                <a:latin typeface="Consolas"/>
              </a:rPr>
              <a:t>waitForService</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"authService"</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const</a:t>
            </a:r>
            <a:r>
              <a:rPr sz="1800" i="0" b="0">
                <a:solidFill>
                  <a:srgbClr val="E6EDF3"/>
                </a:solidFill>
                <a:latin typeface="Consolas"/>
              </a:rPr>
              <a:t> </a:t>
            </a:r>
            <a:r>
              <a:rPr sz="1800" i="0" b="0">
                <a:solidFill>
                  <a:srgbClr val="E6EDF3"/>
                </a:solidFill>
                <a:latin typeface="Consolas"/>
              </a:rPr>
              <a:t>login</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8CCFF0"/>
                </a:solidFill>
                <a:latin typeface="Consolas"/>
              </a:rPr>
              <a:t>waitForApi</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method</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"POST"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path</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"/login"</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8CCFF0"/>
                </a:solidFill>
                <a:latin typeface="Consolas"/>
              </a:rPr>
              <a:t>sendToService</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"authService"</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"LOGIN"</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username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password</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expect</a:t>
            </a:r>
            <a:r>
              <a:rPr sz="1800" i="0" b="0">
                <a:solidFill>
                  <a:srgbClr val="E6EDF3"/>
                </a:solidFill>
                <a:latin typeface="Consolas"/>
              </a:rPr>
              <a:t>(</a:t>
            </a:r>
            <a:r>
              <a:rPr sz="1800" i="0" b="0">
                <a:solidFill>
                  <a:srgbClr val="E6EDF3"/>
                </a:solidFill>
                <a:latin typeface="Consolas"/>
              </a:rPr>
              <a:t>(</a:t>
            </a:r>
            <a:r>
              <a:rPr sz="1800" i="0" b="0">
                <a:solidFill>
                  <a:srgbClr val="FF9C8A"/>
                </a:solidFill>
                <a:latin typeface="Consolas"/>
              </a:rPr>
              <a:t>await</a:t>
            </a:r>
            <a:r>
              <a:rPr sz="1800" i="0" b="0">
                <a:solidFill>
                  <a:srgbClr val="E6EDF3"/>
                </a:solidFill>
                <a:latin typeface="Consolas"/>
              </a:rPr>
              <a:t> </a:t>
            </a:r>
            <a:r>
              <a:rPr sz="1800" i="0" b="0">
                <a:solidFill>
                  <a:srgbClr val="E6EDF3"/>
                </a:solidFill>
                <a:latin typeface="Consolas"/>
              </a:rPr>
              <a:t>login</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status</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`login as ${username}`</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toBe</a:t>
            </a:r>
            <a:r>
              <a:rPr sz="1800" i="0" b="0">
                <a:solidFill>
                  <a:srgbClr val="E6EDF3"/>
                </a:solidFill>
                <a:latin typeface="Consolas"/>
              </a:rPr>
              <a:t>(</a:t>
            </a:r>
            <a:r>
              <a:rPr sz="1800" i="0" b="0">
                <a:solidFill>
                  <a:srgbClr val="FFC56B"/>
                </a:solidFill>
                <a:latin typeface="Consolas"/>
              </a:rPr>
              <a:t>200</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8CCFF0"/>
                </a:solidFill>
                <a:latin typeface="Consolas"/>
              </a:rPr>
              <a:t>waitForListLoaded</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p>
          <a:p>
            <a:pPr>
              <a:lnSpc>
                <a:spcPct val="108000"/>
              </a:lnSpc>
              <a:spcBef>
                <a:spcPts val="0"/>
              </a:spcBef>
              <a:spcAft>
                <a:spcPts val="0"/>
              </a:spcAft>
            </a:pPr>
            <a:r>
              <a:rPr sz="1800" i="1" b="0">
                <a:solidFill>
                  <a:srgbClr val="7F93A3"/>
                </a:solidFill>
                <a:latin typeface="Consolas"/>
              </a:rPr>
              <a:t>// in a spec</a:t>
            </a:r>
          </a:p>
          <a:p>
            <a:pPr>
              <a:lnSpc>
                <a:spcPct val="108000"/>
              </a:lnSpc>
              <a:spcBef>
                <a:spcPts val="0"/>
              </a:spcBef>
              <a:spcAft>
                <a:spcPts val="0"/>
              </a:spcAft>
            </a:pPr>
            <a:r>
              <a:rPr sz="1800" i="0" b="0">
                <a:solidFill>
                  <a:srgbClr val="FF9C8A"/>
                </a:solidFill>
                <a:latin typeface="Consolas"/>
              </a:rPr>
              <a:t>await</a:t>
            </a:r>
            <a:r>
              <a:rPr sz="1800" i="0" b="0">
                <a:solidFill>
                  <a:srgbClr val="E6EDF3"/>
                </a:solidFill>
                <a:latin typeface="Consolas"/>
              </a:rPr>
              <a:t> </a:t>
            </a:r>
            <a:r>
              <a:rPr sz="1800" i="0" b="0">
                <a:solidFill>
                  <a:srgbClr val="8CCFF0"/>
                </a:solidFill>
                <a:latin typeface="Consolas"/>
              </a:rPr>
              <a:t>loginByXstate</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me</a:t>
            </a:r>
            <a:r>
              <a:rPr sz="1800" i="0" b="0">
                <a:solidFill>
                  <a:srgbClr val="E6EDF3"/>
                </a:solidFill>
                <a:latin typeface="Consolas"/>
              </a:rPr>
              <a:t>.</a:t>
            </a:r>
            <a:r>
              <a:rPr sz="1800" i="0" b="0">
                <a:solidFill>
                  <a:srgbClr val="E6EDF3"/>
                </a:solidFill>
                <a:latin typeface="Consolas"/>
              </a:rPr>
              <a:t>username</a:t>
            </a:r>
            <a:r>
              <a:rPr sz="1800" i="0" b="0">
                <a:solidFill>
                  <a:srgbClr val="E6EDF3"/>
                </a:solidFill>
                <a:latin typeface="Consolas"/>
              </a:rPr>
              <a:t>)</a:t>
            </a:r>
            <a:r>
              <a:rPr sz="1800" i="0" b="0">
                <a:solidFill>
                  <a:srgbClr val="E6EDF3"/>
                </a:solidFill>
                <a:latin typeface="Consolas"/>
              </a:rPr>
              <a:t>;</a:t>
            </a:r>
          </a:p>
        </p:txBody>
      </p:sp>
      <p:sp>
        <p:nvSpPr>
          <p:cNvPr id="18" name="Rounded Rectangle 17"/>
          <p:cNvSpPr/>
          <p:nvPr/>
        </p:nvSpPr>
        <p:spPr>
          <a:xfrm>
            <a:off x="612648" y="9326880"/>
            <a:ext cx="11247120" cy="822960"/>
          </a:xfrm>
          <a:prstGeom prst="roundRect">
            <a:avLst>
              <a:gd name="adj" fmla="val 50000"/>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04088" y="9326880"/>
            <a:ext cx="11064240" cy="822960"/>
          </a:xfrm>
          <a:prstGeom prst="rect">
            <a:avLst/>
          </a:prstGeom>
          <a:noFill/>
        </p:spPr>
        <p:txBody>
          <a:bodyPr wrap="square" lIns="0" rIns="0" tIns="18288" bIns="18288" anchor="ctr">
            <a:noAutofit/>
          </a:bodyPr>
          <a:lstStyle/>
          <a:p>
            <a:pPr algn="ctr">
              <a:lnSpc>
                <a:spcPct val="100000"/>
              </a:lnSpc>
              <a:spcBef>
                <a:spcPts val="0"/>
              </a:spcBef>
              <a:spcAft>
                <a:spcPts val="0"/>
              </a:spcAft>
            </a:pPr>
            <a:r>
              <a:rPr sz="1800" b="1" i="0">
                <a:solidFill>
                  <a:srgbClr val="FFFFFF"/>
                </a:solidFill>
              </a:rPr>
              <a:t>global chain command · implicit queue</a:t>
            </a:r>
          </a:p>
        </p:txBody>
      </p:sp>
      <p:sp>
        <p:nvSpPr>
          <p:cNvPr id="20" name="Rounded Rectangle 19"/>
          <p:cNvSpPr/>
          <p:nvPr/>
        </p:nvSpPr>
        <p:spPr>
          <a:xfrm>
            <a:off x="12225528" y="9326880"/>
            <a:ext cx="11247120" cy="822960"/>
          </a:xfrm>
          <a:prstGeom prst="roundRect">
            <a:avLst>
              <a:gd name="adj" fmla="val 50000"/>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316967" y="9326880"/>
            <a:ext cx="11064240" cy="822960"/>
          </a:xfrm>
          <a:prstGeom prst="rect">
            <a:avLst/>
          </a:prstGeom>
          <a:noFill/>
        </p:spPr>
        <p:txBody>
          <a:bodyPr wrap="square" lIns="0" rIns="0" tIns="18288" bIns="18288" anchor="ctr">
            <a:noAutofit/>
          </a:bodyPr>
          <a:lstStyle/>
          <a:p>
            <a:pPr algn="ctr">
              <a:lnSpc>
                <a:spcPct val="100000"/>
              </a:lnSpc>
              <a:spcBef>
                <a:spcPts val="0"/>
              </a:spcBef>
              <a:spcAft>
                <a:spcPts val="0"/>
              </a:spcAft>
            </a:pPr>
            <a:r>
              <a:rPr sz="1800" b="1" i="0">
                <a:solidFill>
                  <a:srgbClr val="FFFFFF"/>
                </a:solidFill>
              </a:rPr>
              <a:t>typed import · explicit await · asserts status</a:t>
            </a:r>
          </a:p>
        </p:txBody>
      </p:sp>
      <p:sp>
        <p:nvSpPr>
          <p:cNvPr id="22" name="Rounded Rectangle 21"/>
          <p:cNvSpPr/>
          <p:nvPr/>
        </p:nvSpPr>
        <p:spPr>
          <a:xfrm>
            <a:off x="612648" y="10789920"/>
            <a:ext cx="22860000" cy="960120"/>
          </a:xfrm>
          <a:prstGeom prst="roundRect">
            <a:avLst>
              <a:gd name="adj" fmla="val 1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886968" y="10927080"/>
            <a:ext cx="685800" cy="68580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LuLaugh.png"/>
          <p:cNvPicPr>
            <a:picLocks noChangeAspect="1"/>
          </p:cNvPicPr>
          <p:nvPr/>
        </p:nvPicPr>
        <p:blipFill>
          <a:blip r:embed="rId3"/>
          <a:stretch>
            <a:fillRect/>
          </a:stretch>
        </p:blipFill>
        <p:spPr>
          <a:xfrm>
            <a:off x="1051560" y="11091672"/>
            <a:ext cx="356616" cy="356616"/>
          </a:xfrm>
          <a:prstGeom prst="rect">
            <a:avLst/>
          </a:prstGeom>
        </p:spPr>
      </p:pic>
      <p:sp>
        <p:nvSpPr>
          <p:cNvPr id="25" name="TextBox 24"/>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Same login, two dialects: Cypress chains, Playwright awaits. Patience is a virtue — and a keyword.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Cy vs PW</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DB7D00"/>
                </a:solidFill>
              </a:rPr>
              <a:t>APPROACH · EXAMPLE 2</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Waiting for the network</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41</a:t>
            </a:r>
          </a:p>
        </p:txBody>
      </p:sp>
      <p:sp>
        <p:nvSpPr>
          <p:cNvPr id="6" name="Rounded Rectangle 5"/>
          <p:cNvSpPr/>
          <p:nvPr/>
        </p:nvSpPr>
        <p:spPr>
          <a:xfrm>
            <a:off x="612648" y="2926080"/>
            <a:ext cx="11247120" cy="4572000"/>
          </a:xfrm>
          <a:prstGeom prst="roundRect">
            <a:avLst>
              <a:gd name="adj" fmla="val 5600"/>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86968" y="312724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79576" y="312724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72184" y="312724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92807" y="2999232"/>
            <a:ext cx="969264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cypress/tests/ui/new-transaction.spec.ts</a:t>
            </a:r>
          </a:p>
        </p:txBody>
      </p:sp>
      <p:sp>
        <p:nvSpPr>
          <p:cNvPr id="11" name="TextBox 10"/>
          <p:cNvSpPr txBox="1"/>
          <p:nvPr/>
        </p:nvSpPr>
        <p:spPr>
          <a:xfrm>
            <a:off x="886968" y="3474720"/>
            <a:ext cx="10789920" cy="3886200"/>
          </a:xfrm>
          <a:prstGeom prst="rect">
            <a:avLst/>
          </a:prstGeom>
          <a:noFill/>
        </p:spPr>
        <p:txBody>
          <a:bodyPr wrap="none" lIns="0" rIns="0" tIns="0" bIns="0">
            <a:noAutofit/>
          </a:bodyPr>
          <a:lstStyle/>
          <a:p>
            <a:pPr>
              <a:lnSpc>
                <a:spcPct val="108000"/>
              </a:lnSpc>
              <a:spcBef>
                <a:spcPts val="0"/>
              </a:spcBef>
              <a:spcAft>
                <a:spcPts val="0"/>
              </a:spcAft>
            </a:pPr>
            <a:r>
              <a:rPr sz="1800" i="0" b="0">
                <a:solidFill>
                  <a:srgbClr val="8CCFF0"/>
                </a:solidFill>
                <a:latin typeface="Consolas"/>
              </a:rPr>
              <a:t>beforeEach</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cy</a:t>
            </a:r>
            <a:r>
              <a:rPr sz="1800" i="0" b="0">
                <a:solidFill>
                  <a:srgbClr val="E6EDF3"/>
                </a:solidFill>
                <a:latin typeface="Consolas"/>
              </a:rPr>
              <a:t>.</a:t>
            </a:r>
            <a:r>
              <a:rPr sz="1800" i="0" b="0">
                <a:solidFill>
                  <a:srgbClr val="8CCFF0"/>
                </a:solidFill>
                <a:latin typeface="Consolas"/>
              </a:rPr>
              <a:t>intercept</a:t>
            </a:r>
            <a:r>
              <a:rPr sz="1800" i="0" b="0">
                <a:solidFill>
                  <a:srgbClr val="E6EDF3"/>
                </a:solidFill>
                <a:latin typeface="Consolas"/>
              </a:rPr>
              <a:t>(</a:t>
            </a:r>
            <a:r>
              <a:rPr sz="1800" i="0" b="0">
                <a:solidFill>
                  <a:srgbClr val="9BE3B4"/>
                </a:solidFill>
                <a:latin typeface="Consolas"/>
              </a:rPr>
              <a:t>"POST"</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"/transactions"</a:t>
            </a:r>
            <a:r>
              <a:rPr sz="1800" i="0" b="0">
                <a:solidFill>
                  <a:srgbClr val="E6EDF3"/>
                </a:solidFill>
                <a:latin typeface="Consolas"/>
              </a:rPr>
              <a:t>)</a:t>
            </a:r>
            <a:r>
              <a:rPr sz="1800" i="0" b="0">
                <a:solidFill>
                  <a:srgbClr val="E6EDF3"/>
                </a:solidFill>
                <a:latin typeface="Consolas"/>
              </a:rPr>
              <a:t>.</a:t>
            </a:r>
            <a:r>
              <a:rPr sz="1800" i="0" b="0">
                <a:solidFill>
                  <a:srgbClr val="FF9C8A"/>
                </a:solidFill>
                <a:latin typeface="Consolas"/>
              </a:rPr>
              <a:t>as</a:t>
            </a:r>
            <a:r>
              <a:rPr sz="1800" i="0" b="0">
                <a:solidFill>
                  <a:srgbClr val="E6EDF3"/>
                </a:solidFill>
                <a:latin typeface="Consolas"/>
              </a:rPr>
              <a:t>(</a:t>
            </a:r>
            <a:r>
              <a:rPr sz="1800" i="0" b="0">
                <a:solidFill>
                  <a:srgbClr val="9BE3B4"/>
                </a:solidFill>
                <a:latin typeface="Consolas"/>
              </a:rPr>
              <a:t>"createTransaction"</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p>
          <a:p>
            <a:pPr>
              <a:lnSpc>
                <a:spcPct val="108000"/>
              </a:lnSpc>
              <a:spcBef>
                <a:spcPts val="0"/>
              </a:spcBef>
              <a:spcAft>
                <a:spcPts val="0"/>
              </a:spcAft>
            </a:pPr>
            <a:r>
              <a:rPr sz="1800" i="0" b="0">
                <a:solidFill>
                  <a:srgbClr val="E6EDF3"/>
                </a:solidFill>
                <a:latin typeface="Consolas"/>
              </a:rPr>
              <a:t>cy</a:t>
            </a:r>
            <a:r>
              <a:rPr sz="1800" i="0" b="0">
                <a:solidFill>
                  <a:srgbClr val="E6EDF3"/>
                </a:solidFill>
                <a:latin typeface="Consolas"/>
              </a:rPr>
              <a:t>.</a:t>
            </a:r>
            <a:r>
              <a:rPr sz="1800" i="0" b="0">
                <a:solidFill>
                  <a:srgbClr val="8CCFF0"/>
                </a:solidFill>
                <a:latin typeface="Consolas"/>
              </a:rPr>
              <a:t>getBySelLike</a:t>
            </a:r>
            <a:r>
              <a:rPr sz="1800" i="0" b="0">
                <a:solidFill>
                  <a:srgbClr val="E6EDF3"/>
                </a:solidFill>
                <a:latin typeface="Consolas"/>
              </a:rPr>
              <a:t>(</a:t>
            </a:r>
            <a:r>
              <a:rPr sz="1800" i="0" b="0">
                <a:solidFill>
                  <a:srgbClr val="9BE3B4"/>
                </a:solidFill>
                <a:latin typeface="Consolas"/>
              </a:rPr>
              <a:t>"submit-payment"</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click</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cy</a:t>
            </a:r>
            <a:r>
              <a:rPr sz="1800" i="0" b="0">
                <a:solidFill>
                  <a:srgbClr val="E6EDF3"/>
                </a:solidFill>
                <a:latin typeface="Consolas"/>
              </a:rPr>
              <a:t>.</a:t>
            </a:r>
            <a:r>
              <a:rPr sz="1800" i="0" b="0">
                <a:solidFill>
                  <a:srgbClr val="8CCFF0"/>
                </a:solidFill>
                <a:latin typeface="Consolas"/>
              </a:rPr>
              <a:t>wait</a:t>
            </a:r>
            <a:r>
              <a:rPr sz="1800" i="0" b="0">
                <a:solidFill>
                  <a:srgbClr val="E6EDF3"/>
                </a:solidFill>
                <a:latin typeface="Consolas"/>
              </a:rPr>
              <a:t>(</a:t>
            </a:r>
            <a:r>
              <a:rPr sz="1800" i="0" b="0">
                <a:solidFill>
                  <a:srgbClr val="9BE3B4"/>
                </a:solidFill>
                <a:latin typeface="Consolas"/>
              </a:rPr>
              <a:t>"@createTransaction"</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8CCFF0"/>
                </a:solidFill>
                <a:latin typeface="Consolas"/>
              </a:rPr>
              <a:t>its</a:t>
            </a:r>
            <a:r>
              <a:rPr sz="1800" i="0" b="0">
                <a:solidFill>
                  <a:srgbClr val="E6EDF3"/>
                </a:solidFill>
                <a:latin typeface="Consolas"/>
              </a:rPr>
              <a:t>(</a:t>
            </a:r>
            <a:r>
              <a:rPr sz="1800" i="0" b="0">
                <a:solidFill>
                  <a:srgbClr val="9BE3B4"/>
                </a:solidFill>
                <a:latin typeface="Consolas"/>
              </a:rPr>
              <a:t>"response.statusCode"</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should</a:t>
            </a:r>
            <a:r>
              <a:rPr sz="1800" i="0" b="0">
                <a:solidFill>
                  <a:srgbClr val="E6EDF3"/>
                </a:solidFill>
                <a:latin typeface="Consolas"/>
              </a:rPr>
              <a:t>(</a:t>
            </a:r>
            <a:r>
              <a:rPr sz="1800" i="0" b="0">
                <a:solidFill>
                  <a:srgbClr val="9BE3B4"/>
                </a:solidFill>
                <a:latin typeface="Consolas"/>
              </a:rPr>
              <a:t>"eq"</a:t>
            </a:r>
            <a:r>
              <a:rPr sz="1800" i="0" b="0">
                <a:solidFill>
                  <a:srgbClr val="E6EDF3"/>
                </a:solidFill>
                <a:latin typeface="Consolas"/>
              </a:rPr>
              <a:t>,</a:t>
            </a:r>
            <a:r>
              <a:rPr sz="1800" i="0" b="0">
                <a:solidFill>
                  <a:srgbClr val="E6EDF3"/>
                </a:solidFill>
                <a:latin typeface="Consolas"/>
              </a:rPr>
              <a:t> </a:t>
            </a:r>
            <a:r>
              <a:rPr sz="1800" i="0" b="0">
                <a:solidFill>
                  <a:srgbClr val="FFC56B"/>
                </a:solidFill>
                <a:latin typeface="Consolas"/>
              </a:rPr>
              <a:t>200</a:t>
            </a:r>
            <a:r>
              <a:rPr sz="1800" i="0" b="0">
                <a:solidFill>
                  <a:srgbClr val="E6EDF3"/>
                </a:solidFill>
                <a:latin typeface="Consolas"/>
              </a:rPr>
              <a:t>)</a:t>
            </a:r>
            <a:r>
              <a:rPr sz="1800" i="0" b="0">
                <a:solidFill>
                  <a:srgbClr val="E6EDF3"/>
                </a:solidFill>
                <a:latin typeface="Consolas"/>
              </a:rPr>
              <a:t>;</a:t>
            </a:r>
          </a:p>
        </p:txBody>
      </p:sp>
      <p:sp>
        <p:nvSpPr>
          <p:cNvPr id="12" name="Rounded Rectangle 11"/>
          <p:cNvSpPr/>
          <p:nvPr/>
        </p:nvSpPr>
        <p:spPr>
          <a:xfrm>
            <a:off x="12225528" y="2926080"/>
            <a:ext cx="11247120" cy="4572000"/>
          </a:xfrm>
          <a:prstGeom prst="roundRect">
            <a:avLst>
              <a:gd name="adj" fmla="val 5600"/>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2499848" y="312724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792456" y="312724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3085064" y="312724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505688" y="2999232"/>
            <a:ext cx="969264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playwright/tests/e2e/pay-a-friend.e2e.spec.ts</a:t>
            </a:r>
          </a:p>
        </p:txBody>
      </p:sp>
      <p:sp>
        <p:nvSpPr>
          <p:cNvPr id="17" name="TextBox 16"/>
          <p:cNvSpPr txBox="1"/>
          <p:nvPr/>
        </p:nvSpPr>
        <p:spPr>
          <a:xfrm>
            <a:off x="12499848" y="3474720"/>
            <a:ext cx="10789920" cy="3886200"/>
          </a:xfrm>
          <a:prstGeom prst="rect">
            <a:avLst/>
          </a:prstGeom>
          <a:noFill/>
        </p:spPr>
        <p:txBody>
          <a:bodyPr wrap="none" lIns="0" rIns="0" tIns="0" bIns="0">
            <a:noAutofit/>
          </a:bodyPr>
          <a:lstStyle/>
          <a:p>
            <a:pPr>
              <a:lnSpc>
                <a:spcPct val="108000"/>
              </a:lnSpc>
              <a:spcBef>
                <a:spcPts val="0"/>
              </a:spcBef>
              <a:spcAft>
                <a:spcPts val="0"/>
              </a:spcAft>
            </a:pPr>
            <a:r>
              <a:rPr sz="1800" i="0" b="0">
                <a:solidFill>
                  <a:srgbClr val="FF9C8A"/>
                </a:solidFill>
                <a:latin typeface="Consolas"/>
              </a:rPr>
              <a:t>const</a:t>
            </a:r>
            <a:r>
              <a:rPr sz="1800" i="0" b="0">
                <a:solidFill>
                  <a:srgbClr val="E6EDF3"/>
                </a:solidFill>
                <a:latin typeface="Consolas"/>
              </a:rPr>
              <a:t> </a:t>
            </a:r>
            <a:r>
              <a:rPr sz="1800" i="0" b="0">
                <a:solidFill>
                  <a:srgbClr val="E6EDF3"/>
                </a:solidFill>
                <a:latin typeface="Consolas"/>
              </a:rPr>
              <a:t>created</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8CCFF0"/>
                </a:solidFill>
                <a:latin typeface="Consolas"/>
              </a:rPr>
              <a:t>waitForApi</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method</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"POST"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path</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"/transactions"</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1" b="0">
                <a:solidFill>
                  <a:srgbClr val="7F93A3"/>
                </a:solidFill>
                <a:latin typeface="Consolas"/>
              </a:rPr>
              <a:t>// 1. listen</a:t>
            </a:r>
          </a:p>
          <a:p>
            <a:pPr>
              <a:lnSpc>
                <a:spcPct val="108000"/>
              </a:lnSpc>
              <a:spcBef>
                <a:spcPts val="0"/>
              </a:spcBef>
              <a:spcAft>
                <a:spcPts val="0"/>
              </a:spcAft>
            </a:pPr>
            <a:r>
              <a:rPr sz="1800" i="0" b="0">
                <a:solidFill>
                  <a:srgbClr val="FF9C8A"/>
                </a:solidFill>
                <a:latin typeface="Consolas"/>
              </a:rPr>
              <a:t>await</a:t>
            </a:r>
            <a:r>
              <a:rPr sz="1800" i="0" b="0">
                <a:solidFill>
                  <a:srgbClr val="E6EDF3"/>
                </a:solidFill>
                <a:latin typeface="Consolas"/>
              </a:rPr>
              <a:t> </a:t>
            </a:r>
            <a:r>
              <a:rPr sz="1800" i="0" b="0">
                <a:solidFill>
                  <a:srgbClr val="8CCFF0"/>
                </a:solidFill>
                <a:latin typeface="Consolas"/>
              </a:rPr>
              <a:t>bySelLike</a:t>
            </a:r>
            <a:r>
              <a:rPr sz="1800" i="0" b="0">
                <a:solidFill>
                  <a:srgbClr val="E6EDF3"/>
                </a:solidFill>
                <a:latin typeface="Consolas"/>
              </a:rPr>
              <a:t>(</a:t>
            </a:r>
            <a:r>
              <a:rPr sz="1800" i="0" b="0">
                <a:solidFill>
                  <a:srgbClr val="E6EDF3"/>
                </a:solidFill>
                <a:latin typeface="Consolas"/>
              </a:rPr>
              <a:t>page</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"submit-payment"</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click</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1" b="0">
                <a:solidFill>
                  <a:srgbClr val="7F93A3"/>
                </a:solidFill>
                <a:latin typeface="Consolas"/>
              </a:rPr>
              <a:t>// 2. act</a:t>
            </a:r>
          </a:p>
          <a:p>
            <a:pPr>
              <a:lnSpc>
                <a:spcPct val="108000"/>
              </a:lnSpc>
              <a:spcBef>
                <a:spcPts val="0"/>
              </a:spcBef>
              <a:spcAft>
                <a:spcPts val="0"/>
              </a:spcAft>
            </a:pPr>
            <a:r>
              <a:rPr sz="1800" i="0" b="0">
                <a:solidFill>
                  <a:srgbClr val="FF9C8A"/>
                </a:solidFill>
                <a:latin typeface="Consolas"/>
              </a:rPr>
              <a:t>const</a:t>
            </a:r>
            <a:r>
              <a:rPr sz="1800" i="0" b="0">
                <a:solidFill>
                  <a:srgbClr val="E6EDF3"/>
                </a:solidFill>
                <a:latin typeface="Consolas"/>
              </a:rPr>
              <a:t> </a:t>
            </a:r>
            <a:r>
              <a:rPr sz="1800" i="0" b="0">
                <a:solidFill>
                  <a:srgbClr val="E6EDF3"/>
                </a:solidFill>
                <a:latin typeface="Consolas"/>
              </a:rPr>
              <a:t>response</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E6EDF3"/>
                </a:solidFill>
                <a:latin typeface="Consolas"/>
              </a:rPr>
              <a:t>created</a:t>
            </a:r>
            <a:r>
              <a:rPr sz="1800" i="0" b="0">
                <a:solidFill>
                  <a:srgbClr val="E6EDF3"/>
                </a:solidFill>
                <a:latin typeface="Consolas"/>
              </a:rPr>
              <a:t>;</a:t>
            </a:r>
            <a:r>
              <a:rPr sz="1800" i="0" b="0">
                <a:solidFill>
                  <a:srgbClr val="E6EDF3"/>
                </a:solidFill>
                <a:latin typeface="Consolas"/>
              </a:rPr>
              <a:t>                  </a:t>
            </a:r>
            <a:r>
              <a:rPr sz="1800" i="1" b="0">
                <a:solidFill>
                  <a:srgbClr val="7F93A3"/>
                </a:solidFill>
                <a:latin typeface="Consolas"/>
              </a:rPr>
              <a:t>// 3. await</a:t>
            </a:r>
          </a:p>
          <a:p>
            <a:pPr>
              <a:lnSpc>
                <a:spcPct val="108000"/>
              </a:lnSpc>
              <a:spcBef>
                <a:spcPts val="0"/>
              </a:spcBef>
              <a:spcAft>
                <a:spcPts val="0"/>
              </a:spcAft>
            </a:pPr>
            <a:r>
              <a:rPr sz="1800" i="0" b="0">
                <a:solidFill>
                  <a:srgbClr val="FF9C8A"/>
                </a:solidFill>
                <a:latin typeface="Consolas"/>
              </a:rPr>
              <a:t>expect</a:t>
            </a:r>
            <a:r>
              <a:rPr sz="1800" i="0" b="0">
                <a:solidFill>
                  <a:srgbClr val="E6EDF3"/>
                </a:solidFill>
                <a:latin typeface="Consolas"/>
              </a:rPr>
              <a:t>(</a:t>
            </a:r>
            <a:r>
              <a:rPr sz="1800" i="0" b="0">
                <a:solidFill>
                  <a:srgbClr val="E6EDF3"/>
                </a:solidFill>
                <a:latin typeface="Consolas"/>
              </a:rPr>
              <a:t>response</a:t>
            </a:r>
            <a:r>
              <a:rPr sz="1800" i="0" b="0">
                <a:solidFill>
                  <a:srgbClr val="E6EDF3"/>
                </a:solidFill>
                <a:latin typeface="Consolas"/>
              </a:rPr>
              <a:t>.</a:t>
            </a:r>
            <a:r>
              <a:rPr sz="1800" i="0" b="0">
                <a:solidFill>
                  <a:srgbClr val="8CCFF0"/>
                </a:solidFill>
                <a:latin typeface="Consolas"/>
              </a:rPr>
              <a:t>status</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toBe</a:t>
            </a:r>
            <a:r>
              <a:rPr sz="1800" i="0" b="0">
                <a:solidFill>
                  <a:srgbClr val="E6EDF3"/>
                </a:solidFill>
                <a:latin typeface="Consolas"/>
              </a:rPr>
              <a:t>(</a:t>
            </a:r>
            <a:r>
              <a:rPr sz="1800" i="0" b="0">
                <a:solidFill>
                  <a:srgbClr val="FFC56B"/>
                </a:solidFill>
                <a:latin typeface="Consolas"/>
              </a:rPr>
              <a:t>200</a:t>
            </a:r>
            <a:r>
              <a:rPr sz="1800" i="0" b="0">
                <a:solidFill>
                  <a:srgbClr val="E6EDF3"/>
                </a:solidFill>
                <a:latin typeface="Consolas"/>
              </a:rPr>
              <a:t>)</a:t>
            </a:r>
            <a:r>
              <a:rPr sz="1800" i="0" b="0">
                <a:solidFill>
                  <a:srgbClr val="E6EDF3"/>
                </a:solidFill>
                <a:latin typeface="Consolas"/>
              </a:rPr>
              <a:t>;</a:t>
            </a:r>
          </a:p>
        </p:txBody>
      </p:sp>
      <p:sp>
        <p:nvSpPr>
          <p:cNvPr id="18" name="Rounded Rectangle 17"/>
          <p:cNvSpPr/>
          <p:nvPr/>
        </p:nvSpPr>
        <p:spPr>
          <a:xfrm>
            <a:off x="612648" y="7772400"/>
            <a:ext cx="7406640" cy="2651760"/>
          </a:xfrm>
          <a:prstGeom prst="roundRect">
            <a:avLst>
              <a:gd name="adj" fmla="val 10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86968" y="8046720"/>
            <a:ext cx="914400" cy="9144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8046720"/>
            <a:ext cx="914400" cy="914400"/>
          </a:xfrm>
          <a:prstGeom prst="rect">
            <a:avLst/>
          </a:prstGeom>
          <a:noFill/>
        </p:spPr>
        <p:txBody>
          <a:bodyPr wrap="square" lIns="0" rIns="0" tIns="18288" bIns="18288" anchor="ctr">
            <a:noAutofit/>
          </a:bodyPr>
          <a:lstStyle/>
          <a:p>
            <a:pPr algn="ctr">
              <a:lnSpc>
                <a:spcPct val="100000"/>
              </a:lnSpc>
              <a:spcBef>
                <a:spcPts val="0"/>
              </a:spcBef>
              <a:spcAft>
                <a:spcPts val="0"/>
              </a:spcAft>
            </a:pPr>
            <a:r>
              <a:rPr sz="2800" b="1" i="0">
                <a:solidFill>
                  <a:srgbClr val="FFFFFF"/>
                </a:solidFill>
              </a:rPr>
              <a:t>1</a:t>
            </a:r>
          </a:p>
        </p:txBody>
      </p:sp>
      <p:sp>
        <p:nvSpPr>
          <p:cNvPr id="21" name="TextBox 20"/>
          <p:cNvSpPr txBox="1"/>
          <p:nvPr/>
        </p:nvSpPr>
        <p:spPr>
          <a:xfrm>
            <a:off x="2029968" y="8046720"/>
            <a:ext cx="576072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Listen first</a:t>
            </a:r>
          </a:p>
        </p:txBody>
      </p:sp>
      <p:sp>
        <p:nvSpPr>
          <p:cNvPr id="22" name="TextBox 21"/>
          <p:cNvSpPr txBox="1"/>
          <p:nvPr/>
        </p:nvSpPr>
        <p:spPr>
          <a:xfrm>
            <a:off x="2029968" y="8686800"/>
            <a:ext cx="5760720" cy="1645920"/>
          </a:xfrm>
          <a:prstGeom prst="rect">
            <a:avLst/>
          </a:prstGeom>
          <a:noFill/>
        </p:spPr>
        <p:txBody>
          <a:bodyPr wrap="square" lIns="0" rIns="0" tIns="18288" bIns="18288" anchor="t">
            <a:noAutofit/>
          </a:bodyPr>
          <a:lstStyle/>
          <a:p>
            <a:pPr algn="l">
              <a:lnSpc>
                <a:spcPct val="100000"/>
              </a:lnSpc>
              <a:spcBef>
                <a:spcPts val="0"/>
              </a:spcBef>
              <a:spcAft>
                <a:spcPts val="0"/>
              </a:spcAft>
            </a:pPr>
            <a:r>
              <a:rPr sz="1700" b="0" i="0">
                <a:solidFill>
                  <a:srgbClr val="192B37"/>
                </a:solidFill>
              </a:rPr>
              <a:t>start the wait before the click — otherwise you may miss a fast response</a:t>
            </a:r>
          </a:p>
        </p:txBody>
      </p:sp>
      <p:sp>
        <p:nvSpPr>
          <p:cNvPr id="23" name="Rounded Rectangle 22"/>
          <p:cNvSpPr/>
          <p:nvPr/>
        </p:nvSpPr>
        <p:spPr>
          <a:xfrm>
            <a:off x="8311896" y="7772400"/>
            <a:ext cx="7406640" cy="2651760"/>
          </a:xfrm>
          <a:prstGeom prst="roundRect">
            <a:avLst>
              <a:gd name="adj" fmla="val 10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8586216" y="8046720"/>
            <a:ext cx="914400" cy="9144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86216" y="8046720"/>
            <a:ext cx="914400" cy="914400"/>
          </a:xfrm>
          <a:prstGeom prst="rect">
            <a:avLst/>
          </a:prstGeom>
          <a:noFill/>
        </p:spPr>
        <p:txBody>
          <a:bodyPr wrap="square" lIns="0" rIns="0" tIns="18288" bIns="18288" anchor="ctr">
            <a:noAutofit/>
          </a:bodyPr>
          <a:lstStyle/>
          <a:p>
            <a:pPr algn="ctr">
              <a:lnSpc>
                <a:spcPct val="100000"/>
              </a:lnSpc>
              <a:spcBef>
                <a:spcPts val="0"/>
              </a:spcBef>
              <a:spcAft>
                <a:spcPts val="0"/>
              </a:spcAft>
            </a:pPr>
            <a:r>
              <a:rPr sz="2800" b="1" i="0">
                <a:solidFill>
                  <a:srgbClr val="FFFFFF"/>
                </a:solidFill>
              </a:rPr>
              <a:t>2</a:t>
            </a:r>
          </a:p>
        </p:txBody>
      </p:sp>
      <p:sp>
        <p:nvSpPr>
          <p:cNvPr id="26" name="TextBox 25"/>
          <p:cNvSpPr txBox="1"/>
          <p:nvPr/>
        </p:nvSpPr>
        <p:spPr>
          <a:xfrm>
            <a:off x="9729216" y="8046720"/>
            <a:ext cx="576072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Act</a:t>
            </a:r>
          </a:p>
        </p:txBody>
      </p:sp>
      <p:sp>
        <p:nvSpPr>
          <p:cNvPr id="27" name="TextBox 26"/>
          <p:cNvSpPr txBox="1"/>
          <p:nvPr/>
        </p:nvSpPr>
        <p:spPr>
          <a:xfrm>
            <a:off x="9729216" y="8686800"/>
            <a:ext cx="5760720" cy="1645920"/>
          </a:xfrm>
          <a:prstGeom prst="rect">
            <a:avLst/>
          </a:prstGeom>
          <a:noFill/>
        </p:spPr>
        <p:txBody>
          <a:bodyPr wrap="square" lIns="0" rIns="0" tIns="18288" bIns="18288" anchor="t">
            <a:noAutofit/>
          </a:bodyPr>
          <a:lstStyle/>
          <a:p>
            <a:pPr algn="l">
              <a:lnSpc>
                <a:spcPct val="100000"/>
              </a:lnSpc>
              <a:spcBef>
                <a:spcPts val="0"/>
              </a:spcBef>
              <a:spcAft>
                <a:spcPts val="0"/>
              </a:spcAft>
            </a:pPr>
            <a:r>
              <a:rPr sz="1700" b="0" i="0">
                <a:solidFill>
                  <a:srgbClr val="192B37"/>
                </a:solidFill>
              </a:rPr>
              <a:t>click, type, navigate</a:t>
            </a:r>
          </a:p>
        </p:txBody>
      </p:sp>
      <p:sp>
        <p:nvSpPr>
          <p:cNvPr id="28" name="Rounded Rectangle 27"/>
          <p:cNvSpPr/>
          <p:nvPr/>
        </p:nvSpPr>
        <p:spPr>
          <a:xfrm>
            <a:off x="16011144" y="7772400"/>
            <a:ext cx="7406640" cy="2651760"/>
          </a:xfrm>
          <a:prstGeom prst="roundRect">
            <a:avLst>
              <a:gd name="adj" fmla="val 10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6285464" y="8046720"/>
            <a:ext cx="914400" cy="91440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285464" y="8046720"/>
            <a:ext cx="914400" cy="914400"/>
          </a:xfrm>
          <a:prstGeom prst="rect">
            <a:avLst/>
          </a:prstGeom>
          <a:noFill/>
        </p:spPr>
        <p:txBody>
          <a:bodyPr wrap="square" lIns="0" rIns="0" tIns="18288" bIns="18288" anchor="ctr">
            <a:noAutofit/>
          </a:bodyPr>
          <a:lstStyle/>
          <a:p>
            <a:pPr algn="ctr">
              <a:lnSpc>
                <a:spcPct val="100000"/>
              </a:lnSpc>
              <a:spcBef>
                <a:spcPts val="0"/>
              </a:spcBef>
              <a:spcAft>
                <a:spcPts val="0"/>
              </a:spcAft>
            </a:pPr>
            <a:r>
              <a:rPr sz="2800" b="1" i="0">
                <a:solidFill>
                  <a:srgbClr val="FFFFFF"/>
                </a:solidFill>
              </a:rPr>
              <a:t>3</a:t>
            </a:r>
          </a:p>
        </p:txBody>
      </p:sp>
      <p:sp>
        <p:nvSpPr>
          <p:cNvPr id="31" name="TextBox 30"/>
          <p:cNvSpPr txBox="1"/>
          <p:nvPr/>
        </p:nvSpPr>
        <p:spPr>
          <a:xfrm>
            <a:off x="17428464" y="8046720"/>
            <a:ext cx="576072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Await &amp; assert</a:t>
            </a:r>
          </a:p>
        </p:txBody>
      </p:sp>
      <p:sp>
        <p:nvSpPr>
          <p:cNvPr id="32" name="TextBox 31"/>
          <p:cNvSpPr txBox="1"/>
          <p:nvPr/>
        </p:nvSpPr>
        <p:spPr>
          <a:xfrm>
            <a:off x="17428464" y="8686800"/>
            <a:ext cx="5760720" cy="1645920"/>
          </a:xfrm>
          <a:prstGeom prst="rect">
            <a:avLst/>
          </a:prstGeom>
          <a:noFill/>
        </p:spPr>
        <p:txBody>
          <a:bodyPr wrap="square" lIns="0" rIns="0" tIns="18288" bIns="18288" anchor="t">
            <a:noAutofit/>
          </a:bodyPr>
          <a:lstStyle/>
          <a:p>
            <a:pPr algn="l">
              <a:lnSpc>
                <a:spcPct val="100000"/>
              </a:lnSpc>
              <a:spcBef>
                <a:spcPts val="0"/>
              </a:spcBef>
              <a:spcAft>
                <a:spcPts val="0"/>
              </a:spcAft>
            </a:pPr>
            <a:r>
              <a:rPr sz="1700" b="0" i="0">
                <a:solidFill>
                  <a:srgbClr val="192B37"/>
                </a:solidFill>
              </a:rPr>
              <a:t>a real Promise → </a:t>
            </a:r>
            <a:r>
              <a:rPr sz="1564" b="0" i="0">
                <a:solidFill>
                  <a:srgbClr val="C2410C"/>
                </a:solidFill>
                <a:latin typeface="Consolas"/>
              </a:rPr>
              <a:t>Promise.all</a:t>
            </a:r>
            <a:r>
              <a:rPr sz="1700" b="0" i="0">
                <a:solidFill>
                  <a:srgbClr val="192B37"/>
                </a:solidFill>
              </a:rPr>
              <a:t>, status, JSON body</a:t>
            </a:r>
          </a:p>
        </p:txBody>
      </p:sp>
      <p:sp>
        <p:nvSpPr>
          <p:cNvPr id="33" name="Rounded Rectangle 32"/>
          <p:cNvSpPr/>
          <p:nvPr/>
        </p:nvSpPr>
        <p:spPr>
          <a:xfrm>
            <a:off x="612648" y="10789920"/>
            <a:ext cx="22860000" cy="960120"/>
          </a:xfrm>
          <a:prstGeom prst="roundRect">
            <a:avLst>
              <a:gd name="adj" fmla="val 1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86968" y="10927080"/>
            <a:ext cx="685800" cy="68580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LuLaugh.png"/>
          <p:cNvPicPr>
            <a:picLocks noChangeAspect="1"/>
          </p:cNvPicPr>
          <p:nvPr/>
        </p:nvPicPr>
        <p:blipFill>
          <a:blip r:embed="rId3"/>
          <a:stretch>
            <a:fillRect/>
          </a:stretch>
        </p:blipFill>
        <p:spPr>
          <a:xfrm>
            <a:off x="1051560" y="11091672"/>
            <a:ext cx="356616" cy="356616"/>
          </a:xfrm>
          <a:prstGeom prst="rect">
            <a:avLst/>
          </a:prstGeom>
        </p:spPr>
      </p:pic>
      <p:sp>
        <p:nvSpPr>
          <p:cNvPr id="36" name="TextBox 35"/>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1840" b="0" i="1">
                <a:solidFill>
                  <a:srgbClr val="C2410C"/>
                </a:solidFill>
                <a:latin typeface="Consolas"/>
              </a:rPr>
              <a:t>cy.wait('@alias')</a:t>
            </a:r>
            <a:r>
              <a:rPr sz="2000" b="0" i="1">
                <a:solidFill>
                  <a:srgbClr val="192B37"/>
                </a:solidFill>
              </a:rPr>
              <a:t> and </a:t>
            </a:r>
            <a:r>
              <a:rPr sz="1840" b="0" i="1">
                <a:solidFill>
                  <a:srgbClr val="C2410C"/>
                </a:solidFill>
                <a:latin typeface="Consolas"/>
              </a:rPr>
              <a:t>await response</a:t>
            </a:r>
            <a:r>
              <a:rPr sz="2000" b="0" i="1">
                <a:solidFill>
                  <a:srgbClr val="192B37"/>
                </a:solidFill>
              </a:rPr>
              <a:t>: both wait. Only one of them knows it's a Promise.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Cy vs PW</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DB7D00"/>
                </a:solidFill>
              </a:rPr>
              <a:t>APPROACH · EXAMPLE 3</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Two users, one test — Playwright's party trick</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42</a:t>
            </a:r>
          </a:p>
        </p:txBody>
      </p:sp>
      <p:sp>
        <p:nvSpPr>
          <p:cNvPr id="6" name="Rounded Rectangle 5"/>
          <p:cNvSpPr/>
          <p:nvPr/>
        </p:nvSpPr>
        <p:spPr>
          <a:xfrm>
            <a:off x="612648" y="2926080"/>
            <a:ext cx="12801600" cy="7498079"/>
          </a:xfrm>
          <a:prstGeom prst="roundRect">
            <a:avLst>
              <a:gd name="adj" fmla="val 3414"/>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86968" y="312724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79576" y="312724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72184" y="312724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92807" y="2999232"/>
            <a:ext cx="1124712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two contexts in one test (homework #6 sketch)</a:t>
            </a:r>
          </a:p>
        </p:txBody>
      </p:sp>
      <p:sp>
        <p:nvSpPr>
          <p:cNvPr id="11" name="TextBox 10"/>
          <p:cNvSpPr txBox="1"/>
          <p:nvPr/>
        </p:nvSpPr>
        <p:spPr>
          <a:xfrm>
            <a:off x="886968" y="3474720"/>
            <a:ext cx="12344400" cy="6812279"/>
          </a:xfrm>
          <a:prstGeom prst="rect">
            <a:avLst/>
          </a:prstGeom>
          <a:noFill/>
        </p:spPr>
        <p:txBody>
          <a:bodyPr wrap="none" lIns="0" rIns="0" tIns="0" bIns="0">
            <a:noAutofit/>
          </a:bodyPr>
          <a:lstStyle/>
          <a:p>
            <a:pPr>
              <a:lnSpc>
                <a:spcPct val="108000"/>
              </a:lnSpc>
              <a:spcBef>
                <a:spcPts val="0"/>
              </a:spcBef>
              <a:spcAft>
                <a:spcPts val="0"/>
              </a:spcAft>
            </a:pPr>
            <a:r>
              <a:rPr sz="1800" i="0" b="0">
                <a:solidFill>
                  <a:srgbClr val="FF9C8A"/>
                </a:solidFill>
                <a:latin typeface="Consolas"/>
              </a:rPr>
              <a:t>test</a:t>
            </a:r>
            <a:r>
              <a:rPr sz="1800" i="0" b="0">
                <a:solidFill>
                  <a:srgbClr val="E6EDF3"/>
                </a:solidFill>
                <a:latin typeface="Consolas"/>
              </a:rPr>
              <a:t>(</a:t>
            </a:r>
            <a:r>
              <a:rPr sz="1800" i="0" b="0">
                <a:solidFill>
                  <a:srgbClr val="9BE3B4"/>
                </a:solidFill>
                <a:latin typeface="Consolas"/>
              </a:rPr>
              <a:t>"Bob sees Alice's payment live"</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async</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browser</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users</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alice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bob</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const</a:t>
            </a:r>
            <a:r>
              <a:rPr sz="1800" i="0" b="0">
                <a:solidFill>
                  <a:srgbClr val="E6EDF3"/>
                </a:solidFill>
                <a:latin typeface="Consolas"/>
              </a:rPr>
              <a:t> </a:t>
            </a:r>
            <a:r>
              <a:rPr sz="1800" i="0" b="0">
                <a:solidFill>
                  <a:srgbClr val="E6EDF3"/>
                </a:solidFill>
                <a:latin typeface="Consolas"/>
              </a:rPr>
              <a:t>aliceCtx</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E6EDF3"/>
                </a:solidFill>
                <a:latin typeface="Consolas"/>
              </a:rPr>
              <a:t>browser</a:t>
            </a:r>
            <a:r>
              <a:rPr sz="1800" i="0" b="0">
                <a:solidFill>
                  <a:srgbClr val="E6EDF3"/>
                </a:solidFill>
                <a:latin typeface="Consolas"/>
              </a:rPr>
              <a:t>.</a:t>
            </a:r>
            <a:r>
              <a:rPr sz="1800" i="0" b="0">
                <a:solidFill>
                  <a:srgbClr val="8CCFF0"/>
                </a:solidFill>
                <a:latin typeface="Consolas"/>
              </a:rPr>
              <a:t>newContext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1" b="0">
                <a:solidFill>
                  <a:srgbClr val="7F93A3"/>
                </a:solidFill>
                <a:latin typeface="Consolas"/>
              </a:rPr>
              <a:t>// isolated cookies</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const</a:t>
            </a:r>
            <a:r>
              <a:rPr sz="1800" i="0" b="0">
                <a:solidFill>
                  <a:srgbClr val="E6EDF3"/>
                </a:solidFill>
                <a:latin typeface="Consolas"/>
              </a:rPr>
              <a:t> </a:t>
            </a:r>
            <a:r>
              <a:rPr sz="1800" i="0" b="0">
                <a:solidFill>
                  <a:srgbClr val="E6EDF3"/>
                </a:solidFill>
                <a:latin typeface="Consolas"/>
              </a:rPr>
              <a:t>bobCtx</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E6EDF3"/>
                </a:solidFill>
                <a:latin typeface="Consolas"/>
              </a:rPr>
              <a:t>browser</a:t>
            </a:r>
            <a:r>
              <a:rPr sz="1800" i="0" b="0">
                <a:solidFill>
                  <a:srgbClr val="E6EDF3"/>
                </a:solidFill>
                <a:latin typeface="Consolas"/>
              </a:rPr>
              <a:t>.</a:t>
            </a:r>
            <a:r>
              <a:rPr sz="1800" i="0" b="0">
                <a:solidFill>
                  <a:srgbClr val="8CCFF0"/>
                </a:solidFill>
                <a:latin typeface="Consolas"/>
              </a:rPr>
              <a:t>newContext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const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b</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C9B8FF"/>
                </a:solidFill>
                <a:latin typeface="Consolas"/>
              </a:rPr>
              <a:t>Promise</a:t>
            </a:r>
            <a:r>
              <a:rPr sz="1800" i="0" b="0">
                <a:solidFill>
                  <a:srgbClr val="E6EDF3"/>
                </a:solidFill>
                <a:latin typeface="Consolas"/>
              </a:rPr>
              <a:t>.</a:t>
            </a:r>
            <a:r>
              <a:rPr sz="1800" i="0" b="0">
                <a:solidFill>
                  <a:srgbClr val="8CCFF0"/>
                </a:solidFill>
                <a:latin typeface="Consolas"/>
              </a:rPr>
              <a:t>all</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aliceCtx</a:t>
            </a:r>
            <a:r>
              <a:rPr sz="1800" i="0" b="0">
                <a:solidFill>
                  <a:srgbClr val="E6EDF3"/>
                </a:solidFill>
                <a:latin typeface="Consolas"/>
              </a:rPr>
              <a:t>.</a:t>
            </a:r>
            <a:r>
              <a:rPr sz="1800" i="0" b="0">
                <a:solidFill>
                  <a:srgbClr val="8CCFF0"/>
                </a:solidFill>
                <a:latin typeface="Consolas"/>
              </a:rPr>
              <a:t>newPage</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bobCtx</a:t>
            </a:r>
            <a:r>
              <a:rPr sz="1800" i="0" b="0">
                <a:solidFill>
                  <a:srgbClr val="E6EDF3"/>
                </a:solidFill>
                <a:latin typeface="Consolas"/>
              </a:rPr>
              <a:t>.</a:t>
            </a:r>
            <a:r>
              <a:rPr sz="1800" i="0" b="0">
                <a:solidFill>
                  <a:srgbClr val="8CCFF0"/>
                </a:solidFill>
                <a:latin typeface="Consolas"/>
              </a:rPr>
              <a:t>newPage</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C9B8FF"/>
                </a:solidFill>
                <a:latin typeface="Consolas"/>
              </a:rPr>
              <a:t>Promise</a:t>
            </a:r>
            <a:r>
              <a:rPr sz="1800" i="0" b="0">
                <a:solidFill>
                  <a:srgbClr val="E6EDF3"/>
                </a:solidFill>
                <a:latin typeface="Consolas"/>
              </a:rPr>
              <a:t>.</a:t>
            </a:r>
            <a:r>
              <a:rPr sz="1800" i="0" b="0">
                <a:solidFill>
                  <a:srgbClr val="8CCFF0"/>
                </a:solidFill>
                <a:latin typeface="Consolas"/>
              </a:rPr>
              <a:t>all</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8CCFF0"/>
                </a:solidFill>
                <a:latin typeface="Consolas"/>
              </a:rPr>
              <a:t>loginByXstate</a:t>
            </a:r>
            <a:r>
              <a:rPr sz="1800" i="0" b="0">
                <a:solidFill>
                  <a:srgbClr val="E6EDF3"/>
                </a:solidFill>
                <a:latin typeface="Consolas"/>
              </a:rPr>
              <a:t>(</a:t>
            </a:r>
            <a:r>
              <a:rPr sz="1800" i="0" b="0">
                <a:solidFill>
                  <a:srgbClr val="E6EDF3"/>
                </a:solidFill>
                <a:latin typeface="Consolas"/>
              </a:rPr>
              <a:t>a</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alice</a:t>
            </a:r>
            <a:r>
              <a:rPr sz="1800" i="0" b="0">
                <a:solidFill>
                  <a:srgbClr val="E6EDF3"/>
                </a:solidFill>
                <a:latin typeface="Consolas"/>
              </a:rPr>
              <a:t>.</a:t>
            </a:r>
            <a:r>
              <a:rPr sz="1800" i="0" b="0">
                <a:solidFill>
                  <a:srgbClr val="E6EDF3"/>
                </a:solidFill>
                <a:latin typeface="Consolas"/>
              </a:rPr>
              <a:t>username</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8CCFF0"/>
                </a:solidFill>
                <a:latin typeface="Consolas"/>
              </a:rPr>
              <a:t>loginByXstate</a:t>
            </a:r>
            <a:r>
              <a:rPr sz="1800" i="0" b="0">
                <a:solidFill>
                  <a:srgbClr val="E6EDF3"/>
                </a:solidFill>
                <a:latin typeface="Consolas"/>
              </a:rPr>
              <a:t>(</a:t>
            </a:r>
            <a:r>
              <a:rPr sz="1800" i="0" b="0">
                <a:solidFill>
                  <a:srgbClr val="E6EDF3"/>
                </a:solidFill>
                <a:latin typeface="Consolas"/>
              </a:rPr>
              <a:t>b</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bob</a:t>
            </a:r>
            <a:r>
              <a:rPr sz="1800" i="0" b="0">
                <a:solidFill>
                  <a:srgbClr val="E6EDF3"/>
                </a:solidFill>
                <a:latin typeface="Consolas"/>
              </a:rPr>
              <a:t>.</a:t>
            </a:r>
            <a:r>
              <a:rPr sz="1800" i="0" b="0">
                <a:solidFill>
                  <a:srgbClr val="E6EDF3"/>
                </a:solidFill>
                <a:latin typeface="Consolas"/>
              </a:rPr>
              <a:t>username</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8CCFF0"/>
                </a:solidFill>
                <a:latin typeface="Consolas"/>
              </a:rPr>
              <a:t>payFriend</a:t>
            </a:r>
            <a:r>
              <a:rPr sz="1800" i="0" b="0">
                <a:solidFill>
                  <a:srgbClr val="E6EDF3"/>
                </a:solidFill>
                <a:latin typeface="Consolas"/>
              </a:rPr>
              <a:t>(</a:t>
            </a:r>
            <a:r>
              <a:rPr sz="1800" i="0" b="0">
                <a:solidFill>
                  <a:srgbClr val="E6EDF3"/>
                </a:solidFill>
                <a:latin typeface="Consolas"/>
              </a:rPr>
              <a:t>a</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bob</a:t>
            </a:r>
            <a:r>
              <a:rPr sz="1800" i="0" b="0">
                <a:solidFill>
                  <a:srgbClr val="E6EDF3"/>
                </a:solidFill>
                <a:latin typeface="Consolas"/>
              </a:rPr>
              <a:t>.</a:t>
            </a:r>
            <a:r>
              <a:rPr sz="1800" i="0" b="0">
                <a:solidFill>
                  <a:srgbClr val="E6EDF3"/>
                </a:solidFill>
                <a:latin typeface="Consolas"/>
              </a:rPr>
              <a:t>firstName</a:t>
            </a:r>
            <a:r>
              <a:rPr sz="1800" i="0" b="0">
                <a:solidFill>
                  <a:srgbClr val="E6EDF3"/>
                </a:solidFill>
                <a:latin typeface="Consolas"/>
              </a:rPr>
              <a:t>,</a:t>
            </a:r>
            <a:r>
              <a:rPr sz="1800" i="0" b="0">
                <a:solidFill>
                  <a:srgbClr val="E6EDF3"/>
                </a:solidFill>
                <a:latin typeface="Consolas"/>
              </a:rPr>
              <a:t> </a:t>
            </a:r>
            <a:r>
              <a:rPr sz="1800" i="0" b="0">
                <a:solidFill>
                  <a:srgbClr val="FFC56B"/>
                </a:solidFill>
                <a:latin typeface="Consolas"/>
              </a:rPr>
              <a:t>42</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1" b="0">
                <a:solidFill>
                  <a:srgbClr val="7F93A3"/>
                </a:solidFill>
                <a:latin typeface="Consolas"/>
              </a:rPr>
              <a:t>// Alice pays…</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E6EDF3"/>
                </a:solidFill>
                <a:latin typeface="Consolas"/>
              </a:rPr>
              <a:t>b</a:t>
            </a:r>
            <a:r>
              <a:rPr sz="1800" i="0" b="0">
                <a:solidFill>
                  <a:srgbClr val="E6EDF3"/>
                </a:solidFill>
                <a:latin typeface="Consolas"/>
              </a:rPr>
              <a:t>.</a:t>
            </a:r>
            <a:r>
              <a:rPr sz="1800" i="0" b="0">
                <a:solidFill>
                  <a:srgbClr val="8CCFF0"/>
                </a:solidFill>
                <a:latin typeface="Consolas"/>
              </a:rPr>
              <a:t>reload</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FF9C8A"/>
                </a:solidFill>
                <a:latin typeface="Consolas"/>
              </a:rPr>
              <a:t>expect</a:t>
            </a:r>
            <a:r>
              <a:rPr sz="1800" i="0" b="0">
                <a:solidFill>
                  <a:srgbClr val="E6EDF3"/>
                </a:solidFill>
                <a:latin typeface="Consolas"/>
              </a:rPr>
              <a:t>(</a:t>
            </a:r>
            <a:r>
              <a:rPr sz="1800" i="0" b="0">
                <a:solidFill>
                  <a:srgbClr val="8CCFF0"/>
                </a:solidFill>
                <a:latin typeface="Consolas"/>
              </a:rPr>
              <a:t>bySelLike</a:t>
            </a:r>
            <a:r>
              <a:rPr sz="1800" i="0" b="0">
                <a:solidFill>
                  <a:srgbClr val="E6EDF3"/>
                </a:solidFill>
                <a:latin typeface="Consolas"/>
              </a:rPr>
              <a:t>(</a:t>
            </a:r>
            <a:r>
              <a:rPr sz="1800" i="0" b="0">
                <a:solidFill>
                  <a:srgbClr val="E6EDF3"/>
                </a:solidFill>
                <a:latin typeface="Consolas"/>
              </a:rPr>
              <a:t>b</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"user-balance"</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1" b="0">
                <a:solidFill>
                  <a:srgbClr val="7F93A3"/>
                </a:solidFill>
                <a:latin typeface="Consolas"/>
              </a:rPr>
              <a:t>// …Bob sees it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8CCFF0"/>
                </a:solidFill>
                <a:latin typeface="Consolas"/>
              </a:rPr>
              <a:t>toContainText</a:t>
            </a:r>
            <a:r>
              <a:rPr sz="1800" i="0" b="0">
                <a:solidFill>
                  <a:srgbClr val="E6EDF3"/>
                </a:solidFill>
                <a:latin typeface="Consolas"/>
              </a:rPr>
              <a:t>(</a:t>
            </a:r>
            <a:r>
              <a:rPr sz="1800" i="0" b="0">
                <a:solidFill>
                  <a:srgbClr val="9BE3B4"/>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p:txBody>
      </p:sp>
      <p:sp>
        <p:nvSpPr>
          <p:cNvPr id="12" name="Rounded Rectangle 11"/>
          <p:cNvSpPr/>
          <p:nvPr/>
        </p:nvSpPr>
        <p:spPr>
          <a:xfrm>
            <a:off x="13716000" y="2926080"/>
            <a:ext cx="9756648" cy="2514600"/>
          </a:xfrm>
          <a:prstGeom prst="roundRect">
            <a:avLst>
              <a:gd name="adj" fmla="val 10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3990320" y="3200400"/>
            <a:ext cx="914400" cy="91440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uUsers.png"/>
          <p:cNvPicPr>
            <a:picLocks noChangeAspect="1"/>
          </p:cNvPicPr>
          <p:nvPr/>
        </p:nvPicPr>
        <p:blipFill>
          <a:blip r:embed="rId3"/>
          <a:stretch>
            <a:fillRect/>
          </a:stretch>
        </p:blipFill>
        <p:spPr>
          <a:xfrm>
            <a:off x="14209776" y="3419856"/>
            <a:ext cx="475488" cy="475488"/>
          </a:xfrm>
          <a:prstGeom prst="rect">
            <a:avLst/>
          </a:prstGeom>
        </p:spPr>
      </p:pic>
      <p:sp>
        <p:nvSpPr>
          <p:cNvPr id="15" name="TextBox 14"/>
          <p:cNvSpPr txBox="1"/>
          <p:nvPr/>
        </p:nvSpPr>
        <p:spPr>
          <a:xfrm>
            <a:off x="15179040" y="3200400"/>
            <a:ext cx="8046720" cy="731520"/>
          </a:xfrm>
          <a:prstGeom prst="rect">
            <a:avLst/>
          </a:prstGeom>
          <a:noFill/>
        </p:spPr>
        <p:txBody>
          <a:bodyPr wrap="square" lIns="0" rIns="0" tIns="18288" bIns="18288" anchor="t">
            <a:noAutofit/>
          </a:bodyPr>
          <a:lstStyle/>
          <a:p>
            <a:pPr algn="l">
              <a:lnSpc>
                <a:spcPct val="100000"/>
              </a:lnSpc>
              <a:spcBef>
                <a:spcPts val="0"/>
              </a:spcBef>
              <a:spcAft>
                <a:spcPts val="0"/>
              </a:spcAft>
            </a:pPr>
            <a:r>
              <a:rPr sz="2400" b="1" i="0">
                <a:solidFill>
                  <a:srgbClr val="192B37"/>
                </a:solidFill>
              </a:rPr>
              <a:t>Playwright</a:t>
            </a:r>
          </a:p>
        </p:txBody>
      </p:sp>
      <p:sp>
        <p:nvSpPr>
          <p:cNvPr id="16" name="TextBox 15"/>
          <p:cNvSpPr txBox="1"/>
          <p:nvPr/>
        </p:nvSpPr>
        <p:spPr>
          <a:xfrm>
            <a:off x="13990320" y="4206240"/>
            <a:ext cx="9235440" cy="1097280"/>
          </a:xfrm>
          <a:prstGeom prst="rect">
            <a:avLst/>
          </a:prstGeom>
          <a:noFill/>
        </p:spPr>
        <p:txBody>
          <a:bodyPr wrap="square" lIns="0" rIns="0" tIns="18288" bIns="18288" anchor="t">
            <a:noAutofit/>
          </a:bodyPr>
          <a:lstStyle/>
          <a:p>
            <a:pPr algn="l">
              <a:lnSpc>
                <a:spcPct val="100000"/>
              </a:lnSpc>
              <a:spcBef>
                <a:spcPts val="0"/>
              </a:spcBef>
              <a:spcAft>
                <a:spcPts val="0"/>
              </a:spcAft>
            </a:pPr>
            <a:r>
              <a:rPr sz="1900" b="0" i="0">
                <a:solidFill>
                  <a:srgbClr val="192B37"/>
                </a:solidFill>
              </a:rPr>
              <a:t>2 contexts, 2 sessions, in parallel, one test</a:t>
            </a:r>
          </a:p>
        </p:txBody>
      </p:sp>
      <p:sp>
        <p:nvSpPr>
          <p:cNvPr id="17" name="Rounded Rectangle 16"/>
          <p:cNvSpPr/>
          <p:nvPr/>
        </p:nvSpPr>
        <p:spPr>
          <a:xfrm>
            <a:off x="13716000" y="5669280"/>
            <a:ext cx="9756648" cy="2514600"/>
          </a:xfrm>
          <a:prstGeom prst="roundRect">
            <a:avLst>
              <a:gd name="adj" fmla="val 10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3990320" y="5943600"/>
            <a:ext cx="914400" cy="9144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uUser.png"/>
          <p:cNvPicPr>
            <a:picLocks noChangeAspect="1"/>
          </p:cNvPicPr>
          <p:nvPr/>
        </p:nvPicPr>
        <p:blipFill>
          <a:blip r:embed="rId4"/>
          <a:stretch>
            <a:fillRect/>
          </a:stretch>
        </p:blipFill>
        <p:spPr>
          <a:xfrm>
            <a:off x="14209776" y="6163056"/>
            <a:ext cx="475488" cy="475488"/>
          </a:xfrm>
          <a:prstGeom prst="rect">
            <a:avLst/>
          </a:prstGeom>
        </p:spPr>
      </p:pic>
      <p:sp>
        <p:nvSpPr>
          <p:cNvPr id="20" name="TextBox 19"/>
          <p:cNvSpPr txBox="1"/>
          <p:nvPr/>
        </p:nvSpPr>
        <p:spPr>
          <a:xfrm>
            <a:off x="15179040" y="5943600"/>
            <a:ext cx="8046720" cy="731520"/>
          </a:xfrm>
          <a:prstGeom prst="rect">
            <a:avLst/>
          </a:prstGeom>
          <a:noFill/>
        </p:spPr>
        <p:txBody>
          <a:bodyPr wrap="square" lIns="0" rIns="0" tIns="18288" bIns="18288" anchor="t">
            <a:noAutofit/>
          </a:bodyPr>
          <a:lstStyle/>
          <a:p>
            <a:pPr algn="l">
              <a:lnSpc>
                <a:spcPct val="100000"/>
              </a:lnSpc>
              <a:spcBef>
                <a:spcPts val="0"/>
              </a:spcBef>
              <a:spcAft>
                <a:spcPts val="0"/>
              </a:spcAft>
            </a:pPr>
            <a:r>
              <a:rPr sz="2400" b="1" i="0">
                <a:solidFill>
                  <a:srgbClr val="192B37"/>
                </a:solidFill>
              </a:rPr>
              <a:t>Cypress</a:t>
            </a:r>
          </a:p>
        </p:txBody>
      </p:sp>
      <p:sp>
        <p:nvSpPr>
          <p:cNvPr id="21" name="TextBox 20"/>
          <p:cNvSpPr txBox="1"/>
          <p:nvPr/>
        </p:nvSpPr>
        <p:spPr>
          <a:xfrm>
            <a:off x="13990320" y="6949440"/>
            <a:ext cx="9235440" cy="1097280"/>
          </a:xfrm>
          <a:prstGeom prst="rect">
            <a:avLst/>
          </a:prstGeom>
          <a:noFill/>
        </p:spPr>
        <p:txBody>
          <a:bodyPr wrap="square" lIns="0" rIns="0" tIns="18288" bIns="18288" anchor="t">
            <a:noAutofit/>
          </a:bodyPr>
          <a:lstStyle/>
          <a:p>
            <a:pPr algn="l">
              <a:lnSpc>
                <a:spcPct val="100000"/>
              </a:lnSpc>
              <a:spcBef>
                <a:spcPts val="0"/>
              </a:spcBef>
              <a:spcAft>
                <a:spcPts val="0"/>
              </a:spcAft>
            </a:pPr>
            <a:r>
              <a:rPr sz="1900" b="0" i="0">
                <a:solidFill>
                  <a:srgbClr val="192B37"/>
                </a:solidFill>
              </a:rPr>
              <a:t>1 browser = 1 session → logout, login as Bob, continue</a:t>
            </a:r>
          </a:p>
        </p:txBody>
      </p:sp>
      <p:sp>
        <p:nvSpPr>
          <p:cNvPr id="22" name="Rounded Rectangle 21"/>
          <p:cNvSpPr/>
          <p:nvPr/>
        </p:nvSpPr>
        <p:spPr>
          <a:xfrm>
            <a:off x="13716000" y="8412480"/>
            <a:ext cx="9756648" cy="2011680"/>
          </a:xfrm>
          <a:prstGeom prst="roundRect">
            <a:avLst>
              <a:gd name="adj" fmla="val 10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3990320" y="8412480"/>
            <a:ext cx="9235440" cy="2011680"/>
          </a:xfrm>
          <a:prstGeom prst="rect">
            <a:avLst/>
          </a:prstGeom>
          <a:noFill/>
        </p:spPr>
        <p:txBody>
          <a:bodyPr wrap="square" lIns="0" rIns="0" tIns="18288" bIns="18288" anchor="ctr">
            <a:noAutofit/>
          </a:bodyPr>
          <a:lstStyle/>
          <a:p>
            <a:pPr algn="l">
              <a:lnSpc>
                <a:spcPct val="100000"/>
              </a:lnSpc>
              <a:spcBef>
                <a:spcPts val="0"/>
              </a:spcBef>
              <a:spcAft>
                <a:spcPts val="0"/>
              </a:spcAft>
            </a:pPr>
            <a:r>
              <a:rPr sz="1800" b="0" i="0">
                <a:solidFill>
                  <a:srgbClr val="192B37"/>
                </a:solidFill>
              </a:rPr>
              <a:t>Real use: chat apps, payments, admin + customer, approval flows — anything where </a:t>
            </a:r>
            <a:r>
              <a:rPr sz="1800" b="1" i="0">
                <a:solidFill>
                  <a:srgbClr val="192B37"/>
                </a:solidFill>
              </a:rPr>
              <a:t>two people</a:t>
            </a:r>
            <a:r>
              <a:rPr sz="1800" b="0" i="0">
                <a:solidFill>
                  <a:srgbClr val="192B37"/>
                </a:solidFill>
              </a:rPr>
              <a:t> interact.</a:t>
            </a:r>
          </a:p>
        </p:txBody>
      </p:sp>
      <p:sp>
        <p:nvSpPr>
          <p:cNvPr id="24" name="Rounded Rectangle 23"/>
          <p:cNvSpPr/>
          <p:nvPr/>
        </p:nvSpPr>
        <p:spPr>
          <a:xfrm>
            <a:off x="612648" y="10789920"/>
            <a:ext cx="22860000" cy="960120"/>
          </a:xfrm>
          <a:prstGeom prst="roundRect">
            <a:avLst>
              <a:gd name="adj" fmla="val 1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886968" y="10927080"/>
            <a:ext cx="685800" cy="68580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LuLaugh.png"/>
          <p:cNvPicPr>
            <a:picLocks noChangeAspect="1"/>
          </p:cNvPicPr>
          <p:nvPr/>
        </p:nvPicPr>
        <p:blipFill>
          <a:blip r:embed="rId5"/>
          <a:stretch>
            <a:fillRect/>
          </a:stretch>
        </p:blipFill>
        <p:spPr>
          <a:xfrm>
            <a:off x="1051560" y="11091672"/>
            <a:ext cx="356616" cy="356616"/>
          </a:xfrm>
          <a:prstGeom prst="rect">
            <a:avLst/>
          </a:prstGeom>
        </p:spPr>
      </p:pic>
      <p:sp>
        <p:nvSpPr>
          <p:cNvPr id="27" name="TextBox 26"/>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Two users, two contexts, one test. In Cypress, Bob would have to wait for his own spec.</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Cy vs PW</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DB7D00"/>
                </a:solidFill>
              </a:rPr>
              <a:t>APPROACH · EXAMPLE 4</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Test data and setup: tasks &amp; hooks vs fixtures</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43</a:t>
            </a:r>
          </a:p>
        </p:txBody>
      </p:sp>
      <p:sp>
        <p:nvSpPr>
          <p:cNvPr id="6" name="Rounded Rectangle 5"/>
          <p:cNvSpPr/>
          <p:nvPr/>
        </p:nvSpPr>
        <p:spPr>
          <a:xfrm>
            <a:off x="612648" y="2926080"/>
            <a:ext cx="11247120" cy="4937760"/>
          </a:xfrm>
          <a:prstGeom prst="roundRect">
            <a:avLst>
              <a:gd name="adj" fmla="val 5185"/>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86968" y="312724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79576" y="312724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72184" y="312724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92807" y="2999232"/>
            <a:ext cx="969264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Cypress · hooks + tasks + shared ctx</a:t>
            </a:r>
          </a:p>
        </p:txBody>
      </p:sp>
      <p:sp>
        <p:nvSpPr>
          <p:cNvPr id="11" name="TextBox 10"/>
          <p:cNvSpPr txBox="1"/>
          <p:nvPr/>
        </p:nvSpPr>
        <p:spPr>
          <a:xfrm>
            <a:off x="886968" y="3474720"/>
            <a:ext cx="10789920" cy="4251960"/>
          </a:xfrm>
          <a:prstGeom prst="rect">
            <a:avLst/>
          </a:prstGeom>
          <a:noFill/>
        </p:spPr>
        <p:txBody>
          <a:bodyPr wrap="none" lIns="0" rIns="0" tIns="0" bIns="0">
            <a:noAutofit/>
          </a:bodyPr>
          <a:lstStyle/>
          <a:p>
            <a:pPr>
              <a:lnSpc>
                <a:spcPct val="108000"/>
              </a:lnSpc>
              <a:spcBef>
                <a:spcPts val="0"/>
              </a:spcBef>
              <a:spcAft>
                <a:spcPts val="0"/>
              </a:spcAft>
            </a:pPr>
            <a:r>
              <a:rPr sz="1800" i="0" b="0">
                <a:solidFill>
                  <a:srgbClr val="8CCFF0"/>
                </a:solidFill>
                <a:latin typeface="Consolas"/>
              </a:rPr>
              <a:t>beforeEach</a:t>
            </a:r>
            <a:r>
              <a:rPr sz="1800" i="0" b="0">
                <a:solidFill>
                  <a:srgbClr val="E6EDF3"/>
                </a:solidFill>
                <a:latin typeface="Consolas"/>
              </a:rPr>
              <a:t>(</a:t>
            </a:r>
            <a:r>
              <a:rPr sz="1800" i="0" b="0">
                <a:solidFill>
                  <a:srgbClr val="FF9C8A"/>
                </a:solidFill>
                <a:latin typeface="Consolas"/>
              </a:rPr>
              <a:t>function</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cy</a:t>
            </a:r>
            <a:r>
              <a:rPr sz="1800" i="0" b="0">
                <a:solidFill>
                  <a:srgbClr val="E6EDF3"/>
                </a:solidFill>
                <a:latin typeface="Consolas"/>
              </a:rPr>
              <a:t>.</a:t>
            </a:r>
            <a:r>
              <a:rPr sz="1800" i="0" b="0">
                <a:solidFill>
                  <a:srgbClr val="8CCFF0"/>
                </a:solidFill>
                <a:latin typeface="Consolas"/>
              </a:rPr>
              <a:t>task</a:t>
            </a:r>
            <a:r>
              <a:rPr sz="1800" i="0" b="0">
                <a:solidFill>
                  <a:srgbClr val="E6EDF3"/>
                </a:solidFill>
                <a:latin typeface="Consolas"/>
              </a:rPr>
              <a:t>(</a:t>
            </a:r>
            <a:r>
              <a:rPr sz="1800" i="0" b="0">
                <a:solidFill>
                  <a:srgbClr val="9BE3B4"/>
                </a:solidFill>
                <a:latin typeface="Consolas"/>
              </a:rPr>
              <a:t>"db:seed"</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cy</a:t>
            </a:r>
            <a:r>
              <a:rPr sz="1800" i="0" b="0">
                <a:solidFill>
                  <a:srgbClr val="E6EDF3"/>
                </a:solidFill>
                <a:latin typeface="Consolas"/>
              </a:rPr>
              <a:t>.</a:t>
            </a:r>
            <a:r>
              <a:rPr sz="1800" i="0" b="0">
                <a:solidFill>
                  <a:srgbClr val="8CCFF0"/>
                </a:solidFill>
                <a:latin typeface="Consolas"/>
              </a:rPr>
              <a:t>database</a:t>
            </a:r>
            <a:r>
              <a:rPr sz="1800" i="0" b="0">
                <a:solidFill>
                  <a:srgbClr val="E6EDF3"/>
                </a:solidFill>
                <a:latin typeface="Consolas"/>
              </a:rPr>
              <a:t>(</a:t>
            </a:r>
            <a:r>
              <a:rPr sz="1800" i="0" b="0">
                <a:solidFill>
                  <a:srgbClr val="9BE3B4"/>
                </a:solidFill>
                <a:latin typeface="Consolas"/>
              </a:rPr>
              <a:t>"filter"</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"users"</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then</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users</a:t>
            </a:r>
            <a:r>
              <a:rPr sz="1800" i="0" b="0">
                <a:solidFill>
                  <a:srgbClr val="E6EDF3"/>
                </a:solidFill>
                <a:latin typeface="Consolas"/>
              </a:rPr>
              <a:t>:</a:t>
            </a:r>
            <a:r>
              <a:rPr sz="1800" i="0" b="0">
                <a:solidFill>
                  <a:srgbClr val="E6EDF3"/>
                </a:solidFill>
                <a:latin typeface="Consolas"/>
              </a:rPr>
              <a:t> </a:t>
            </a:r>
            <a:r>
              <a:rPr sz="1800" i="0" b="0">
                <a:solidFill>
                  <a:srgbClr val="C9B8FF"/>
                </a:solidFill>
                <a:latin typeface="Consolas"/>
              </a:rPr>
              <a:t>User</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ctx</a:t>
            </a:r>
            <a:r>
              <a:rPr sz="1800" i="0" b="0">
                <a:solidFill>
                  <a:srgbClr val="E6EDF3"/>
                </a:solidFill>
                <a:latin typeface="Consolas"/>
              </a:rPr>
              <a:t>.</a:t>
            </a:r>
            <a:r>
              <a:rPr sz="1800" i="0" b="0">
                <a:solidFill>
                  <a:srgbClr val="E6EDF3"/>
                </a:solidFill>
                <a:latin typeface="Consolas"/>
              </a:rPr>
              <a:t>user</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users</a:t>
            </a:r>
            <a:r>
              <a:rPr sz="1800" i="0" b="0">
                <a:solidFill>
                  <a:srgbClr val="E6EDF3"/>
                </a:solidFill>
                <a:latin typeface="Consolas"/>
              </a:rPr>
              <a:t>[</a:t>
            </a:r>
            <a:r>
              <a:rPr sz="1800" i="0" b="0">
                <a:solidFill>
                  <a:srgbClr val="FFC56B"/>
                </a:solidFill>
                <a:latin typeface="Consolas"/>
              </a:rPr>
              <a:t>0</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ctx</a:t>
            </a:r>
            <a:r>
              <a:rPr sz="1800" i="0" b="0">
                <a:solidFill>
                  <a:srgbClr val="E6EDF3"/>
                </a:solidFill>
                <a:latin typeface="Consolas"/>
              </a:rPr>
              <a:t>.</a:t>
            </a:r>
            <a:r>
              <a:rPr sz="1800" i="0" b="0">
                <a:solidFill>
                  <a:srgbClr val="E6EDF3"/>
                </a:solidFill>
                <a:latin typeface="Consolas"/>
              </a:rPr>
              <a:t>contact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users</a:t>
            </a:r>
            <a:r>
              <a:rPr sz="1800" i="0" b="0">
                <a:solidFill>
                  <a:srgbClr val="E6EDF3"/>
                </a:solidFill>
                <a:latin typeface="Consolas"/>
              </a:rPr>
              <a:t>[</a:t>
            </a:r>
            <a:r>
              <a:rPr sz="1800" i="0" b="0">
                <a:solidFill>
                  <a:srgbClr val="FFC56B"/>
                </a:solidFill>
                <a:latin typeface="Consolas"/>
              </a:rPr>
              <a:t>2</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return</a:t>
            </a:r>
            <a:r>
              <a:rPr sz="1800" i="0" b="0">
                <a:solidFill>
                  <a:srgbClr val="E6EDF3"/>
                </a:solidFill>
                <a:latin typeface="Consolas"/>
              </a:rPr>
              <a:t> </a:t>
            </a:r>
            <a:r>
              <a:rPr sz="1800" i="0" b="0">
                <a:solidFill>
                  <a:srgbClr val="E6EDF3"/>
                </a:solidFill>
                <a:latin typeface="Consolas"/>
              </a:rPr>
              <a:t>cy</a:t>
            </a:r>
            <a:r>
              <a:rPr sz="1800" i="0" b="0">
                <a:solidFill>
                  <a:srgbClr val="E6EDF3"/>
                </a:solidFill>
                <a:latin typeface="Consolas"/>
              </a:rPr>
              <a:t>.</a:t>
            </a:r>
            <a:r>
              <a:rPr sz="1800" i="0" b="0">
                <a:solidFill>
                  <a:srgbClr val="8CCFF0"/>
                </a:solidFill>
                <a:latin typeface="Consolas"/>
              </a:rPr>
              <a:t>loginByXstate</a:t>
            </a:r>
            <a:r>
              <a:rPr sz="1800" i="0" b="0">
                <a:solidFill>
                  <a:srgbClr val="E6EDF3"/>
                </a:solidFill>
                <a:latin typeface="Consolas"/>
              </a:rPr>
              <a:t>(</a:t>
            </a:r>
            <a:r>
              <a:rPr sz="1800" i="0" b="0">
                <a:solidFill>
                  <a:srgbClr val="E6EDF3"/>
                </a:solidFill>
                <a:latin typeface="Consolas"/>
              </a:rPr>
              <a:t>ctx</a:t>
            </a:r>
            <a:r>
              <a:rPr sz="1800" i="0" b="0">
                <a:solidFill>
                  <a:srgbClr val="E6EDF3"/>
                </a:solidFill>
                <a:latin typeface="Consolas"/>
              </a:rPr>
              <a:t>.</a:t>
            </a:r>
            <a:r>
              <a:rPr sz="1800" i="0" b="0">
                <a:solidFill>
                  <a:srgbClr val="E6EDF3"/>
                </a:solidFill>
                <a:latin typeface="Consolas"/>
              </a:rPr>
              <a:t>user</a:t>
            </a:r>
            <a:r>
              <a:rPr sz="1800" i="0" b="0">
                <a:solidFill>
                  <a:srgbClr val="E6EDF3"/>
                </a:solidFill>
                <a:latin typeface="Consolas"/>
              </a:rPr>
              <a:t>.</a:t>
            </a:r>
            <a:r>
              <a:rPr sz="1800" i="0" b="0">
                <a:solidFill>
                  <a:srgbClr val="E6EDF3"/>
                </a:solidFill>
                <a:latin typeface="Consolas"/>
              </a:rPr>
              <a:t>username</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p:txBody>
      </p:sp>
      <p:sp>
        <p:nvSpPr>
          <p:cNvPr id="12" name="Rounded Rectangle 11"/>
          <p:cNvSpPr/>
          <p:nvPr/>
        </p:nvSpPr>
        <p:spPr>
          <a:xfrm>
            <a:off x="12225528" y="2926080"/>
            <a:ext cx="11247120" cy="4937760"/>
          </a:xfrm>
          <a:prstGeom prst="roundRect">
            <a:avLst>
              <a:gd name="adj" fmla="val 5185"/>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2499848" y="312724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792456" y="312724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3085064" y="312724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505688" y="2999232"/>
            <a:ext cx="969264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Playwright · fixtures</a:t>
            </a:r>
          </a:p>
        </p:txBody>
      </p:sp>
      <p:sp>
        <p:nvSpPr>
          <p:cNvPr id="17" name="TextBox 16"/>
          <p:cNvSpPr txBox="1"/>
          <p:nvPr/>
        </p:nvSpPr>
        <p:spPr>
          <a:xfrm>
            <a:off x="12499848" y="3474720"/>
            <a:ext cx="10789920" cy="4251960"/>
          </a:xfrm>
          <a:prstGeom prst="rect">
            <a:avLst/>
          </a:prstGeom>
          <a:noFill/>
        </p:spPr>
        <p:txBody>
          <a:bodyPr wrap="none" lIns="0" rIns="0" tIns="0" bIns="0">
            <a:noAutofit/>
          </a:bodyPr>
          <a:lstStyle/>
          <a:p>
            <a:pPr>
              <a:lnSpc>
                <a:spcPct val="108000"/>
              </a:lnSpc>
              <a:spcBef>
                <a:spcPts val="0"/>
              </a:spcBef>
              <a:spcAft>
                <a:spcPts val="0"/>
              </a:spcAft>
            </a:pPr>
            <a:r>
              <a:rPr sz="1800" i="0" b="0">
                <a:solidFill>
                  <a:srgbClr val="FF9C8A"/>
                </a:solidFill>
                <a:latin typeface="Consolas"/>
              </a:rPr>
              <a:t>export</a:t>
            </a:r>
            <a:r>
              <a:rPr sz="1800" i="0" b="0">
                <a:solidFill>
                  <a:srgbClr val="E6EDF3"/>
                </a:solidFill>
                <a:latin typeface="Consolas"/>
              </a:rPr>
              <a:t> </a:t>
            </a:r>
            <a:r>
              <a:rPr sz="1800" i="0" b="0">
                <a:solidFill>
                  <a:srgbClr val="FF9C8A"/>
                </a:solidFill>
                <a:latin typeface="Consolas"/>
              </a:rPr>
              <a:t>const</a:t>
            </a:r>
            <a:r>
              <a:rPr sz="1800" i="0" b="0">
                <a:solidFill>
                  <a:srgbClr val="E6EDF3"/>
                </a:solidFill>
                <a:latin typeface="Consolas"/>
              </a:rPr>
              <a:t> </a:t>
            </a:r>
            <a:r>
              <a:rPr sz="1800" i="0" b="0">
                <a:solidFill>
                  <a:srgbClr val="FF9C8A"/>
                </a:solidFill>
                <a:latin typeface="Consolas"/>
              </a:rPr>
              <a:t>test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base</a:t>
            </a:r>
            <a:r>
              <a:rPr sz="1800" i="0" b="0">
                <a:solidFill>
                  <a:srgbClr val="E6EDF3"/>
                </a:solidFill>
                <a:latin typeface="Consolas"/>
              </a:rPr>
              <a:t>.</a:t>
            </a:r>
            <a:r>
              <a:rPr sz="1800" i="0" b="0">
                <a:solidFill>
                  <a:srgbClr val="8CCFF0"/>
                </a:solidFill>
                <a:latin typeface="Consolas"/>
              </a:rPr>
              <a:t>extend</a:t>
            </a:r>
            <a:r>
              <a:rPr sz="1800" i="0" b="0">
                <a:solidFill>
                  <a:srgbClr val="E6EDF3"/>
                </a:solidFill>
                <a:latin typeface="Consolas"/>
              </a:rPr>
              <a:t>&lt;</a:t>
            </a:r>
            <a:r>
              <a:rPr sz="1800" i="0" b="0">
                <a:solidFill>
                  <a:srgbClr val="C9B8FF"/>
                </a:solidFill>
                <a:latin typeface="Consolas"/>
              </a:rPr>
              <a:t>Fixtures</a:t>
            </a:r>
            <a:r>
              <a:rPr sz="1800" i="0" b="0">
                <a:solidFill>
                  <a:srgbClr val="E6EDF3"/>
                </a:solidFill>
                <a:latin typeface="Consolas"/>
              </a:rPr>
              <a:t>&gt;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seed</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FF9C8A"/>
                </a:solidFill>
                <a:latin typeface="Consolas"/>
              </a:rPr>
              <a:t>async</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api</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use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8CCFF0"/>
                </a:solidFill>
                <a:latin typeface="Consolas"/>
              </a:rPr>
              <a:t>seedDatabase</a:t>
            </a:r>
            <a:r>
              <a:rPr sz="1800" i="0" b="0">
                <a:solidFill>
                  <a:srgbClr val="E6EDF3"/>
                </a:solidFill>
                <a:latin typeface="Consolas"/>
              </a:rPr>
              <a:t>(</a:t>
            </a:r>
            <a:r>
              <a:rPr sz="1800" i="0" b="0">
                <a:solidFill>
                  <a:srgbClr val="E6EDF3"/>
                </a:solidFill>
                <a:latin typeface="Consolas"/>
              </a:rPr>
              <a:t>api</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1" b="0">
                <a:solidFill>
                  <a:srgbClr val="7F93A3"/>
                </a:solidFill>
                <a:latin typeface="Consolas"/>
              </a:rPr>
              <a:t>// before</a:t>
            </a:r>
          </a:p>
          <a:p>
            <a:pPr>
              <a:lnSpc>
                <a:spcPct val="108000"/>
              </a:lnSpc>
              <a:spcBef>
                <a:spcPts val="0"/>
              </a:spcBef>
              <a:spcAft>
                <a:spcPts val="0"/>
              </a:spcAft>
            </a:pPr>
            <a:r>
              <a:rPr sz="1800" i="0" b="0">
                <a:solidFill>
                  <a:srgbClr val="E6EDF3"/>
                </a:solidFill>
                <a:latin typeface="Consolas"/>
              </a:rPr>
              <a:t>    </a:t>
            </a:r>
            <a:r>
              <a:rPr sz="1800" i="0" b="0">
                <a:solidFill>
                  <a:srgbClr val="FF9C8A"/>
                </a:solidFill>
                <a:latin typeface="Consolas"/>
              </a:rPr>
              <a:t>await</a:t>
            </a:r>
            <a:r>
              <a:rPr sz="1800" i="0" b="0">
                <a:solidFill>
                  <a:srgbClr val="E6EDF3"/>
                </a:solidFill>
                <a:latin typeface="Consolas"/>
              </a:rPr>
              <a:t> </a:t>
            </a:r>
            <a:r>
              <a:rPr sz="1800" i="0" b="0">
                <a:solidFill>
                  <a:srgbClr val="FF9C8A"/>
                </a:solidFill>
                <a:latin typeface="Consolas"/>
              </a:rPr>
              <a:t>use</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1" b="0">
                <a:solidFill>
                  <a:srgbClr val="7F93A3"/>
                </a:solidFill>
                <a:latin typeface="Consolas"/>
              </a:rPr>
              <a:t>// the test runs here</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auto</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true</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db</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async</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api</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seed</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FF9C8A"/>
                </a:solidFill>
                <a:latin typeface="Consolas"/>
              </a:rPr>
              <a:t>use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&gt;</a:t>
            </a:r>
            <a:r>
              <a:rPr sz="1800" i="0" b="0">
                <a:solidFill>
                  <a:srgbClr val="E6EDF3"/>
                </a:solidFill>
                <a:latin typeface="Consolas"/>
              </a:rPr>
              <a:t> </a:t>
            </a:r>
            <a:r>
              <a:rPr sz="1800" i="0" b="0">
                <a:solidFill>
                  <a:srgbClr val="FF9C8A"/>
                </a:solidFill>
                <a:latin typeface="Consolas"/>
              </a:rPr>
              <a:t>use</a:t>
            </a:r>
            <a:r>
              <a:rPr sz="1800" i="0" b="0">
                <a:solidFill>
                  <a:srgbClr val="E6EDF3"/>
                </a:solidFill>
                <a:latin typeface="Consolas"/>
              </a:rPr>
              <a:t>(</a:t>
            </a:r>
            <a:r>
              <a:rPr sz="1800" i="0" b="0">
                <a:solidFill>
                  <a:srgbClr val="8CCFF0"/>
                </a:solidFill>
                <a:latin typeface="Consolas"/>
              </a:rPr>
              <a:t>dbFor</a:t>
            </a:r>
            <a:r>
              <a:rPr sz="1800" i="0" b="0">
                <a:solidFill>
                  <a:srgbClr val="E6EDF3"/>
                </a:solidFill>
                <a:latin typeface="Consolas"/>
              </a:rPr>
              <a:t>(</a:t>
            </a:r>
            <a:r>
              <a:rPr sz="1800" i="0" b="0">
                <a:solidFill>
                  <a:srgbClr val="E6EDF3"/>
                </a:solidFill>
                <a:latin typeface="Consolas"/>
              </a:rPr>
              <a:t>api</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1" b="0">
                <a:solidFill>
                  <a:srgbClr val="7F93A3"/>
                </a:solidFill>
                <a:latin typeface="Consolas"/>
              </a:rPr>
              <a:t>// spec: async ({ page, db, users: [alice, bob] }) =&gt; …</a:t>
            </a:r>
          </a:p>
        </p:txBody>
      </p:sp>
      <p:sp>
        <p:nvSpPr>
          <p:cNvPr id="18" name="Rounded Rectangle 17"/>
          <p:cNvSpPr/>
          <p:nvPr/>
        </p:nvSpPr>
        <p:spPr>
          <a:xfrm>
            <a:off x="612648" y="8138160"/>
            <a:ext cx="5532120" cy="2286000"/>
          </a:xfrm>
          <a:prstGeom prst="roundRect">
            <a:avLst>
              <a:gd name="adj" fmla="val 10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86968" y="8366760"/>
            <a:ext cx="822960" cy="82296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uZap.png"/>
          <p:cNvPicPr>
            <a:picLocks noChangeAspect="1"/>
          </p:cNvPicPr>
          <p:nvPr/>
        </p:nvPicPr>
        <p:blipFill>
          <a:blip r:embed="rId3"/>
          <a:stretch>
            <a:fillRect/>
          </a:stretch>
        </p:blipFill>
        <p:spPr>
          <a:xfrm>
            <a:off x="1084478" y="8564270"/>
            <a:ext cx="427939" cy="427939"/>
          </a:xfrm>
          <a:prstGeom prst="rect">
            <a:avLst/>
          </a:prstGeom>
        </p:spPr>
      </p:pic>
      <p:sp>
        <p:nvSpPr>
          <p:cNvPr id="21" name="TextBox 20"/>
          <p:cNvSpPr txBox="1"/>
          <p:nvPr/>
        </p:nvSpPr>
        <p:spPr>
          <a:xfrm>
            <a:off x="1892807" y="8366760"/>
            <a:ext cx="4114800" cy="822960"/>
          </a:xfrm>
          <a:prstGeom prst="rect">
            <a:avLst/>
          </a:prstGeom>
          <a:noFill/>
        </p:spPr>
        <p:txBody>
          <a:bodyPr wrap="square" lIns="0" rIns="0" tIns="18288" bIns="18288" anchor="ctr">
            <a:noAutofit/>
          </a:bodyPr>
          <a:lstStyle/>
          <a:p>
            <a:pPr algn="l">
              <a:lnSpc>
                <a:spcPct val="100000"/>
              </a:lnSpc>
              <a:spcBef>
                <a:spcPts val="0"/>
              </a:spcBef>
              <a:spcAft>
                <a:spcPts val="0"/>
              </a:spcAft>
            </a:pPr>
            <a:r>
              <a:rPr sz="2200" b="1" i="0">
                <a:solidFill>
                  <a:srgbClr val="192B37"/>
                </a:solidFill>
              </a:rPr>
              <a:t>Lazy</a:t>
            </a:r>
          </a:p>
        </p:txBody>
      </p:sp>
      <p:sp>
        <p:nvSpPr>
          <p:cNvPr id="22" name="TextBox 21"/>
          <p:cNvSpPr txBox="1"/>
          <p:nvPr/>
        </p:nvSpPr>
        <p:spPr>
          <a:xfrm>
            <a:off x="886968" y="9326880"/>
            <a:ext cx="5029200" cy="1005840"/>
          </a:xfrm>
          <a:prstGeom prst="rect">
            <a:avLst/>
          </a:prstGeom>
          <a:noFill/>
        </p:spPr>
        <p:txBody>
          <a:bodyPr wrap="square" lIns="0" rIns="0" tIns="18288" bIns="18288" anchor="t">
            <a:noAutofit/>
          </a:bodyPr>
          <a:lstStyle/>
          <a:p>
            <a:pPr algn="l">
              <a:lnSpc>
                <a:spcPct val="100000"/>
              </a:lnSpc>
              <a:spcBef>
                <a:spcPts val="0"/>
              </a:spcBef>
              <a:spcAft>
                <a:spcPts val="0"/>
              </a:spcAft>
            </a:pPr>
            <a:r>
              <a:rPr sz="1700" b="0" i="0">
                <a:solidFill>
                  <a:srgbClr val="192B37"/>
                </a:solidFill>
              </a:rPr>
              <a:t>built only if the test asks for it</a:t>
            </a:r>
          </a:p>
        </p:txBody>
      </p:sp>
      <p:sp>
        <p:nvSpPr>
          <p:cNvPr id="23" name="Rounded Rectangle 22"/>
          <p:cNvSpPr/>
          <p:nvPr/>
        </p:nvSpPr>
        <p:spPr>
          <a:xfrm>
            <a:off x="6373368" y="8138160"/>
            <a:ext cx="5532120" cy="2286000"/>
          </a:xfrm>
          <a:prstGeom prst="roundRect">
            <a:avLst>
              <a:gd name="adj" fmla="val 10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647688" y="8366760"/>
            <a:ext cx="822960" cy="82296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uShieldCheck.png"/>
          <p:cNvPicPr>
            <a:picLocks noChangeAspect="1"/>
          </p:cNvPicPr>
          <p:nvPr/>
        </p:nvPicPr>
        <p:blipFill>
          <a:blip r:embed="rId4"/>
          <a:stretch>
            <a:fillRect/>
          </a:stretch>
        </p:blipFill>
        <p:spPr>
          <a:xfrm>
            <a:off x="6845198" y="8564270"/>
            <a:ext cx="427939" cy="427939"/>
          </a:xfrm>
          <a:prstGeom prst="rect">
            <a:avLst/>
          </a:prstGeom>
        </p:spPr>
      </p:pic>
      <p:sp>
        <p:nvSpPr>
          <p:cNvPr id="26" name="TextBox 25"/>
          <p:cNvSpPr txBox="1"/>
          <p:nvPr/>
        </p:nvSpPr>
        <p:spPr>
          <a:xfrm>
            <a:off x="7653527" y="8366760"/>
            <a:ext cx="4114800" cy="822960"/>
          </a:xfrm>
          <a:prstGeom prst="rect">
            <a:avLst/>
          </a:prstGeom>
          <a:noFill/>
        </p:spPr>
        <p:txBody>
          <a:bodyPr wrap="square" lIns="0" rIns="0" tIns="18288" bIns="18288" anchor="ctr">
            <a:noAutofit/>
          </a:bodyPr>
          <a:lstStyle/>
          <a:p>
            <a:pPr algn="l">
              <a:lnSpc>
                <a:spcPct val="100000"/>
              </a:lnSpc>
              <a:spcBef>
                <a:spcPts val="0"/>
              </a:spcBef>
              <a:spcAft>
                <a:spcPts val="0"/>
              </a:spcAft>
            </a:pPr>
            <a:r>
              <a:rPr sz="2200" b="1" i="0">
                <a:solidFill>
                  <a:srgbClr val="192B37"/>
                </a:solidFill>
              </a:rPr>
              <a:t>Typed</a:t>
            </a:r>
          </a:p>
        </p:txBody>
      </p:sp>
      <p:sp>
        <p:nvSpPr>
          <p:cNvPr id="27" name="TextBox 26"/>
          <p:cNvSpPr txBox="1"/>
          <p:nvPr/>
        </p:nvSpPr>
        <p:spPr>
          <a:xfrm>
            <a:off x="6647688" y="9326880"/>
            <a:ext cx="5029200" cy="1005840"/>
          </a:xfrm>
          <a:prstGeom prst="rect">
            <a:avLst/>
          </a:prstGeom>
          <a:noFill/>
        </p:spPr>
        <p:txBody>
          <a:bodyPr wrap="square" lIns="0" rIns="0" tIns="18288" bIns="18288" anchor="t">
            <a:noAutofit/>
          </a:bodyPr>
          <a:lstStyle/>
          <a:p>
            <a:pPr algn="l">
              <a:lnSpc>
                <a:spcPct val="100000"/>
              </a:lnSpc>
              <a:spcBef>
                <a:spcPts val="0"/>
              </a:spcBef>
              <a:spcAft>
                <a:spcPts val="0"/>
              </a:spcAft>
            </a:pPr>
            <a:r>
              <a:rPr sz="1564" b="0" i="0">
                <a:solidFill>
                  <a:srgbClr val="C2410C"/>
                </a:solidFill>
                <a:latin typeface="Consolas"/>
              </a:rPr>
              <a:t>users: User[]</a:t>
            </a:r>
            <a:r>
              <a:rPr sz="1700" b="0" i="0">
                <a:solidFill>
                  <a:srgbClr val="192B37"/>
                </a:solidFill>
              </a:rPr>
              <a:t> autocompletes</a:t>
            </a:r>
          </a:p>
        </p:txBody>
      </p:sp>
      <p:sp>
        <p:nvSpPr>
          <p:cNvPr id="28" name="Rounded Rectangle 27"/>
          <p:cNvSpPr/>
          <p:nvPr/>
        </p:nvSpPr>
        <p:spPr>
          <a:xfrm>
            <a:off x="12134088" y="8138160"/>
            <a:ext cx="5532120" cy="2286000"/>
          </a:xfrm>
          <a:prstGeom prst="roundRect">
            <a:avLst>
              <a:gd name="adj" fmla="val 10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2408408" y="8366760"/>
            <a:ext cx="822960" cy="82296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LuRecycle.png"/>
          <p:cNvPicPr>
            <a:picLocks noChangeAspect="1"/>
          </p:cNvPicPr>
          <p:nvPr/>
        </p:nvPicPr>
        <p:blipFill>
          <a:blip r:embed="rId5"/>
          <a:stretch>
            <a:fillRect/>
          </a:stretch>
        </p:blipFill>
        <p:spPr>
          <a:xfrm>
            <a:off x="12605918" y="8564270"/>
            <a:ext cx="427939" cy="427939"/>
          </a:xfrm>
          <a:prstGeom prst="rect">
            <a:avLst/>
          </a:prstGeom>
        </p:spPr>
      </p:pic>
      <p:sp>
        <p:nvSpPr>
          <p:cNvPr id="31" name="TextBox 30"/>
          <p:cNvSpPr txBox="1"/>
          <p:nvPr/>
        </p:nvSpPr>
        <p:spPr>
          <a:xfrm>
            <a:off x="13414248" y="8366760"/>
            <a:ext cx="4114800" cy="822960"/>
          </a:xfrm>
          <a:prstGeom prst="rect">
            <a:avLst/>
          </a:prstGeom>
          <a:noFill/>
        </p:spPr>
        <p:txBody>
          <a:bodyPr wrap="square" lIns="0" rIns="0" tIns="18288" bIns="18288" anchor="ctr">
            <a:noAutofit/>
          </a:bodyPr>
          <a:lstStyle/>
          <a:p>
            <a:pPr algn="l">
              <a:lnSpc>
                <a:spcPct val="100000"/>
              </a:lnSpc>
              <a:spcBef>
                <a:spcPts val="0"/>
              </a:spcBef>
              <a:spcAft>
                <a:spcPts val="0"/>
              </a:spcAft>
            </a:pPr>
            <a:r>
              <a:rPr sz="2200" b="1" i="0">
                <a:solidFill>
                  <a:srgbClr val="192B37"/>
                </a:solidFill>
              </a:rPr>
              <a:t>Self-cleaning</a:t>
            </a:r>
          </a:p>
        </p:txBody>
      </p:sp>
      <p:sp>
        <p:nvSpPr>
          <p:cNvPr id="32" name="TextBox 31"/>
          <p:cNvSpPr txBox="1"/>
          <p:nvPr/>
        </p:nvSpPr>
        <p:spPr>
          <a:xfrm>
            <a:off x="12408408" y="9326880"/>
            <a:ext cx="5029200" cy="1005840"/>
          </a:xfrm>
          <a:prstGeom prst="rect">
            <a:avLst/>
          </a:prstGeom>
          <a:noFill/>
        </p:spPr>
        <p:txBody>
          <a:bodyPr wrap="square" lIns="0" rIns="0" tIns="18288" bIns="18288" anchor="t">
            <a:noAutofit/>
          </a:bodyPr>
          <a:lstStyle/>
          <a:p>
            <a:pPr algn="l">
              <a:lnSpc>
                <a:spcPct val="100000"/>
              </a:lnSpc>
              <a:spcBef>
                <a:spcPts val="0"/>
              </a:spcBef>
              <a:spcAft>
                <a:spcPts val="0"/>
              </a:spcAft>
            </a:pPr>
            <a:r>
              <a:rPr sz="1700" b="0" i="0">
                <a:solidFill>
                  <a:srgbClr val="192B37"/>
                </a:solidFill>
              </a:rPr>
              <a:t>teardown after </a:t>
            </a:r>
            <a:r>
              <a:rPr sz="1564" b="0" i="0">
                <a:solidFill>
                  <a:srgbClr val="C2410C"/>
                </a:solidFill>
                <a:latin typeface="Consolas"/>
              </a:rPr>
              <a:t>use()</a:t>
            </a:r>
          </a:p>
        </p:txBody>
      </p:sp>
      <p:sp>
        <p:nvSpPr>
          <p:cNvPr id="33" name="Rounded Rectangle 32"/>
          <p:cNvSpPr/>
          <p:nvPr/>
        </p:nvSpPr>
        <p:spPr>
          <a:xfrm>
            <a:off x="17894808" y="8138160"/>
            <a:ext cx="5532120" cy="2286000"/>
          </a:xfrm>
          <a:prstGeom prst="roundRect">
            <a:avLst>
              <a:gd name="adj" fmla="val 10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8169128" y="8366760"/>
            <a:ext cx="822960" cy="82296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LuPuzzle.png"/>
          <p:cNvPicPr>
            <a:picLocks noChangeAspect="1"/>
          </p:cNvPicPr>
          <p:nvPr/>
        </p:nvPicPr>
        <p:blipFill>
          <a:blip r:embed="rId6"/>
          <a:stretch>
            <a:fillRect/>
          </a:stretch>
        </p:blipFill>
        <p:spPr>
          <a:xfrm>
            <a:off x="18366638" y="8564270"/>
            <a:ext cx="427939" cy="427939"/>
          </a:xfrm>
          <a:prstGeom prst="rect">
            <a:avLst/>
          </a:prstGeom>
        </p:spPr>
      </p:pic>
      <p:sp>
        <p:nvSpPr>
          <p:cNvPr id="36" name="TextBox 35"/>
          <p:cNvSpPr txBox="1"/>
          <p:nvPr/>
        </p:nvSpPr>
        <p:spPr>
          <a:xfrm>
            <a:off x="19174968" y="8366760"/>
            <a:ext cx="4114800" cy="822960"/>
          </a:xfrm>
          <a:prstGeom prst="rect">
            <a:avLst/>
          </a:prstGeom>
          <a:noFill/>
        </p:spPr>
        <p:txBody>
          <a:bodyPr wrap="square" lIns="0" rIns="0" tIns="18288" bIns="18288" anchor="ctr">
            <a:noAutofit/>
          </a:bodyPr>
          <a:lstStyle/>
          <a:p>
            <a:pPr algn="l">
              <a:lnSpc>
                <a:spcPct val="100000"/>
              </a:lnSpc>
              <a:spcBef>
                <a:spcPts val="0"/>
              </a:spcBef>
              <a:spcAft>
                <a:spcPts val="0"/>
              </a:spcAft>
            </a:pPr>
            <a:r>
              <a:rPr sz="2200" b="1" i="0">
                <a:solidFill>
                  <a:srgbClr val="192B37"/>
                </a:solidFill>
              </a:rPr>
              <a:t>Composable</a:t>
            </a:r>
          </a:p>
        </p:txBody>
      </p:sp>
      <p:sp>
        <p:nvSpPr>
          <p:cNvPr id="37" name="TextBox 36"/>
          <p:cNvSpPr txBox="1"/>
          <p:nvPr/>
        </p:nvSpPr>
        <p:spPr>
          <a:xfrm>
            <a:off x="18169128" y="9326880"/>
            <a:ext cx="5029200" cy="1005840"/>
          </a:xfrm>
          <a:prstGeom prst="rect">
            <a:avLst/>
          </a:prstGeom>
          <a:noFill/>
        </p:spPr>
        <p:txBody>
          <a:bodyPr wrap="square" lIns="0" rIns="0" tIns="18288" bIns="18288" anchor="t">
            <a:noAutofit/>
          </a:bodyPr>
          <a:lstStyle/>
          <a:p>
            <a:pPr algn="l">
              <a:lnSpc>
                <a:spcPct val="100000"/>
              </a:lnSpc>
              <a:spcBef>
                <a:spcPts val="0"/>
              </a:spcBef>
              <a:spcAft>
                <a:spcPts val="0"/>
              </a:spcAft>
            </a:pPr>
            <a:r>
              <a:rPr sz="1564" b="0" i="0">
                <a:solidFill>
                  <a:srgbClr val="C2410C"/>
                </a:solidFill>
                <a:latin typeface="Consolas"/>
              </a:rPr>
              <a:t>db</a:t>
            </a:r>
            <a:r>
              <a:rPr sz="1700" b="0" i="0">
                <a:solidFill>
                  <a:srgbClr val="192B37"/>
                </a:solidFill>
              </a:rPr>
              <a:t> depends on </a:t>
            </a:r>
            <a:r>
              <a:rPr sz="1564" b="0" i="0">
                <a:solidFill>
                  <a:srgbClr val="C2410C"/>
                </a:solidFill>
                <a:latin typeface="Consolas"/>
              </a:rPr>
              <a:t>seed</a:t>
            </a:r>
            <a:r>
              <a:rPr sz="1700" b="0" i="0">
                <a:solidFill>
                  <a:srgbClr val="192B37"/>
                </a:solidFill>
              </a:rPr>
              <a:t> + </a:t>
            </a:r>
            <a:r>
              <a:rPr sz="1564" b="0" i="0">
                <a:solidFill>
                  <a:srgbClr val="C2410C"/>
                </a:solidFill>
                <a:latin typeface="Consolas"/>
              </a:rPr>
              <a:t>api</a:t>
            </a:r>
          </a:p>
        </p:txBody>
      </p:sp>
      <p:sp>
        <p:nvSpPr>
          <p:cNvPr id="38" name="Rounded Rectangle 37"/>
          <p:cNvSpPr/>
          <p:nvPr/>
        </p:nvSpPr>
        <p:spPr>
          <a:xfrm>
            <a:off x="612648" y="10789920"/>
            <a:ext cx="22860000" cy="960120"/>
          </a:xfrm>
          <a:prstGeom prst="roundRect">
            <a:avLst>
              <a:gd name="adj" fmla="val 1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886968" y="10927080"/>
            <a:ext cx="685800" cy="68580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LuLaugh.png"/>
          <p:cNvPicPr>
            <a:picLocks noChangeAspect="1"/>
          </p:cNvPicPr>
          <p:nvPr/>
        </p:nvPicPr>
        <p:blipFill>
          <a:blip r:embed="rId7"/>
          <a:stretch>
            <a:fillRect/>
          </a:stretch>
        </p:blipFill>
        <p:spPr>
          <a:xfrm>
            <a:off x="1051560" y="11091672"/>
            <a:ext cx="356616" cy="356616"/>
          </a:xfrm>
          <a:prstGeom prst="rect">
            <a:avLst/>
          </a:prstGeom>
        </p:spPr>
      </p:pic>
      <p:sp>
        <p:nvSpPr>
          <p:cNvPr id="41" name="TextBox 40"/>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Fixtures are like a good butler: the table is set before you arrive and cleared after you leave.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Cy vs PW</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DB7D00"/>
                </a:solidFill>
              </a:rPr>
              <a:t>CYPRESS → PLAYWRIGHT · MIGRATION MAP</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102 Cypress tests in, 224 Playwright runs out</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44</a:t>
            </a:r>
          </a:p>
        </p:txBody>
      </p:sp>
      <p:sp>
        <p:nvSpPr>
          <p:cNvPr id="6" name="Rounded Rectangle 5"/>
          <p:cNvSpPr/>
          <p:nvPr/>
        </p:nvSpPr>
        <p:spPr>
          <a:xfrm>
            <a:off x="612648" y="2926080"/>
            <a:ext cx="6858000" cy="914400"/>
          </a:xfrm>
          <a:prstGeom prst="roundRect">
            <a:avLst>
              <a:gd name="adj" fmla="val 2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2926080"/>
            <a:ext cx="649224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latin typeface="Consolas"/>
              </a:rPr>
              <a:t>cy.intercept(…).as() + cy.wait()</a:t>
            </a:r>
          </a:p>
        </p:txBody>
      </p:sp>
      <p:cxnSp>
        <p:nvCxnSpPr>
          <p:cNvPr id="8" name="Connector 7"/>
          <p:cNvCxnSpPr/>
          <p:nvPr/>
        </p:nvCxnSpPr>
        <p:spPr>
          <a:xfrm>
            <a:off x="7543800" y="3383280"/>
            <a:ext cx="731520" cy="0"/>
          </a:xfrm>
          <a:prstGeom prst="line">
            <a:avLst/>
          </a:prstGeom>
          <a:ln w="38100">
            <a:solidFill>
              <a:srgbClr val="DB7D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321040" y="2926080"/>
            <a:ext cx="6400800" cy="914400"/>
          </a:xfrm>
          <a:prstGeom prst="roundRect">
            <a:avLst>
              <a:gd name="adj" fmla="val 2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503920" y="2926080"/>
            <a:ext cx="612648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latin typeface="Consolas"/>
              </a:rPr>
              <a:t>waitForApi(page, matcher)</a:t>
            </a:r>
          </a:p>
        </p:txBody>
      </p:sp>
      <p:sp>
        <p:nvSpPr>
          <p:cNvPr id="11" name="Rounded Rectangle 10"/>
          <p:cNvSpPr/>
          <p:nvPr/>
        </p:nvSpPr>
        <p:spPr>
          <a:xfrm>
            <a:off x="612648" y="3995928"/>
            <a:ext cx="6858000" cy="914400"/>
          </a:xfrm>
          <a:prstGeom prst="roundRect">
            <a:avLst>
              <a:gd name="adj" fmla="val 2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60" y="3995928"/>
            <a:ext cx="649224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latin typeface="Consolas"/>
              </a:rPr>
              <a:t>cy.task("db:seed")</a:t>
            </a:r>
          </a:p>
        </p:txBody>
      </p:sp>
      <p:cxnSp>
        <p:nvCxnSpPr>
          <p:cNvPr id="13" name="Connector 12"/>
          <p:cNvCxnSpPr/>
          <p:nvPr/>
        </p:nvCxnSpPr>
        <p:spPr>
          <a:xfrm>
            <a:off x="7543800" y="4453128"/>
            <a:ext cx="731520" cy="0"/>
          </a:xfrm>
          <a:prstGeom prst="line">
            <a:avLst/>
          </a:prstGeom>
          <a:ln w="38100">
            <a:solidFill>
              <a:srgbClr val="DB7D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321040" y="3995928"/>
            <a:ext cx="6400800" cy="914400"/>
          </a:xfrm>
          <a:prstGeom prst="roundRect">
            <a:avLst>
              <a:gd name="adj" fmla="val 2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503920" y="3995928"/>
            <a:ext cx="612648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latin typeface="Consolas"/>
              </a:rPr>
              <a:t>seed fixture (auto)</a:t>
            </a:r>
          </a:p>
        </p:txBody>
      </p:sp>
      <p:sp>
        <p:nvSpPr>
          <p:cNvPr id="16" name="Rounded Rectangle 15"/>
          <p:cNvSpPr/>
          <p:nvPr/>
        </p:nvSpPr>
        <p:spPr>
          <a:xfrm>
            <a:off x="612648" y="5065776"/>
            <a:ext cx="6858000" cy="914400"/>
          </a:xfrm>
          <a:prstGeom prst="roundRect">
            <a:avLst>
              <a:gd name="adj" fmla="val 2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60" y="5065776"/>
            <a:ext cx="649224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latin typeface="Consolas"/>
              </a:rPr>
              <a:t>cy.database("find", …)</a:t>
            </a:r>
          </a:p>
        </p:txBody>
      </p:sp>
      <p:cxnSp>
        <p:nvCxnSpPr>
          <p:cNvPr id="18" name="Connector 17"/>
          <p:cNvCxnSpPr/>
          <p:nvPr/>
        </p:nvCxnSpPr>
        <p:spPr>
          <a:xfrm>
            <a:off x="7543800" y="5522976"/>
            <a:ext cx="731520" cy="0"/>
          </a:xfrm>
          <a:prstGeom prst="line">
            <a:avLst/>
          </a:prstGeom>
          <a:ln w="38100">
            <a:solidFill>
              <a:srgbClr val="DB7D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21040" y="5065776"/>
            <a:ext cx="6400800" cy="914400"/>
          </a:xfrm>
          <a:prstGeom prst="roundRect">
            <a:avLst>
              <a:gd name="adj" fmla="val 2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503920" y="5065776"/>
            <a:ext cx="612648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latin typeface="Consolas"/>
              </a:rPr>
              <a:t>db.find / db.filter</a:t>
            </a:r>
          </a:p>
        </p:txBody>
      </p:sp>
      <p:sp>
        <p:nvSpPr>
          <p:cNvPr id="21" name="Rounded Rectangle 20"/>
          <p:cNvSpPr/>
          <p:nvPr/>
        </p:nvSpPr>
        <p:spPr>
          <a:xfrm>
            <a:off x="612648" y="6135624"/>
            <a:ext cx="6858000" cy="914400"/>
          </a:xfrm>
          <a:prstGeom prst="roundRect">
            <a:avLst>
              <a:gd name="adj" fmla="val 2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6135624"/>
            <a:ext cx="649224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latin typeface="Consolas"/>
              </a:rPr>
              <a:t>cy.getBySel / getBySelLike</a:t>
            </a:r>
          </a:p>
        </p:txBody>
      </p:sp>
      <p:cxnSp>
        <p:nvCxnSpPr>
          <p:cNvPr id="23" name="Connector 22"/>
          <p:cNvCxnSpPr/>
          <p:nvPr/>
        </p:nvCxnSpPr>
        <p:spPr>
          <a:xfrm>
            <a:off x="7543800" y="6592824"/>
            <a:ext cx="731520" cy="0"/>
          </a:xfrm>
          <a:prstGeom prst="line">
            <a:avLst/>
          </a:prstGeom>
          <a:ln w="38100">
            <a:solidFill>
              <a:srgbClr val="DB7D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321040" y="6135624"/>
            <a:ext cx="6400800" cy="914400"/>
          </a:xfrm>
          <a:prstGeom prst="roundRect">
            <a:avLst>
              <a:gd name="adj" fmla="val 2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503920" y="6135624"/>
            <a:ext cx="612648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latin typeface="Consolas"/>
              </a:rPr>
              <a:t>bySel / bySelLike</a:t>
            </a:r>
          </a:p>
        </p:txBody>
      </p:sp>
      <p:sp>
        <p:nvSpPr>
          <p:cNvPr id="26" name="Rounded Rectangle 25"/>
          <p:cNvSpPr/>
          <p:nvPr/>
        </p:nvSpPr>
        <p:spPr>
          <a:xfrm>
            <a:off x="612648" y="7205472"/>
            <a:ext cx="6858000" cy="914400"/>
          </a:xfrm>
          <a:prstGeom prst="roundRect">
            <a:avLst>
              <a:gd name="adj" fmla="val 2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7205472"/>
            <a:ext cx="649224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latin typeface="Consolas"/>
              </a:rPr>
              <a:t>cy.loginByXstate (command)</a:t>
            </a:r>
          </a:p>
        </p:txBody>
      </p:sp>
      <p:cxnSp>
        <p:nvCxnSpPr>
          <p:cNvPr id="28" name="Connector 27"/>
          <p:cNvCxnSpPr/>
          <p:nvPr/>
        </p:nvCxnSpPr>
        <p:spPr>
          <a:xfrm>
            <a:off x="7543800" y="7662671"/>
            <a:ext cx="731520" cy="0"/>
          </a:xfrm>
          <a:prstGeom prst="line">
            <a:avLst/>
          </a:prstGeom>
          <a:ln w="38100">
            <a:solidFill>
              <a:srgbClr val="DB7D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321040" y="7205472"/>
            <a:ext cx="6400800" cy="914400"/>
          </a:xfrm>
          <a:prstGeom prst="roundRect">
            <a:avLst>
              <a:gd name="adj" fmla="val 2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503920" y="7205472"/>
            <a:ext cx="612648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latin typeface="Consolas"/>
              </a:rPr>
              <a:t>loginByXstate(page, user)</a:t>
            </a:r>
          </a:p>
        </p:txBody>
      </p:sp>
      <p:sp>
        <p:nvSpPr>
          <p:cNvPr id="31" name="Rounded Rectangle 30"/>
          <p:cNvSpPr/>
          <p:nvPr/>
        </p:nvSpPr>
        <p:spPr>
          <a:xfrm>
            <a:off x="612648" y="8275320"/>
            <a:ext cx="6858000" cy="914400"/>
          </a:xfrm>
          <a:prstGeom prst="roundRect">
            <a:avLst>
              <a:gd name="adj" fmla="val 2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960" y="8275320"/>
            <a:ext cx="649224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latin typeface="Consolas"/>
              </a:rPr>
              <a:t>reactComponent().invoke(onChange)</a:t>
            </a:r>
          </a:p>
        </p:txBody>
      </p:sp>
      <p:cxnSp>
        <p:nvCxnSpPr>
          <p:cNvPr id="33" name="Connector 32"/>
          <p:cNvCxnSpPr/>
          <p:nvPr/>
        </p:nvCxnSpPr>
        <p:spPr>
          <a:xfrm>
            <a:off x="7543800" y="8732520"/>
            <a:ext cx="731520" cy="0"/>
          </a:xfrm>
          <a:prstGeom prst="line">
            <a:avLst/>
          </a:prstGeom>
          <a:ln w="38100">
            <a:solidFill>
              <a:srgbClr val="DB7D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321040" y="8275320"/>
            <a:ext cx="6400800" cy="914400"/>
          </a:xfrm>
          <a:prstGeom prst="roundRect">
            <a:avLst>
              <a:gd name="adj" fmla="val 2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503920" y="8275320"/>
            <a:ext cx="612648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latin typeface="Consolas"/>
              </a:rPr>
              <a:t>setAmountRange — real keyboard</a:t>
            </a:r>
          </a:p>
        </p:txBody>
      </p:sp>
      <p:sp>
        <p:nvSpPr>
          <p:cNvPr id="36" name="Rounded Rectangle 35"/>
          <p:cNvSpPr/>
          <p:nvPr/>
        </p:nvSpPr>
        <p:spPr>
          <a:xfrm>
            <a:off x="612648" y="9345167"/>
            <a:ext cx="6858000" cy="914400"/>
          </a:xfrm>
          <a:prstGeom prst="roundRect">
            <a:avLst>
              <a:gd name="adj" fmla="val 2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2960" y="9345167"/>
            <a:ext cx="649224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latin typeface="Consolas"/>
              </a:rPr>
              <a:t>cy.visualSnapshot (Percy)</a:t>
            </a:r>
          </a:p>
        </p:txBody>
      </p:sp>
      <p:cxnSp>
        <p:nvCxnSpPr>
          <p:cNvPr id="38" name="Connector 37"/>
          <p:cNvCxnSpPr/>
          <p:nvPr/>
        </p:nvCxnSpPr>
        <p:spPr>
          <a:xfrm>
            <a:off x="7543800" y="9802367"/>
            <a:ext cx="731520" cy="0"/>
          </a:xfrm>
          <a:prstGeom prst="line">
            <a:avLst/>
          </a:prstGeom>
          <a:ln w="38100">
            <a:solidFill>
              <a:srgbClr val="DB7D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8321040" y="9345167"/>
            <a:ext cx="6400800" cy="914400"/>
          </a:xfrm>
          <a:prstGeom prst="roundRect">
            <a:avLst>
              <a:gd name="adj" fmla="val 2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503920" y="9345167"/>
            <a:ext cx="612648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latin typeface="Consolas"/>
              </a:rPr>
              <a:t>toHaveScreenshot — gap G-16</a:t>
            </a:r>
          </a:p>
        </p:txBody>
      </p:sp>
      <p:sp>
        <p:nvSpPr>
          <p:cNvPr id="41" name="TextBox 40"/>
          <p:cNvSpPr txBox="1"/>
          <p:nvPr/>
        </p:nvSpPr>
        <p:spPr>
          <a:xfrm>
            <a:off x="15270480" y="2880360"/>
            <a:ext cx="82296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DB7D00"/>
                </a:solidFill>
              </a:rPr>
              <a:t>TESTS: BEFORE → AFTER</a:t>
            </a:r>
          </a:p>
        </p:txBody>
      </p:sp>
      <p:graphicFrame>
        <p:nvGraphicFramePr>
          <p:cNvPr id="42" name="Chart 41"/>
          <p:cNvGraphicFramePr>
            <a:graphicFrameLocks noGrp="1"/>
          </p:cNvGraphicFramePr>
          <p:nvPr/>
        </p:nvGraphicFramePr>
        <p:xfrm>
          <a:off x="15087600" y="3246120"/>
          <a:ext cx="8412480" cy="4297680"/>
        </p:xfrm>
        <a:graphic>
          <a:graphicData uri="http://schemas.openxmlformats.org/drawingml/2006/chart">
            <c:chart xmlns:c="http://schemas.openxmlformats.org/drawingml/2006/chart" r:id="rId3"/>
          </a:graphicData>
        </a:graphic>
      </p:graphicFrame>
      <p:sp>
        <p:nvSpPr>
          <p:cNvPr id="43" name="Rounded Rectangle 42"/>
          <p:cNvSpPr/>
          <p:nvPr/>
        </p:nvSpPr>
        <p:spPr>
          <a:xfrm>
            <a:off x="15270480" y="7772400"/>
            <a:ext cx="3977639" cy="2651760"/>
          </a:xfrm>
          <a:prstGeom prst="roundRect">
            <a:avLst>
              <a:gd name="adj" fmla="val 10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5499080" y="7909560"/>
            <a:ext cx="3566160" cy="1188720"/>
          </a:xfrm>
          <a:prstGeom prst="rect">
            <a:avLst/>
          </a:prstGeom>
          <a:noFill/>
        </p:spPr>
        <p:txBody>
          <a:bodyPr wrap="square" lIns="0" rIns="0" tIns="18288" bIns="18288" anchor="ctr">
            <a:noAutofit/>
          </a:bodyPr>
          <a:lstStyle/>
          <a:p>
            <a:pPr algn="ctr">
              <a:lnSpc>
                <a:spcPct val="100000"/>
              </a:lnSpc>
              <a:spcBef>
                <a:spcPts val="0"/>
              </a:spcBef>
              <a:spcAft>
                <a:spcPts val="0"/>
              </a:spcAft>
            </a:pPr>
            <a:r>
              <a:rPr sz="3800" b="0" i="0">
                <a:solidFill>
                  <a:srgbClr val="8683C3"/>
                </a:solidFill>
                <a:latin typeface="+mj-lt"/>
              </a:rPr>
              <a:t>21 → 16</a:t>
            </a:r>
          </a:p>
        </p:txBody>
      </p:sp>
      <p:sp>
        <p:nvSpPr>
          <p:cNvPr id="45" name="TextBox 44"/>
          <p:cNvSpPr txBox="1"/>
          <p:nvPr/>
        </p:nvSpPr>
        <p:spPr>
          <a:xfrm>
            <a:off x="15499080" y="9098280"/>
            <a:ext cx="356616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1900" b="1" i="0">
                <a:solidFill>
                  <a:srgbClr val="192B37"/>
                </a:solidFill>
              </a:rPr>
              <a:t>spec files</a:t>
            </a:r>
          </a:p>
        </p:txBody>
      </p:sp>
      <p:sp>
        <p:nvSpPr>
          <p:cNvPr id="46" name="Rounded Rectangle 45"/>
          <p:cNvSpPr/>
          <p:nvPr/>
        </p:nvSpPr>
        <p:spPr>
          <a:xfrm>
            <a:off x="19431000" y="7772400"/>
            <a:ext cx="3977639" cy="2651760"/>
          </a:xfrm>
          <a:prstGeom prst="roundRect">
            <a:avLst>
              <a:gd name="adj" fmla="val 10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9659600" y="7909560"/>
            <a:ext cx="3566160" cy="1188720"/>
          </a:xfrm>
          <a:prstGeom prst="rect">
            <a:avLst/>
          </a:prstGeom>
          <a:noFill/>
        </p:spPr>
        <p:txBody>
          <a:bodyPr wrap="square" lIns="0" rIns="0" tIns="18288" bIns="18288" anchor="ctr">
            <a:noAutofit/>
          </a:bodyPr>
          <a:lstStyle/>
          <a:p>
            <a:pPr algn="ctr">
              <a:lnSpc>
                <a:spcPct val="100000"/>
              </a:lnSpc>
              <a:spcBef>
                <a:spcPts val="0"/>
              </a:spcBef>
              <a:spcAft>
                <a:spcPts val="0"/>
              </a:spcAft>
            </a:pPr>
            <a:r>
              <a:rPr sz="3800" b="0" i="0">
                <a:solidFill>
                  <a:srgbClr val="00A859"/>
                </a:solidFill>
                <a:latin typeface="+mj-lt"/>
              </a:rPr>
              <a:t>×4</a:t>
            </a:r>
          </a:p>
        </p:txBody>
      </p:sp>
      <p:sp>
        <p:nvSpPr>
          <p:cNvPr id="48" name="TextBox 47"/>
          <p:cNvSpPr txBox="1"/>
          <p:nvPr/>
        </p:nvSpPr>
        <p:spPr>
          <a:xfrm>
            <a:off x="19659600" y="9098280"/>
            <a:ext cx="3566160" cy="914400"/>
          </a:xfrm>
          <a:prstGeom prst="rect">
            <a:avLst/>
          </a:prstGeom>
          <a:noFill/>
        </p:spPr>
        <p:txBody>
          <a:bodyPr wrap="square" lIns="0" rIns="0" tIns="18288" bIns="18288" anchor="t">
            <a:noAutofit/>
          </a:bodyPr>
          <a:lstStyle/>
          <a:p>
            <a:pPr algn="ctr">
              <a:lnSpc>
                <a:spcPct val="100000"/>
              </a:lnSpc>
              <a:spcBef>
                <a:spcPts val="0"/>
              </a:spcBef>
              <a:spcAft>
                <a:spcPts val="0"/>
              </a:spcAft>
            </a:pPr>
            <a:r>
              <a:rPr sz="1900" b="1" i="0">
                <a:solidFill>
                  <a:srgbClr val="192B37"/>
                </a:solidFill>
              </a:rPr>
              <a:t>projects</a:t>
            </a:r>
          </a:p>
        </p:txBody>
      </p:sp>
      <p:sp>
        <p:nvSpPr>
          <p:cNvPr id="49" name="Rounded Rectangle 48"/>
          <p:cNvSpPr/>
          <p:nvPr/>
        </p:nvSpPr>
        <p:spPr>
          <a:xfrm>
            <a:off x="612648" y="10789920"/>
            <a:ext cx="22860000" cy="960120"/>
          </a:xfrm>
          <a:prstGeom prst="roundRect">
            <a:avLst>
              <a:gd name="adj" fmla="val 1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886968" y="10927080"/>
            <a:ext cx="685800" cy="68580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LuLaugh.png"/>
          <p:cNvPicPr>
            <a:picLocks noChangeAspect="1"/>
          </p:cNvPicPr>
          <p:nvPr/>
        </p:nvPicPr>
        <p:blipFill>
          <a:blip r:embed="rId4"/>
          <a:stretch>
            <a:fillRect/>
          </a:stretch>
        </p:blipFill>
        <p:spPr>
          <a:xfrm>
            <a:off x="1051560" y="11091672"/>
            <a:ext cx="356616" cy="356616"/>
          </a:xfrm>
          <a:prstGeom prst="rect">
            <a:avLst/>
          </a:prstGeom>
        </p:spPr>
      </p:pic>
      <p:sp>
        <p:nvSpPr>
          <p:cNvPr id="52" name="TextBox 51"/>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We migrated 102 Cypress tests and ended up with 224 runs. Playwright tests multiply like rabbits — in parallel.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TAP26-Junior agents</a:t>
            </a:r>
          </a:p>
        </p:txBody>
      </p:sp>
      <p:sp>
        <p:nvSpPr>
          <p:cNvPr id="3" name="Text Placeholder 2"/>
          <p:cNvSpPr>
            <a:spLocks noGrp="1"/>
          </p:cNvSpPr>
          <p:nvPr>
            <p:ph type="body" idx="21" sz="quarter"/>
          </p:nvPr>
        </p:nvSpPr>
        <p:spPr/>
        <p:txBody>
          <a:bodyPr/>
          <a:lstStyle/>
          <a:p>
            <a:r>
              <a:t>05</a:t>
            </a:r>
          </a:p>
        </p:txBody>
      </p:sp>
      <p:sp>
        <p:nvSpPr>
          <p:cNvPr id="4" name="Text Placeholder 3"/>
          <p:cNvSpPr>
            <a:spLocks noGrp="1"/>
          </p:cNvSpPr>
          <p:nvPr>
            <p:ph type="body" idx="22" sz="quarter"/>
          </p:nvPr>
        </p:nvSpPr>
        <p:spPr/>
        <p:txBody>
          <a:bodyPr/>
          <a:lstStyle/>
          <a:p>
            <a:r>
              <a:t>An agent cohort that develops, tests, documents and explains the RWA — from VS Code</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45</a:t>
            </a:r>
          </a:p>
        </p:txBody>
      </p:sp>
      <p:sp>
        <p:nvSpPr>
          <p:cNvPr id="6" name="Rounded Rectangle 5"/>
          <p:cNvSpPr/>
          <p:nvPr/>
        </p:nvSpPr>
        <p:spPr>
          <a:xfrm>
            <a:off x="5303520" y="7086600"/>
            <a:ext cx="17007840" cy="1143000"/>
          </a:xfrm>
          <a:prstGeom prst="roundRect">
            <a:avLst>
              <a:gd name="adj" fmla="val 20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532120" y="7287768"/>
            <a:ext cx="731520" cy="73152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Laugh.png"/>
          <p:cNvPicPr>
            <a:picLocks noChangeAspect="1"/>
          </p:cNvPicPr>
          <p:nvPr/>
        </p:nvPicPr>
        <p:blipFill>
          <a:blip r:embed="rId3"/>
          <a:stretch>
            <a:fillRect/>
          </a:stretch>
        </p:blipFill>
        <p:spPr>
          <a:xfrm>
            <a:off x="5707684" y="7463332"/>
            <a:ext cx="380390" cy="380390"/>
          </a:xfrm>
          <a:prstGeom prst="rect">
            <a:avLst/>
          </a:prstGeom>
        </p:spPr>
      </p:pic>
      <p:sp>
        <p:nvSpPr>
          <p:cNvPr id="9" name="TextBox 8"/>
          <p:cNvSpPr txBox="1"/>
          <p:nvPr/>
        </p:nvSpPr>
        <p:spPr>
          <a:xfrm>
            <a:off x="6492240" y="7086600"/>
            <a:ext cx="15636240" cy="114300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0" i="1">
                <a:solidFill>
                  <a:srgbClr val="192B37"/>
                </a:solidFill>
              </a:rPr>
              <a:t>Meet the team: 24 agents, 31 skills, zero coffee breaks — and nobody steals your lunch from the fridge.</a:t>
            </a:r>
          </a:p>
        </p:txBody>
      </p:sp>
      <p:sp>
        <p:nvSpPr>
          <p:cNvPr id="10" name="TextBox 9"/>
          <p:cNvSpPr txBox="1"/>
          <p:nvPr/>
        </p:nvSpPr>
        <p:spPr>
          <a:xfrm>
            <a:off x="5303520" y="8915400"/>
            <a:ext cx="91440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FF5640"/>
                </a:solidFill>
              </a:rPr>
              <a:t>IN THIS CHAPTER</a:t>
            </a:r>
          </a:p>
        </p:txBody>
      </p:sp>
      <p:sp>
        <p:nvSpPr>
          <p:cNvPr id="11" name="Rounded Rectangle 10"/>
          <p:cNvSpPr/>
          <p:nvPr/>
        </p:nvSpPr>
        <p:spPr>
          <a:xfrm>
            <a:off x="5303520" y="9464040"/>
            <a:ext cx="2359152" cy="640080"/>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94959" y="9464040"/>
            <a:ext cx="2176272"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Architecture</a:t>
            </a:r>
          </a:p>
        </p:txBody>
      </p:sp>
      <p:sp>
        <p:nvSpPr>
          <p:cNvPr id="13" name="Rounded Rectangle 12"/>
          <p:cNvSpPr/>
          <p:nvPr/>
        </p:nvSpPr>
        <p:spPr>
          <a:xfrm>
            <a:off x="7936992" y="9464040"/>
            <a:ext cx="1453895" cy="640080"/>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28431" y="9464040"/>
            <a:ext cx="1271016"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Roster</a:t>
            </a:r>
          </a:p>
        </p:txBody>
      </p:sp>
      <p:sp>
        <p:nvSpPr>
          <p:cNvPr id="15" name="Rounded Rectangle 14"/>
          <p:cNvSpPr/>
          <p:nvPr/>
        </p:nvSpPr>
        <p:spPr>
          <a:xfrm>
            <a:off x="9665208" y="9464040"/>
            <a:ext cx="1453895" cy="640080"/>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756648" y="9464040"/>
            <a:ext cx="1271016"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Skills</a:t>
            </a:r>
          </a:p>
        </p:txBody>
      </p:sp>
      <p:sp>
        <p:nvSpPr>
          <p:cNvPr id="17" name="Rounded Rectangle 16"/>
          <p:cNvSpPr/>
          <p:nvPr/>
        </p:nvSpPr>
        <p:spPr>
          <a:xfrm>
            <a:off x="11393424" y="9464040"/>
            <a:ext cx="1453895" cy="640080"/>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484864" y="9464040"/>
            <a:ext cx="1271016"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Memory</a:t>
            </a:r>
          </a:p>
        </p:txBody>
      </p:sp>
      <p:sp>
        <p:nvSpPr>
          <p:cNvPr id="19" name="Rounded Rectangle 18"/>
          <p:cNvSpPr/>
          <p:nvPr/>
        </p:nvSpPr>
        <p:spPr>
          <a:xfrm>
            <a:off x="13121640" y="9464040"/>
            <a:ext cx="2057400" cy="640080"/>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3213080" y="9464040"/>
            <a:ext cx="1874519"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Guardrails</a:t>
            </a:r>
          </a:p>
        </p:txBody>
      </p:sp>
      <p:sp>
        <p:nvSpPr>
          <p:cNvPr id="21" name="Rounded Rectangle 20"/>
          <p:cNvSpPr/>
          <p:nvPr/>
        </p:nvSpPr>
        <p:spPr>
          <a:xfrm>
            <a:off x="15453360" y="9464040"/>
            <a:ext cx="2057400" cy="640080"/>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5544800" y="9464040"/>
            <a:ext cx="1874519"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Why agents</a:t>
            </a:r>
          </a:p>
        </p:txBody>
      </p:sp>
      <p:sp>
        <p:nvSpPr>
          <p:cNvPr id="23" name="Rounded Rectangle 22"/>
          <p:cNvSpPr/>
          <p:nvPr/>
        </p:nvSpPr>
        <p:spPr>
          <a:xfrm>
            <a:off x="5303520" y="10287000"/>
            <a:ext cx="2811780" cy="640080"/>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394959" y="10287000"/>
            <a:ext cx="2628900"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Agents per role</a:t>
            </a:r>
          </a:p>
        </p:txBody>
      </p:sp>
      <p:sp>
        <p:nvSpPr>
          <p:cNvPr id="25" name="Oval 24"/>
          <p:cNvSpPr/>
          <p:nvPr/>
        </p:nvSpPr>
        <p:spPr>
          <a:xfrm>
            <a:off x="20162520" y="8915400"/>
            <a:ext cx="731520" cy="73152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1122640" y="8915400"/>
            <a:ext cx="731520" cy="731520"/>
          </a:xfrm>
          <a:prstGeom prst="ellipse">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2082760" y="8915400"/>
            <a:ext cx="731520" cy="73152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0162520" y="9875520"/>
            <a:ext cx="731520" cy="731520"/>
          </a:xfrm>
          <a:prstGeom prst="ellipse">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1122640" y="9875520"/>
            <a:ext cx="731520" cy="73152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2082760" y="9875520"/>
            <a:ext cx="731520" cy="731520"/>
          </a:xfrm>
          <a:prstGeom prst="ellipse">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TAP26 agents</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FF5640"/>
                </a:solidFill>
              </a:rPr>
              <a:t>AGENTIC FRAMEWORK · GENERIC</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How TAP26-Junior is put together</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46</a:t>
            </a:r>
          </a:p>
        </p:txBody>
      </p:sp>
      <p:sp>
        <p:nvSpPr>
          <p:cNvPr id="6" name="Rounded Rectangle 5"/>
          <p:cNvSpPr/>
          <p:nvPr/>
        </p:nvSpPr>
        <p:spPr>
          <a:xfrm>
            <a:off x="612648" y="2926080"/>
            <a:ext cx="14630400" cy="1097280"/>
          </a:xfrm>
          <a:prstGeom prst="roundRect">
            <a:avLst>
              <a:gd name="adj" fmla="val 2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3063240"/>
            <a:ext cx="822960" cy="82296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User.png"/>
          <p:cNvPicPr>
            <a:picLocks noChangeAspect="1"/>
          </p:cNvPicPr>
          <p:nvPr/>
        </p:nvPicPr>
        <p:blipFill>
          <a:blip r:embed="rId3"/>
          <a:stretch>
            <a:fillRect/>
          </a:stretch>
        </p:blipFill>
        <p:spPr>
          <a:xfrm>
            <a:off x="974750" y="3260750"/>
            <a:ext cx="427939" cy="427939"/>
          </a:xfrm>
          <a:prstGeom prst="rect">
            <a:avLst/>
          </a:prstGeom>
        </p:spPr>
      </p:pic>
      <p:sp>
        <p:nvSpPr>
          <p:cNvPr id="9" name="TextBox 8"/>
          <p:cNvSpPr txBox="1"/>
          <p:nvPr/>
        </p:nvSpPr>
        <p:spPr>
          <a:xfrm>
            <a:off x="1828800" y="2926080"/>
            <a:ext cx="512064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1" i="0">
                <a:solidFill>
                  <a:srgbClr val="192B37"/>
                </a:solidFill>
              </a:rPr>
              <a:t>You · VS Code + Claude Code</a:t>
            </a:r>
          </a:p>
        </p:txBody>
      </p:sp>
      <p:sp>
        <p:nvSpPr>
          <p:cNvPr id="10" name="TextBox 9"/>
          <p:cNvSpPr txBox="1"/>
          <p:nvPr/>
        </p:nvSpPr>
        <p:spPr>
          <a:xfrm>
            <a:off x="6949440" y="2926080"/>
            <a:ext cx="813816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0" i="0">
                <a:solidFill>
                  <a:srgbClr val="192B37"/>
                </a:solidFill>
              </a:rPr>
              <a:t>type a request or a /tap-* skill</a:t>
            </a:r>
          </a:p>
        </p:txBody>
      </p:sp>
      <p:sp>
        <p:nvSpPr>
          <p:cNvPr id="11" name="Rounded Rectangle 10"/>
          <p:cNvSpPr/>
          <p:nvPr/>
        </p:nvSpPr>
        <p:spPr>
          <a:xfrm>
            <a:off x="1161288" y="4178808"/>
            <a:ext cx="14081760" cy="1097280"/>
          </a:xfrm>
          <a:prstGeom prst="roundRect">
            <a:avLst>
              <a:gd name="adj" fmla="val 2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325880" y="4315968"/>
            <a:ext cx="822960" cy="82296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uWorkflow.png"/>
          <p:cNvPicPr>
            <a:picLocks noChangeAspect="1"/>
          </p:cNvPicPr>
          <p:nvPr/>
        </p:nvPicPr>
        <p:blipFill>
          <a:blip r:embed="rId4"/>
          <a:stretch>
            <a:fillRect/>
          </a:stretch>
        </p:blipFill>
        <p:spPr>
          <a:xfrm>
            <a:off x="1523390" y="4513478"/>
            <a:ext cx="427939" cy="427939"/>
          </a:xfrm>
          <a:prstGeom prst="rect">
            <a:avLst/>
          </a:prstGeom>
        </p:spPr>
      </p:pic>
      <p:sp>
        <p:nvSpPr>
          <p:cNvPr id="14" name="TextBox 13"/>
          <p:cNvSpPr txBox="1"/>
          <p:nvPr/>
        </p:nvSpPr>
        <p:spPr>
          <a:xfrm>
            <a:off x="2377440" y="4178808"/>
            <a:ext cx="512064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1" i="0">
                <a:solidFill>
                  <a:srgbClr val="192B37"/>
                </a:solidFill>
              </a:rPr>
              <a:t>Orchestrator</a:t>
            </a:r>
          </a:p>
        </p:txBody>
      </p:sp>
      <p:sp>
        <p:nvSpPr>
          <p:cNvPr id="15" name="TextBox 14"/>
          <p:cNvSpPr txBox="1"/>
          <p:nvPr/>
        </p:nvSpPr>
        <p:spPr>
          <a:xfrm>
            <a:off x="6949440" y="4178808"/>
            <a:ext cx="813816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0" i="0">
                <a:solidFill>
                  <a:srgbClr val="192B37"/>
                </a:solidFill>
              </a:rPr>
              <a:t>classify → answer or delegate → enforce quality gates</a:t>
            </a:r>
          </a:p>
        </p:txBody>
      </p:sp>
      <p:sp>
        <p:nvSpPr>
          <p:cNvPr id="16" name="Rounded Rectangle 15"/>
          <p:cNvSpPr/>
          <p:nvPr/>
        </p:nvSpPr>
        <p:spPr>
          <a:xfrm>
            <a:off x="1709928" y="5431536"/>
            <a:ext cx="13533120" cy="1097280"/>
          </a:xfrm>
          <a:prstGeom prst="roundRect">
            <a:avLst>
              <a:gd name="adj" fmla="val 2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874519" y="5568696"/>
            <a:ext cx="822960" cy="82296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uBot.png"/>
          <p:cNvPicPr>
            <a:picLocks noChangeAspect="1"/>
          </p:cNvPicPr>
          <p:nvPr/>
        </p:nvPicPr>
        <p:blipFill>
          <a:blip r:embed="rId5"/>
          <a:stretch>
            <a:fillRect/>
          </a:stretch>
        </p:blipFill>
        <p:spPr>
          <a:xfrm>
            <a:off x="2072030" y="5766206"/>
            <a:ext cx="427939" cy="427939"/>
          </a:xfrm>
          <a:prstGeom prst="rect">
            <a:avLst/>
          </a:prstGeom>
        </p:spPr>
      </p:pic>
      <p:sp>
        <p:nvSpPr>
          <p:cNvPr id="19" name="TextBox 18"/>
          <p:cNvSpPr txBox="1"/>
          <p:nvPr/>
        </p:nvSpPr>
        <p:spPr>
          <a:xfrm>
            <a:off x="2926080" y="5431536"/>
            <a:ext cx="512064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1" i="0">
                <a:solidFill>
                  <a:srgbClr val="192B37"/>
                </a:solidFill>
              </a:rPr>
              <a:t>24 specialist agents</a:t>
            </a:r>
          </a:p>
        </p:txBody>
      </p:sp>
      <p:sp>
        <p:nvSpPr>
          <p:cNvPr id="20" name="TextBox 19"/>
          <p:cNvSpPr txBox="1"/>
          <p:nvPr/>
        </p:nvSpPr>
        <p:spPr>
          <a:xfrm>
            <a:off x="6949440" y="5431536"/>
            <a:ext cx="813816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0" i="0">
                <a:solidFill>
                  <a:srgbClr val="192B37"/>
                </a:solidFill>
              </a:rPr>
              <a:t>dev · test · analysis · docs · ops — each with its own tools &amp; rules</a:t>
            </a:r>
          </a:p>
        </p:txBody>
      </p:sp>
      <p:sp>
        <p:nvSpPr>
          <p:cNvPr id="21" name="Rounded Rectangle 20"/>
          <p:cNvSpPr/>
          <p:nvPr/>
        </p:nvSpPr>
        <p:spPr>
          <a:xfrm>
            <a:off x="1709928" y="6684264"/>
            <a:ext cx="13533120" cy="1097280"/>
          </a:xfrm>
          <a:prstGeom prst="roundRect">
            <a:avLst>
              <a:gd name="adj" fmla="val 2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1874519" y="6821424"/>
            <a:ext cx="822960" cy="82296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LuWandSparkles.png"/>
          <p:cNvPicPr>
            <a:picLocks noChangeAspect="1"/>
          </p:cNvPicPr>
          <p:nvPr/>
        </p:nvPicPr>
        <p:blipFill>
          <a:blip r:embed="rId6"/>
          <a:stretch>
            <a:fillRect/>
          </a:stretch>
        </p:blipFill>
        <p:spPr>
          <a:xfrm>
            <a:off x="2072030" y="7018934"/>
            <a:ext cx="427939" cy="427939"/>
          </a:xfrm>
          <a:prstGeom prst="rect">
            <a:avLst/>
          </a:prstGeom>
        </p:spPr>
      </p:pic>
      <p:sp>
        <p:nvSpPr>
          <p:cNvPr id="24" name="TextBox 23"/>
          <p:cNvSpPr txBox="1"/>
          <p:nvPr/>
        </p:nvSpPr>
        <p:spPr>
          <a:xfrm>
            <a:off x="2926080" y="6684264"/>
            <a:ext cx="512064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1" i="0">
                <a:solidFill>
                  <a:srgbClr val="192B37"/>
                </a:solidFill>
              </a:rPr>
              <a:t>31 skills</a:t>
            </a:r>
          </a:p>
        </p:txBody>
      </p:sp>
      <p:sp>
        <p:nvSpPr>
          <p:cNvPr id="25" name="TextBox 24"/>
          <p:cNvSpPr txBox="1"/>
          <p:nvPr/>
        </p:nvSpPr>
        <p:spPr>
          <a:xfrm>
            <a:off x="6949440" y="6684264"/>
            <a:ext cx="813816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0" i="0">
                <a:solidFill>
                  <a:srgbClr val="192B37"/>
                </a:solidFill>
              </a:rPr>
              <a:t>repeatable workflows: /tap-change-api, /tap-new-test, /tap-bug…</a:t>
            </a:r>
          </a:p>
        </p:txBody>
      </p:sp>
      <p:sp>
        <p:nvSpPr>
          <p:cNvPr id="26" name="Rounded Rectangle 25"/>
          <p:cNvSpPr/>
          <p:nvPr/>
        </p:nvSpPr>
        <p:spPr>
          <a:xfrm>
            <a:off x="1709928" y="7936992"/>
            <a:ext cx="13533120" cy="1097280"/>
          </a:xfrm>
          <a:prstGeom prst="roundRect">
            <a:avLst>
              <a:gd name="adj" fmla="val 2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1874519" y="8074152"/>
            <a:ext cx="822960" cy="82296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LuShield.png"/>
          <p:cNvPicPr>
            <a:picLocks noChangeAspect="1"/>
          </p:cNvPicPr>
          <p:nvPr/>
        </p:nvPicPr>
        <p:blipFill>
          <a:blip r:embed="rId7"/>
          <a:stretch>
            <a:fillRect/>
          </a:stretch>
        </p:blipFill>
        <p:spPr>
          <a:xfrm>
            <a:off x="2072030" y="8271662"/>
            <a:ext cx="427939" cy="427939"/>
          </a:xfrm>
          <a:prstGeom prst="rect">
            <a:avLst/>
          </a:prstGeom>
        </p:spPr>
      </p:pic>
      <p:sp>
        <p:nvSpPr>
          <p:cNvPr id="29" name="TextBox 28"/>
          <p:cNvSpPr txBox="1"/>
          <p:nvPr/>
        </p:nvSpPr>
        <p:spPr>
          <a:xfrm>
            <a:off x="2926080" y="7936992"/>
            <a:ext cx="512064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1" i="0">
                <a:solidFill>
                  <a:srgbClr val="192B37"/>
                </a:solidFill>
              </a:rPr>
              <a:t>Hooks &amp; rules</a:t>
            </a:r>
          </a:p>
        </p:txBody>
      </p:sp>
      <p:sp>
        <p:nvSpPr>
          <p:cNvPr id="30" name="TextBox 29"/>
          <p:cNvSpPr txBox="1"/>
          <p:nvPr/>
        </p:nvSpPr>
        <p:spPr>
          <a:xfrm>
            <a:off x="6949440" y="7936992"/>
            <a:ext cx="813816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0" i="0">
                <a:solidFill>
                  <a:srgbClr val="192B37"/>
                </a:solidFill>
              </a:rPr>
              <a:t>guardrails, change ledger, journal — deterministic, not optional</a:t>
            </a:r>
          </a:p>
        </p:txBody>
      </p:sp>
      <p:sp>
        <p:nvSpPr>
          <p:cNvPr id="31" name="Rounded Rectangle 30"/>
          <p:cNvSpPr/>
          <p:nvPr/>
        </p:nvSpPr>
        <p:spPr>
          <a:xfrm>
            <a:off x="1709928" y="9189720"/>
            <a:ext cx="13533120" cy="1097280"/>
          </a:xfrm>
          <a:prstGeom prst="roundRect">
            <a:avLst>
              <a:gd name="adj" fmla="val 25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874519" y="9326880"/>
            <a:ext cx="822960" cy="82296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LuBrain.png"/>
          <p:cNvPicPr>
            <a:picLocks noChangeAspect="1"/>
          </p:cNvPicPr>
          <p:nvPr/>
        </p:nvPicPr>
        <p:blipFill>
          <a:blip r:embed="rId8"/>
          <a:stretch>
            <a:fillRect/>
          </a:stretch>
        </p:blipFill>
        <p:spPr>
          <a:xfrm>
            <a:off x="2072030" y="9524390"/>
            <a:ext cx="427939" cy="427939"/>
          </a:xfrm>
          <a:prstGeom prst="rect">
            <a:avLst/>
          </a:prstGeom>
        </p:spPr>
      </p:pic>
      <p:sp>
        <p:nvSpPr>
          <p:cNvPr id="34" name="TextBox 33"/>
          <p:cNvSpPr txBox="1"/>
          <p:nvPr/>
        </p:nvSpPr>
        <p:spPr>
          <a:xfrm>
            <a:off x="2926080" y="9189720"/>
            <a:ext cx="512064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1" i="0">
                <a:solidFill>
                  <a:srgbClr val="192B37"/>
                </a:solidFill>
              </a:rPr>
              <a:t>Memory &amp; knowledge</a:t>
            </a:r>
          </a:p>
        </p:txBody>
      </p:sp>
      <p:sp>
        <p:nvSpPr>
          <p:cNvPr id="35" name="TextBox 34"/>
          <p:cNvSpPr txBox="1"/>
          <p:nvPr/>
        </p:nvSpPr>
        <p:spPr>
          <a:xfrm>
            <a:off x="6949440" y="9189720"/>
            <a:ext cx="813816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0" i="0">
                <a:solidFill>
                  <a:srgbClr val="192B37"/>
                </a:solidFill>
              </a:rPr>
              <a:t>facts · decisions · learnings · known issues · inventories</a:t>
            </a:r>
          </a:p>
        </p:txBody>
      </p:sp>
      <p:sp>
        <p:nvSpPr>
          <p:cNvPr id="36" name="Rounded Rectangle 35"/>
          <p:cNvSpPr/>
          <p:nvPr/>
        </p:nvSpPr>
        <p:spPr>
          <a:xfrm>
            <a:off x="15636240" y="2926080"/>
            <a:ext cx="3794760" cy="2331720"/>
          </a:xfrm>
          <a:prstGeom prst="roundRect">
            <a:avLst>
              <a:gd name="adj" fmla="val 10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18379440" y="3154680"/>
            <a:ext cx="731520" cy="73152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LuBot.png"/>
          <p:cNvPicPr>
            <a:picLocks noChangeAspect="1"/>
          </p:cNvPicPr>
          <p:nvPr/>
        </p:nvPicPr>
        <p:blipFill>
          <a:blip r:embed="rId5"/>
          <a:stretch>
            <a:fillRect/>
          </a:stretch>
        </p:blipFill>
        <p:spPr>
          <a:xfrm>
            <a:off x="18555004" y="3330244"/>
            <a:ext cx="380390" cy="380390"/>
          </a:xfrm>
          <a:prstGeom prst="rect">
            <a:avLst/>
          </a:prstGeom>
        </p:spPr>
      </p:pic>
      <p:sp>
        <p:nvSpPr>
          <p:cNvPr id="39" name="TextBox 38"/>
          <p:cNvSpPr txBox="1"/>
          <p:nvPr/>
        </p:nvSpPr>
        <p:spPr>
          <a:xfrm>
            <a:off x="15910560" y="3108960"/>
            <a:ext cx="2560320" cy="1188720"/>
          </a:xfrm>
          <a:prstGeom prst="rect">
            <a:avLst/>
          </a:prstGeom>
          <a:noFill/>
        </p:spPr>
        <p:txBody>
          <a:bodyPr wrap="square" lIns="0" rIns="0" tIns="18288" bIns="18288" anchor="ctr">
            <a:noAutofit/>
          </a:bodyPr>
          <a:lstStyle/>
          <a:p>
            <a:pPr algn="l">
              <a:lnSpc>
                <a:spcPct val="100000"/>
              </a:lnSpc>
              <a:spcBef>
                <a:spcPts val="0"/>
              </a:spcBef>
              <a:spcAft>
                <a:spcPts val="0"/>
              </a:spcAft>
            </a:pPr>
            <a:r>
              <a:rPr sz="5000" b="0" i="0">
                <a:solidFill>
                  <a:srgbClr val="FF5640"/>
                </a:solidFill>
                <a:latin typeface="+mj-lt"/>
              </a:rPr>
              <a:t>24</a:t>
            </a:r>
          </a:p>
        </p:txBody>
      </p:sp>
      <p:sp>
        <p:nvSpPr>
          <p:cNvPr id="40" name="TextBox 39"/>
          <p:cNvSpPr txBox="1"/>
          <p:nvPr/>
        </p:nvSpPr>
        <p:spPr>
          <a:xfrm>
            <a:off x="15910560" y="4343400"/>
            <a:ext cx="338328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agents</a:t>
            </a:r>
          </a:p>
        </p:txBody>
      </p:sp>
      <p:sp>
        <p:nvSpPr>
          <p:cNvPr id="41" name="Rounded Rectangle 40"/>
          <p:cNvSpPr/>
          <p:nvPr/>
        </p:nvSpPr>
        <p:spPr>
          <a:xfrm>
            <a:off x="19613880" y="2926080"/>
            <a:ext cx="3794760" cy="2331720"/>
          </a:xfrm>
          <a:prstGeom prst="roundRect">
            <a:avLst>
              <a:gd name="adj" fmla="val 10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22357080" y="3154680"/>
            <a:ext cx="731520" cy="73152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LuWandSparkles.png"/>
          <p:cNvPicPr>
            <a:picLocks noChangeAspect="1"/>
          </p:cNvPicPr>
          <p:nvPr/>
        </p:nvPicPr>
        <p:blipFill>
          <a:blip r:embed="rId6"/>
          <a:stretch>
            <a:fillRect/>
          </a:stretch>
        </p:blipFill>
        <p:spPr>
          <a:xfrm>
            <a:off x="22532644" y="3330244"/>
            <a:ext cx="380390" cy="380390"/>
          </a:xfrm>
          <a:prstGeom prst="rect">
            <a:avLst/>
          </a:prstGeom>
        </p:spPr>
      </p:pic>
      <p:sp>
        <p:nvSpPr>
          <p:cNvPr id="44" name="TextBox 43"/>
          <p:cNvSpPr txBox="1"/>
          <p:nvPr/>
        </p:nvSpPr>
        <p:spPr>
          <a:xfrm>
            <a:off x="19888200" y="3108960"/>
            <a:ext cx="2560320" cy="1188720"/>
          </a:xfrm>
          <a:prstGeom prst="rect">
            <a:avLst/>
          </a:prstGeom>
          <a:noFill/>
        </p:spPr>
        <p:txBody>
          <a:bodyPr wrap="square" lIns="0" rIns="0" tIns="18288" bIns="18288" anchor="ctr">
            <a:noAutofit/>
          </a:bodyPr>
          <a:lstStyle/>
          <a:p>
            <a:pPr algn="l">
              <a:lnSpc>
                <a:spcPct val="100000"/>
              </a:lnSpc>
              <a:spcBef>
                <a:spcPts val="0"/>
              </a:spcBef>
              <a:spcAft>
                <a:spcPts val="0"/>
              </a:spcAft>
            </a:pPr>
            <a:r>
              <a:rPr sz="5000" b="0" i="0">
                <a:solidFill>
                  <a:srgbClr val="00A859"/>
                </a:solidFill>
                <a:latin typeface="+mj-lt"/>
              </a:rPr>
              <a:t>31</a:t>
            </a:r>
          </a:p>
        </p:txBody>
      </p:sp>
      <p:sp>
        <p:nvSpPr>
          <p:cNvPr id="45" name="TextBox 44"/>
          <p:cNvSpPr txBox="1"/>
          <p:nvPr/>
        </p:nvSpPr>
        <p:spPr>
          <a:xfrm>
            <a:off x="19888200" y="4343400"/>
            <a:ext cx="338328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skills</a:t>
            </a:r>
          </a:p>
        </p:txBody>
      </p:sp>
      <p:sp>
        <p:nvSpPr>
          <p:cNvPr id="46" name="Rounded Rectangle 45"/>
          <p:cNvSpPr/>
          <p:nvPr/>
        </p:nvSpPr>
        <p:spPr>
          <a:xfrm>
            <a:off x="15636240" y="5440680"/>
            <a:ext cx="3794760" cy="2331720"/>
          </a:xfrm>
          <a:prstGeom prst="roundRect">
            <a:avLst>
              <a:gd name="adj" fmla="val 10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18379440" y="5669280"/>
            <a:ext cx="731520" cy="73152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LuShield.png"/>
          <p:cNvPicPr>
            <a:picLocks noChangeAspect="1"/>
          </p:cNvPicPr>
          <p:nvPr/>
        </p:nvPicPr>
        <p:blipFill>
          <a:blip r:embed="rId7"/>
          <a:stretch>
            <a:fillRect/>
          </a:stretch>
        </p:blipFill>
        <p:spPr>
          <a:xfrm>
            <a:off x="18555004" y="5844844"/>
            <a:ext cx="380390" cy="380390"/>
          </a:xfrm>
          <a:prstGeom prst="rect">
            <a:avLst/>
          </a:prstGeom>
        </p:spPr>
      </p:pic>
      <p:sp>
        <p:nvSpPr>
          <p:cNvPr id="49" name="TextBox 48"/>
          <p:cNvSpPr txBox="1"/>
          <p:nvPr/>
        </p:nvSpPr>
        <p:spPr>
          <a:xfrm>
            <a:off x="15910560" y="5623560"/>
            <a:ext cx="2560320" cy="1188720"/>
          </a:xfrm>
          <a:prstGeom prst="rect">
            <a:avLst/>
          </a:prstGeom>
          <a:noFill/>
        </p:spPr>
        <p:txBody>
          <a:bodyPr wrap="square" lIns="0" rIns="0" tIns="18288" bIns="18288" anchor="ctr">
            <a:noAutofit/>
          </a:bodyPr>
          <a:lstStyle/>
          <a:p>
            <a:pPr algn="l">
              <a:lnSpc>
                <a:spcPct val="100000"/>
              </a:lnSpc>
              <a:spcBef>
                <a:spcPts val="0"/>
              </a:spcBef>
              <a:spcAft>
                <a:spcPts val="0"/>
              </a:spcAft>
            </a:pPr>
            <a:r>
              <a:rPr sz="5000" b="0" i="0">
                <a:solidFill>
                  <a:srgbClr val="DB7D00"/>
                </a:solidFill>
                <a:latin typeface="+mj-lt"/>
              </a:rPr>
              <a:t>5</a:t>
            </a:r>
          </a:p>
        </p:txBody>
      </p:sp>
      <p:sp>
        <p:nvSpPr>
          <p:cNvPr id="50" name="TextBox 49"/>
          <p:cNvSpPr txBox="1"/>
          <p:nvPr/>
        </p:nvSpPr>
        <p:spPr>
          <a:xfrm>
            <a:off x="15910560" y="6858000"/>
            <a:ext cx="338328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hooks</a:t>
            </a:r>
          </a:p>
        </p:txBody>
      </p:sp>
      <p:sp>
        <p:nvSpPr>
          <p:cNvPr id="51" name="Rounded Rectangle 50"/>
          <p:cNvSpPr/>
          <p:nvPr/>
        </p:nvSpPr>
        <p:spPr>
          <a:xfrm>
            <a:off x="19613880" y="5440680"/>
            <a:ext cx="3794760" cy="2331720"/>
          </a:xfrm>
          <a:prstGeom prst="roundRect">
            <a:avLst>
              <a:gd name="adj" fmla="val 10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22357080" y="5669280"/>
            <a:ext cx="731520" cy="73152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LuScale.png"/>
          <p:cNvPicPr>
            <a:picLocks noChangeAspect="1"/>
          </p:cNvPicPr>
          <p:nvPr/>
        </p:nvPicPr>
        <p:blipFill>
          <a:blip r:embed="rId9"/>
          <a:stretch>
            <a:fillRect/>
          </a:stretch>
        </p:blipFill>
        <p:spPr>
          <a:xfrm>
            <a:off x="22532644" y="5844844"/>
            <a:ext cx="380390" cy="380390"/>
          </a:xfrm>
          <a:prstGeom prst="rect">
            <a:avLst/>
          </a:prstGeom>
        </p:spPr>
      </p:pic>
      <p:sp>
        <p:nvSpPr>
          <p:cNvPr id="54" name="TextBox 53"/>
          <p:cNvSpPr txBox="1"/>
          <p:nvPr/>
        </p:nvSpPr>
        <p:spPr>
          <a:xfrm>
            <a:off x="19888200" y="5623560"/>
            <a:ext cx="2560320" cy="1188720"/>
          </a:xfrm>
          <a:prstGeom prst="rect">
            <a:avLst/>
          </a:prstGeom>
          <a:noFill/>
        </p:spPr>
        <p:txBody>
          <a:bodyPr wrap="square" lIns="0" rIns="0" tIns="18288" bIns="18288" anchor="ctr">
            <a:noAutofit/>
          </a:bodyPr>
          <a:lstStyle/>
          <a:p>
            <a:pPr algn="l">
              <a:lnSpc>
                <a:spcPct val="100000"/>
              </a:lnSpc>
              <a:spcBef>
                <a:spcPts val="0"/>
              </a:spcBef>
              <a:spcAft>
                <a:spcPts val="0"/>
              </a:spcAft>
            </a:pPr>
            <a:r>
              <a:rPr sz="5000" b="0" i="0">
                <a:solidFill>
                  <a:srgbClr val="8683C3"/>
                </a:solidFill>
                <a:latin typeface="+mj-lt"/>
              </a:rPr>
              <a:t>5</a:t>
            </a:r>
          </a:p>
        </p:txBody>
      </p:sp>
      <p:sp>
        <p:nvSpPr>
          <p:cNvPr id="55" name="TextBox 54"/>
          <p:cNvSpPr txBox="1"/>
          <p:nvPr/>
        </p:nvSpPr>
        <p:spPr>
          <a:xfrm>
            <a:off x="19888200" y="6858000"/>
            <a:ext cx="338328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rule files</a:t>
            </a:r>
          </a:p>
        </p:txBody>
      </p:sp>
      <p:sp>
        <p:nvSpPr>
          <p:cNvPr id="56" name="Rounded Rectangle 55"/>
          <p:cNvSpPr/>
          <p:nvPr/>
        </p:nvSpPr>
        <p:spPr>
          <a:xfrm>
            <a:off x="15636240" y="7955279"/>
            <a:ext cx="3794760" cy="2331720"/>
          </a:xfrm>
          <a:prstGeom prst="roundRect">
            <a:avLst>
              <a:gd name="adj" fmla="val 10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18379440" y="8183879"/>
            <a:ext cx="731520" cy="73152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Picture 57" descr="LuFileText.png"/>
          <p:cNvPicPr>
            <a:picLocks noChangeAspect="1"/>
          </p:cNvPicPr>
          <p:nvPr/>
        </p:nvPicPr>
        <p:blipFill>
          <a:blip r:embed="rId10"/>
          <a:stretch>
            <a:fillRect/>
          </a:stretch>
        </p:blipFill>
        <p:spPr>
          <a:xfrm>
            <a:off x="18555004" y="8359444"/>
            <a:ext cx="380390" cy="380390"/>
          </a:xfrm>
          <a:prstGeom prst="rect">
            <a:avLst/>
          </a:prstGeom>
        </p:spPr>
      </p:pic>
      <p:sp>
        <p:nvSpPr>
          <p:cNvPr id="59" name="TextBox 58"/>
          <p:cNvSpPr txBox="1"/>
          <p:nvPr/>
        </p:nvSpPr>
        <p:spPr>
          <a:xfrm>
            <a:off x="15910560" y="8138159"/>
            <a:ext cx="2560320" cy="1188720"/>
          </a:xfrm>
          <a:prstGeom prst="rect">
            <a:avLst/>
          </a:prstGeom>
          <a:noFill/>
        </p:spPr>
        <p:txBody>
          <a:bodyPr wrap="square" lIns="0" rIns="0" tIns="18288" bIns="18288" anchor="ctr">
            <a:noAutofit/>
          </a:bodyPr>
          <a:lstStyle/>
          <a:p>
            <a:pPr algn="l">
              <a:lnSpc>
                <a:spcPct val="100000"/>
              </a:lnSpc>
              <a:spcBef>
                <a:spcPts val="0"/>
              </a:spcBef>
              <a:spcAft>
                <a:spcPts val="0"/>
              </a:spcAft>
            </a:pPr>
            <a:r>
              <a:rPr sz="5000" b="0" i="0">
                <a:solidFill>
                  <a:srgbClr val="3D9BC8"/>
                </a:solidFill>
                <a:latin typeface="+mj-lt"/>
              </a:rPr>
              <a:t>146</a:t>
            </a:r>
          </a:p>
        </p:txBody>
      </p:sp>
      <p:sp>
        <p:nvSpPr>
          <p:cNvPr id="60" name="TextBox 59"/>
          <p:cNvSpPr txBox="1"/>
          <p:nvPr/>
        </p:nvSpPr>
        <p:spPr>
          <a:xfrm>
            <a:off x="15910560" y="9372600"/>
            <a:ext cx="338328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markdown files</a:t>
            </a:r>
          </a:p>
        </p:txBody>
      </p:sp>
      <p:sp>
        <p:nvSpPr>
          <p:cNvPr id="61" name="Rounded Rectangle 60"/>
          <p:cNvSpPr/>
          <p:nvPr/>
        </p:nvSpPr>
        <p:spPr>
          <a:xfrm>
            <a:off x="19613880" y="7955279"/>
            <a:ext cx="3794760" cy="2331720"/>
          </a:xfrm>
          <a:prstGeom prst="roundRect">
            <a:avLst>
              <a:gd name="adj" fmla="val 10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Oval 61"/>
          <p:cNvSpPr/>
          <p:nvPr/>
        </p:nvSpPr>
        <p:spPr>
          <a:xfrm>
            <a:off x="22357080" y="8183879"/>
            <a:ext cx="731520" cy="73152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LuGraduationCap.png"/>
          <p:cNvPicPr>
            <a:picLocks noChangeAspect="1"/>
          </p:cNvPicPr>
          <p:nvPr/>
        </p:nvPicPr>
        <p:blipFill>
          <a:blip r:embed="rId11"/>
          <a:stretch>
            <a:fillRect/>
          </a:stretch>
        </p:blipFill>
        <p:spPr>
          <a:xfrm>
            <a:off x="22532644" y="8359444"/>
            <a:ext cx="380390" cy="380390"/>
          </a:xfrm>
          <a:prstGeom prst="rect">
            <a:avLst/>
          </a:prstGeom>
        </p:spPr>
      </p:pic>
      <p:sp>
        <p:nvSpPr>
          <p:cNvPr id="64" name="TextBox 63"/>
          <p:cNvSpPr txBox="1"/>
          <p:nvPr/>
        </p:nvSpPr>
        <p:spPr>
          <a:xfrm>
            <a:off x="19888200" y="8138159"/>
            <a:ext cx="2560320" cy="1188720"/>
          </a:xfrm>
          <a:prstGeom prst="rect">
            <a:avLst/>
          </a:prstGeom>
          <a:noFill/>
        </p:spPr>
        <p:txBody>
          <a:bodyPr wrap="square" lIns="0" rIns="0" tIns="18288" bIns="18288" anchor="ctr">
            <a:noAutofit/>
          </a:bodyPr>
          <a:lstStyle/>
          <a:p>
            <a:pPr algn="l">
              <a:lnSpc>
                <a:spcPct val="100000"/>
              </a:lnSpc>
              <a:spcBef>
                <a:spcPts val="0"/>
              </a:spcBef>
              <a:spcAft>
                <a:spcPts val="0"/>
              </a:spcAft>
            </a:pPr>
            <a:r>
              <a:rPr sz="5000" b="0" i="0">
                <a:solidFill>
                  <a:srgbClr val="729A00"/>
                </a:solidFill>
                <a:latin typeface="+mj-lt"/>
              </a:rPr>
              <a:t>15</a:t>
            </a:r>
          </a:p>
        </p:txBody>
      </p:sp>
      <p:sp>
        <p:nvSpPr>
          <p:cNvPr id="65" name="TextBox 64"/>
          <p:cNvSpPr txBox="1"/>
          <p:nvPr/>
        </p:nvSpPr>
        <p:spPr>
          <a:xfrm>
            <a:off x="19888200" y="9372600"/>
            <a:ext cx="338328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guided labs</a:t>
            </a:r>
          </a:p>
        </p:txBody>
      </p:sp>
      <p:sp>
        <p:nvSpPr>
          <p:cNvPr id="66" name="Rounded Rectangle 65"/>
          <p:cNvSpPr/>
          <p:nvPr/>
        </p:nvSpPr>
        <p:spPr>
          <a:xfrm>
            <a:off x="612648" y="10789920"/>
            <a:ext cx="22860000" cy="960120"/>
          </a:xfrm>
          <a:prstGeom prst="roundRect">
            <a:avLst>
              <a:gd name="adj" fmla="val 1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Oval 66"/>
          <p:cNvSpPr/>
          <p:nvPr/>
        </p:nvSpPr>
        <p:spPr>
          <a:xfrm>
            <a:off x="886968" y="10927080"/>
            <a:ext cx="685800" cy="6858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8" name="Picture 67" descr="LuLaugh.png"/>
          <p:cNvPicPr>
            <a:picLocks noChangeAspect="1"/>
          </p:cNvPicPr>
          <p:nvPr/>
        </p:nvPicPr>
        <p:blipFill>
          <a:blip r:embed="rId12"/>
          <a:stretch>
            <a:fillRect/>
          </a:stretch>
        </p:blipFill>
        <p:spPr>
          <a:xfrm>
            <a:off x="1051560" y="11091672"/>
            <a:ext cx="356616" cy="356616"/>
          </a:xfrm>
          <a:prstGeom prst="rect">
            <a:avLst/>
          </a:prstGeom>
        </p:spPr>
      </p:pic>
      <p:sp>
        <p:nvSpPr>
          <p:cNvPr id="69" name="TextBox 68"/>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It's not a one-agent show — it's an ensemble cast with a very strict director and a fully documented script.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TAP26 agents</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FF5640"/>
                </a:solidFill>
              </a:rPr>
              <a:t>AGENTIC FRAMEWORK · ROSTER</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24 agents, six families</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47</a:t>
            </a:r>
          </a:p>
        </p:txBody>
      </p:sp>
      <p:sp>
        <p:nvSpPr>
          <p:cNvPr id="6" name="Rounded Rectangle 5"/>
          <p:cNvSpPr/>
          <p:nvPr/>
        </p:nvSpPr>
        <p:spPr>
          <a:xfrm>
            <a:off x="612648" y="2926080"/>
            <a:ext cx="7406640" cy="3566160"/>
          </a:xfrm>
          <a:prstGeom prst="roundRect">
            <a:avLst>
              <a:gd name="adj" fmla="val 6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86968" y="3154680"/>
            <a:ext cx="822960" cy="82296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Compass.png"/>
          <p:cNvPicPr>
            <a:picLocks noChangeAspect="1"/>
          </p:cNvPicPr>
          <p:nvPr/>
        </p:nvPicPr>
        <p:blipFill>
          <a:blip r:embed="rId3"/>
          <a:stretch>
            <a:fillRect/>
          </a:stretch>
        </p:blipFill>
        <p:spPr>
          <a:xfrm>
            <a:off x="1084478" y="3352190"/>
            <a:ext cx="427939" cy="427939"/>
          </a:xfrm>
          <a:prstGeom prst="rect">
            <a:avLst/>
          </a:prstGeom>
        </p:spPr>
      </p:pic>
      <p:sp>
        <p:nvSpPr>
          <p:cNvPr id="9" name="TextBox 8"/>
          <p:cNvSpPr txBox="1"/>
          <p:nvPr/>
        </p:nvSpPr>
        <p:spPr>
          <a:xfrm>
            <a:off x="1892807" y="3154680"/>
            <a:ext cx="5029200" cy="822960"/>
          </a:xfrm>
          <a:prstGeom prst="rect">
            <a:avLst/>
          </a:prstGeom>
          <a:noFill/>
        </p:spPr>
        <p:txBody>
          <a:bodyPr wrap="square" lIns="0" rIns="0" tIns="18288" bIns="18288" anchor="ctr">
            <a:noAutofit/>
          </a:bodyPr>
          <a:lstStyle/>
          <a:p>
            <a:pPr algn="l">
              <a:lnSpc>
                <a:spcPct val="100000"/>
              </a:lnSpc>
              <a:spcBef>
                <a:spcPts val="0"/>
              </a:spcBef>
              <a:spcAft>
                <a:spcPts val="0"/>
              </a:spcAft>
            </a:pPr>
            <a:r>
              <a:rPr sz="2200" b="1" i="0">
                <a:solidFill>
                  <a:srgbClr val="192B37"/>
                </a:solidFill>
              </a:rPr>
              <a:t>Lead &amp; learning</a:t>
            </a:r>
          </a:p>
        </p:txBody>
      </p:sp>
      <p:sp>
        <p:nvSpPr>
          <p:cNvPr id="10" name="TextBox 9"/>
          <p:cNvSpPr txBox="1"/>
          <p:nvPr/>
        </p:nvSpPr>
        <p:spPr>
          <a:xfrm>
            <a:off x="6556248" y="3154680"/>
            <a:ext cx="1188720" cy="822960"/>
          </a:xfrm>
          <a:prstGeom prst="rect">
            <a:avLst/>
          </a:prstGeom>
          <a:noFill/>
        </p:spPr>
        <p:txBody>
          <a:bodyPr wrap="square" lIns="0" rIns="0" tIns="18288" bIns="18288" anchor="ctr">
            <a:noAutofit/>
          </a:bodyPr>
          <a:lstStyle/>
          <a:p>
            <a:pPr algn="r">
              <a:lnSpc>
                <a:spcPct val="100000"/>
              </a:lnSpc>
              <a:spcBef>
                <a:spcPts val="0"/>
              </a:spcBef>
              <a:spcAft>
                <a:spcPts val="0"/>
              </a:spcAft>
            </a:pPr>
            <a:r>
              <a:rPr sz="3400" b="0" i="0">
                <a:solidFill>
                  <a:srgbClr val="8683C3"/>
                </a:solidFill>
                <a:latin typeface="+mj-lt"/>
              </a:rPr>
              <a:t>5</a:t>
            </a:r>
          </a:p>
        </p:txBody>
      </p:sp>
      <p:sp>
        <p:nvSpPr>
          <p:cNvPr id="11" name="Rounded Rectangle 10"/>
          <p:cNvSpPr/>
          <p:nvPr/>
        </p:nvSpPr>
        <p:spPr>
          <a:xfrm>
            <a:off x="886968" y="4206240"/>
            <a:ext cx="3337560" cy="566928"/>
          </a:xfrm>
          <a:prstGeom prst="roundRect">
            <a:avLst>
              <a:gd name="adj" fmla="val 50000"/>
            </a:avLst>
          </a:prstGeom>
          <a:solidFill>
            <a:srgbClr val="FFFFFF"/>
          </a:solidFill>
          <a:ln w="127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78408" y="4206240"/>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tap-orchestrator</a:t>
            </a:r>
          </a:p>
        </p:txBody>
      </p:sp>
      <p:sp>
        <p:nvSpPr>
          <p:cNvPr id="13" name="Rounded Rectangle 12"/>
          <p:cNvSpPr/>
          <p:nvPr/>
        </p:nvSpPr>
        <p:spPr>
          <a:xfrm>
            <a:off x="4407408" y="4206240"/>
            <a:ext cx="3337560" cy="566928"/>
          </a:xfrm>
          <a:prstGeom prst="roundRect">
            <a:avLst>
              <a:gd name="adj" fmla="val 50000"/>
            </a:avLst>
          </a:prstGeom>
          <a:solidFill>
            <a:srgbClr val="FFFFFF"/>
          </a:solidFill>
          <a:ln w="127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98848" y="4206240"/>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qa-lead</a:t>
            </a:r>
          </a:p>
        </p:txBody>
      </p:sp>
      <p:sp>
        <p:nvSpPr>
          <p:cNvPr id="15" name="Rounded Rectangle 14"/>
          <p:cNvSpPr/>
          <p:nvPr/>
        </p:nvSpPr>
        <p:spPr>
          <a:xfrm>
            <a:off x="886968" y="4937759"/>
            <a:ext cx="3337560" cy="566928"/>
          </a:xfrm>
          <a:prstGeom prst="roundRect">
            <a:avLst>
              <a:gd name="adj" fmla="val 50000"/>
            </a:avLst>
          </a:prstGeom>
          <a:solidFill>
            <a:srgbClr val="FFFFFF"/>
          </a:solidFill>
          <a:ln w="127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78408" y="4937759"/>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tutor</a:t>
            </a:r>
          </a:p>
        </p:txBody>
      </p:sp>
      <p:sp>
        <p:nvSpPr>
          <p:cNvPr id="17" name="Rounded Rectangle 16"/>
          <p:cNvSpPr/>
          <p:nvPr/>
        </p:nvSpPr>
        <p:spPr>
          <a:xfrm>
            <a:off x="4407408" y="4937759"/>
            <a:ext cx="3337560" cy="566928"/>
          </a:xfrm>
          <a:prstGeom prst="roundRect">
            <a:avLst>
              <a:gd name="adj" fmla="val 50000"/>
            </a:avLst>
          </a:prstGeom>
          <a:solidFill>
            <a:srgbClr val="FFFFFF"/>
          </a:solidFill>
          <a:ln w="127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498848" y="4937759"/>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knowledge-curator</a:t>
            </a:r>
          </a:p>
        </p:txBody>
      </p:sp>
      <p:sp>
        <p:nvSpPr>
          <p:cNvPr id="19" name="Rounded Rectangle 18"/>
          <p:cNvSpPr/>
          <p:nvPr/>
        </p:nvSpPr>
        <p:spPr>
          <a:xfrm>
            <a:off x="886968" y="5669279"/>
            <a:ext cx="3337560" cy="566928"/>
          </a:xfrm>
          <a:prstGeom prst="roundRect">
            <a:avLst>
              <a:gd name="adj" fmla="val 50000"/>
            </a:avLst>
          </a:prstGeom>
          <a:solidFill>
            <a:srgbClr val="FFFFFF"/>
          </a:solidFill>
          <a:ln w="127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78408" y="5669279"/>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researcher</a:t>
            </a:r>
          </a:p>
        </p:txBody>
      </p:sp>
      <p:sp>
        <p:nvSpPr>
          <p:cNvPr id="21" name="Rounded Rectangle 20"/>
          <p:cNvSpPr/>
          <p:nvPr/>
        </p:nvSpPr>
        <p:spPr>
          <a:xfrm>
            <a:off x="8311896" y="2926080"/>
            <a:ext cx="7406640" cy="3566160"/>
          </a:xfrm>
          <a:prstGeom prst="roundRect">
            <a:avLst>
              <a:gd name="adj" fmla="val 6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586216" y="3154680"/>
            <a:ext cx="822960" cy="82296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LuCode.png"/>
          <p:cNvPicPr>
            <a:picLocks noChangeAspect="1"/>
          </p:cNvPicPr>
          <p:nvPr/>
        </p:nvPicPr>
        <p:blipFill>
          <a:blip r:embed="rId4"/>
          <a:stretch>
            <a:fillRect/>
          </a:stretch>
        </p:blipFill>
        <p:spPr>
          <a:xfrm>
            <a:off x="8783726" y="3352190"/>
            <a:ext cx="427939" cy="427939"/>
          </a:xfrm>
          <a:prstGeom prst="rect">
            <a:avLst/>
          </a:prstGeom>
        </p:spPr>
      </p:pic>
      <p:sp>
        <p:nvSpPr>
          <p:cNvPr id="24" name="TextBox 23"/>
          <p:cNvSpPr txBox="1"/>
          <p:nvPr/>
        </p:nvSpPr>
        <p:spPr>
          <a:xfrm>
            <a:off x="9592056" y="3154680"/>
            <a:ext cx="5029200" cy="822960"/>
          </a:xfrm>
          <a:prstGeom prst="rect">
            <a:avLst/>
          </a:prstGeom>
          <a:noFill/>
        </p:spPr>
        <p:txBody>
          <a:bodyPr wrap="square" lIns="0" rIns="0" tIns="18288" bIns="18288" anchor="ctr">
            <a:noAutofit/>
          </a:bodyPr>
          <a:lstStyle/>
          <a:p>
            <a:pPr algn="l">
              <a:lnSpc>
                <a:spcPct val="100000"/>
              </a:lnSpc>
              <a:spcBef>
                <a:spcPts val="0"/>
              </a:spcBef>
              <a:spcAft>
                <a:spcPts val="0"/>
              </a:spcAft>
            </a:pPr>
            <a:r>
              <a:rPr sz="2200" b="1" i="0">
                <a:solidFill>
                  <a:srgbClr val="192B37"/>
                </a:solidFill>
              </a:rPr>
              <a:t>Development</a:t>
            </a:r>
          </a:p>
        </p:txBody>
      </p:sp>
      <p:sp>
        <p:nvSpPr>
          <p:cNvPr id="25" name="TextBox 24"/>
          <p:cNvSpPr txBox="1"/>
          <p:nvPr/>
        </p:nvSpPr>
        <p:spPr>
          <a:xfrm>
            <a:off x="14255496" y="3154680"/>
            <a:ext cx="1188720" cy="822960"/>
          </a:xfrm>
          <a:prstGeom prst="rect">
            <a:avLst/>
          </a:prstGeom>
          <a:noFill/>
        </p:spPr>
        <p:txBody>
          <a:bodyPr wrap="square" lIns="0" rIns="0" tIns="18288" bIns="18288" anchor="ctr">
            <a:noAutofit/>
          </a:bodyPr>
          <a:lstStyle/>
          <a:p>
            <a:pPr algn="r">
              <a:lnSpc>
                <a:spcPct val="100000"/>
              </a:lnSpc>
              <a:spcBef>
                <a:spcPts val="0"/>
              </a:spcBef>
              <a:spcAft>
                <a:spcPts val="0"/>
              </a:spcAft>
            </a:pPr>
            <a:r>
              <a:rPr sz="3400" b="0" i="0">
                <a:solidFill>
                  <a:srgbClr val="3D9BC8"/>
                </a:solidFill>
                <a:latin typeface="+mj-lt"/>
              </a:rPr>
              <a:t>5</a:t>
            </a:r>
          </a:p>
        </p:txBody>
      </p:sp>
      <p:sp>
        <p:nvSpPr>
          <p:cNvPr id="26" name="Rounded Rectangle 25"/>
          <p:cNvSpPr/>
          <p:nvPr/>
        </p:nvSpPr>
        <p:spPr>
          <a:xfrm>
            <a:off x="8586216" y="4206240"/>
            <a:ext cx="3337560" cy="566928"/>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77656" y="4206240"/>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be-dev</a:t>
            </a:r>
          </a:p>
        </p:txBody>
      </p:sp>
      <p:sp>
        <p:nvSpPr>
          <p:cNvPr id="28" name="Rounded Rectangle 27"/>
          <p:cNvSpPr/>
          <p:nvPr/>
        </p:nvSpPr>
        <p:spPr>
          <a:xfrm>
            <a:off x="12106656" y="4206240"/>
            <a:ext cx="3337560" cy="566928"/>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198096" y="4206240"/>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fe-dev</a:t>
            </a:r>
          </a:p>
        </p:txBody>
      </p:sp>
      <p:sp>
        <p:nvSpPr>
          <p:cNvPr id="30" name="Rounded Rectangle 29"/>
          <p:cNvSpPr/>
          <p:nvPr/>
        </p:nvSpPr>
        <p:spPr>
          <a:xfrm>
            <a:off x="8586216" y="4937759"/>
            <a:ext cx="3337560" cy="566928"/>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677656" y="4937759"/>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env-ops</a:t>
            </a:r>
          </a:p>
        </p:txBody>
      </p:sp>
      <p:sp>
        <p:nvSpPr>
          <p:cNvPr id="32" name="Rounded Rectangle 31"/>
          <p:cNvSpPr/>
          <p:nvPr/>
        </p:nvSpPr>
        <p:spPr>
          <a:xfrm>
            <a:off x="12106656" y="4937759"/>
            <a:ext cx="3337560" cy="566928"/>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2198096" y="4937759"/>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debugger</a:t>
            </a:r>
          </a:p>
        </p:txBody>
      </p:sp>
      <p:sp>
        <p:nvSpPr>
          <p:cNvPr id="34" name="Rounded Rectangle 33"/>
          <p:cNvSpPr/>
          <p:nvPr/>
        </p:nvSpPr>
        <p:spPr>
          <a:xfrm>
            <a:off x="8586216" y="5669279"/>
            <a:ext cx="3337560" cy="566928"/>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677656" y="5669279"/>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code-reviewer</a:t>
            </a:r>
          </a:p>
        </p:txBody>
      </p:sp>
      <p:sp>
        <p:nvSpPr>
          <p:cNvPr id="36" name="Rounded Rectangle 35"/>
          <p:cNvSpPr/>
          <p:nvPr/>
        </p:nvSpPr>
        <p:spPr>
          <a:xfrm>
            <a:off x="16011144" y="2926080"/>
            <a:ext cx="7406640" cy="3566160"/>
          </a:xfrm>
          <a:prstGeom prst="roundRect">
            <a:avLst>
              <a:gd name="adj" fmla="val 6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16285464" y="3154680"/>
            <a:ext cx="822960" cy="82296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LuFlaskConical.png"/>
          <p:cNvPicPr>
            <a:picLocks noChangeAspect="1"/>
          </p:cNvPicPr>
          <p:nvPr/>
        </p:nvPicPr>
        <p:blipFill>
          <a:blip r:embed="rId5"/>
          <a:stretch>
            <a:fillRect/>
          </a:stretch>
        </p:blipFill>
        <p:spPr>
          <a:xfrm>
            <a:off x="16482974" y="3352190"/>
            <a:ext cx="427939" cy="427939"/>
          </a:xfrm>
          <a:prstGeom prst="rect">
            <a:avLst/>
          </a:prstGeom>
        </p:spPr>
      </p:pic>
      <p:sp>
        <p:nvSpPr>
          <p:cNvPr id="39" name="TextBox 38"/>
          <p:cNvSpPr txBox="1"/>
          <p:nvPr/>
        </p:nvSpPr>
        <p:spPr>
          <a:xfrm>
            <a:off x="17291304" y="3154680"/>
            <a:ext cx="5029200" cy="822960"/>
          </a:xfrm>
          <a:prstGeom prst="rect">
            <a:avLst/>
          </a:prstGeom>
          <a:noFill/>
        </p:spPr>
        <p:txBody>
          <a:bodyPr wrap="square" lIns="0" rIns="0" tIns="18288" bIns="18288" anchor="ctr">
            <a:noAutofit/>
          </a:bodyPr>
          <a:lstStyle/>
          <a:p>
            <a:pPr algn="l">
              <a:lnSpc>
                <a:spcPct val="100000"/>
              </a:lnSpc>
              <a:spcBef>
                <a:spcPts val="0"/>
              </a:spcBef>
              <a:spcAft>
                <a:spcPts val="0"/>
              </a:spcAft>
            </a:pPr>
            <a:r>
              <a:rPr sz="2200" b="1" i="0">
                <a:solidFill>
                  <a:srgbClr val="192B37"/>
                </a:solidFill>
              </a:rPr>
              <a:t>Test automation</a:t>
            </a:r>
          </a:p>
        </p:txBody>
      </p:sp>
      <p:sp>
        <p:nvSpPr>
          <p:cNvPr id="40" name="TextBox 39"/>
          <p:cNvSpPr txBox="1"/>
          <p:nvPr/>
        </p:nvSpPr>
        <p:spPr>
          <a:xfrm>
            <a:off x="21954744" y="3154680"/>
            <a:ext cx="1188720" cy="822960"/>
          </a:xfrm>
          <a:prstGeom prst="rect">
            <a:avLst/>
          </a:prstGeom>
          <a:noFill/>
        </p:spPr>
        <p:txBody>
          <a:bodyPr wrap="square" lIns="0" rIns="0" tIns="18288" bIns="18288" anchor="ctr">
            <a:noAutofit/>
          </a:bodyPr>
          <a:lstStyle/>
          <a:p>
            <a:pPr algn="r">
              <a:lnSpc>
                <a:spcPct val="100000"/>
              </a:lnSpc>
              <a:spcBef>
                <a:spcPts val="0"/>
              </a:spcBef>
              <a:spcAft>
                <a:spcPts val="0"/>
              </a:spcAft>
            </a:pPr>
            <a:r>
              <a:rPr sz="3400" b="0" i="0">
                <a:solidFill>
                  <a:srgbClr val="00A859"/>
                </a:solidFill>
                <a:latin typeface="+mj-lt"/>
              </a:rPr>
              <a:t>4</a:t>
            </a:r>
          </a:p>
        </p:txBody>
      </p:sp>
      <p:sp>
        <p:nvSpPr>
          <p:cNvPr id="41" name="Rounded Rectangle 40"/>
          <p:cNvSpPr/>
          <p:nvPr/>
        </p:nvSpPr>
        <p:spPr>
          <a:xfrm>
            <a:off x="16285464" y="4206240"/>
            <a:ext cx="3337560" cy="566928"/>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6376904" y="4206240"/>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api-automation</a:t>
            </a:r>
          </a:p>
        </p:txBody>
      </p:sp>
      <p:sp>
        <p:nvSpPr>
          <p:cNvPr id="43" name="Rounded Rectangle 42"/>
          <p:cNvSpPr/>
          <p:nvPr/>
        </p:nvSpPr>
        <p:spPr>
          <a:xfrm>
            <a:off x="19805904" y="4206240"/>
            <a:ext cx="3337560" cy="566928"/>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9897344" y="4206240"/>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ui-automation</a:t>
            </a:r>
          </a:p>
        </p:txBody>
      </p:sp>
      <p:sp>
        <p:nvSpPr>
          <p:cNvPr id="45" name="Rounded Rectangle 44"/>
          <p:cNvSpPr/>
          <p:nvPr/>
        </p:nvSpPr>
        <p:spPr>
          <a:xfrm>
            <a:off x="16285464" y="4937759"/>
            <a:ext cx="3337560" cy="566928"/>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6376904" y="4937759"/>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e2e-architect</a:t>
            </a:r>
          </a:p>
        </p:txBody>
      </p:sp>
      <p:sp>
        <p:nvSpPr>
          <p:cNvPr id="47" name="Rounded Rectangle 46"/>
          <p:cNvSpPr/>
          <p:nvPr/>
        </p:nvSpPr>
        <p:spPr>
          <a:xfrm>
            <a:off x="19805904" y="4937759"/>
            <a:ext cx="3337560" cy="566928"/>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9897344" y="4937759"/>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test-impact-analyst</a:t>
            </a:r>
          </a:p>
        </p:txBody>
      </p:sp>
      <p:sp>
        <p:nvSpPr>
          <p:cNvPr id="49" name="Rounded Rectangle 48"/>
          <p:cNvSpPr/>
          <p:nvPr/>
        </p:nvSpPr>
        <p:spPr>
          <a:xfrm>
            <a:off x="612648" y="6720840"/>
            <a:ext cx="7406640" cy="3566160"/>
          </a:xfrm>
          <a:prstGeom prst="roundRect">
            <a:avLst>
              <a:gd name="adj" fmla="val 6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886968" y="6949440"/>
            <a:ext cx="822960" cy="82296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LuScanSearch.png"/>
          <p:cNvPicPr>
            <a:picLocks noChangeAspect="1"/>
          </p:cNvPicPr>
          <p:nvPr/>
        </p:nvPicPr>
        <p:blipFill>
          <a:blip r:embed="rId6"/>
          <a:stretch>
            <a:fillRect/>
          </a:stretch>
        </p:blipFill>
        <p:spPr>
          <a:xfrm>
            <a:off x="1084478" y="7146950"/>
            <a:ext cx="427939" cy="427939"/>
          </a:xfrm>
          <a:prstGeom prst="rect">
            <a:avLst/>
          </a:prstGeom>
        </p:spPr>
      </p:pic>
      <p:sp>
        <p:nvSpPr>
          <p:cNvPr id="52" name="TextBox 51"/>
          <p:cNvSpPr txBox="1"/>
          <p:nvPr/>
        </p:nvSpPr>
        <p:spPr>
          <a:xfrm>
            <a:off x="1892807" y="6949440"/>
            <a:ext cx="5029200" cy="822960"/>
          </a:xfrm>
          <a:prstGeom prst="rect">
            <a:avLst/>
          </a:prstGeom>
          <a:noFill/>
        </p:spPr>
        <p:txBody>
          <a:bodyPr wrap="square" lIns="0" rIns="0" tIns="18288" bIns="18288" anchor="ctr">
            <a:noAutofit/>
          </a:bodyPr>
          <a:lstStyle/>
          <a:p>
            <a:pPr algn="l">
              <a:lnSpc>
                <a:spcPct val="100000"/>
              </a:lnSpc>
              <a:spcBef>
                <a:spcPts val="0"/>
              </a:spcBef>
              <a:spcAft>
                <a:spcPts val="0"/>
              </a:spcAft>
            </a:pPr>
            <a:r>
              <a:rPr sz="2200" b="1" i="0">
                <a:solidFill>
                  <a:srgbClr val="192B37"/>
                </a:solidFill>
              </a:rPr>
              <a:t>Specialist testing</a:t>
            </a:r>
          </a:p>
        </p:txBody>
      </p:sp>
      <p:sp>
        <p:nvSpPr>
          <p:cNvPr id="53" name="TextBox 52"/>
          <p:cNvSpPr txBox="1"/>
          <p:nvPr/>
        </p:nvSpPr>
        <p:spPr>
          <a:xfrm>
            <a:off x="6556248" y="6949440"/>
            <a:ext cx="1188720" cy="822960"/>
          </a:xfrm>
          <a:prstGeom prst="rect">
            <a:avLst/>
          </a:prstGeom>
          <a:noFill/>
        </p:spPr>
        <p:txBody>
          <a:bodyPr wrap="square" lIns="0" rIns="0" tIns="18288" bIns="18288" anchor="ctr">
            <a:noAutofit/>
          </a:bodyPr>
          <a:lstStyle/>
          <a:p>
            <a:pPr algn="r">
              <a:lnSpc>
                <a:spcPct val="100000"/>
              </a:lnSpc>
              <a:spcBef>
                <a:spcPts val="0"/>
              </a:spcBef>
              <a:spcAft>
                <a:spcPts val="0"/>
              </a:spcAft>
            </a:pPr>
            <a:r>
              <a:rPr sz="3400" b="0" i="0">
                <a:solidFill>
                  <a:srgbClr val="DB7D00"/>
                </a:solidFill>
                <a:latin typeface="+mj-lt"/>
              </a:rPr>
              <a:t>4</a:t>
            </a:r>
          </a:p>
        </p:txBody>
      </p:sp>
      <p:sp>
        <p:nvSpPr>
          <p:cNvPr id="54" name="Rounded Rectangle 53"/>
          <p:cNvSpPr/>
          <p:nvPr/>
        </p:nvSpPr>
        <p:spPr>
          <a:xfrm>
            <a:off x="886968" y="8001000"/>
            <a:ext cx="3337560" cy="566928"/>
          </a:xfrm>
          <a:prstGeom prst="roundRect">
            <a:avLst>
              <a:gd name="adj" fmla="val 50000"/>
            </a:avLst>
          </a:prstGeom>
          <a:solidFill>
            <a:srgbClr val="FFFFFF"/>
          </a:solidFill>
          <a:ln w="1270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978408" y="8001000"/>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manual-tester</a:t>
            </a:r>
          </a:p>
        </p:txBody>
      </p:sp>
      <p:sp>
        <p:nvSpPr>
          <p:cNvPr id="56" name="Rounded Rectangle 55"/>
          <p:cNvSpPr/>
          <p:nvPr/>
        </p:nvSpPr>
        <p:spPr>
          <a:xfrm>
            <a:off x="4407408" y="8001000"/>
            <a:ext cx="3337560" cy="566928"/>
          </a:xfrm>
          <a:prstGeom prst="roundRect">
            <a:avLst>
              <a:gd name="adj" fmla="val 50000"/>
            </a:avLst>
          </a:prstGeom>
          <a:solidFill>
            <a:srgbClr val="FFFFFF"/>
          </a:solidFill>
          <a:ln w="1270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4498848" y="8001000"/>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a11y-auditor</a:t>
            </a:r>
          </a:p>
        </p:txBody>
      </p:sp>
      <p:sp>
        <p:nvSpPr>
          <p:cNvPr id="58" name="Rounded Rectangle 57"/>
          <p:cNvSpPr/>
          <p:nvPr/>
        </p:nvSpPr>
        <p:spPr>
          <a:xfrm>
            <a:off x="886968" y="8732520"/>
            <a:ext cx="3337560" cy="566928"/>
          </a:xfrm>
          <a:prstGeom prst="roundRect">
            <a:avLst>
              <a:gd name="adj" fmla="val 50000"/>
            </a:avLst>
          </a:prstGeom>
          <a:solidFill>
            <a:srgbClr val="FFFFFF"/>
          </a:solidFill>
          <a:ln w="1270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978408" y="8732520"/>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perf-tester</a:t>
            </a:r>
          </a:p>
        </p:txBody>
      </p:sp>
      <p:sp>
        <p:nvSpPr>
          <p:cNvPr id="60" name="Rounded Rectangle 59"/>
          <p:cNvSpPr/>
          <p:nvPr/>
        </p:nvSpPr>
        <p:spPr>
          <a:xfrm>
            <a:off x="4407408" y="8732520"/>
            <a:ext cx="3337560" cy="566928"/>
          </a:xfrm>
          <a:prstGeom prst="roundRect">
            <a:avLst>
              <a:gd name="adj" fmla="val 50000"/>
            </a:avLst>
          </a:prstGeom>
          <a:solidFill>
            <a:srgbClr val="FFFFFF"/>
          </a:solidFill>
          <a:ln w="1270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4498848" y="8732520"/>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security-tester</a:t>
            </a:r>
          </a:p>
        </p:txBody>
      </p:sp>
      <p:sp>
        <p:nvSpPr>
          <p:cNvPr id="62" name="Rounded Rectangle 61"/>
          <p:cNvSpPr/>
          <p:nvPr/>
        </p:nvSpPr>
        <p:spPr>
          <a:xfrm>
            <a:off x="8311896" y="6720840"/>
            <a:ext cx="7406640" cy="3566160"/>
          </a:xfrm>
          <a:prstGeom prst="roundRect">
            <a:avLst>
              <a:gd name="adj" fmla="val 6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Oval 62"/>
          <p:cNvSpPr/>
          <p:nvPr/>
        </p:nvSpPr>
        <p:spPr>
          <a:xfrm>
            <a:off x="8586216" y="6949440"/>
            <a:ext cx="822960" cy="82296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LuDatabase.png"/>
          <p:cNvPicPr>
            <a:picLocks noChangeAspect="1"/>
          </p:cNvPicPr>
          <p:nvPr/>
        </p:nvPicPr>
        <p:blipFill>
          <a:blip r:embed="rId7"/>
          <a:stretch>
            <a:fillRect/>
          </a:stretch>
        </p:blipFill>
        <p:spPr>
          <a:xfrm>
            <a:off x="8783726" y="7146950"/>
            <a:ext cx="427939" cy="427939"/>
          </a:xfrm>
          <a:prstGeom prst="rect">
            <a:avLst/>
          </a:prstGeom>
        </p:spPr>
      </p:pic>
      <p:sp>
        <p:nvSpPr>
          <p:cNvPr id="65" name="TextBox 64"/>
          <p:cNvSpPr txBox="1"/>
          <p:nvPr/>
        </p:nvSpPr>
        <p:spPr>
          <a:xfrm>
            <a:off x="9592056" y="6949440"/>
            <a:ext cx="5029200" cy="822960"/>
          </a:xfrm>
          <a:prstGeom prst="rect">
            <a:avLst/>
          </a:prstGeom>
          <a:noFill/>
        </p:spPr>
        <p:txBody>
          <a:bodyPr wrap="square" lIns="0" rIns="0" tIns="18288" bIns="18288" anchor="ctr">
            <a:noAutofit/>
          </a:bodyPr>
          <a:lstStyle/>
          <a:p>
            <a:pPr algn="l">
              <a:lnSpc>
                <a:spcPct val="100000"/>
              </a:lnSpc>
              <a:spcBef>
                <a:spcPts val="0"/>
              </a:spcBef>
              <a:spcAft>
                <a:spcPts val="0"/>
              </a:spcAft>
            </a:pPr>
            <a:r>
              <a:rPr sz="2200" b="1" i="0">
                <a:solidFill>
                  <a:srgbClr val="192B37"/>
                </a:solidFill>
              </a:rPr>
              <a:t>Data &amp; contracts</a:t>
            </a:r>
          </a:p>
        </p:txBody>
      </p:sp>
      <p:sp>
        <p:nvSpPr>
          <p:cNvPr id="66" name="TextBox 65"/>
          <p:cNvSpPr txBox="1"/>
          <p:nvPr/>
        </p:nvSpPr>
        <p:spPr>
          <a:xfrm>
            <a:off x="14255496" y="6949440"/>
            <a:ext cx="1188720" cy="822960"/>
          </a:xfrm>
          <a:prstGeom prst="rect">
            <a:avLst/>
          </a:prstGeom>
          <a:noFill/>
        </p:spPr>
        <p:txBody>
          <a:bodyPr wrap="square" lIns="0" rIns="0" tIns="18288" bIns="18288" anchor="ctr">
            <a:noAutofit/>
          </a:bodyPr>
          <a:lstStyle/>
          <a:p>
            <a:pPr algn="r">
              <a:lnSpc>
                <a:spcPct val="100000"/>
              </a:lnSpc>
              <a:spcBef>
                <a:spcPts val="0"/>
              </a:spcBef>
              <a:spcAft>
                <a:spcPts val="0"/>
              </a:spcAft>
            </a:pPr>
            <a:r>
              <a:rPr sz="3400" b="0" i="0">
                <a:solidFill>
                  <a:srgbClr val="729A00"/>
                </a:solidFill>
                <a:latin typeface="+mj-lt"/>
              </a:rPr>
              <a:t>3</a:t>
            </a:r>
          </a:p>
        </p:txBody>
      </p:sp>
      <p:sp>
        <p:nvSpPr>
          <p:cNvPr id="67" name="Rounded Rectangle 66"/>
          <p:cNvSpPr/>
          <p:nvPr/>
        </p:nvSpPr>
        <p:spPr>
          <a:xfrm>
            <a:off x="8586216" y="8001000"/>
            <a:ext cx="3337560" cy="566928"/>
          </a:xfrm>
          <a:prstGeom prst="roundRect">
            <a:avLst>
              <a:gd name="adj" fmla="val 50000"/>
            </a:avLst>
          </a:prstGeom>
          <a:solidFill>
            <a:srgbClr val="FFFFFF"/>
          </a:solidFill>
          <a:ln w="12700">
            <a:solidFill>
              <a:srgbClr val="729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677656" y="8001000"/>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data-tester</a:t>
            </a:r>
          </a:p>
        </p:txBody>
      </p:sp>
      <p:sp>
        <p:nvSpPr>
          <p:cNvPr id="69" name="Rounded Rectangle 68"/>
          <p:cNvSpPr/>
          <p:nvPr/>
        </p:nvSpPr>
        <p:spPr>
          <a:xfrm>
            <a:off x="12106656" y="8001000"/>
            <a:ext cx="3337560" cy="566928"/>
          </a:xfrm>
          <a:prstGeom prst="roundRect">
            <a:avLst>
              <a:gd name="adj" fmla="val 50000"/>
            </a:avLst>
          </a:prstGeom>
          <a:solidFill>
            <a:srgbClr val="FFFFFF"/>
          </a:solidFill>
          <a:ln w="12700">
            <a:solidFill>
              <a:srgbClr val="729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12198096" y="8001000"/>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mock-smith</a:t>
            </a:r>
          </a:p>
        </p:txBody>
      </p:sp>
      <p:sp>
        <p:nvSpPr>
          <p:cNvPr id="71" name="Rounded Rectangle 70"/>
          <p:cNvSpPr/>
          <p:nvPr/>
        </p:nvSpPr>
        <p:spPr>
          <a:xfrm>
            <a:off x="8586216" y="8732520"/>
            <a:ext cx="3337560" cy="566928"/>
          </a:xfrm>
          <a:prstGeom prst="roundRect">
            <a:avLst>
              <a:gd name="adj" fmla="val 50000"/>
            </a:avLst>
          </a:prstGeom>
          <a:solidFill>
            <a:srgbClr val="FFFFFF"/>
          </a:solidFill>
          <a:ln w="12700">
            <a:solidFill>
              <a:srgbClr val="729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8677656" y="8732520"/>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contract-guardian</a:t>
            </a:r>
          </a:p>
        </p:txBody>
      </p:sp>
      <p:sp>
        <p:nvSpPr>
          <p:cNvPr id="73" name="Rounded Rectangle 72"/>
          <p:cNvSpPr/>
          <p:nvPr/>
        </p:nvSpPr>
        <p:spPr>
          <a:xfrm>
            <a:off x="16011144" y="6720840"/>
            <a:ext cx="7406640" cy="3566160"/>
          </a:xfrm>
          <a:prstGeom prst="roundRect">
            <a:avLst>
              <a:gd name="adj" fmla="val 6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Oval 73"/>
          <p:cNvSpPr/>
          <p:nvPr/>
        </p:nvSpPr>
        <p:spPr>
          <a:xfrm>
            <a:off x="16285464" y="6949440"/>
            <a:ext cx="822960" cy="82296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LuPenTool.png"/>
          <p:cNvPicPr>
            <a:picLocks noChangeAspect="1"/>
          </p:cNvPicPr>
          <p:nvPr/>
        </p:nvPicPr>
        <p:blipFill>
          <a:blip r:embed="rId8"/>
          <a:stretch>
            <a:fillRect/>
          </a:stretch>
        </p:blipFill>
        <p:spPr>
          <a:xfrm>
            <a:off x="16482974" y="7146950"/>
            <a:ext cx="427939" cy="427939"/>
          </a:xfrm>
          <a:prstGeom prst="rect">
            <a:avLst/>
          </a:prstGeom>
        </p:spPr>
      </p:pic>
      <p:sp>
        <p:nvSpPr>
          <p:cNvPr id="76" name="TextBox 75"/>
          <p:cNvSpPr txBox="1"/>
          <p:nvPr/>
        </p:nvSpPr>
        <p:spPr>
          <a:xfrm>
            <a:off x="17291304" y="6949440"/>
            <a:ext cx="5029200" cy="822960"/>
          </a:xfrm>
          <a:prstGeom prst="rect">
            <a:avLst/>
          </a:prstGeom>
          <a:noFill/>
        </p:spPr>
        <p:txBody>
          <a:bodyPr wrap="square" lIns="0" rIns="0" tIns="18288" bIns="18288" anchor="ctr">
            <a:noAutofit/>
          </a:bodyPr>
          <a:lstStyle/>
          <a:p>
            <a:pPr algn="l">
              <a:lnSpc>
                <a:spcPct val="100000"/>
              </a:lnSpc>
              <a:spcBef>
                <a:spcPts val="0"/>
              </a:spcBef>
              <a:spcAft>
                <a:spcPts val="0"/>
              </a:spcAft>
            </a:pPr>
            <a:r>
              <a:rPr sz="2200" b="1" i="0">
                <a:solidFill>
                  <a:srgbClr val="192B37"/>
                </a:solidFill>
              </a:rPr>
              <a:t>Analysis, UX &amp; docs</a:t>
            </a:r>
          </a:p>
        </p:txBody>
      </p:sp>
      <p:sp>
        <p:nvSpPr>
          <p:cNvPr id="77" name="TextBox 76"/>
          <p:cNvSpPr txBox="1"/>
          <p:nvPr/>
        </p:nvSpPr>
        <p:spPr>
          <a:xfrm>
            <a:off x="21954744" y="6949440"/>
            <a:ext cx="1188720" cy="822960"/>
          </a:xfrm>
          <a:prstGeom prst="rect">
            <a:avLst/>
          </a:prstGeom>
          <a:noFill/>
        </p:spPr>
        <p:txBody>
          <a:bodyPr wrap="square" lIns="0" rIns="0" tIns="18288" bIns="18288" anchor="ctr">
            <a:noAutofit/>
          </a:bodyPr>
          <a:lstStyle/>
          <a:p>
            <a:pPr algn="r">
              <a:lnSpc>
                <a:spcPct val="100000"/>
              </a:lnSpc>
              <a:spcBef>
                <a:spcPts val="0"/>
              </a:spcBef>
              <a:spcAft>
                <a:spcPts val="0"/>
              </a:spcAft>
            </a:pPr>
            <a:r>
              <a:rPr sz="3400" b="0" i="0">
                <a:solidFill>
                  <a:srgbClr val="FF5640"/>
                </a:solidFill>
                <a:latin typeface="+mj-lt"/>
              </a:rPr>
              <a:t>3</a:t>
            </a:r>
          </a:p>
        </p:txBody>
      </p:sp>
      <p:sp>
        <p:nvSpPr>
          <p:cNvPr id="78" name="Rounded Rectangle 77"/>
          <p:cNvSpPr/>
          <p:nvPr/>
        </p:nvSpPr>
        <p:spPr>
          <a:xfrm>
            <a:off x="16285464" y="8001000"/>
            <a:ext cx="3337560" cy="566928"/>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16376904" y="8001000"/>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business-analyst</a:t>
            </a:r>
          </a:p>
        </p:txBody>
      </p:sp>
      <p:sp>
        <p:nvSpPr>
          <p:cNvPr id="80" name="Rounded Rectangle 79"/>
          <p:cNvSpPr/>
          <p:nvPr/>
        </p:nvSpPr>
        <p:spPr>
          <a:xfrm>
            <a:off x="19805904" y="8001000"/>
            <a:ext cx="3337560" cy="566928"/>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19897344" y="8001000"/>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ux-designer</a:t>
            </a:r>
          </a:p>
        </p:txBody>
      </p:sp>
      <p:sp>
        <p:nvSpPr>
          <p:cNvPr id="82" name="Rounded Rectangle 81"/>
          <p:cNvSpPr/>
          <p:nvPr/>
        </p:nvSpPr>
        <p:spPr>
          <a:xfrm>
            <a:off x="16285464" y="8732520"/>
            <a:ext cx="3337560" cy="566928"/>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16376904" y="8732520"/>
            <a:ext cx="3154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doc-writer</a:t>
            </a:r>
          </a:p>
        </p:txBody>
      </p:sp>
      <p:sp>
        <p:nvSpPr>
          <p:cNvPr id="84" name="Rounded Rectangle 83"/>
          <p:cNvSpPr/>
          <p:nvPr/>
        </p:nvSpPr>
        <p:spPr>
          <a:xfrm>
            <a:off x="612648" y="10789920"/>
            <a:ext cx="22860000" cy="960120"/>
          </a:xfrm>
          <a:prstGeom prst="roundRect">
            <a:avLst>
              <a:gd name="adj" fmla="val 1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Oval 84"/>
          <p:cNvSpPr/>
          <p:nvPr/>
        </p:nvSpPr>
        <p:spPr>
          <a:xfrm>
            <a:off x="886968" y="10927080"/>
            <a:ext cx="685800" cy="6858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6" name="Picture 85" descr="LuLaugh.png"/>
          <p:cNvPicPr>
            <a:picLocks noChangeAspect="1"/>
          </p:cNvPicPr>
          <p:nvPr/>
        </p:nvPicPr>
        <p:blipFill>
          <a:blip r:embed="rId9"/>
          <a:stretch>
            <a:fillRect/>
          </a:stretch>
        </p:blipFill>
        <p:spPr>
          <a:xfrm>
            <a:off x="1051560" y="11091672"/>
            <a:ext cx="356616" cy="356616"/>
          </a:xfrm>
          <a:prstGeom prst="rect">
            <a:avLst/>
          </a:prstGeom>
        </p:spPr>
      </p:pic>
      <p:sp>
        <p:nvSpPr>
          <p:cNvPr id="87" name="TextBox 86"/>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24 agents and not one has asked for a raise. HR is deeply suspicious.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TAP26 agents</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FF5640"/>
                </a:solidFill>
              </a:rPr>
              <a:t>AGENTIC FRAMEWORK · SKILLS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31 slash commands, one per job to be done</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48</a:t>
            </a:r>
          </a:p>
        </p:txBody>
      </p:sp>
      <p:sp>
        <p:nvSpPr>
          <p:cNvPr id="6" name="Rounded Rectangle 5"/>
          <p:cNvSpPr/>
          <p:nvPr/>
        </p:nvSpPr>
        <p:spPr>
          <a:xfrm>
            <a:off x="612648" y="2926080"/>
            <a:ext cx="7406640" cy="2880360"/>
          </a:xfrm>
          <a:prstGeom prst="roundRect">
            <a:avLst>
              <a:gd name="adj" fmla="val 8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41248" y="3108960"/>
            <a:ext cx="640080" cy="64008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Rocket.png"/>
          <p:cNvPicPr>
            <a:picLocks noChangeAspect="1"/>
          </p:cNvPicPr>
          <p:nvPr/>
        </p:nvPicPr>
        <p:blipFill>
          <a:blip r:embed="rId3"/>
          <a:stretch>
            <a:fillRect/>
          </a:stretch>
        </p:blipFill>
        <p:spPr>
          <a:xfrm>
            <a:off x="994867" y="3262579"/>
            <a:ext cx="332841" cy="332841"/>
          </a:xfrm>
          <a:prstGeom prst="rect">
            <a:avLst/>
          </a:prstGeom>
        </p:spPr>
      </p:pic>
      <p:sp>
        <p:nvSpPr>
          <p:cNvPr id="9" name="TextBox 8"/>
          <p:cNvSpPr txBox="1"/>
          <p:nvPr/>
        </p:nvSpPr>
        <p:spPr>
          <a:xfrm>
            <a:off x="1618488" y="3108960"/>
            <a:ext cx="5577840" cy="64008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1" i="0">
                <a:solidFill>
                  <a:srgbClr val="192B37"/>
                </a:solidFill>
              </a:rPr>
              <a:t>Start &amp; environment</a:t>
            </a:r>
          </a:p>
        </p:txBody>
      </p:sp>
      <p:sp>
        <p:nvSpPr>
          <p:cNvPr id="10" name="TextBox 9"/>
          <p:cNvSpPr txBox="1"/>
          <p:nvPr/>
        </p:nvSpPr>
        <p:spPr>
          <a:xfrm>
            <a:off x="7013448" y="3108960"/>
            <a:ext cx="777240" cy="640080"/>
          </a:xfrm>
          <a:prstGeom prst="rect">
            <a:avLst/>
          </a:prstGeom>
          <a:noFill/>
        </p:spPr>
        <p:txBody>
          <a:bodyPr wrap="square" lIns="0" rIns="0" tIns="18288" bIns="18288" anchor="ctr">
            <a:noAutofit/>
          </a:bodyPr>
          <a:lstStyle/>
          <a:p>
            <a:pPr algn="r">
              <a:lnSpc>
                <a:spcPct val="100000"/>
              </a:lnSpc>
              <a:spcBef>
                <a:spcPts val="0"/>
              </a:spcBef>
              <a:spcAft>
                <a:spcPts val="0"/>
              </a:spcAft>
            </a:pPr>
            <a:r>
              <a:rPr sz="2600" b="0" i="0">
                <a:solidFill>
                  <a:srgbClr val="3D9BC8"/>
                </a:solidFill>
                <a:latin typeface="+mj-lt"/>
              </a:rPr>
              <a:t>6</a:t>
            </a:r>
          </a:p>
        </p:txBody>
      </p:sp>
      <p:sp>
        <p:nvSpPr>
          <p:cNvPr id="11" name="Rounded Rectangle 10"/>
          <p:cNvSpPr/>
          <p:nvPr/>
        </p:nvSpPr>
        <p:spPr>
          <a:xfrm>
            <a:off x="841248" y="3886200"/>
            <a:ext cx="3337560" cy="502920"/>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886200"/>
            <a:ext cx="3154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/tap-start</a:t>
            </a:r>
          </a:p>
        </p:txBody>
      </p:sp>
      <p:sp>
        <p:nvSpPr>
          <p:cNvPr id="13" name="Rounded Rectangle 12"/>
          <p:cNvSpPr/>
          <p:nvPr/>
        </p:nvSpPr>
        <p:spPr>
          <a:xfrm>
            <a:off x="4315968" y="3886200"/>
            <a:ext cx="3337560" cy="502920"/>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07407" y="3886200"/>
            <a:ext cx="3154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/tap-setup</a:t>
            </a:r>
          </a:p>
        </p:txBody>
      </p:sp>
      <p:sp>
        <p:nvSpPr>
          <p:cNvPr id="15" name="Rounded Rectangle 14"/>
          <p:cNvSpPr/>
          <p:nvPr/>
        </p:nvSpPr>
        <p:spPr>
          <a:xfrm>
            <a:off x="841248" y="4507992"/>
            <a:ext cx="3337560" cy="502920"/>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507992"/>
            <a:ext cx="3154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/tap-run</a:t>
            </a:r>
          </a:p>
        </p:txBody>
      </p:sp>
      <p:sp>
        <p:nvSpPr>
          <p:cNvPr id="17" name="Rounded Rectangle 16"/>
          <p:cNvSpPr/>
          <p:nvPr/>
        </p:nvSpPr>
        <p:spPr>
          <a:xfrm>
            <a:off x="4315968" y="4507992"/>
            <a:ext cx="3337560" cy="502920"/>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407407" y="4507992"/>
            <a:ext cx="3154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/tap-doctor</a:t>
            </a:r>
          </a:p>
        </p:txBody>
      </p:sp>
      <p:sp>
        <p:nvSpPr>
          <p:cNvPr id="19" name="Rounded Rectangle 18"/>
          <p:cNvSpPr/>
          <p:nvPr/>
        </p:nvSpPr>
        <p:spPr>
          <a:xfrm>
            <a:off x="841248" y="5129784"/>
            <a:ext cx="3337560" cy="502920"/>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5129784"/>
            <a:ext cx="3154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/tap-status</a:t>
            </a:r>
          </a:p>
        </p:txBody>
      </p:sp>
      <p:sp>
        <p:nvSpPr>
          <p:cNvPr id="21" name="Rounded Rectangle 20"/>
          <p:cNvSpPr/>
          <p:nvPr/>
        </p:nvSpPr>
        <p:spPr>
          <a:xfrm>
            <a:off x="4315968" y="5129784"/>
            <a:ext cx="3337560" cy="502920"/>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407407" y="5129784"/>
            <a:ext cx="3154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/tap-scan</a:t>
            </a:r>
          </a:p>
        </p:txBody>
      </p:sp>
      <p:sp>
        <p:nvSpPr>
          <p:cNvPr id="23" name="Rounded Rectangle 22"/>
          <p:cNvSpPr/>
          <p:nvPr/>
        </p:nvSpPr>
        <p:spPr>
          <a:xfrm>
            <a:off x="612648" y="5989320"/>
            <a:ext cx="7406640" cy="2286000"/>
          </a:xfrm>
          <a:prstGeom prst="roundRect">
            <a:avLst>
              <a:gd name="adj" fmla="val 8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841248" y="6172200"/>
            <a:ext cx="640080" cy="64008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uHammer.png"/>
          <p:cNvPicPr>
            <a:picLocks noChangeAspect="1"/>
          </p:cNvPicPr>
          <p:nvPr/>
        </p:nvPicPr>
        <p:blipFill>
          <a:blip r:embed="rId4"/>
          <a:stretch>
            <a:fillRect/>
          </a:stretch>
        </p:blipFill>
        <p:spPr>
          <a:xfrm>
            <a:off x="994867" y="6325819"/>
            <a:ext cx="332841" cy="332841"/>
          </a:xfrm>
          <a:prstGeom prst="rect">
            <a:avLst/>
          </a:prstGeom>
        </p:spPr>
      </p:pic>
      <p:sp>
        <p:nvSpPr>
          <p:cNvPr id="26" name="TextBox 25"/>
          <p:cNvSpPr txBox="1"/>
          <p:nvPr/>
        </p:nvSpPr>
        <p:spPr>
          <a:xfrm>
            <a:off x="1618488" y="6172200"/>
            <a:ext cx="5577840" cy="64008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1" i="0">
                <a:solidFill>
                  <a:srgbClr val="192B37"/>
                </a:solidFill>
              </a:rPr>
              <a:t>Change the app</a:t>
            </a:r>
          </a:p>
        </p:txBody>
      </p:sp>
      <p:sp>
        <p:nvSpPr>
          <p:cNvPr id="27" name="TextBox 26"/>
          <p:cNvSpPr txBox="1"/>
          <p:nvPr/>
        </p:nvSpPr>
        <p:spPr>
          <a:xfrm>
            <a:off x="7013448" y="6172200"/>
            <a:ext cx="777240" cy="640080"/>
          </a:xfrm>
          <a:prstGeom prst="rect">
            <a:avLst/>
          </a:prstGeom>
          <a:noFill/>
        </p:spPr>
        <p:txBody>
          <a:bodyPr wrap="square" lIns="0" rIns="0" tIns="18288" bIns="18288" anchor="ctr">
            <a:noAutofit/>
          </a:bodyPr>
          <a:lstStyle/>
          <a:p>
            <a:pPr algn="r">
              <a:lnSpc>
                <a:spcPct val="100000"/>
              </a:lnSpc>
              <a:spcBef>
                <a:spcPts val="0"/>
              </a:spcBef>
              <a:spcAft>
                <a:spcPts val="0"/>
              </a:spcAft>
            </a:pPr>
            <a:r>
              <a:rPr sz="2600" b="0" i="0">
                <a:solidFill>
                  <a:srgbClr val="FF5640"/>
                </a:solidFill>
                <a:latin typeface="+mj-lt"/>
              </a:rPr>
              <a:t>4</a:t>
            </a:r>
          </a:p>
        </p:txBody>
      </p:sp>
      <p:sp>
        <p:nvSpPr>
          <p:cNvPr id="28" name="Rounded Rectangle 27"/>
          <p:cNvSpPr/>
          <p:nvPr/>
        </p:nvSpPr>
        <p:spPr>
          <a:xfrm>
            <a:off x="841248" y="6949440"/>
            <a:ext cx="3337560" cy="502920"/>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32688" y="6949440"/>
            <a:ext cx="3154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/tap-change-api</a:t>
            </a:r>
          </a:p>
        </p:txBody>
      </p:sp>
      <p:sp>
        <p:nvSpPr>
          <p:cNvPr id="30" name="Rounded Rectangle 29"/>
          <p:cNvSpPr/>
          <p:nvPr/>
        </p:nvSpPr>
        <p:spPr>
          <a:xfrm>
            <a:off x="4315968" y="6949440"/>
            <a:ext cx="3337560" cy="502920"/>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407407" y="6949440"/>
            <a:ext cx="3154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/tap-change-ui</a:t>
            </a:r>
          </a:p>
        </p:txBody>
      </p:sp>
      <p:sp>
        <p:nvSpPr>
          <p:cNvPr id="32" name="Rounded Rectangle 31"/>
          <p:cNvSpPr/>
          <p:nvPr/>
        </p:nvSpPr>
        <p:spPr>
          <a:xfrm>
            <a:off x="841248" y="7571231"/>
            <a:ext cx="3337560" cy="502920"/>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32688" y="7571231"/>
            <a:ext cx="3154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/tap-feature</a:t>
            </a:r>
          </a:p>
        </p:txBody>
      </p:sp>
      <p:sp>
        <p:nvSpPr>
          <p:cNvPr id="34" name="Rounded Rectangle 33"/>
          <p:cNvSpPr/>
          <p:nvPr/>
        </p:nvSpPr>
        <p:spPr>
          <a:xfrm>
            <a:off x="4315968" y="7571231"/>
            <a:ext cx="3337560" cy="502920"/>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407407" y="7571231"/>
            <a:ext cx="3154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/tap-sync-tests</a:t>
            </a:r>
          </a:p>
        </p:txBody>
      </p:sp>
      <p:sp>
        <p:nvSpPr>
          <p:cNvPr id="36" name="Rounded Rectangle 35"/>
          <p:cNvSpPr/>
          <p:nvPr/>
        </p:nvSpPr>
        <p:spPr>
          <a:xfrm>
            <a:off x="8311896" y="2926080"/>
            <a:ext cx="7406640" cy="5349240"/>
          </a:xfrm>
          <a:prstGeom prst="roundRect">
            <a:avLst>
              <a:gd name="adj" fmla="val 8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540496" y="3108960"/>
            <a:ext cx="640080" cy="64008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LuFlaskConical.png"/>
          <p:cNvPicPr>
            <a:picLocks noChangeAspect="1"/>
          </p:cNvPicPr>
          <p:nvPr/>
        </p:nvPicPr>
        <p:blipFill>
          <a:blip r:embed="rId5"/>
          <a:stretch>
            <a:fillRect/>
          </a:stretch>
        </p:blipFill>
        <p:spPr>
          <a:xfrm>
            <a:off x="8694115" y="3262579"/>
            <a:ext cx="332841" cy="332841"/>
          </a:xfrm>
          <a:prstGeom prst="rect">
            <a:avLst/>
          </a:prstGeom>
        </p:spPr>
      </p:pic>
      <p:sp>
        <p:nvSpPr>
          <p:cNvPr id="39" name="TextBox 38"/>
          <p:cNvSpPr txBox="1"/>
          <p:nvPr/>
        </p:nvSpPr>
        <p:spPr>
          <a:xfrm>
            <a:off x="9317736" y="3108960"/>
            <a:ext cx="5577840" cy="64008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1" i="0">
                <a:solidFill>
                  <a:srgbClr val="192B37"/>
                </a:solidFill>
              </a:rPr>
              <a:t>Test</a:t>
            </a:r>
          </a:p>
        </p:txBody>
      </p:sp>
      <p:sp>
        <p:nvSpPr>
          <p:cNvPr id="40" name="TextBox 39"/>
          <p:cNvSpPr txBox="1"/>
          <p:nvPr/>
        </p:nvSpPr>
        <p:spPr>
          <a:xfrm>
            <a:off x="14712695" y="3108960"/>
            <a:ext cx="777240" cy="640080"/>
          </a:xfrm>
          <a:prstGeom prst="rect">
            <a:avLst/>
          </a:prstGeom>
          <a:noFill/>
        </p:spPr>
        <p:txBody>
          <a:bodyPr wrap="square" lIns="0" rIns="0" tIns="18288" bIns="18288" anchor="ctr">
            <a:noAutofit/>
          </a:bodyPr>
          <a:lstStyle/>
          <a:p>
            <a:pPr algn="r">
              <a:lnSpc>
                <a:spcPct val="100000"/>
              </a:lnSpc>
              <a:spcBef>
                <a:spcPts val="0"/>
              </a:spcBef>
              <a:spcAft>
                <a:spcPts val="0"/>
              </a:spcAft>
            </a:pPr>
            <a:r>
              <a:rPr sz="2600" b="0" i="0">
                <a:solidFill>
                  <a:srgbClr val="00A859"/>
                </a:solidFill>
                <a:latin typeface="+mj-lt"/>
              </a:rPr>
              <a:t>10</a:t>
            </a:r>
          </a:p>
        </p:txBody>
      </p:sp>
      <p:sp>
        <p:nvSpPr>
          <p:cNvPr id="41" name="Rounded Rectangle 40"/>
          <p:cNvSpPr/>
          <p:nvPr/>
        </p:nvSpPr>
        <p:spPr>
          <a:xfrm>
            <a:off x="8540496" y="3886200"/>
            <a:ext cx="3337560" cy="502920"/>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631936" y="3886200"/>
            <a:ext cx="3154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/tap-new-test</a:t>
            </a:r>
          </a:p>
        </p:txBody>
      </p:sp>
      <p:sp>
        <p:nvSpPr>
          <p:cNvPr id="43" name="Rounded Rectangle 42"/>
          <p:cNvSpPr/>
          <p:nvPr/>
        </p:nvSpPr>
        <p:spPr>
          <a:xfrm>
            <a:off x="12015216" y="3886200"/>
            <a:ext cx="3337560" cy="502920"/>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2106656" y="3886200"/>
            <a:ext cx="3154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/tap-e2e</a:t>
            </a:r>
          </a:p>
        </p:txBody>
      </p:sp>
      <p:sp>
        <p:nvSpPr>
          <p:cNvPr id="45" name="Rounded Rectangle 44"/>
          <p:cNvSpPr/>
          <p:nvPr/>
        </p:nvSpPr>
        <p:spPr>
          <a:xfrm>
            <a:off x="8540496" y="4736592"/>
            <a:ext cx="3337560" cy="502920"/>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631936" y="4736592"/>
            <a:ext cx="3154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/tap-run-tests</a:t>
            </a:r>
          </a:p>
        </p:txBody>
      </p:sp>
      <p:sp>
        <p:nvSpPr>
          <p:cNvPr id="47" name="Rounded Rectangle 46"/>
          <p:cNvSpPr/>
          <p:nvPr/>
        </p:nvSpPr>
        <p:spPr>
          <a:xfrm>
            <a:off x="12015216" y="4736592"/>
            <a:ext cx="3337560" cy="502920"/>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2106656" y="4736592"/>
            <a:ext cx="3154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/tap-test-plan</a:t>
            </a:r>
          </a:p>
        </p:txBody>
      </p:sp>
      <p:sp>
        <p:nvSpPr>
          <p:cNvPr id="49" name="Rounded Rectangle 48"/>
          <p:cNvSpPr/>
          <p:nvPr/>
        </p:nvSpPr>
        <p:spPr>
          <a:xfrm>
            <a:off x="8540496" y="5586984"/>
            <a:ext cx="3337560" cy="502920"/>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8631936" y="5586984"/>
            <a:ext cx="3154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/tap-test-cases</a:t>
            </a:r>
          </a:p>
        </p:txBody>
      </p:sp>
      <p:sp>
        <p:nvSpPr>
          <p:cNvPr id="51" name="Rounded Rectangle 50"/>
          <p:cNvSpPr/>
          <p:nvPr/>
        </p:nvSpPr>
        <p:spPr>
          <a:xfrm>
            <a:off x="12015216" y="5586984"/>
            <a:ext cx="3337560" cy="502920"/>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2106656" y="5586984"/>
            <a:ext cx="3154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/tap-a11y</a:t>
            </a:r>
          </a:p>
        </p:txBody>
      </p:sp>
      <p:sp>
        <p:nvSpPr>
          <p:cNvPr id="53" name="Rounded Rectangle 52"/>
          <p:cNvSpPr/>
          <p:nvPr/>
        </p:nvSpPr>
        <p:spPr>
          <a:xfrm>
            <a:off x="8540496" y="6437376"/>
            <a:ext cx="3337560" cy="502920"/>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8631936" y="6437376"/>
            <a:ext cx="3154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/tap-perf</a:t>
            </a:r>
          </a:p>
        </p:txBody>
      </p:sp>
      <p:sp>
        <p:nvSpPr>
          <p:cNvPr id="55" name="Rounded Rectangle 54"/>
          <p:cNvSpPr/>
          <p:nvPr/>
        </p:nvSpPr>
        <p:spPr>
          <a:xfrm>
            <a:off x="12015216" y="6437376"/>
            <a:ext cx="3337560" cy="502920"/>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12106656" y="6437376"/>
            <a:ext cx="3154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/tap-security</a:t>
            </a:r>
          </a:p>
        </p:txBody>
      </p:sp>
      <p:sp>
        <p:nvSpPr>
          <p:cNvPr id="57" name="Rounded Rectangle 56"/>
          <p:cNvSpPr/>
          <p:nvPr/>
        </p:nvSpPr>
        <p:spPr>
          <a:xfrm>
            <a:off x="8540496" y="7287768"/>
            <a:ext cx="3337560" cy="502920"/>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631936" y="7287768"/>
            <a:ext cx="3154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/tap-mocks</a:t>
            </a:r>
          </a:p>
        </p:txBody>
      </p:sp>
      <p:sp>
        <p:nvSpPr>
          <p:cNvPr id="59" name="Rounded Rectangle 58"/>
          <p:cNvSpPr/>
          <p:nvPr/>
        </p:nvSpPr>
        <p:spPr>
          <a:xfrm>
            <a:off x="12015216" y="7287768"/>
            <a:ext cx="3337560" cy="502920"/>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12106656" y="7287768"/>
            <a:ext cx="3154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/tap-data</a:t>
            </a:r>
          </a:p>
        </p:txBody>
      </p:sp>
      <p:sp>
        <p:nvSpPr>
          <p:cNvPr id="61" name="Rounded Rectangle 60"/>
          <p:cNvSpPr/>
          <p:nvPr/>
        </p:nvSpPr>
        <p:spPr>
          <a:xfrm>
            <a:off x="16011144" y="2926080"/>
            <a:ext cx="7461504" cy="2286000"/>
          </a:xfrm>
          <a:prstGeom prst="roundRect">
            <a:avLst>
              <a:gd name="adj" fmla="val 8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Oval 61"/>
          <p:cNvSpPr/>
          <p:nvPr/>
        </p:nvSpPr>
        <p:spPr>
          <a:xfrm>
            <a:off x="16239744" y="3108960"/>
            <a:ext cx="640080" cy="64008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LuBug.png"/>
          <p:cNvPicPr>
            <a:picLocks noChangeAspect="1"/>
          </p:cNvPicPr>
          <p:nvPr/>
        </p:nvPicPr>
        <p:blipFill>
          <a:blip r:embed="rId6"/>
          <a:stretch>
            <a:fillRect/>
          </a:stretch>
        </p:blipFill>
        <p:spPr>
          <a:xfrm>
            <a:off x="16393363" y="3262579"/>
            <a:ext cx="332841" cy="332841"/>
          </a:xfrm>
          <a:prstGeom prst="rect">
            <a:avLst/>
          </a:prstGeom>
        </p:spPr>
      </p:pic>
      <p:sp>
        <p:nvSpPr>
          <p:cNvPr id="64" name="TextBox 63"/>
          <p:cNvSpPr txBox="1"/>
          <p:nvPr/>
        </p:nvSpPr>
        <p:spPr>
          <a:xfrm>
            <a:off x="17016984" y="3108960"/>
            <a:ext cx="5632704" cy="64008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1" i="0">
                <a:solidFill>
                  <a:srgbClr val="192B37"/>
                </a:solidFill>
              </a:rPr>
              <a:t>Analyse &amp; fix</a:t>
            </a:r>
          </a:p>
        </p:txBody>
      </p:sp>
      <p:sp>
        <p:nvSpPr>
          <p:cNvPr id="65" name="TextBox 64"/>
          <p:cNvSpPr txBox="1"/>
          <p:nvPr/>
        </p:nvSpPr>
        <p:spPr>
          <a:xfrm>
            <a:off x="22466808" y="3108960"/>
            <a:ext cx="777240" cy="640080"/>
          </a:xfrm>
          <a:prstGeom prst="rect">
            <a:avLst/>
          </a:prstGeom>
          <a:noFill/>
        </p:spPr>
        <p:txBody>
          <a:bodyPr wrap="square" lIns="0" rIns="0" tIns="18288" bIns="18288" anchor="ctr">
            <a:noAutofit/>
          </a:bodyPr>
          <a:lstStyle/>
          <a:p>
            <a:pPr algn="r">
              <a:lnSpc>
                <a:spcPct val="100000"/>
              </a:lnSpc>
              <a:spcBef>
                <a:spcPts val="0"/>
              </a:spcBef>
              <a:spcAft>
                <a:spcPts val="0"/>
              </a:spcAft>
            </a:pPr>
            <a:r>
              <a:rPr sz="2600" b="0" i="0">
                <a:solidFill>
                  <a:srgbClr val="DB7D00"/>
                </a:solidFill>
                <a:latin typeface="+mj-lt"/>
              </a:rPr>
              <a:t>4</a:t>
            </a:r>
          </a:p>
        </p:txBody>
      </p:sp>
      <p:sp>
        <p:nvSpPr>
          <p:cNvPr id="66" name="Rounded Rectangle 65"/>
          <p:cNvSpPr/>
          <p:nvPr/>
        </p:nvSpPr>
        <p:spPr>
          <a:xfrm>
            <a:off x="16239744" y="3886200"/>
            <a:ext cx="3364992" cy="502920"/>
          </a:xfrm>
          <a:prstGeom prst="roundRect">
            <a:avLst>
              <a:gd name="adj" fmla="val 50000"/>
            </a:avLst>
          </a:prstGeom>
          <a:solidFill>
            <a:srgbClr val="FFFFFF"/>
          </a:solidFill>
          <a:ln w="1270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16331184" y="3886200"/>
            <a:ext cx="3182112"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/tap-debug</a:t>
            </a:r>
          </a:p>
        </p:txBody>
      </p:sp>
      <p:sp>
        <p:nvSpPr>
          <p:cNvPr id="68" name="Rounded Rectangle 67"/>
          <p:cNvSpPr/>
          <p:nvPr/>
        </p:nvSpPr>
        <p:spPr>
          <a:xfrm>
            <a:off x="19741896" y="3886200"/>
            <a:ext cx="3364992" cy="502920"/>
          </a:xfrm>
          <a:prstGeom prst="roundRect">
            <a:avLst>
              <a:gd name="adj" fmla="val 50000"/>
            </a:avLst>
          </a:prstGeom>
          <a:solidFill>
            <a:srgbClr val="FFFFFF"/>
          </a:solidFill>
          <a:ln w="1270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19833336" y="3886200"/>
            <a:ext cx="3182112"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/tap-bug</a:t>
            </a:r>
          </a:p>
        </p:txBody>
      </p:sp>
      <p:sp>
        <p:nvSpPr>
          <p:cNvPr id="70" name="Rounded Rectangle 69"/>
          <p:cNvSpPr/>
          <p:nvPr/>
        </p:nvSpPr>
        <p:spPr>
          <a:xfrm>
            <a:off x="16239744" y="4507992"/>
            <a:ext cx="3364992" cy="502920"/>
          </a:xfrm>
          <a:prstGeom prst="roundRect">
            <a:avLst>
              <a:gd name="adj" fmla="val 50000"/>
            </a:avLst>
          </a:prstGeom>
          <a:solidFill>
            <a:srgbClr val="FFFFFF"/>
          </a:solidFill>
          <a:ln w="1270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16331184" y="4507992"/>
            <a:ext cx="3182112"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/tap-review</a:t>
            </a:r>
          </a:p>
        </p:txBody>
      </p:sp>
      <p:sp>
        <p:nvSpPr>
          <p:cNvPr id="72" name="Rounded Rectangle 71"/>
          <p:cNvSpPr/>
          <p:nvPr/>
        </p:nvSpPr>
        <p:spPr>
          <a:xfrm>
            <a:off x="19741896" y="4507992"/>
            <a:ext cx="3364992" cy="502920"/>
          </a:xfrm>
          <a:prstGeom prst="roundRect">
            <a:avLst>
              <a:gd name="adj" fmla="val 50000"/>
            </a:avLst>
          </a:prstGeom>
          <a:solidFill>
            <a:srgbClr val="FFFFFF"/>
          </a:solidFill>
          <a:ln w="1270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19833336" y="4507992"/>
            <a:ext cx="3182112"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/tap-research</a:t>
            </a:r>
          </a:p>
        </p:txBody>
      </p:sp>
      <p:sp>
        <p:nvSpPr>
          <p:cNvPr id="74" name="Rounded Rectangle 73"/>
          <p:cNvSpPr/>
          <p:nvPr/>
        </p:nvSpPr>
        <p:spPr>
          <a:xfrm>
            <a:off x="16011144" y="5394960"/>
            <a:ext cx="7461504" cy="2880360"/>
          </a:xfrm>
          <a:prstGeom prst="roundRect">
            <a:avLst>
              <a:gd name="adj" fmla="val 8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Oval 74"/>
          <p:cNvSpPr/>
          <p:nvPr/>
        </p:nvSpPr>
        <p:spPr>
          <a:xfrm>
            <a:off x="16239744" y="5577840"/>
            <a:ext cx="640080" cy="64008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LuGraduationCap.png"/>
          <p:cNvPicPr>
            <a:picLocks noChangeAspect="1"/>
          </p:cNvPicPr>
          <p:nvPr/>
        </p:nvPicPr>
        <p:blipFill>
          <a:blip r:embed="rId7"/>
          <a:stretch>
            <a:fillRect/>
          </a:stretch>
        </p:blipFill>
        <p:spPr>
          <a:xfrm>
            <a:off x="16393363" y="5731459"/>
            <a:ext cx="332841" cy="332841"/>
          </a:xfrm>
          <a:prstGeom prst="rect">
            <a:avLst/>
          </a:prstGeom>
        </p:spPr>
      </p:pic>
      <p:sp>
        <p:nvSpPr>
          <p:cNvPr id="77" name="TextBox 76"/>
          <p:cNvSpPr txBox="1"/>
          <p:nvPr/>
        </p:nvSpPr>
        <p:spPr>
          <a:xfrm>
            <a:off x="17016984" y="5577840"/>
            <a:ext cx="5632704" cy="64008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1" i="0">
                <a:solidFill>
                  <a:srgbClr val="192B37"/>
                </a:solidFill>
              </a:rPr>
              <a:t>Learn &amp; document</a:t>
            </a:r>
          </a:p>
        </p:txBody>
      </p:sp>
      <p:sp>
        <p:nvSpPr>
          <p:cNvPr id="78" name="TextBox 77"/>
          <p:cNvSpPr txBox="1"/>
          <p:nvPr/>
        </p:nvSpPr>
        <p:spPr>
          <a:xfrm>
            <a:off x="22466808" y="5577840"/>
            <a:ext cx="777240" cy="640080"/>
          </a:xfrm>
          <a:prstGeom prst="rect">
            <a:avLst/>
          </a:prstGeom>
          <a:noFill/>
        </p:spPr>
        <p:txBody>
          <a:bodyPr wrap="square" lIns="0" rIns="0" tIns="18288" bIns="18288" anchor="ctr">
            <a:noAutofit/>
          </a:bodyPr>
          <a:lstStyle/>
          <a:p>
            <a:pPr algn="r">
              <a:lnSpc>
                <a:spcPct val="100000"/>
              </a:lnSpc>
              <a:spcBef>
                <a:spcPts val="0"/>
              </a:spcBef>
              <a:spcAft>
                <a:spcPts val="0"/>
              </a:spcAft>
            </a:pPr>
            <a:r>
              <a:rPr sz="2600" b="0" i="0">
                <a:solidFill>
                  <a:srgbClr val="8683C3"/>
                </a:solidFill>
                <a:latin typeface="+mj-lt"/>
              </a:rPr>
              <a:t>5</a:t>
            </a:r>
          </a:p>
        </p:txBody>
      </p:sp>
      <p:sp>
        <p:nvSpPr>
          <p:cNvPr id="79" name="Rounded Rectangle 78"/>
          <p:cNvSpPr/>
          <p:nvPr/>
        </p:nvSpPr>
        <p:spPr>
          <a:xfrm>
            <a:off x="16239744" y="6355080"/>
            <a:ext cx="3364992" cy="502920"/>
          </a:xfrm>
          <a:prstGeom prst="roundRect">
            <a:avLst>
              <a:gd name="adj" fmla="val 50000"/>
            </a:avLst>
          </a:prstGeom>
          <a:solidFill>
            <a:srgbClr val="FFFFFF"/>
          </a:solidFill>
          <a:ln w="127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16331184" y="6355080"/>
            <a:ext cx="3182112"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/tap-ask</a:t>
            </a:r>
          </a:p>
        </p:txBody>
      </p:sp>
      <p:sp>
        <p:nvSpPr>
          <p:cNvPr id="81" name="Rounded Rectangle 80"/>
          <p:cNvSpPr/>
          <p:nvPr/>
        </p:nvSpPr>
        <p:spPr>
          <a:xfrm>
            <a:off x="19741896" y="6355080"/>
            <a:ext cx="3364992" cy="502920"/>
          </a:xfrm>
          <a:prstGeom prst="roundRect">
            <a:avLst>
              <a:gd name="adj" fmla="val 50000"/>
            </a:avLst>
          </a:prstGeom>
          <a:solidFill>
            <a:srgbClr val="FFFFFF"/>
          </a:solidFill>
          <a:ln w="127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19833336" y="6355080"/>
            <a:ext cx="3182112"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/tap-explain</a:t>
            </a:r>
          </a:p>
        </p:txBody>
      </p:sp>
      <p:sp>
        <p:nvSpPr>
          <p:cNvPr id="83" name="Rounded Rectangle 82"/>
          <p:cNvSpPr/>
          <p:nvPr/>
        </p:nvSpPr>
        <p:spPr>
          <a:xfrm>
            <a:off x="16239744" y="6976872"/>
            <a:ext cx="3364992" cy="502920"/>
          </a:xfrm>
          <a:prstGeom prst="roundRect">
            <a:avLst>
              <a:gd name="adj" fmla="val 50000"/>
            </a:avLst>
          </a:prstGeom>
          <a:solidFill>
            <a:srgbClr val="FFFFFF"/>
          </a:solidFill>
          <a:ln w="127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16331184" y="6976872"/>
            <a:ext cx="3182112"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/tap-lab</a:t>
            </a:r>
          </a:p>
        </p:txBody>
      </p:sp>
      <p:sp>
        <p:nvSpPr>
          <p:cNvPr id="85" name="Rounded Rectangle 84"/>
          <p:cNvSpPr/>
          <p:nvPr/>
        </p:nvSpPr>
        <p:spPr>
          <a:xfrm>
            <a:off x="19741896" y="6976872"/>
            <a:ext cx="3364992" cy="502920"/>
          </a:xfrm>
          <a:prstGeom prst="roundRect">
            <a:avLst>
              <a:gd name="adj" fmla="val 50000"/>
            </a:avLst>
          </a:prstGeom>
          <a:solidFill>
            <a:srgbClr val="FFFFFF"/>
          </a:solidFill>
          <a:ln w="127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19833336" y="6976872"/>
            <a:ext cx="3182112"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/tap-docs</a:t>
            </a:r>
          </a:p>
        </p:txBody>
      </p:sp>
      <p:sp>
        <p:nvSpPr>
          <p:cNvPr id="87" name="Rounded Rectangle 86"/>
          <p:cNvSpPr/>
          <p:nvPr/>
        </p:nvSpPr>
        <p:spPr>
          <a:xfrm>
            <a:off x="16239744" y="7598664"/>
            <a:ext cx="3364992" cy="502920"/>
          </a:xfrm>
          <a:prstGeom prst="roundRect">
            <a:avLst>
              <a:gd name="adj" fmla="val 50000"/>
            </a:avLst>
          </a:prstGeom>
          <a:solidFill>
            <a:srgbClr val="FFFFFF"/>
          </a:solidFill>
          <a:ln w="127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16331184" y="7598664"/>
            <a:ext cx="3182112"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/tap-swagger</a:t>
            </a:r>
          </a:p>
        </p:txBody>
      </p:sp>
      <p:sp>
        <p:nvSpPr>
          <p:cNvPr id="89" name="Rounded Rectangle 88"/>
          <p:cNvSpPr/>
          <p:nvPr/>
        </p:nvSpPr>
        <p:spPr>
          <a:xfrm>
            <a:off x="612648" y="8458200"/>
            <a:ext cx="7406640" cy="1691640"/>
          </a:xfrm>
          <a:prstGeom prst="roundRect">
            <a:avLst>
              <a:gd name="adj" fmla="val 8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Oval 89"/>
          <p:cNvSpPr/>
          <p:nvPr/>
        </p:nvSpPr>
        <p:spPr>
          <a:xfrm>
            <a:off x="841248" y="8641080"/>
            <a:ext cx="640080" cy="64008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1" name="Picture 90" descr="LuSprout.png"/>
          <p:cNvPicPr>
            <a:picLocks noChangeAspect="1"/>
          </p:cNvPicPr>
          <p:nvPr/>
        </p:nvPicPr>
        <p:blipFill>
          <a:blip r:embed="rId8"/>
          <a:stretch>
            <a:fillRect/>
          </a:stretch>
        </p:blipFill>
        <p:spPr>
          <a:xfrm>
            <a:off x="994867" y="8794699"/>
            <a:ext cx="332841" cy="332841"/>
          </a:xfrm>
          <a:prstGeom prst="rect">
            <a:avLst/>
          </a:prstGeom>
        </p:spPr>
      </p:pic>
      <p:sp>
        <p:nvSpPr>
          <p:cNvPr id="92" name="TextBox 91"/>
          <p:cNvSpPr txBox="1"/>
          <p:nvPr/>
        </p:nvSpPr>
        <p:spPr>
          <a:xfrm>
            <a:off x="1618488" y="8641080"/>
            <a:ext cx="5577840" cy="64008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1" i="0">
                <a:solidFill>
                  <a:srgbClr val="192B37"/>
                </a:solidFill>
              </a:rPr>
              <a:t>Evolve</a:t>
            </a:r>
          </a:p>
        </p:txBody>
      </p:sp>
      <p:sp>
        <p:nvSpPr>
          <p:cNvPr id="93" name="TextBox 92"/>
          <p:cNvSpPr txBox="1"/>
          <p:nvPr/>
        </p:nvSpPr>
        <p:spPr>
          <a:xfrm>
            <a:off x="7013448" y="8641080"/>
            <a:ext cx="777240" cy="640080"/>
          </a:xfrm>
          <a:prstGeom prst="rect">
            <a:avLst/>
          </a:prstGeom>
          <a:noFill/>
        </p:spPr>
        <p:txBody>
          <a:bodyPr wrap="square" lIns="0" rIns="0" tIns="18288" bIns="18288" anchor="ctr">
            <a:noAutofit/>
          </a:bodyPr>
          <a:lstStyle/>
          <a:p>
            <a:pPr algn="r">
              <a:lnSpc>
                <a:spcPct val="100000"/>
              </a:lnSpc>
              <a:spcBef>
                <a:spcPts val="0"/>
              </a:spcBef>
              <a:spcAft>
                <a:spcPts val="0"/>
              </a:spcAft>
            </a:pPr>
            <a:r>
              <a:rPr sz="2600" b="0" i="0">
                <a:solidFill>
                  <a:srgbClr val="729A00"/>
                </a:solidFill>
                <a:latin typeface="+mj-lt"/>
              </a:rPr>
              <a:t>2</a:t>
            </a:r>
          </a:p>
        </p:txBody>
      </p:sp>
      <p:sp>
        <p:nvSpPr>
          <p:cNvPr id="94" name="Rounded Rectangle 93"/>
          <p:cNvSpPr/>
          <p:nvPr/>
        </p:nvSpPr>
        <p:spPr>
          <a:xfrm>
            <a:off x="841248" y="9418320"/>
            <a:ext cx="3337560" cy="502920"/>
          </a:xfrm>
          <a:prstGeom prst="roundRect">
            <a:avLst>
              <a:gd name="adj" fmla="val 50000"/>
            </a:avLst>
          </a:prstGeom>
          <a:solidFill>
            <a:srgbClr val="FFFFFF"/>
          </a:solidFill>
          <a:ln w="12700">
            <a:solidFill>
              <a:srgbClr val="729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932688" y="9418320"/>
            <a:ext cx="3154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/tap-retro</a:t>
            </a:r>
          </a:p>
        </p:txBody>
      </p:sp>
      <p:sp>
        <p:nvSpPr>
          <p:cNvPr id="96" name="Rounded Rectangle 95"/>
          <p:cNvSpPr/>
          <p:nvPr/>
        </p:nvSpPr>
        <p:spPr>
          <a:xfrm>
            <a:off x="4315968" y="9418320"/>
            <a:ext cx="3337560" cy="502920"/>
          </a:xfrm>
          <a:prstGeom prst="roundRect">
            <a:avLst>
              <a:gd name="adj" fmla="val 50000"/>
            </a:avLst>
          </a:prstGeom>
          <a:solidFill>
            <a:srgbClr val="FFFFFF"/>
          </a:solidFill>
          <a:ln w="12700">
            <a:solidFill>
              <a:srgbClr val="729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Box 96"/>
          <p:cNvSpPr txBox="1"/>
          <p:nvPr/>
        </p:nvSpPr>
        <p:spPr>
          <a:xfrm>
            <a:off x="4407407" y="9418320"/>
            <a:ext cx="3154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/tap-evolve</a:t>
            </a:r>
          </a:p>
        </p:txBody>
      </p:sp>
      <p:sp>
        <p:nvSpPr>
          <p:cNvPr id="98" name="Rounded Rectangle 97"/>
          <p:cNvSpPr/>
          <p:nvPr/>
        </p:nvSpPr>
        <p:spPr>
          <a:xfrm>
            <a:off x="8311896" y="8503920"/>
            <a:ext cx="15160751" cy="1920240"/>
          </a:xfrm>
          <a:prstGeom prst="roundRect">
            <a:avLst>
              <a:gd name="adj" fmla="val 10000"/>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Oval 98"/>
          <p:cNvSpPr/>
          <p:nvPr/>
        </p:nvSpPr>
        <p:spPr>
          <a:xfrm>
            <a:off x="8586216" y="870508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8878824" y="870508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9171432" y="870508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9592056" y="8577072"/>
            <a:ext cx="13606272"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.claude/skills/tap-change-api/SKILL.md (frontmatter) · type /tap- in Claude Code</a:t>
            </a:r>
          </a:p>
        </p:txBody>
      </p:sp>
      <p:sp>
        <p:nvSpPr>
          <p:cNvPr id="103" name="TextBox 102"/>
          <p:cNvSpPr txBox="1"/>
          <p:nvPr/>
        </p:nvSpPr>
        <p:spPr>
          <a:xfrm>
            <a:off x="8586216" y="9052560"/>
            <a:ext cx="14703551" cy="1234440"/>
          </a:xfrm>
          <a:prstGeom prst="rect">
            <a:avLst/>
          </a:prstGeom>
          <a:noFill/>
        </p:spPr>
        <p:txBody>
          <a:bodyPr wrap="none" lIns="0" rIns="0" tIns="0" bIns="0">
            <a:noAutofit/>
          </a:bodyPr>
          <a:lstStyle/>
          <a:p>
            <a:pPr>
              <a:lnSpc>
                <a:spcPct val="108000"/>
              </a:lnSpc>
              <a:spcBef>
                <a:spcPts val="0"/>
              </a:spcBef>
              <a:spcAft>
                <a:spcPts val="0"/>
              </a:spcAft>
            </a:pPr>
            <a:r>
              <a:rPr sz="1800" i="0" b="0">
                <a:solidFill>
                  <a:srgbClr val="E6EDF3"/>
                </a:solidFill>
                <a:latin typeface="Consolas"/>
              </a:rPr>
              <a:t>name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tap</a:t>
            </a:r>
            <a:r>
              <a:rPr sz="1800" i="0" b="0">
                <a:solidFill>
                  <a:srgbClr val="E6EDF3"/>
                </a:solidFill>
                <a:latin typeface="Consolas"/>
              </a:rPr>
              <a:t>-</a:t>
            </a:r>
            <a:r>
              <a:rPr sz="1800" i="0" b="0">
                <a:solidFill>
                  <a:srgbClr val="E6EDF3"/>
                </a:solidFill>
                <a:latin typeface="Consolas"/>
              </a:rPr>
              <a:t>change</a:t>
            </a:r>
            <a:r>
              <a:rPr sz="1800" i="0" b="0">
                <a:solidFill>
                  <a:srgbClr val="E6EDF3"/>
                </a:solidFill>
                <a:latin typeface="Consolas"/>
              </a:rPr>
              <a:t>-</a:t>
            </a:r>
            <a:r>
              <a:rPr sz="1800" i="0" b="0">
                <a:solidFill>
                  <a:srgbClr val="E6EDF3"/>
                </a:solidFill>
                <a:latin typeface="Consolas"/>
              </a:rPr>
              <a:t>api</a:t>
            </a:r>
          </a:p>
          <a:p>
            <a:pPr>
              <a:lnSpc>
                <a:spcPct val="108000"/>
              </a:lnSpc>
              <a:spcBef>
                <a:spcPts val="0"/>
              </a:spcBef>
              <a:spcAft>
                <a:spcPts val="0"/>
              </a:spcAft>
            </a:pPr>
            <a:r>
              <a:rPr sz="1800" i="0" b="0">
                <a:solidFill>
                  <a:srgbClr val="E6EDF3"/>
                </a:solidFill>
                <a:latin typeface="Consolas"/>
              </a:rPr>
              <a:t>description</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a:t>
            </a:r>
            <a:r>
              <a:rPr sz="1800" i="0" b="0">
                <a:solidFill>
                  <a:srgbClr val="C9B8FF"/>
                </a:solidFill>
                <a:latin typeface="Consolas"/>
              </a:rPr>
              <a:t>Implement</a:t>
            </a:r>
            <a:r>
              <a:rPr sz="1800" i="0" b="0">
                <a:solidFill>
                  <a:srgbClr val="E6EDF3"/>
                </a:solidFill>
                <a:latin typeface="Consolas"/>
              </a:rPr>
              <a:t> </a:t>
            </a:r>
            <a:r>
              <a:rPr sz="1800" i="0" b="0">
                <a:solidFill>
                  <a:srgbClr val="E6EDF3"/>
                </a:solidFill>
                <a:latin typeface="Consolas"/>
              </a:rPr>
              <a:t>a</a:t>
            </a:r>
            <a:r>
              <a:rPr sz="1800" i="0" b="0">
                <a:solidFill>
                  <a:srgbClr val="E6EDF3"/>
                </a:solidFill>
                <a:latin typeface="Consolas"/>
              </a:rPr>
              <a:t> </a:t>
            </a:r>
            <a:r>
              <a:rPr sz="1800" i="0" b="0">
                <a:solidFill>
                  <a:srgbClr val="E6EDF3"/>
                </a:solidFill>
                <a:latin typeface="Consolas"/>
              </a:rPr>
              <a:t>change</a:t>
            </a:r>
            <a:r>
              <a:rPr sz="1800" i="0" b="0">
                <a:solidFill>
                  <a:srgbClr val="E6EDF3"/>
                </a:solidFill>
                <a:latin typeface="Consolas"/>
              </a:rPr>
              <a:t> </a:t>
            </a:r>
            <a:r>
              <a:rPr sz="1800" i="0" b="0">
                <a:solidFill>
                  <a:srgbClr val="E6EDF3"/>
                </a:solidFill>
                <a:latin typeface="Consolas"/>
              </a:rPr>
              <a:t>to</a:t>
            </a:r>
            <a:r>
              <a:rPr sz="1800" i="0" b="0">
                <a:solidFill>
                  <a:srgbClr val="E6EDF3"/>
                </a:solidFill>
                <a:latin typeface="Consolas"/>
              </a:rPr>
              <a:t> </a:t>
            </a:r>
            <a:r>
              <a:rPr sz="1800" i="0" b="0">
                <a:solidFill>
                  <a:srgbClr val="E6EDF3"/>
                </a:solidFill>
                <a:latin typeface="Consolas"/>
              </a:rPr>
              <a:t>the</a:t>
            </a:r>
            <a:r>
              <a:rPr sz="1800" i="0" b="0">
                <a:solidFill>
                  <a:srgbClr val="E6EDF3"/>
                </a:solidFill>
                <a:latin typeface="Consolas"/>
              </a:rPr>
              <a:t> </a:t>
            </a:r>
            <a:r>
              <a:rPr sz="1800" i="0" b="0">
                <a:solidFill>
                  <a:srgbClr val="C9B8FF"/>
                </a:solidFill>
                <a:latin typeface="Consolas"/>
              </a:rPr>
              <a:t>RWA</a:t>
            </a:r>
            <a:r>
              <a:rPr sz="1800" i="0" b="0">
                <a:solidFill>
                  <a:srgbClr val="E6EDF3"/>
                </a:solidFill>
                <a:latin typeface="Consolas"/>
              </a:rPr>
              <a:t> </a:t>
            </a:r>
            <a:r>
              <a:rPr sz="1800" i="0" b="0">
                <a:solidFill>
                  <a:srgbClr val="C9B8FF"/>
                </a:solidFill>
                <a:latin typeface="Consolas"/>
              </a:rPr>
              <a:t>API</a:t>
            </a:r>
            <a:r>
              <a:rPr sz="1800" i="0" b="0">
                <a:solidFill>
                  <a:srgbClr val="E6EDF3"/>
                </a:solidFill>
                <a:latin typeface="Consolas"/>
              </a:rPr>
              <a:t> </a:t>
            </a:r>
            <a:r>
              <a:rPr sz="1800" i="0" b="0">
                <a:solidFill>
                  <a:srgbClr val="E6EDF3"/>
                </a:solidFill>
                <a:latin typeface="Consolas"/>
              </a:rPr>
              <a:t>end</a:t>
            </a:r>
            <a:r>
              <a:rPr sz="1800" i="0" b="0">
                <a:solidFill>
                  <a:srgbClr val="E6EDF3"/>
                </a:solidFill>
                <a:latin typeface="Consolas"/>
              </a:rPr>
              <a:t>-</a:t>
            </a:r>
            <a:r>
              <a:rPr sz="1800" i="0" b="0">
                <a:solidFill>
                  <a:srgbClr val="E6EDF3"/>
                </a:solidFill>
                <a:latin typeface="Consolas"/>
              </a:rPr>
              <a:t>to</a:t>
            </a:r>
            <a:r>
              <a:rPr sz="1800" i="0" b="0">
                <a:solidFill>
                  <a:srgbClr val="E6EDF3"/>
                </a:solidFill>
                <a:latin typeface="Consolas"/>
              </a:rPr>
              <a:t>-</a:t>
            </a:r>
            <a:r>
              <a:rPr sz="1800" i="0" b="0">
                <a:solidFill>
                  <a:srgbClr val="E6EDF3"/>
                </a:solidFill>
                <a:latin typeface="Consolas"/>
              </a:rPr>
              <a:t>end</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backend</a:t>
            </a:r>
            <a:r>
              <a:rPr sz="1800" i="0" b="0">
                <a:solidFill>
                  <a:srgbClr val="E6EDF3"/>
                </a:solidFill>
                <a:latin typeface="Consolas"/>
              </a:rPr>
              <a:t> </a:t>
            </a:r>
            <a:r>
              <a:rPr sz="1800" i="0" b="0">
                <a:solidFill>
                  <a:srgbClr val="E6EDF3"/>
                </a:solidFill>
                <a:latin typeface="Consolas"/>
              </a:rPr>
              <a:t>code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validators</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C9B8FF"/>
                </a:solidFill>
                <a:latin typeface="Consolas"/>
              </a:rPr>
              <a:t>OpenAPI</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drift</a:t>
            </a:r>
            <a:r>
              <a:rPr sz="1800" i="0" b="0">
                <a:solidFill>
                  <a:srgbClr val="E6EDF3"/>
                </a:solidFill>
                <a:latin typeface="Consolas"/>
              </a:rPr>
              <a:t> </a:t>
            </a:r>
            <a:r>
              <a:rPr sz="1800" i="0" b="0">
                <a:solidFill>
                  <a:srgbClr val="E6EDF3"/>
                </a:solidFill>
                <a:latin typeface="Consolas"/>
              </a:rPr>
              <a:t>check</a:t>
            </a:r>
            <a:r>
              <a:rPr sz="1800" i="0" b="0">
                <a:solidFill>
                  <a:srgbClr val="E6EDF3"/>
                </a:solidFill>
                <a:latin typeface="Consolas"/>
              </a:rPr>
              <a:t>,</a:t>
            </a:r>
            <a:r>
              <a:rPr sz="1800" i="0" b="0">
                <a:solidFill>
                  <a:srgbClr val="E6EDF3"/>
                </a:solidFill>
                <a:latin typeface="Consolas"/>
              </a:rPr>
              <a:t> </a:t>
            </a:r>
            <a:r>
              <a:rPr sz="1800" i="0" b="0">
                <a:solidFill>
                  <a:srgbClr val="C9B8FF"/>
                </a:solidFill>
                <a:latin typeface="Consolas"/>
              </a:rPr>
              <a:t>API</a:t>
            </a:r>
            <a:r>
              <a:rPr sz="1800" i="0" b="0">
                <a:solidFill>
                  <a:srgbClr val="E6EDF3"/>
                </a:solidFill>
                <a:latin typeface="Consolas"/>
              </a:rPr>
              <a:t> </a:t>
            </a:r>
            <a:r>
              <a:rPr sz="1800" i="0" b="0">
                <a:solidFill>
                  <a:srgbClr val="E6EDF3"/>
                </a:solidFill>
                <a:latin typeface="Consolas"/>
              </a:rPr>
              <a:t>tests</a:t>
            </a:r>
            <a:r>
              <a:rPr sz="1800" i="0" b="0">
                <a:solidFill>
                  <a:srgbClr val="E6EDF3"/>
                </a:solidFill>
                <a:latin typeface="Consolas"/>
              </a:rPr>
              <a:t> </a:t>
            </a:r>
            <a:r>
              <a:rPr sz="1800" i="0" b="0">
                <a:solidFill>
                  <a:srgbClr val="E6EDF3"/>
                </a:solidFill>
                <a:latin typeface="Consolas"/>
              </a:rPr>
              <a:t>green</a:t>
            </a:r>
            <a:r>
              <a:rPr sz="1800" i="0" b="0">
                <a:solidFill>
                  <a:srgbClr val="E6EDF3"/>
                </a:solidFill>
                <a:latin typeface="Consolas"/>
              </a:rPr>
              <a:t> </a:t>
            </a:r>
            <a:r>
              <a:rPr sz="1800" i="0" b="0">
                <a:solidFill>
                  <a:srgbClr val="E6EDF3"/>
                </a:solidFill>
                <a:latin typeface="Consolas"/>
              </a:rPr>
              <a:t>twice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docs</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memory</a:t>
            </a:r>
            <a:r>
              <a:rPr sz="1800" i="0" b="0">
                <a:solidFill>
                  <a:srgbClr val="E6EDF3"/>
                </a:solidFill>
                <a:latin typeface="Consolas"/>
              </a:rPr>
              <a:t> </a:t>
            </a:r>
            <a:r>
              <a:rPr sz="1800" i="0" b="0">
                <a:solidFill>
                  <a:srgbClr val="E6EDF3"/>
                </a:solidFill>
                <a:latin typeface="Consolas"/>
              </a:rPr>
              <a:t>updated</a:t>
            </a:r>
            <a:r>
              <a:rPr sz="1800" i="0" b="0">
                <a:solidFill>
                  <a:srgbClr val="E6EDF3"/>
                </a:solidFill>
                <a:latin typeface="Consolas"/>
              </a:rPr>
              <a:t>…</a:t>
            </a:r>
            <a:r>
              <a:rPr sz="1800" i="0" b="0">
                <a:solidFill>
                  <a:srgbClr val="9BE3B4"/>
                </a:solidFill>
                <a:latin typeface="Consolas"/>
              </a:rPr>
              <a:t>"</a:t>
            </a:r>
          </a:p>
        </p:txBody>
      </p:sp>
      <p:sp>
        <p:nvSpPr>
          <p:cNvPr id="104" name="Rounded Rectangle 103"/>
          <p:cNvSpPr/>
          <p:nvPr/>
        </p:nvSpPr>
        <p:spPr>
          <a:xfrm>
            <a:off x="612648" y="10789920"/>
            <a:ext cx="22860000" cy="960120"/>
          </a:xfrm>
          <a:prstGeom prst="roundRect">
            <a:avLst>
              <a:gd name="adj" fmla="val 1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Oval 104"/>
          <p:cNvSpPr/>
          <p:nvPr/>
        </p:nvSpPr>
        <p:spPr>
          <a:xfrm>
            <a:off x="886968" y="10927080"/>
            <a:ext cx="685800" cy="6858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6" name="Picture 105" descr="LuLaugh.png"/>
          <p:cNvPicPr>
            <a:picLocks noChangeAspect="1"/>
          </p:cNvPicPr>
          <p:nvPr/>
        </p:nvPicPr>
        <p:blipFill>
          <a:blip r:embed="rId9"/>
          <a:stretch>
            <a:fillRect/>
          </a:stretch>
        </p:blipFill>
        <p:spPr>
          <a:xfrm>
            <a:off x="1051560" y="11091672"/>
            <a:ext cx="356616" cy="356616"/>
          </a:xfrm>
          <a:prstGeom prst="rect">
            <a:avLst/>
          </a:prstGeom>
        </p:spPr>
      </p:pic>
      <p:sp>
        <p:nvSpPr>
          <p:cNvPr id="107" name="TextBox 106"/>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Slash commands: the only place where slashing things counts as productivity.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TAP26 agents</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FF5640"/>
                </a:solidFill>
              </a:rPr>
              <a:t>AGENTIC FRAMEWORK · MEMORY &amp; SELF-LEARNING</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Agents that remember — and get better</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49</a:t>
            </a:r>
          </a:p>
        </p:txBody>
      </p:sp>
      <p:sp>
        <p:nvSpPr>
          <p:cNvPr id="6" name="Oval 5"/>
          <p:cNvSpPr/>
          <p:nvPr/>
        </p:nvSpPr>
        <p:spPr>
          <a:xfrm>
            <a:off x="3657600" y="3657600"/>
            <a:ext cx="6035040" cy="6035040"/>
          </a:xfrm>
          <a:prstGeom prst="ellipse">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0" y="5852159"/>
            <a:ext cx="3291840" cy="1645920"/>
          </a:xfrm>
          <a:prstGeom prst="rect">
            <a:avLst/>
          </a:prstGeom>
          <a:noFill/>
        </p:spPr>
        <p:txBody>
          <a:bodyPr wrap="square" lIns="0" rIns="0" tIns="18288" bIns="18288" anchor="ctr">
            <a:noAutofit/>
          </a:bodyPr>
          <a:lstStyle/>
          <a:p>
            <a:pPr algn="ctr">
              <a:lnSpc>
                <a:spcPct val="100000"/>
              </a:lnSpc>
              <a:spcBef>
                <a:spcPts val="0"/>
              </a:spcBef>
              <a:spcAft>
                <a:spcPts val="0"/>
              </a:spcAft>
            </a:pPr>
            <a:r>
              <a:rPr sz="2400" b="1" i="0">
                <a:solidFill>
                  <a:srgbClr val="192B37"/>
                </a:solidFill>
              </a:rPr>
              <a:t>shared</a:t>
            </a:r>
          </a:p>
          <a:p>
            <a:pPr algn="ctr">
              <a:lnSpc>
                <a:spcPct val="100000"/>
              </a:lnSpc>
              <a:spcBef>
                <a:spcPts val="0"/>
              </a:spcBef>
              <a:spcAft>
                <a:spcPts val="0"/>
              </a:spcAft>
            </a:pPr>
            <a:r>
              <a:rPr sz="2400" b="1" i="0">
                <a:solidFill>
                  <a:srgbClr val="192B37"/>
                </a:solidFill>
              </a:rPr>
              <a:t>memory</a:t>
            </a:r>
          </a:p>
        </p:txBody>
      </p:sp>
      <p:sp>
        <p:nvSpPr>
          <p:cNvPr id="8" name="Oval 7"/>
          <p:cNvSpPr/>
          <p:nvPr/>
        </p:nvSpPr>
        <p:spPr>
          <a:xfrm>
            <a:off x="5989320" y="2971800"/>
            <a:ext cx="1371600" cy="13716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uHammer.png"/>
          <p:cNvPicPr>
            <a:picLocks noChangeAspect="1"/>
          </p:cNvPicPr>
          <p:nvPr/>
        </p:nvPicPr>
        <p:blipFill>
          <a:blip r:embed="rId3"/>
          <a:stretch>
            <a:fillRect/>
          </a:stretch>
        </p:blipFill>
        <p:spPr>
          <a:xfrm>
            <a:off x="6318504" y="3300984"/>
            <a:ext cx="713232" cy="713232"/>
          </a:xfrm>
          <a:prstGeom prst="rect">
            <a:avLst/>
          </a:prstGeom>
        </p:spPr>
      </p:pic>
      <p:sp>
        <p:nvSpPr>
          <p:cNvPr id="10" name="TextBox 9"/>
          <p:cNvSpPr txBox="1"/>
          <p:nvPr/>
        </p:nvSpPr>
        <p:spPr>
          <a:xfrm>
            <a:off x="7543800" y="2926080"/>
            <a:ext cx="36576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Work</a:t>
            </a:r>
          </a:p>
        </p:txBody>
      </p:sp>
      <p:sp>
        <p:nvSpPr>
          <p:cNvPr id="11" name="TextBox 10"/>
          <p:cNvSpPr txBox="1"/>
          <p:nvPr/>
        </p:nvSpPr>
        <p:spPr>
          <a:xfrm>
            <a:off x="7543800" y="3429000"/>
            <a:ext cx="3657600" cy="91440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5E6A73"/>
                </a:solidFill>
              </a:rPr>
              <a:t>agents change code &amp; tests</a:t>
            </a:r>
          </a:p>
        </p:txBody>
      </p:sp>
      <p:sp>
        <p:nvSpPr>
          <p:cNvPr id="12" name="Oval 11"/>
          <p:cNvSpPr/>
          <p:nvPr/>
        </p:nvSpPr>
        <p:spPr>
          <a:xfrm>
            <a:off x="8602568" y="4480560"/>
            <a:ext cx="1371600" cy="13716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uNotebookPen.png"/>
          <p:cNvPicPr>
            <a:picLocks noChangeAspect="1"/>
          </p:cNvPicPr>
          <p:nvPr/>
        </p:nvPicPr>
        <p:blipFill>
          <a:blip r:embed="rId4"/>
          <a:stretch>
            <a:fillRect/>
          </a:stretch>
        </p:blipFill>
        <p:spPr>
          <a:xfrm>
            <a:off x="8931752" y="4809744"/>
            <a:ext cx="713232" cy="713232"/>
          </a:xfrm>
          <a:prstGeom prst="rect">
            <a:avLst/>
          </a:prstGeom>
        </p:spPr>
      </p:pic>
      <p:sp>
        <p:nvSpPr>
          <p:cNvPr id="14" name="TextBox 13"/>
          <p:cNvSpPr txBox="1"/>
          <p:nvPr/>
        </p:nvSpPr>
        <p:spPr>
          <a:xfrm>
            <a:off x="10157048" y="4434840"/>
            <a:ext cx="36576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Capture</a:t>
            </a:r>
          </a:p>
        </p:txBody>
      </p:sp>
      <p:sp>
        <p:nvSpPr>
          <p:cNvPr id="15" name="TextBox 14"/>
          <p:cNvSpPr txBox="1"/>
          <p:nvPr/>
        </p:nvSpPr>
        <p:spPr>
          <a:xfrm>
            <a:off x="10157048" y="4937760"/>
            <a:ext cx="3657600" cy="91440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5E6A73"/>
                </a:solidFill>
              </a:rPr>
              <a:t>hooks log journal + change ledger</a:t>
            </a:r>
          </a:p>
        </p:txBody>
      </p:sp>
      <p:sp>
        <p:nvSpPr>
          <p:cNvPr id="16" name="Oval 15"/>
          <p:cNvSpPr/>
          <p:nvPr/>
        </p:nvSpPr>
        <p:spPr>
          <a:xfrm>
            <a:off x="8602568" y="7498079"/>
            <a:ext cx="1371600" cy="13716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uSave.png"/>
          <p:cNvPicPr>
            <a:picLocks noChangeAspect="1"/>
          </p:cNvPicPr>
          <p:nvPr/>
        </p:nvPicPr>
        <p:blipFill>
          <a:blip r:embed="rId5"/>
          <a:stretch>
            <a:fillRect/>
          </a:stretch>
        </p:blipFill>
        <p:spPr>
          <a:xfrm>
            <a:off x="8931752" y="7827263"/>
            <a:ext cx="713232" cy="713232"/>
          </a:xfrm>
          <a:prstGeom prst="rect">
            <a:avLst/>
          </a:prstGeom>
        </p:spPr>
      </p:pic>
      <p:sp>
        <p:nvSpPr>
          <p:cNvPr id="18" name="TextBox 17"/>
          <p:cNvSpPr txBox="1"/>
          <p:nvPr/>
        </p:nvSpPr>
        <p:spPr>
          <a:xfrm>
            <a:off x="10157048" y="7452359"/>
            <a:ext cx="36576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Record</a:t>
            </a:r>
          </a:p>
        </p:txBody>
      </p:sp>
      <p:sp>
        <p:nvSpPr>
          <p:cNvPr id="19" name="TextBox 18"/>
          <p:cNvSpPr txBox="1"/>
          <p:nvPr/>
        </p:nvSpPr>
        <p:spPr>
          <a:xfrm>
            <a:off x="10157048" y="7955279"/>
            <a:ext cx="3657600" cy="91440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5E6A73"/>
                </a:solidFill>
              </a:rPr>
              <a:t>memory.mjs add-fact / learning / decision</a:t>
            </a:r>
          </a:p>
        </p:txBody>
      </p:sp>
      <p:sp>
        <p:nvSpPr>
          <p:cNvPr id="20" name="Oval 19"/>
          <p:cNvSpPr/>
          <p:nvPr/>
        </p:nvSpPr>
        <p:spPr>
          <a:xfrm>
            <a:off x="5989320" y="9006840"/>
            <a:ext cx="1371600" cy="137160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uBookOpen.png"/>
          <p:cNvPicPr>
            <a:picLocks noChangeAspect="1"/>
          </p:cNvPicPr>
          <p:nvPr/>
        </p:nvPicPr>
        <p:blipFill>
          <a:blip r:embed="rId6"/>
          <a:stretch>
            <a:fillRect/>
          </a:stretch>
        </p:blipFill>
        <p:spPr>
          <a:xfrm>
            <a:off x="6318504" y="9336024"/>
            <a:ext cx="713232" cy="713232"/>
          </a:xfrm>
          <a:prstGeom prst="rect">
            <a:avLst/>
          </a:prstGeom>
        </p:spPr>
      </p:pic>
      <p:sp>
        <p:nvSpPr>
          <p:cNvPr id="22" name="TextBox 21"/>
          <p:cNvSpPr txBox="1"/>
          <p:nvPr/>
        </p:nvSpPr>
        <p:spPr>
          <a:xfrm>
            <a:off x="7543800" y="8961119"/>
            <a:ext cx="36576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192B37"/>
                </a:solidFill>
              </a:rPr>
              <a:t>Digest</a:t>
            </a:r>
          </a:p>
        </p:txBody>
      </p:sp>
      <p:sp>
        <p:nvSpPr>
          <p:cNvPr id="23" name="TextBox 22"/>
          <p:cNvSpPr txBox="1"/>
          <p:nvPr/>
        </p:nvSpPr>
        <p:spPr>
          <a:xfrm>
            <a:off x="7543800" y="9464040"/>
            <a:ext cx="3657600" cy="91440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5E6A73"/>
                </a:solidFill>
              </a:rPr>
              <a:t>MEMORY.md → imported by CLAUDE.md</a:t>
            </a:r>
          </a:p>
        </p:txBody>
      </p:sp>
      <p:sp>
        <p:nvSpPr>
          <p:cNvPr id="24" name="Oval 23"/>
          <p:cNvSpPr/>
          <p:nvPr/>
        </p:nvSpPr>
        <p:spPr>
          <a:xfrm>
            <a:off x="3376071" y="7498080"/>
            <a:ext cx="1371600" cy="13716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uHistory.png"/>
          <p:cNvPicPr>
            <a:picLocks noChangeAspect="1"/>
          </p:cNvPicPr>
          <p:nvPr/>
        </p:nvPicPr>
        <p:blipFill>
          <a:blip r:embed="rId7"/>
          <a:stretch>
            <a:fillRect/>
          </a:stretch>
        </p:blipFill>
        <p:spPr>
          <a:xfrm>
            <a:off x="3705255" y="7827264"/>
            <a:ext cx="713232" cy="713232"/>
          </a:xfrm>
          <a:prstGeom prst="rect">
            <a:avLst/>
          </a:prstGeom>
        </p:spPr>
      </p:pic>
      <p:sp>
        <p:nvSpPr>
          <p:cNvPr id="26" name="TextBox 25"/>
          <p:cNvSpPr txBox="1"/>
          <p:nvPr/>
        </p:nvSpPr>
        <p:spPr>
          <a:xfrm>
            <a:off x="-372968" y="7452360"/>
            <a:ext cx="3657600" cy="548640"/>
          </a:xfrm>
          <a:prstGeom prst="rect">
            <a:avLst/>
          </a:prstGeom>
          <a:noFill/>
        </p:spPr>
        <p:txBody>
          <a:bodyPr wrap="square" lIns="0" rIns="0" tIns="18288" bIns="18288" anchor="t">
            <a:noAutofit/>
          </a:bodyPr>
          <a:lstStyle/>
          <a:p>
            <a:pPr algn="r">
              <a:lnSpc>
                <a:spcPct val="100000"/>
              </a:lnSpc>
              <a:spcBef>
                <a:spcPts val="0"/>
              </a:spcBef>
              <a:spcAft>
                <a:spcPts val="0"/>
              </a:spcAft>
            </a:pPr>
            <a:r>
              <a:rPr sz="2000" b="1" i="0">
                <a:solidFill>
                  <a:srgbClr val="192B37"/>
                </a:solidFill>
              </a:rPr>
              <a:t>Retro</a:t>
            </a:r>
          </a:p>
        </p:txBody>
      </p:sp>
      <p:sp>
        <p:nvSpPr>
          <p:cNvPr id="27" name="TextBox 26"/>
          <p:cNvSpPr txBox="1"/>
          <p:nvPr/>
        </p:nvSpPr>
        <p:spPr>
          <a:xfrm>
            <a:off x="-372968" y="7955280"/>
            <a:ext cx="3657600" cy="914400"/>
          </a:xfrm>
          <a:prstGeom prst="rect">
            <a:avLst/>
          </a:prstGeom>
          <a:noFill/>
        </p:spPr>
        <p:txBody>
          <a:bodyPr wrap="square" lIns="0" rIns="0" tIns="18288" bIns="18288" anchor="t">
            <a:noAutofit/>
          </a:bodyPr>
          <a:lstStyle/>
          <a:p>
            <a:pPr algn="r">
              <a:lnSpc>
                <a:spcPct val="100000"/>
              </a:lnSpc>
              <a:spcBef>
                <a:spcPts val="0"/>
              </a:spcBef>
              <a:spcAft>
                <a:spcPts val="0"/>
              </a:spcAft>
            </a:pPr>
            <a:r>
              <a:rPr sz="1400" b="0" i="0">
                <a:solidFill>
                  <a:srgbClr val="5E6A73"/>
                </a:solidFill>
              </a:rPr>
              <a:t>/tap-retro distills what happened</a:t>
            </a:r>
          </a:p>
        </p:txBody>
      </p:sp>
      <p:sp>
        <p:nvSpPr>
          <p:cNvPr id="28" name="Oval 27"/>
          <p:cNvSpPr/>
          <p:nvPr/>
        </p:nvSpPr>
        <p:spPr>
          <a:xfrm>
            <a:off x="3376071" y="4480559"/>
            <a:ext cx="1371600" cy="137160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LuSprout.png"/>
          <p:cNvPicPr>
            <a:picLocks noChangeAspect="1"/>
          </p:cNvPicPr>
          <p:nvPr/>
        </p:nvPicPr>
        <p:blipFill>
          <a:blip r:embed="rId8"/>
          <a:stretch>
            <a:fillRect/>
          </a:stretch>
        </p:blipFill>
        <p:spPr>
          <a:xfrm>
            <a:off x="3705255" y="4809744"/>
            <a:ext cx="713232" cy="713232"/>
          </a:xfrm>
          <a:prstGeom prst="rect">
            <a:avLst/>
          </a:prstGeom>
        </p:spPr>
      </p:pic>
      <p:sp>
        <p:nvSpPr>
          <p:cNvPr id="30" name="TextBox 29"/>
          <p:cNvSpPr txBox="1"/>
          <p:nvPr/>
        </p:nvSpPr>
        <p:spPr>
          <a:xfrm>
            <a:off x="-372968" y="4434840"/>
            <a:ext cx="3657600" cy="548640"/>
          </a:xfrm>
          <a:prstGeom prst="rect">
            <a:avLst/>
          </a:prstGeom>
          <a:noFill/>
        </p:spPr>
        <p:txBody>
          <a:bodyPr wrap="square" lIns="0" rIns="0" tIns="18288" bIns="18288" anchor="t">
            <a:noAutofit/>
          </a:bodyPr>
          <a:lstStyle/>
          <a:p>
            <a:pPr algn="r">
              <a:lnSpc>
                <a:spcPct val="100000"/>
              </a:lnSpc>
              <a:spcBef>
                <a:spcPts val="0"/>
              </a:spcBef>
              <a:spcAft>
                <a:spcPts val="0"/>
              </a:spcAft>
            </a:pPr>
            <a:r>
              <a:rPr sz="2000" b="1" i="0">
                <a:solidFill>
                  <a:srgbClr val="192B37"/>
                </a:solidFill>
              </a:rPr>
              <a:t>Evolve</a:t>
            </a:r>
          </a:p>
        </p:txBody>
      </p:sp>
      <p:sp>
        <p:nvSpPr>
          <p:cNvPr id="31" name="TextBox 30"/>
          <p:cNvSpPr txBox="1"/>
          <p:nvPr/>
        </p:nvSpPr>
        <p:spPr>
          <a:xfrm>
            <a:off x="-372968" y="4937759"/>
            <a:ext cx="3657600" cy="914400"/>
          </a:xfrm>
          <a:prstGeom prst="rect">
            <a:avLst/>
          </a:prstGeom>
          <a:noFill/>
        </p:spPr>
        <p:txBody>
          <a:bodyPr wrap="square" lIns="0" rIns="0" tIns="18288" bIns="18288" anchor="t">
            <a:noAutofit/>
          </a:bodyPr>
          <a:lstStyle/>
          <a:p>
            <a:pPr algn="r">
              <a:lnSpc>
                <a:spcPct val="100000"/>
              </a:lnSpc>
              <a:spcBef>
                <a:spcPts val="0"/>
              </a:spcBef>
              <a:spcAft>
                <a:spcPts val="0"/>
              </a:spcAft>
            </a:pPr>
            <a:r>
              <a:rPr sz="1400" b="0" i="0">
                <a:solidFill>
                  <a:srgbClr val="5E6A73"/>
                </a:solidFill>
              </a:rPr>
              <a:t>/tap-evolve proposes changes</a:t>
            </a:r>
          </a:p>
        </p:txBody>
      </p:sp>
      <p:sp>
        <p:nvSpPr>
          <p:cNvPr id="32" name="Rounded Rectangle 31"/>
          <p:cNvSpPr/>
          <p:nvPr/>
        </p:nvSpPr>
        <p:spPr>
          <a:xfrm>
            <a:off x="14264640" y="2926080"/>
            <a:ext cx="9208008" cy="1188720"/>
          </a:xfrm>
          <a:prstGeom prst="roundRect">
            <a:avLst>
              <a:gd name="adj" fmla="val 1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4538960" y="2926080"/>
            <a:ext cx="1828800" cy="1188720"/>
          </a:xfrm>
          <a:prstGeom prst="rect">
            <a:avLst/>
          </a:prstGeom>
          <a:noFill/>
        </p:spPr>
        <p:txBody>
          <a:bodyPr wrap="square" lIns="0" rIns="0" tIns="18288" bIns="18288" anchor="ctr">
            <a:noAutofit/>
          </a:bodyPr>
          <a:lstStyle/>
          <a:p>
            <a:pPr algn="l">
              <a:lnSpc>
                <a:spcPct val="100000"/>
              </a:lnSpc>
              <a:spcBef>
                <a:spcPts val="0"/>
              </a:spcBef>
              <a:spcAft>
                <a:spcPts val="0"/>
              </a:spcAft>
            </a:pPr>
            <a:r>
              <a:rPr sz="4000" b="0" i="0">
                <a:solidFill>
                  <a:srgbClr val="3D9BC8"/>
                </a:solidFill>
                <a:latin typeface="+mj-lt"/>
              </a:rPr>
              <a:t>25</a:t>
            </a:r>
          </a:p>
        </p:txBody>
      </p:sp>
      <p:sp>
        <p:nvSpPr>
          <p:cNvPr id="34" name="TextBox 33"/>
          <p:cNvSpPr txBox="1"/>
          <p:nvPr/>
        </p:nvSpPr>
        <p:spPr>
          <a:xfrm>
            <a:off x="16459200" y="2926080"/>
            <a:ext cx="6858000" cy="118872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1" i="0">
                <a:solidFill>
                  <a:srgbClr val="192B37"/>
                </a:solidFill>
              </a:rPr>
              <a:t>project facts</a:t>
            </a:r>
          </a:p>
        </p:txBody>
      </p:sp>
      <p:sp>
        <p:nvSpPr>
          <p:cNvPr id="35" name="Rounded Rectangle 34"/>
          <p:cNvSpPr/>
          <p:nvPr/>
        </p:nvSpPr>
        <p:spPr>
          <a:xfrm>
            <a:off x="14264640" y="4251960"/>
            <a:ext cx="9208008" cy="1188720"/>
          </a:xfrm>
          <a:prstGeom prst="roundRect">
            <a:avLst>
              <a:gd name="adj" fmla="val 1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4538960" y="4251960"/>
            <a:ext cx="1828800" cy="1188720"/>
          </a:xfrm>
          <a:prstGeom prst="rect">
            <a:avLst/>
          </a:prstGeom>
          <a:noFill/>
        </p:spPr>
        <p:txBody>
          <a:bodyPr wrap="square" lIns="0" rIns="0" tIns="18288" bIns="18288" anchor="ctr">
            <a:noAutofit/>
          </a:bodyPr>
          <a:lstStyle/>
          <a:p>
            <a:pPr algn="l">
              <a:lnSpc>
                <a:spcPct val="100000"/>
              </a:lnSpc>
              <a:spcBef>
                <a:spcPts val="0"/>
              </a:spcBef>
              <a:spcAft>
                <a:spcPts val="0"/>
              </a:spcAft>
            </a:pPr>
            <a:r>
              <a:rPr sz="4000" b="0" i="0">
                <a:solidFill>
                  <a:srgbClr val="8683C3"/>
                </a:solidFill>
                <a:latin typeface="+mj-lt"/>
              </a:rPr>
              <a:t>7</a:t>
            </a:r>
          </a:p>
        </p:txBody>
      </p:sp>
      <p:sp>
        <p:nvSpPr>
          <p:cNvPr id="37" name="TextBox 36"/>
          <p:cNvSpPr txBox="1"/>
          <p:nvPr/>
        </p:nvSpPr>
        <p:spPr>
          <a:xfrm>
            <a:off x="16459200" y="4251960"/>
            <a:ext cx="6858000" cy="118872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1" i="0">
                <a:solidFill>
                  <a:srgbClr val="192B37"/>
                </a:solidFill>
              </a:rPr>
              <a:t>decisions (D-001…D-007)</a:t>
            </a:r>
          </a:p>
        </p:txBody>
      </p:sp>
      <p:sp>
        <p:nvSpPr>
          <p:cNvPr id="38" name="Rounded Rectangle 37"/>
          <p:cNvSpPr/>
          <p:nvPr/>
        </p:nvSpPr>
        <p:spPr>
          <a:xfrm>
            <a:off x="14264640" y="5577840"/>
            <a:ext cx="9208008" cy="1188720"/>
          </a:xfrm>
          <a:prstGeom prst="roundRect">
            <a:avLst>
              <a:gd name="adj" fmla="val 1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4538960" y="5577840"/>
            <a:ext cx="1828800" cy="1188720"/>
          </a:xfrm>
          <a:prstGeom prst="rect">
            <a:avLst/>
          </a:prstGeom>
          <a:noFill/>
        </p:spPr>
        <p:txBody>
          <a:bodyPr wrap="square" lIns="0" rIns="0" tIns="18288" bIns="18288" anchor="ctr">
            <a:noAutofit/>
          </a:bodyPr>
          <a:lstStyle/>
          <a:p>
            <a:pPr algn="l">
              <a:lnSpc>
                <a:spcPct val="100000"/>
              </a:lnSpc>
              <a:spcBef>
                <a:spcPts val="0"/>
              </a:spcBef>
              <a:spcAft>
                <a:spcPts val="0"/>
              </a:spcAft>
            </a:pPr>
            <a:r>
              <a:rPr sz="4000" b="0" i="0">
                <a:solidFill>
                  <a:srgbClr val="00A859"/>
                </a:solidFill>
                <a:latin typeface="+mj-lt"/>
              </a:rPr>
              <a:t>11</a:t>
            </a:r>
          </a:p>
        </p:txBody>
      </p:sp>
      <p:sp>
        <p:nvSpPr>
          <p:cNvPr id="40" name="TextBox 39"/>
          <p:cNvSpPr txBox="1"/>
          <p:nvPr/>
        </p:nvSpPr>
        <p:spPr>
          <a:xfrm>
            <a:off x="16459200" y="5577840"/>
            <a:ext cx="6858000" cy="118872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1" i="0">
                <a:solidFill>
                  <a:srgbClr val="192B37"/>
                </a:solidFill>
              </a:rPr>
              <a:t>learnings (L-001…L-011)</a:t>
            </a:r>
          </a:p>
        </p:txBody>
      </p:sp>
      <p:sp>
        <p:nvSpPr>
          <p:cNvPr id="41" name="Rounded Rectangle 40"/>
          <p:cNvSpPr/>
          <p:nvPr/>
        </p:nvSpPr>
        <p:spPr>
          <a:xfrm>
            <a:off x="14264640" y="6903720"/>
            <a:ext cx="9208008" cy="1188720"/>
          </a:xfrm>
          <a:prstGeom prst="roundRect">
            <a:avLst>
              <a:gd name="adj" fmla="val 1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4538960" y="6903720"/>
            <a:ext cx="1828800" cy="1188720"/>
          </a:xfrm>
          <a:prstGeom prst="rect">
            <a:avLst/>
          </a:prstGeom>
          <a:noFill/>
        </p:spPr>
        <p:txBody>
          <a:bodyPr wrap="square" lIns="0" rIns="0" tIns="18288" bIns="18288" anchor="ctr">
            <a:noAutofit/>
          </a:bodyPr>
          <a:lstStyle/>
          <a:p>
            <a:pPr algn="l">
              <a:lnSpc>
                <a:spcPct val="100000"/>
              </a:lnSpc>
              <a:spcBef>
                <a:spcPts val="0"/>
              </a:spcBef>
              <a:spcAft>
                <a:spcPts val="0"/>
              </a:spcAft>
            </a:pPr>
            <a:r>
              <a:rPr sz="4000" b="0" i="0">
                <a:solidFill>
                  <a:srgbClr val="FF5640"/>
                </a:solidFill>
                <a:latin typeface="+mj-lt"/>
              </a:rPr>
              <a:t>37</a:t>
            </a:r>
          </a:p>
        </p:txBody>
      </p:sp>
      <p:sp>
        <p:nvSpPr>
          <p:cNvPr id="43" name="TextBox 42"/>
          <p:cNvSpPr txBox="1"/>
          <p:nvPr/>
        </p:nvSpPr>
        <p:spPr>
          <a:xfrm>
            <a:off x="16459200" y="6903720"/>
            <a:ext cx="6858000" cy="118872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1" i="0">
                <a:solidFill>
                  <a:srgbClr val="192B37"/>
                </a:solidFill>
              </a:rPr>
              <a:t>known issues catalogued</a:t>
            </a:r>
          </a:p>
        </p:txBody>
      </p:sp>
      <p:sp>
        <p:nvSpPr>
          <p:cNvPr id="44" name="Rounded Rectangle 43"/>
          <p:cNvSpPr/>
          <p:nvPr/>
        </p:nvSpPr>
        <p:spPr>
          <a:xfrm>
            <a:off x="14264640" y="8275320"/>
            <a:ext cx="9208008" cy="2148840"/>
          </a:xfrm>
          <a:prstGeom prst="roundRect">
            <a:avLst>
              <a:gd name="adj" fmla="val 10000"/>
            </a:avLst>
          </a:prstGeom>
          <a:solidFill>
            <a:srgbClr val="0F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14538960" y="847648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4831567" y="847648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5124176" y="847648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5544800" y="8348472"/>
            <a:ext cx="7653528"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memory.mjs (real output)</a:t>
            </a:r>
          </a:p>
        </p:txBody>
      </p:sp>
      <p:sp>
        <p:nvSpPr>
          <p:cNvPr id="49" name="TextBox 48"/>
          <p:cNvSpPr txBox="1"/>
          <p:nvPr/>
        </p:nvSpPr>
        <p:spPr>
          <a:xfrm>
            <a:off x="14538960" y="8823960"/>
            <a:ext cx="8750808" cy="1463040"/>
          </a:xfrm>
          <a:prstGeom prst="rect">
            <a:avLst/>
          </a:prstGeom>
          <a:noFill/>
        </p:spPr>
        <p:txBody>
          <a:bodyPr wrap="none" lIns="0" rIns="0" tIns="0" bIns="0">
            <a:noAutofit/>
          </a:bodyPr>
          <a:lstStyle/>
          <a:p>
            <a:pPr>
              <a:lnSpc>
                <a:spcPct val="108000"/>
              </a:lnSpc>
              <a:spcBef>
                <a:spcPts val="0"/>
              </a:spcBef>
              <a:spcAft>
                <a:spcPts val="0"/>
              </a:spcAft>
            </a:pPr>
            <a:r>
              <a:rPr sz="1400" b="1">
                <a:solidFill>
                  <a:srgbClr val="7EE787"/>
                </a:solidFill>
                <a:latin typeface="Consolas"/>
              </a:rPr>
              <a:t>$ </a:t>
            </a:r>
            <a:r>
              <a:rPr sz="1400">
                <a:solidFill>
                  <a:srgbClr val="FFFFFF"/>
                </a:solidFill>
                <a:latin typeface="Consolas"/>
              </a:rPr>
              <a:t>node tap26/scripts/memory.mjs add-learning "Wait before you click" --lesson "…"</a:t>
            </a:r>
          </a:p>
          <a:p>
            <a:pPr>
              <a:lnSpc>
                <a:spcPct val="108000"/>
              </a:lnSpc>
              <a:spcBef>
                <a:spcPts val="0"/>
              </a:spcBef>
              <a:spcAft>
                <a:spcPts val="0"/>
              </a:spcAft>
            </a:pPr>
            <a:r>
              <a:rPr sz="1400">
                <a:solidFill>
                  <a:srgbClr val="D7E3EA"/>
                </a:solidFill>
                <a:latin typeface="Consolas"/>
              </a:rPr>
              <a:t>L-012 added to learnings.md</a:t>
            </a:r>
          </a:p>
          <a:p>
            <a:pPr>
              <a:lnSpc>
                <a:spcPct val="108000"/>
              </a:lnSpc>
              <a:spcBef>
                <a:spcPts val="0"/>
              </a:spcBef>
              <a:spcAft>
                <a:spcPts val="0"/>
              </a:spcAft>
            </a:pPr>
            <a:r>
              <a:rPr sz="1400" b="1">
                <a:solidFill>
                  <a:srgbClr val="7EE787"/>
                </a:solidFill>
                <a:latin typeface="Consolas"/>
              </a:rPr>
              <a:t>$ </a:t>
            </a:r>
            <a:r>
              <a:rPr sz="1400">
                <a:solidFill>
                  <a:srgbClr val="FFFFFF"/>
                </a:solidFill>
                <a:latin typeface="Consolas"/>
              </a:rPr>
              <a:t>node tap26/scripts/memory.mjs search "pkill"</a:t>
            </a:r>
          </a:p>
          <a:p>
            <a:pPr>
              <a:lnSpc>
                <a:spcPct val="108000"/>
              </a:lnSpc>
              <a:spcBef>
                <a:spcPts val="0"/>
              </a:spcBef>
              <a:spcAft>
                <a:spcPts val="0"/>
              </a:spcAft>
            </a:pPr>
            <a:r>
              <a:rPr sz="1400">
                <a:solidFill>
                  <a:srgbClr val="D7E3EA"/>
                </a:solidFill>
                <a:latin typeface="Consolas"/>
              </a:rPr>
              <a:t>learnings.md:33: ## L-005 `pkill -f &lt;pattern&gt;` can kill the shell that runs it</a:t>
            </a:r>
          </a:p>
        </p:txBody>
      </p:sp>
      <p:sp>
        <p:nvSpPr>
          <p:cNvPr id="50" name="Rounded Rectangle 49"/>
          <p:cNvSpPr/>
          <p:nvPr/>
        </p:nvSpPr>
        <p:spPr>
          <a:xfrm>
            <a:off x="612648" y="10789920"/>
            <a:ext cx="22860000" cy="960120"/>
          </a:xfrm>
          <a:prstGeom prst="roundRect">
            <a:avLst>
              <a:gd name="adj" fmla="val 1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886968" y="10927080"/>
            <a:ext cx="685800" cy="6858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LuLaugh.png"/>
          <p:cNvPicPr>
            <a:picLocks noChangeAspect="1"/>
          </p:cNvPicPr>
          <p:nvPr/>
        </p:nvPicPr>
        <p:blipFill>
          <a:blip r:embed="rId9"/>
          <a:stretch>
            <a:fillRect/>
          </a:stretch>
        </p:blipFill>
        <p:spPr>
          <a:xfrm>
            <a:off x="1051560" y="11091672"/>
            <a:ext cx="356616" cy="356616"/>
          </a:xfrm>
          <a:prstGeom prst="rect">
            <a:avLst/>
          </a:prstGeom>
        </p:spPr>
      </p:pic>
      <p:sp>
        <p:nvSpPr>
          <p:cNvPr id="53" name="TextBox 52"/>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Our agents learn from their mistakes. That already puts them ahead of most printers.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TAP26 agents</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FF5640"/>
                </a:solidFill>
              </a:rPr>
              <a:t>AGENTIC FRAMEWORK · GUARDRAILS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Hooks that say “no” so you don't have to</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50</a:t>
            </a:r>
          </a:p>
        </p:txBody>
      </p:sp>
      <p:sp>
        <p:nvSpPr>
          <p:cNvPr id="6" name="Rounded Rectangle 5"/>
          <p:cNvSpPr/>
          <p:nvPr/>
        </p:nvSpPr>
        <p:spPr>
          <a:xfrm>
            <a:off x="612648" y="2926080"/>
            <a:ext cx="11521440" cy="1051560"/>
          </a:xfrm>
          <a:prstGeom prst="roundRect">
            <a:avLst>
              <a:gd name="adj" fmla="val 2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3081528"/>
            <a:ext cx="731520" cy="73152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Play.png"/>
          <p:cNvPicPr>
            <a:picLocks noChangeAspect="1"/>
          </p:cNvPicPr>
          <p:nvPr/>
        </p:nvPicPr>
        <p:blipFill>
          <a:blip r:embed="rId3"/>
          <a:stretch>
            <a:fillRect/>
          </a:stretch>
        </p:blipFill>
        <p:spPr>
          <a:xfrm>
            <a:off x="952804" y="3257092"/>
            <a:ext cx="380390" cy="380390"/>
          </a:xfrm>
          <a:prstGeom prst="rect">
            <a:avLst/>
          </a:prstGeom>
        </p:spPr>
      </p:pic>
      <p:sp>
        <p:nvSpPr>
          <p:cNvPr id="9" name="TextBox 8"/>
          <p:cNvSpPr txBox="1"/>
          <p:nvPr/>
        </p:nvSpPr>
        <p:spPr>
          <a:xfrm>
            <a:off x="1691640" y="2926080"/>
            <a:ext cx="3840480" cy="105156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192B37"/>
                </a:solidFill>
              </a:rPr>
              <a:t>SessionStart</a:t>
            </a:r>
          </a:p>
        </p:txBody>
      </p:sp>
      <p:sp>
        <p:nvSpPr>
          <p:cNvPr id="10" name="TextBox 9"/>
          <p:cNvSpPr txBox="1"/>
          <p:nvPr/>
        </p:nvSpPr>
        <p:spPr>
          <a:xfrm>
            <a:off x="5577840" y="2971800"/>
            <a:ext cx="640080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3D9BC8"/>
                </a:solidFill>
              </a:rPr>
              <a:t>session-start.mjs</a:t>
            </a:r>
          </a:p>
        </p:txBody>
      </p:sp>
      <p:sp>
        <p:nvSpPr>
          <p:cNvPr id="11" name="TextBox 10"/>
          <p:cNvSpPr txBox="1"/>
          <p:nvPr/>
        </p:nvSpPr>
        <p:spPr>
          <a:xfrm>
            <a:off x="5577840" y="3429000"/>
            <a:ext cx="640080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health check + memory digest</a:t>
            </a:r>
          </a:p>
        </p:txBody>
      </p:sp>
      <p:sp>
        <p:nvSpPr>
          <p:cNvPr id="12" name="Rounded Rectangle 11"/>
          <p:cNvSpPr/>
          <p:nvPr/>
        </p:nvSpPr>
        <p:spPr>
          <a:xfrm>
            <a:off x="612648" y="4133088"/>
            <a:ext cx="11521440" cy="1051560"/>
          </a:xfrm>
          <a:prstGeom prst="roundRect">
            <a:avLst>
              <a:gd name="adj" fmla="val 2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77240" y="4288536"/>
            <a:ext cx="731520" cy="73152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uShield.png"/>
          <p:cNvPicPr>
            <a:picLocks noChangeAspect="1"/>
          </p:cNvPicPr>
          <p:nvPr/>
        </p:nvPicPr>
        <p:blipFill>
          <a:blip r:embed="rId4"/>
          <a:stretch>
            <a:fillRect/>
          </a:stretch>
        </p:blipFill>
        <p:spPr>
          <a:xfrm>
            <a:off x="952804" y="4464100"/>
            <a:ext cx="380390" cy="380390"/>
          </a:xfrm>
          <a:prstGeom prst="rect">
            <a:avLst/>
          </a:prstGeom>
        </p:spPr>
      </p:pic>
      <p:sp>
        <p:nvSpPr>
          <p:cNvPr id="15" name="TextBox 14"/>
          <p:cNvSpPr txBox="1"/>
          <p:nvPr/>
        </p:nvSpPr>
        <p:spPr>
          <a:xfrm>
            <a:off x="1691640" y="4133088"/>
            <a:ext cx="3840480" cy="105156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192B37"/>
                </a:solidFill>
              </a:rPr>
              <a:t>PreToolUse · Bash</a:t>
            </a:r>
          </a:p>
        </p:txBody>
      </p:sp>
      <p:sp>
        <p:nvSpPr>
          <p:cNvPr id="16" name="TextBox 15"/>
          <p:cNvSpPr txBox="1"/>
          <p:nvPr/>
        </p:nvSpPr>
        <p:spPr>
          <a:xfrm>
            <a:off x="5577840" y="4178808"/>
            <a:ext cx="640080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FF5640"/>
                </a:solidFill>
              </a:rPr>
              <a:t>guard-bash.mjs</a:t>
            </a:r>
          </a:p>
        </p:txBody>
      </p:sp>
      <p:sp>
        <p:nvSpPr>
          <p:cNvPr id="17" name="TextBox 16"/>
          <p:cNvSpPr txBox="1"/>
          <p:nvPr/>
        </p:nvSpPr>
        <p:spPr>
          <a:xfrm>
            <a:off x="5577840" y="4636008"/>
            <a:ext cx="640080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18 risky patterns: 9 deny · 9 ask</a:t>
            </a:r>
          </a:p>
        </p:txBody>
      </p:sp>
      <p:sp>
        <p:nvSpPr>
          <p:cNvPr id="18" name="Rounded Rectangle 17"/>
          <p:cNvSpPr/>
          <p:nvPr/>
        </p:nvSpPr>
        <p:spPr>
          <a:xfrm>
            <a:off x="612648" y="5340096"/>
            <a:ext cx="11521440" cy="1051560"/>
          </a:xfrm>
          <a:prstGeom prst="roundRect">
            <a:avLst>
              <a:gd name="adj" fmla="val 2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5495544"/>
            <a:ext cx="731520" cy="73152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uLock.png"/>
          <p:cNvPicPr>
            <a:picLocks noChangeAspect="1"/>
          </p:cNvPicPr>
          <p:nvPr/>
        </p:nvPicPr>
        <p:blipFill>
          <a:blip r:embed="rId5"/>
          <a:stretch>
            <a:fillRect/>
          </a:stretch>
        </p:blipFill>
        <p:spPr>
          <a:xfrm>
            <a:off x="952804" y="5671108"/>
            <a:ext cx="380390" cy="380390"/>
          </a:xfrm>
          <a:prstGeom prst="rect">
            <a:avLst/>
          </a:prstGeom>
        </p:spPr>
      </p:pic>
      <p:sp>
        <p:nvSpPr>
          <p:cNvPr id="21" name="TextBox 20"/>
          <p:cNvSpPr txBox="1"/>
          <p:nvPr/>
        </p:nvSpPr>
        <p:spPr>
          <a:xfrm>
            <a:off x="1691640" y="5340096"/>
            <a:ext cx="3840480" cy="105156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192B37"/>
                </a:solidFill>
              </a:rPr>
              <a:t>PreToolUse · Edit</a:t>
            </a:r>
          </a:p>
        </p:txBody>
      </p:sp>
      <p:sp>
        <p:nvSpPr>
          <p:cNvPr id="22" name="TextBox 21"/>
          <p:cNvSpPr txBox="1"/>
          <p:nvPr/>
        </p:nvSpPr>
        <p:spPr>
          <a:xfrm>
            <a:off x="5577840" y="5385816"/>
            <a:ext cx="640080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DB7D00"/>
                </a:solidFill>
              </a:rPr>
              <a:t>guard-edit.mjs</a:t>
            </a:r>
          </a:p>
        </p:txBody>
      </p:sp>
      <p:sp>
        <p:nvSpPr>
          <p:cNvPr id="23" name="TextBox 22"/>
          <p:cNvSpPr txBox="1"/>
          <p:nvPr/>
        </p:nvSpPr>
        <p:spPr>
          <a:xfrm>
            <a:off x="5577840" y="5843016"/>
            <a:ext cx="640080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seed, .env, lockfiles, CLAUDE.md, agents</a:t>
            </a:r>
          </a:p>
        </p:txBody>
      </p:sp>
      <p:sp>
        <p:nvSpPr>
          <p:cNvPr id="24" name="Rounded Rectangle 23"/>
          <p:cNvSpPr/>
          <p:nvPr/>
        </p:nvSpPr>
        <p:spPr>
          <a:xfrm>
            <a:off x="612648" y="6547104"/>
            <a:ext cx="11521440" cy="1051560"/>
          </a:xfrm>
          <a:prstGeom prst="roundRect">
            <a:avLst>
              <a:gd name="adj" fmla="val 2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77240" y="6702552"/>
            <a:ext cx="731520" cy="73152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LuNotebookPen.png"/>
          <p:cNvPicPr>
            <a:picLocks noChangeAspect="1"/>
          </p:cNvPicPr>
          <p:nvPr/>
        </p:nvPicPr>
        <p:blipFill>
          <a:blip r:embed="rId6"/>
          <a:stretch>
            <a:fillRect/>
          </a:stretch>
        </p:blipFill>
        <p:spPr>
          <a:xfrm>
            <a:off x="952804" y="6878116"/>
            <a:ext cx="380390" cy="380390"/>
          </a:xfrm>
          <a:prstGeom prst="rect">
            <a:avLst/>
          </a:prstGeom>
        </p:spPr>
      </p:pic>
      <p:sp>
        <p:nvSpPr>
          <p:cNvPr id="27" name="TextBox 26"/>
          <p:cNvSpPr txBox="1"/>
          <p:nvPr/>
        </p:nvSpPr>
        <p:spPr>
          <a:xfrm>
            <a:off x="1691640" y="6547104"/>
            <a:ext cx="3840480" cy="105156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192B37"/>
                </a:solidFill>
              </a:rPr>
              <a:t>PostToolUse · Edit</a:t>
            </a:r>
          </a:p>
        </p:txBody>
      </p:sp>
      <p:sp>
        <p:nvSpPr>
          <p:cNvPr id="28" name="TextBox 27"/>
          <p:cNvSpPr txBox="1"/>
          <p:nvPr/>
        </p:nvSpPr>
        <p:spPr>
          <a:xfrm>
            <a:off x="5577840" y="6592824"/>
            <a:ext cx="640080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00A859"/>
                </a:solidFill>
              </a:rPr>
              <a:t>change-ledger.mjs</a:t>
            </a:r>
          </a:p>
        </p:txBody>
      </p:sp>
      <p:sp>
        <p:nvSpPr>
          <p:cNvPr id="29" name="TextBox 28"/>
          <p:cNvSpPr txBox="1"/>
          <p:nvPr/>
        </p:nvSpPr>
        <p:spPr>
          <a:xfrm>
            <a:off x="5577840" y="7050024"/>
            <a:ext cx="640080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logs every app file an agent changes</a:t>
            </a:r>
          </a:p>
        </p:txBody>
      </p:sp>
      <p:sp>
        <p:nvSpPr>
          <p:cNvPr id="30" name="Rounded Rectangle 29"/>
          <p:cNvSpPr/>
          <p:nvPr/>
        </p:nvSpPr>
        <p:spPr>
          <a:xfrm>
            <a:off x="612648" y="7754112"/>
            <a:ext cx="11521440" cy="1051560"/>
          </a:xfrm>
          <a:prstGeom prst="roundRect">
            <a:avLst>
              <a:gd name="adj" fmla="val 2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777240" y="7909560"/>
            <a:ext cx="731520" cy="73152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LuHistory.png"/>
          <p:cNvPicPr>
            <a:picLocks noChangeAspect="1"/>
          </p:cNvPicPr>
          <p:nvPr/>
        </p:nvPicPr>
        <p:blipFill>
          <a:blip r:embed="rId7"/>
          <a:stretch>
            <a:fillRect/>
          </a:stretch>
        </p:blipFill>
        <p:spPr>
          <a:xfrm>
            <a:off x="952804" y="8085124"/>
            <a:ext cx="380390" cy="380390"/>
          </a:xfrm>
          <a:prstGeom prst="rect">
            <a:avLst/>
          </a:prstGeom>
        </p:spPr>
      </p:pic>
      <p:sp>
        <p:nvSpPr>
          <p:cNvPr id="33" name="TextBox 32"/>
          <p:cNvSpPr txBox="1"/>
          <p:nvPr/>
        </p:nvSpPr>
        <p:spPr>
          <a:xfrm>
            <a:off x="1691640" y="7754112"/>
            <a:ext cx="3840480" cy="1051560"/>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192B37"/>
                </a:solidFill>
              </a:rPr>
              <a:t>Prompt / SubagentStop</a:t>
            </a:r>
          </a:p>
        </p:txBody>
      </p:sp>
      <p:sp>
        <p:nvSpPr>
          <p:cNvPr id="34" name="TextBox 33"/>
          <p:cNvSpPr txBox="1"/>
          <p:nvPr/>
        </p:nvSpPr>
        <p:spPr>
          <a:xfrm>
            <a:off x="5577840" y="7799832"/>
            <a:ext cx="640080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8683C3"/>
                </a:solidFill>
              </a:rPr>
              <a:t>journal.mjs</a:t>
            </a:r>
          </a:p>
        </p:txBody>
      </p:sp>
      <p:sp>
        <p:nvSpPr>
          <p:cNvPr id="35" name="TextBox 34"/>
          <p:cNvSpPr txBox="1"/>
          <p:nvPr/>
        </p:nvSpPr>
        <p:spPr>
          <a:xfrm>
            <a:off x="5577840" y="8257032"/>
            <a:ext cx="640080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session journal for /tap-retro</a:t>
            </a:r>
          </a:p>
        </p:txBody>
      </p:sp>
      <p:sp>
        <p:nvSpPr>
          <p:cNvPr id="36" name="Rounded Rectangle 35"/>
          <p:cNvSpPr/>
          <p:nvPr/>
        </p:nvSpPr>
        <p:spPr>
          <a:xfrm>
            <a:off x="12435840" y="2926080"/>
            <a:ext cx="11036808" cy="3108960"/>
          </a:xfrm>
          <a:prstGeom prst="roundRect">
            <a:avLst>
              <a:gd name="adj" fmla="val 8235"/>
            </a:avLst>
          </a:prstGeom>
          <a:solidFill>
            <a:srgbClr val="0F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12710160" y="312724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3002768" y="312724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3295376" y="312724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716000" y="2999232"/>
            <a:ext cx="9482328"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real guardrail output (Claude Code CLI)</a:t>
            </a:r>
          </a:p>
        </p:txBody>
      </p:sp>
      <p:sp>
        <p:nvSpPr>
          <p:cNvPr id="41" name="TextBox 40"/>
          <p:cNvSpPr txBox="1"/>
          <p:nvPr/>
        </p:nvSpPr>
        <p:spPr>
          <a:xfrm>
            <a:off x="12710160" y="3474720"/>
            <a:ext cx="10579608" cy="2423160"/>
          </a:xfrm>
          <a:prstGeom prst="rect">
            <a:avLst/>
          </a:prstGeom>
          <a:noFill/>
        </p:spPr>
        <p:txBody>
          <a:bodyPr wrap="none" lIns="0" rIns="0" tIns="0" bIns="0">
            <a:noAutofit/>
          </a:bodyPr>
          <a:lstStyle/>
          <a:p>
            <a:pPr>
              <a:lnSpc>
                <a:spcPct val="108000"/>
              </a:lnSpc>
              <a:spcBef>
                <a:spcPts val="0"/>
              </a:spcBef>
              <a:spcAft>
                <a:spcPts val="0"/>
              </a:spcAft>
            </a:pPr>
            <a:r>
              <a:rPr sz="1700" b="1">
                <a:solidFill>
                  <a:srgbClr val="7EE787"/>
                </a:solidFill>
                <a:latin typeface="Consolas"/>
              </a:rPr>
              <a:t>$ </a:t>
            </a:r>
            <a:r>
              <a:rPr sz="1700">
                <a:solidFill>
                  <a:srgbClr val="FFFFFF"/>
                </a:solidFill>
                <a:latin typeface="Consolas"/>
              </a:rPr>
              <a:t>git push --force origin main</a:t>
            </a:r>
          </a:p>
          <a:p>
            <a:pPr>
              <a:lnSpc>
                <a:spcPct val="108000"/>
              </a:lnSpc>
              <a:spcBef>
                <a:spcPts val="0"/>
              </a:spcBef>
              <a:spcAft>
                <a:spcPts val="0"/>
              </a:spcAft>
            </a:pPr>
            <a:r>
              <a:rPr sz="1700">
                <a:solidFill>
                  <a:srgbClr val="FF8A80"/>
                </a:solidFill>
                <a:latin typeface="Consolas"/>
              </a:rPr>
              <a:t>PreToolUse:Bash hook error: TAP26 guardrail:</a:t>
            </a:r>
          </a:p>
          <a:p>
            <a:pPr>
              <a:lnSpc>
                <a:spcPct val="108000"/>
              </a:lnSpc>
              <a:spcBef>
                <a:spcPts val="0"/>
              </a:spcBef>
              <a:spcAft>
                <a:spcPts val="0"/>
              </a:spcAft>
            </a:pPr>
            <a:r>
              <a:rPr sz="1700">
                <a:solidFill>
                  <a:srgbClr val="D7E3EA"/>
                </a:solidFill>
                <a:latin typeface="Consolas"/>
              </a:rPr>
              <a:t>  Force-pushing rewrites shared history. Push normally or open a PR.</a:t>
            </a:r>
          </a:p>
          <a:p>
            <a:pPr>
              <a:lnSpc>
                <a:spcPct val="108000"/>
              </a:lnSpc>
              <a:spcBef>
                <a:spcPts val="0"/>
              </a:spcBef>
              <a:spcAft>
                <a:spcPts val="0"/>
              </a:spcAft>
            </a:pPr>
            <a:r>
              <a:rPr sz="1700" b="1">
                <a:solidFill>
                  <a:srgbClr val="7EE787"/>
                </a:solidFill>
                <a:latin typeface="Consolas"/>
              </a:rPr>
              <a:t>$ </a:t>
            </a:r>
            <a:r>
              <a:rPr sz="1700">
                <a:solidFill>
                  <a:srgbClr val="FFFFFF"/>
                </a:solidFill>
                <a:latin typeface="Consolas"/>
              </a:rPr>
              <a:t>git stash drop</a:t>
            </a:r>
          </a:p>
          <a:p>
            <a:pPr>
              <a:lnSpc>
                <a:spcPct val="108000"/>
              </a:lnSpc>
              <a:spcBef>
                <a:spcPts val="0"/>
              </a:spcBef>
              <a:spcAft>
                <a:spcPts val="0"/>
              </a:spcAft>
            </a:pPr>
            <a:r>
              <a:rPr sz="1700">
                <a:solidFill>
                  <a:srgbClr val="FF8A80"/>
                </a:solidFill>
                <a:latin typeface="Consolas"/>
              </a:rPr>
              <a:t>TAP26 guardrail: Dropping or clearing stashes permanently loses the stashed work.</a:t>
            </a:r>
          </a:p>
        </p:txBody>
      </p:sp>
      <p:sp>
        <p:nvSpPr>
          <p:cNvPr id="42" name="Rounded Rectangle 41"/>
          <p:cNvSpPr/>
          <p:nvPr/>
        </p:nvSpPr>
        <p:spPr>
          <a:xfrm>
            <a:off x="12435840" y="6263640"/>
            <a:ext cx="11036808" cy="2514600"/>
          </a:xfrm>
          <a:prstGeom prst="roundRect">
            <a:avLst>
              <a:gd name="adj" fmla="val 10000"/>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2710160" y="6464807"/>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3002768" y="6464807"/>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3295376" y="6464807"/>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3716000" y="6336792"/>
            <a:ext cx="9482328"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.claude/settings.json (excerpt)</a:t>
            </a:r>
          </a:p>
        </p:txBody>
      </p:sp>
      <p:sp>
        <p:nvSpPr>
          <p:cNvPr id="47" name="TextBox 46"/>
          <p:cNvSpPr txBox="1"/>
          <p:nvPr/>
        </p:nvSpPr>
        <p:spPr>
          <a:xfrm>
            <a:off x="12710160" y="6812279"/>
            <a:ext cx="10579608" cy="1828800"/>
          </a:xfrm>
          <a:prstGeom prst="rect">
            <a:avLst/>
          </a:prstGeom>
          <a:noFill/>
        </p:spPr>
        <p:txBody>
          <a:bodyPr wrap="none" lIns="0" rIns="0" tIns="0" bIns="0">
            <a:noAutofit/>
          </a:bodyPr>
          <a:lstStyle/>
          <a:p>
            <a:pPr>
              <a:lnSpc>
                <a:spcPct val="108000"/>
              </a:lnSpc>
              <a:spcBef>
                <a:spcPts val="0"/>
              </a:spcBef>
              <a:spcAft>
                <a:spcPts val="0"/>
              </a:spcAft>
            </a:pPr>
            <a:r>
              <a:rPr sz="1800" i="0" b="0">
                <a:solidFill>
                  <a:srgbClr val="9BE3B4"/>
                </a:solidFill>
                <a:latin typeface="Consolas"/>
              </a:rPr>
              <a:t>"PreToolUse"</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"matcher"</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"Bash"</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9BE3B4"/>
                </a:solidFill>
                <a:latin typeface="Consolas"/>
              </a:rPr>
              <a:t>"hooks"</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"type"</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"command"</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"command"</a:t>
            </a:r>
            <a:r>
              <a:rPr sz="1800" i="0" b="0">
                <a:solidFill>
                  <a:srgbClr val="E6EDF3"/>
                </a:solidFill>
                <a:latin typeface="Consolas"/>
              </a:rPr>
              <a:t>:</a:t>
            </a:r>
            <a:r>
              <a:rPr sz="1800" i="0" b="0">
                <a:solidFill>
                  <a:srgbClr val="E6EDF3"/>
                </a:solidFill>
                <a:latin typeface="Consolas"/>
              </a:rPr>
              <a:t> </a:t>
            </a:r>
            <a:r>
              <a:rPr sz="1800" i="0" b="0">
                <a:solidFill>
                  <a:srgbClr val="9BE3B4"/>
                </a:solidFill>
                <a:latin typeface="Consolas"/>
              </a:rPr>
              <a:t>"node"</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    </a:t>
            </a:r>
            <a:r>
              <a:rPr sz="1800" i="0" b="0">
                <a:solidFill>
                  <a:srgbClr val="9BE3B4"/>
                </a:solidFill>
                <a:latin typeface="Consolas"/>
              </a:rPr>
              <a:t>"args"</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9BE3B4"/>
                </a:solidFill>
                <a:latin typeface="Consolas"/>
              </a:rPr>
              <a:t>"${CLAUDE_PROJECT_DIR}/.claude/hooks/guard-bash.mjs"</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p>
        </p:txBody>
      </p:sp>
      <p:sp>
        <p:nvSpPr>
          <p:cNvPr id="48" name="Rounded Rectangle 47"/>
          <p:cNvSpPr/>
          <p:nvPr/>
        </p:nvSpPr>
        <p:spPr>
          <a:xfrm>
            <a:off x="612648" y="9052560"/>
            <a:ext cx="22860000" cy="1371600"/>
          </a:xfrm>
          <a:prstGeom prst="roundRect">
            <a:avLst>
              <a:gd name="adj" fmla="val 20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868680" y="9326880"/>
            <a:ext cx="822960" cy="82296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LuShieldCheck.png"/>
          <p:cNvPicPr>
            <a:picLocks noChangeAspect="1"/>
          </p:cNvPicPr>
          <p:nvPr/>
        </p:nvPicPr>
        <p:blipFill>
          <a:blip r:embed="rId8"/>
          <a:stretch>
            <a:fillRect/>
          </a:stretch>
        </p:blipFill>
        <p:spPr>
          <a:xfrm>
            <a:off x="1066190" y="9524390"/>
            <a:ext cx="427939" cy="427939"/>
          </a:xfrm>
          <a:prstGeom prst="rect">
            <a:avLst/>
          </a:prstGeom>
        </p:spPr>
      </p:pic>
      <p:sp>
        <p:nvSpPr>
          <p:cNvPr id="51" name="TextBox 50"/>
          <p:cNvSpPr txBox="1"/>
          <p:nvPr/>
        </p:nvSpPr>
        <p:spPr>
          <a:xfrm>
            <a:off x="1965960" y="9052560"/>
            <a:ext cx="21214080" cy="1371600"/>
          </a:xfrm>
          <a:prstGeom prst="rect">
            <a:avLst/>
          </a:prstGeom>
          <a:noFill/>
        </p:spPr>
        <p:txBody>
          <a:bodyPr wrap="square" lIns="0" rIns="0" tIns="18288" bIns="18288" anchor="ctr">
            <a:noAutofit/>
          </a:bodyPr>
          <a:lstStyle/>
          <a:p>
            <a:pPr algn="l">
              <a:lnSpc>
                <a:spcPct val="100000"/>
              </a:lnSpc>
              <a:spcBef>
                <a:spcPts val="0"/>
              </a:spcBef>
              <a:spcAft>
                <a:spcPts val="0"/>
              </a:spcAft>
            </a:pPr>
            <a:r>
              <a:rPr sz="1800" b="0" i="0">
                <a:solidFill>
                  <a:srgbClr val="192B37"/>
                </a:solidFill>
              </a:rPr>
              <a:t>Also enforced: quality gates — API change ⇒ OpenAPI + drift clean + tests green · new tests green </a:t>
            </a:r>
            <a:r>
              <a:rPr sz="1800" b="1" i="0">
                <a:solidFill>
                  <a:srgbClr val="192B37"/>
                </a:solidFill>
              </a:rPr>
              <a:t>twice</a:t>
            </a:r>
            <a:r>
              <a:rPr sz="1800" b="0" i="0">
                <a:solidFill>
                  <a:srgbClr val="192B37"/>
                </a:solidFill>
              </a:rPr>
              <a:t> · independent </a:t>
            </a:r>
            <a:r>
              <a:rPr sz="1656" b="0" i="0">
                <a:solidFill>
                  <a:srgbClr val="C2410C"/>
                </a:solidFill>
                <a:latin typeface="Consolas"/>
              </a:rPr>
              <a:t>code-reviewer</a:t>
            </a:r>
            <a:r>
              <a:rPr sz="1800" b="0" i="0">
                <a:solidFill>
                  <a:srgbClr val="192B37"/>
                </a:solidFill>
              </a:rPr>
              <a:t> pass · never weaken an assert silently.</a:t>
            </a:r>
          </a:p>
        </p:txBody>
      </p:sp>
      <p:sp>
        <p:nvSpPr>
          <p:cNvPr id="52" name="Rounded Rectangle 51"/>
          <p:cNvSpPr/>
          <p:nvPr/>
        </p:nvSpPr>
        <p:spPr>
          <a:xfrm>
            <a:off x="612648" y="10789920"/>
            <a:ext cx="22860000" cy="960120"/>
          </a:xfrm>
          <a:prstGeom prst="roundRect">
            <a:avLst>
              <a:gd name="adj" fmla="val 1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Oval 52"/>
          <p:cNvSpPr/>
          <p:nvPr/>
        </p:nvSpPr>
        <p:spPr>
          <a:xfrm>
            <a:off x="886968" y="10927080"/>
            <a:ext cx="685800" cy="6858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LuLaugh.png"/>
          <p:cNvPicPr>
            <a:picLocks noChangeAspect="1"/>
          </p:cNvPicPr>
          <p:nvPr/>
        </p:nvPicPr>
        <p:blipFill>
          <a:blip r:embed="rId9"/>
          <a:stretch>
            <a:fillRect/>
          </a:stretch>
        </p:blipFill>
        <p:spPr>
          <a:xfrm>
            <a:off x="1051560" y="11091672"/>
            <a:ext cx="356616" cy="356616"/>
          </a:xfrm>
          <a:prstGeom prst="rect">
            <a:avLst/>
          </a:prstGeom>
        </p:spPr>
      </p:pic>
      <p:sp>
        <p:nvSpPr>
          <p:cNvPr id="55" name="TextBox 54"/>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Guardrails: because </a:t>
            </a:r>
            <a:r>
              <a:rPr sz="1840" b="0" i="1">
                <a:solidFill>
                  <a:srgbClr val="C2410C"/>
                </a:solidFill>
                <a:latin typeface="Consolas"/>
              </a:rPr>
              <a:t>git push --force</a:t>
            </a:r>
            <a:r>
              <a:rPr sz="2000" b="0" i="1">
                <a:solidFill>
                  <a:srgbClr val="192B37"/>
                </a:solidFill>
              </a:rPr>
              <a:t> should require more than enthusiasm and a deadline.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TAP26 agents</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FF5640"/>
                </a:solidFill>
              </a:rPr>
              <a:t>WHY WORK WITH AGENTS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AI is an amplifier — tests decide what it amplifies</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51</a:t>
            </a:r>
          </a:p>
        </p:txBody>
      </p:sp>
      <p:sp>
        <p:nvSpPr>
          <p:cNvPr id="6" name="Rounded Rectangle 5"/>
          <p:cNvSpPr/>
          <p:nvPr/>
        </p:nvSpPr>
        <p:spPr>
          <a:xfrm>
            <a:off x="612648" y="2926080"/>
            <a:ext cx="5532120" cy="2743200"/>
          </a:xfrm>
          <a:prstGeom prst="roundRect">
            <a:avLst>
              <a:gd name="adj" fmla="val 8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047488" y="3154680"/>
            <a:ext cx="822960" cy="82296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Users.png"/>
          <p:cNvPicPr>
            <a:picLocks noChangeAspect="1"/>
          </p:cNvPicPr>
          <p:nvPr/>
        </p:nvPicPr>
        <p:blipFill>
          <a:blip r:embed="rId3"/>
          <a:stretch>
            <a:fillRect/>
          </a:stretch>
        </p:blipFill>
        <p:spPr>
          <a:xfrm>
            <a:off x="5244998" y="3352190"/>
            <a:ext cx="427939" cy="427939"/>
          </a:xfrm>
          <a:prstGeom prst="rect">
            <a:avLst/>
          </a:prstGeom>
        </p:spPr>
      </p:pic>
      <p:sp>
        <p:nvSpPr>
          <p:cNvPr id="9" name="TextBox 8"/>
          <p:cNvSpPr txBox="1"/>
          <p:nvPr/>
        </p:nvSpPr>
        <p:spPr>
          <a:xfrm>
            <a:off x="886968" y="3017520"/>
            <a:ext cx="4206240" cy="1188720"/>
          </a:xfrm>
          <a:prstGeom prst="rect">
            <a:avLst/>
          </a:prstGeom>
          <a:noFill/>
        </p:spPr>
        <p:txBody>
          <a:bodyPr wrap="square" lIns="0" rIns="0" tIns="18288" bIns="18288" anchor="ctr">
            <a:noAutofit/>
          </a:bodyPr>
          <a:lstStyle/>
          <a:p>
            <a:pPr algn="l">
              <a:lnSpc>
                <a:spcPct val="100000"/>
              </a:lnSpc>
              <a:spcBef>
                <a:spcPts val="0"/>
              </a:spcBef>
              <a:spcAft>
                <a:spcPts val="0"/>
              </a:spcAft>
            </a:pPr>
            <a:r>
              <a:rPr sz="5400" b="0" i="0">
                <a:solidFill>
                  <a:srgbClr val="3D9BC8"/>
                </a:solidFill>
                <a:latin typeface="+mj-lt"/>
              </a:rPr>
              <a:t>90%</a:t>
            </a:r>
          </a:p>
        </p:txBody>
      </p:sp>
      <p:sp>
        <p:nvSpPr>
          <p:cNvPr id="10" name="TextBox 9"/>
          <p:cNvSpPr txBox="1"/>
          <p:nvPr/>
        </p:nvSpPr>
        <p:spPr>
          <a:xfrm>
            <a:off x="886968" y="4251960"/>
            <a:ext cx="502920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1900" b="1" i="0">
                <a:solidFill>
                  <a:srgbClr val="192B37"/>
                </a:solidFill>
              </a:rPr>
              <a:t>use AI at work</a:t>
            </a:r>
          </a:p>
        </p:txBody>
      </p:sp>
      <p:sp>
        <p:nvSpPr>
          <p:cNvPr id="11" name="TextBox 10"/>
          <p:cNvSpPr txBox="1"/>
          <p:nvPr/>
        </p:nvSpPr>
        <p:spPr>
          <a:xfrm>
            <a:off x="886968" y="5074920"/>
            <a:ext cx="50292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5E6A73"/>
                </a:solidFill>
              </a:rPr>
              <a:t>DORA 2025</a:t>
            </a:r>
          </a:p>
        </p:txBody>
      </p:sp>
      <p:sp>
        <p:nvSpPr>
          <p:cNvPr id="12" name="Rounded Rectangle 11"/>
          <p:cNvSpPr/>
          <p:nvPr/>
        </p:nvSpPr>
        <p:spPr>
          <a:xfrm>
            <a:off x="6373368" y="2926080"/>
            <a:ext cx="5532120" cy="2743200"/>
          </a:xfrm>
          <a:prstGeom prst="roundRect">
            <a:avLst>
              <a:gd name="adj" fmla="val 8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808208" y="3154680"/>
            <a:ext cx="822960" cy="82296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uTrendingUp.png"/>
          <p:cNvPicPr>
            <a:picLocks noChangeAspect="1"/>
          </p:cNvPicPr>
          <p:nvPr/>
        </p:nvPicPr>
        <p:blipFill>
          <a:blip r:embed="rId4"/>
          <a:stretch>
            <a:fillRect/>
          </a:stretch>
        </p:blipFill>
        <p:spPr>
          <a:xfrm>
            <a:off x="11005718" y="3352190"/>
            <a:ext cx="427939" cy="427939"/>
          </a:xfrm>
          <a:prstGeom prst="rect">
            <a:avLst/>
          </a:prstGeom>
        </p:spPr>
      </p:pic>
      <p:sp>
        <p:nvSpPr>
          <p:cNvPr id="15" name="TextBox 14"/>
          <p:cNvSpPr txBox="1"/>
          <p:nvPr/>
        </p:nvSpPr>
        <p:spPr>
          <a:xfrm>
            <a:off x="6647688" y="3017520"/>
            <a:ext cx="4206240" cy="1188720"/>
          </a:xfrm>
          <a:prstGeom prst="rect">
            <a:avLst/>
          </a:prstGeom>
          <a:noFill/>
        </p:spPr>
        <p:txBody>
          <a:bodyPr wrap="square" lIns="0" rIns="0" tIns="18288" bIns="18288" anchor="ctr">
            <a:noAutofit/>
          </a:bodyPr>
          <a:lstStyle/>
          <a:p>
            <a:pPr algn="l">
              <a:lnSpc>
                <a:spcPct val="100000"/>
              </a:lnSpc>
              <a:spcBef>
                <a:spcPts val="0"/>
              </a:spcBef>
              <a:spcAft>
                <a:spcPts val="0"/>
              </a:spcAft>
            </a:pPr>
            <a:r>
              <a:rPr sz="5400" b="0" i="0">
                <a:solidFill>
                  <a:srgbClr val="00A859"/>
                </a:solidFill>
                <a:latin typeface="+mj-lt"/>
              </a:rPr>
              <a:t>&gt;80%</a:t>
            </a:r>
          </a:p>
        </p:txBody>
      </p:sp>
      <p:sp>
        <p:nvSpPr>
          <p:cNvPr id="16" name="TextBox 15"/>
          <p:cNvSpPr txBox="1"/>
          <p:nvPr/>
        </p:nvSpPr>
        <p:spPr>
          <a:xfrm>
            <a:off x="6647688" y="4251960"/>
            <a:ext cx="502920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1900" b="1" i="0">
                <a:solidFill>
                  <a:srgbClr val="192B37"/>
                </a:solidFill>
              </a:rPr>
              <a:t>say it boosts productivity</a:t>
            </a:r>
          </a:p>
        </p:txBody>
      </p:sp>
      <p:sp>
        <p:nvSpPr>
          <p:cNvPr id="17" name="TextBox 16"/>
          <p:cNvSpPr txBox="1"/>
          <p:nvPr/>
        </p:nvSpPr>
        <p:spPr>
          <a:xfrm>
            <a:off x="6647688" y="5074920"/>
            <a:ext cx="50292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5E6A73"/>
                </a:solidFill>
              </a:rPr>
              <a:t>DORA 2025</a:t>
            </a:r>
          </a:p>
        </p:txBody>
      </p:sp>
      <p:sp>
        <p:nvSpPr>
          <p:cNvPr id="18" name="Rounded Rectangle 17"/>
          <p:cNvSpPr/>
          <p:nvPr/>
        </p:nvSpPr>
        <p:spPr>
          <a:xfrm>
            <a:off x="12134088" y="2926080"/>
            <a:ext cx="5532120" cy="2743200"/>
          </a:xfrm>
          <a:prstGeom prst="roundRect">
            <a:avLst>
              <a:gd name="adj" fmla="val 8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6568927" y="3154680"/>
            <a:ext cx="822960" cy="82296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uCircleHelp.png"/>
          <p:cNvPicPr>
            <a:picLocks noChangeAspect="1"/>
          </p:cNvPicPr>
          <p:nvPr/>
        </p:nvPicPr>
        <p:blipFill>
          <a:blip r:embed="rId5"/>
          <a:stretch>
            <a:fillRect/>
          </a:stretch>
        </p:blipFill>
        <p:spPr>
          <a:xfrm>
            <a:off x="16766438" y="3352190"/>
            <a:ext cx="427939" cy="427939"/>
          </a:xfrm>
          <a:prstGeom prst="rect">
            <a:avLst/>
          </a:prstGeom>
        </p:spPr>
      </p:pic>
      <p:sp>
        <p:nvSpPr>
          <p:cNvPr id="21" name="TextBox 20"/>
          <p:cNvSpPr txBox="1"/>
          <p:nvPr/>
        </p:nvSpPr>
        <p:spPr>
          <a:xfrm>
            <a:off x="12408408" y="3017520"/>
            <a:ext cx="4206240" cy="1188720"/>
          </a:xfrm>
          <a:prstGeom prst="rect">
            <a:avLst/>
          </a:prstGeom>
          <a:noFill/>
        </p:spPr>
        <p:txBody>
          <a:bodyPr wrap="square" lIns="0" rIns="0" tIns="18288" bIns="18288" anchor="ctr">
            <a:noAutofit/>
          </a:bodyPr>
          <a:lstStyle/>
          <a:p>
            <a:pPr algn="l">
              <a:lnSpc>
                <a:spcPct val="100000"/>
              </a:lnSpc>
              <a:spcBef>
                <a:spcPts val="0"/>
              </a:spcBef>
              <a:spcAft>
                <a:spcPts val="0"/>
              </a:spcAft>
            </a:pPr>
            <a:r>
              <a:rPr sz="5400" b="0" i="0">
                <a:solidFill>
                  <a:srgbClr val="DB7D00"/>
                </a:solidFill>
                <a:latin typeface="+mj-lt"/>
              </a:rPr>
              <a:t>30%</a:t>
            </a:r>
          </a:p>
        </p:txBody>
      </p:sp>
      <p:sp>
        <p:nvSpPr>
          <p:cNvPr id="22" name="TextBox 21"/>
          <p:cNvSpPr txBox="1"/>
          <p:nvPr/>
        </p:nvSpPr>
        <p:spPr>
          <a:xfrm>
            <a:off x="12408408" y="4251960"/>
            <a:ext cx="502920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1900" b="1" i="0">
                <a:solidFill>
                  <a:srgbClr val="192B37"/>
                </a:solidFill>
              </a:rPr>
              <a:t>little or no trust in AI code</a:t>
            </a:r>
          </a:p>
        </p:txBody>
      </p:sp>
      <p:sp>
        <p:nvSpPr>
          <p:cNvPr id="23" name="TextBox 22"/>
          <p:cNvSpPr txBox="1"/>
          <p:nvPr/>
        </p:nvSpPr>
        <p:spPr>
          <a:xfrm>
            <a:off x="12408408" y="5074920"/>
            <a:ext cx="50292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5E6A73"/>
                </a:solidFill>
              </a:rPr>
              <a:t>DORA 2025</a:t>
            </a:r>
          </a:p>
        </p:txBody>
      </p:sp>
      <p:sp>
        <p:nvSpPr>
          <p:cNvPr id="24" name="Rounded Rectangle 23"/>
          <p:cNvSpPr/>
          <p:nvPr/>
        </p:nvSpPr>
        <p:spPr>
          <a:xfrm>
            <a:off x="17894808" y="2926080"/>
            <a:ext cx="5532120" cy="2743200"/>
          </a:xfrm>
          <a:prstGeom prst="roundRect">
            <a:avLst>
              <a:gd name="adj" fmla="val 8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22329648" y="3154680"/>
            <a:ext cx="822960" cy="82296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LuTrendingDown.png"/>
          <p:cNvPicPr>
            <a:picLocks noChangeAspect="1"/>
          </p:cNvPicPr>
          <p:nvPr/>
        </p:nvPicPr>
        <p:blipFill>
          <a:blip r:embed="rId6"/>
          <a:stretch>
            <a:fillRect/>
          </a:stretch>
        </p:blipFill>
        <p:spPr>
          <a:xfrm>
            <a:off x="22527158" y="3352190"/>
            <a:ext cx="427939" cy="427939"/>
          </a:xfrm>
          <a:prstGeom prst="rect">
            <a:avLst/>
          </a:prstGeom>
        </p:spPr>
      </p:pic>
      <p:sp>
        <p:nvSpPr>
          <p:cNvPr id="27" name="TextBox 26"/>
          <p:cNvSpPr txBox="1"/>
          <p:nvPr/>
        </p:nvSpPr>
        <p:spPr>
          <a:xfrm>
            <a:off x="18169128" y="3017520"/>
            <a:ext cx="4206240" cy="1188720"/>
          </a:xfrm>
          <a:prstGeom prst="rect">
            <a:avLst/>
          </a:prstGeom>
          <a:noFill/>
        </p:spPr>
        <p:txBody>
          <a:bodyPr wrap="square" lIns="0" rIns="0" tIns="18288" bIns="18288" anchor="ctr">
            <a:noAutofit/>
          </a:bodyPr>
          <a:lstStyle/>
          <a:p>
            <a:pPr algn="l">
              <a:lnSpc>
                <a:spcPct val="100000"/>
              </a:lnSpc>
              <a:spcBef>
                <a:spcPts val="0"/>
              </a:spcBef>
              <a:spcAft>
                <a:spcPts val="0"/>
              </a:spcAft>
            </a:pPr>
            <a:r>
              <a:rPr sz="5400" b="0" i="0">
                <a:solidFill>
                  <a:srgbClr val="FF5640"/>
                </a:solidFill>
                <a:latin typeface="+mj-lt"/>
              </a:rPr>
              <a:t>−7.2%</a:t>
            </a:r>
          </a:p>
        </p:txBody>
      </p:sp>
      <p:sp>
        <p:nvSpPr>
          <p:cNvPr id="28" name="TextBox 27"/>
          <p:cNvSpPr txBox="1"/>
          <p:nvPr/>
        </p:nvSpPr>
        <p:spPr>
          <a:xfrm>
            <a:off x="18169128" y="4251960"/>
            <a:ext cx="502920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1900" b="1" i="0">
                <a:solidFill>
                  <a:srgbClr val="192B37"/>
                </a:solidFill>
              </a:rPr>
              <a:t>delivery stability as AI use grew</a:t>
            </a:r>
          </a:p>
        </p:txBody>
      </p:sp>
      <p:sp>
        <p:nvSpPr>
          <p:cNvPr id="29" name="TextBox 28"/>
          <p:cNvSpPr txBox="1"/>
          <p:nvPr/>
        </p:nvSpPr>
        <p:spPr>
          <a:xfrm>
            <a:off x="18169128" y="5074920"/>
            <a:ext cx="50292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5E6A73"/>
                </a:solidFill>
              </a:rPr>
              <a:t>DORA 2024</a:t>
            </a:r>
          </a:p>
        </p:txBody>
      </p:sp>
      <p:sp>
        <p:nvSpPr>
          <p:cNvPr id="30" name="TextBox 29"/>
          <p:cNvSpPr txBox="1"/>
          <p:nvPr/>
        </p:nvSpPr>
        <p:spPr>
          <a:xfrm>
            <a:off x="612648" y="5943600"/>
            <a:ext cx="109728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FF5640"/>
                </a:solidFill>
              </a:rPr>
              <a:t>METR 2025 RANDOMISED TRIAL · EXPERIENCED OPEN-SOURCE DEVS</a:t>
            </a:r>
          </a:p>
        </p:txBody>
      </p:sp>
      <p:graphicFrame>
        <p:nvGraphicFramePr>
          <p:cNvPr id="31" name="Chart 30"/>
          <p:cNvGraphicFramePr>
            <a:graphicFrameLocks noGrp="1"/>
          </p:cNvGraphicFramePr>
          <p:nvPr/>
        </p:nvGraphicFramePr>
        <p:xfrm>
          <a:off x="457200" y="6309360"/>
          <a:ext cx="11338560" cy="4160520"/>
        </p:xfrm>
        <a:graphic>
          <a:graphicData uri="http://schemas.openxmlformats.org/drawingml/2006/chart">
            <c:chart xmlns:c="http://schemas.openxmlformats.org/drawingml/2006/chart" r:id="rId7"/>
          </a:graphicData>
        </a:graphic>
      </p:graphicFrame>
      <p:sp>
        <p:nvSpPr>
          <p:cNvPr id="32" name="Rounded Rectangle 31"/>
          <p:cNvSpPr/>
          <p:nvPr/>
        </p:nvSpPr>
        <p:spPr>
          <a:xfrm>
            <a:off x="12225528" y="5989320"/>
            <a:ext cx="11247120" cy="987552"/>
          </a:xfrm>
          <a:prstGeom prst="roundRect">
            <a:avLst>
              <a:gd name="adj" fmla="val 2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2390120" y="6126480"/>
            <a:ext cx="713232" cy="713232"/>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LuZap.png"/>
          <p:cNvPicPr>
            <a:picLocks noChangeAspect="1"/>
          </p:cNvPicPr>
          <p:nvPr/>
        </p:nvPicPr>
        <p:blipFill>
          <a:blip r:embed="rId8"/>
          <a:stretch>
            <a:fillRect/>
          </a:stretch>
        </p:blipFill>
        <p:spPr>
          <a:xfrm>
            <a:off x="12561295" y="6297655"/>
            <a:ext cx="370880" cy="370880"/>
          </a:xfrm>
          <a:prstGeom prst="rect">
            <a:avLst/>
          </a:prstGeom>
        </p:spPr>
      </p:pic>
      <p:sp>
        <p:nvSpPr>
          <p:cNvPr id="35" name="TextBox 34"/>
          <p:cNvSpPr txBox="1"/>
          <p:nvPr/>
        </p:nvSpPr>
        <p:spPr>
          <a:xfrm>
            <a:off x="13258800" y="5989320"/>
            <a:ext cx="4572000" cy="987552"/>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192B37"/>
                </a:solidFill>
              </a:rPr>
              <a:t>Speed on the boring parts</a:t>
            </a:r>
          </a:p>
        </p:txBody>
      </p:sp>
      <p:sp>
        <p:nvSpPr>
          <p:cNvPr id="36" name="TextBox 35"/>
          <p:cNvSpPr txBox="1"/>
          <p:nvPr/>
        </p:nvSpPr>
        <p:spPr>
          <a:xfrm>
            <a:off x="17830800" y="5989320"/>
            <a:ext cx="5577840" cy="987552"/>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scaffolding, inventories, docs, test boilerplate</a:t>
            </a:r>
          </a:p>
        </p:txBody>
      </p:sp>
      <p:sp>
        <p:nvSpPr>
          <p:cNvPr id="37" name="Rounded Rectangle 36"/>
          <p:cNvSpPr/>
          <p:nvPr/>
        </p:nvSpPr>
        <p:spPr>
          <a:xfrm>
            <a:off x="12225528" y="7104888"/>
            <a:ext cx="11247120" cy="987552"/>
          </a:xfrm>
          <a:prstGeom prst="roundRect">
            <a:avLst>
              <a:gd name="adj" fmla="val 2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2390120" y="7242048"/>
            <a:ext cx="713232" cy="713232"/>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LuScanSearch.png"/>
          <p:cNvPicPr>
            <a:picLocks noChangeAspect="1"/>
          </p:cNvPicPr>
          <p:nvPr/>
        </p:nvPicPr>
        <p:blipFill>
          <a:blip r:embed="rId9"/>
          <a:stretch>
            <a:fillRect/>
          </a:stretch>
        </p:blipFill>
        <p:spPr>
          <a:xfrm>
            <a:off x="12561295" y="7413223"/>
            <a:ext cx="370880" cy="370880"/>
          </a:xfrm>
          <a:prstGeom prst="rect">
            <a:avLst/>
          </a:prstGeom>
        </p:spPr>
      </p:pic>
      <p:sp>
        <p:nvSpPr>
          <p:cNvPr id="40" name="TextBox 39"/>
          <p:cNvSpPr txBox="1"/>
          <p:nvPr/>
        </p:nvSpPr>
        <p:spPr>
          <a:xfrm>
            <a:off x="13258800" y="7104888"/>
            <a:ext cx="4572000" cy="987552"/>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192B37"/>
                </a:solidFill>
              </a:rPr>
              <a:t>Breadth you'd never do by hand</a:t>
            </a:r>
          </a:p>
        </p:txBody>
      </p:sp>
      <p:sp>
        <p:nvSpPr>
          <p:cNvPr id="41" name="TextBox 40"/>
          <p:cNvSpPr txBox="1"/>
          <p:nvPr/>
        </p:nvSpPr>
        <p:spPr>
          <a:xfrm>
            <a:off x="17830800" y="7104888"/>
            <a:ext cx="5577840" cy="987552"/>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135 contract checks, 37 issues catalogued</a:t>
            </a:r>
          </a:p>
        </p:txBody>
      </p:sp>
      <p:sp>
        <p:nvSpPr>
          <p:cNvPr id="42" name="Rounded Rectangle 41"/>
          <p:cNvSpPr/>
          <p:nvPr/>
        </p:nvSpPr>
        <p:spPr>
          <a:xfrm>
            <a:off x="12225528" y="8220456"/>
            <a:ext cx="11247120" cy="987552"/>
          </a:xfrm>
          <a:prstGeom prst="roundRect">
            <a:avLst>
              <a:gd name="adj" fmla="val 2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2390120" y="8357616"/>
            <a:ext cx="713232" cy="713232"/>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LuShieldCheck.png"/>
          <p:cNvPicPr>
            <a:picLocks noChangeAspect="1"/>
          </p:cNvPicPr>
          <p:nvPr/>
        </p:nvPicPr>
        <p:blipFill>
          <a:blip r:embed="rId10"/>
          <a:stretch>
            <a:fillRect/>
          </a:stretch>
        </p:blipFill>
        <p:spPr>
          <a:xfrm>
            <a:off x="12561295" y="8528791"/>
            <a:ext cx="370880" cy="370880"/>
          </a:xfrm>
          <a:prstGeom prst="rect">
            <a:avLst/>
          </a:prstGeom>
        </p:spPr>
      </p:pic>
      <p:sp>
        <p:nvSpPr>
          <p:cNvPr id="45" name="TextBox 44"/>
          <p:cNvSpPr txBox="1"/>
          <p:nvPr/>
        </p:nvSpPr>
        <p:spPr>
          <a:xfrm>
            <a:off x="13258800" y="8220456"/>
            <a:ext cx="4572000" cy="987552"/>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192B37"/>
                </a:solidFill>
              </a:rPr>
              <a:t>But: verify everything</a:t>
            </a:r>
          </a:p>
        </p:txBody>
      </p:sp>
      <p:sp>
        <p:nvSpPr>
          <p:cNvPr id="46" name="TextBox 45"/>
          <p:cNvSpPr txBox="1"/>
          <p:nvPr/>
        </p:nvSpPr>
        <p:spPr>
          <a:xfrm>
            <a:off x="17830800" y="8220456"/>
            <a:ext cx="5577840" cy="987552"/>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“If you can't verify it, don't ship it.”</a:t>
            </a:r>
          </a:p>
        </p:txBody>
      </p:sp>
      <p:sp>
        <p:nvSpPr>
          <p:cNvPr id="47" name="Rounded Rectangle 46"/>
          <p:cNvSpPr/>
          <p:nvPr/>
        </p:nvSpPr>
        <p:spPr>
          <a:xfrm>
            <a:off x="12225528" y="9336024"/>
            <a:ext cx="11247120" cy="987552"/>
          </a:xfrm>
          <a:prstGeom prst="roundRect">
            <a:avLst>
              <a:gd name="adj" fmla="val 2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12390120" y="9473184"/>
            <a:ext cx="713232" cy="713232"/>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LuGraduationCap.png"/>
          <p:cNvPicPr>
            <a:picLocks noChangeAspect="1"/>
          </p:cNvPicPr>
          <p:nvPr/>
        </p:nvPicPr>
        <p:blipFill>
          <a:blip r:embed="rId11"/>
          <a:stretch>
            <a:fillRect/>
          </a:stretch>
        </p:blipFill>
        <p:spPr>
          <a:xfrm>
            <a:off x="12561295" y="9644359"/>
            <a:ext cx="370880" cy="370880"/>
          </a:xfrm>
          <a:prstGeom prst="rect">
            <a:avLst/>
          </a:prstGeom>
        </p:spPr>
      </p:pic>
      <p:sp>
        <p:nvSpPr>
          <p:cNvPr id="50" name="TextBox 49"/>
          <p:cNvSpPr txBox="1"/>
          <p:nvPr/>
        </p:nvSpPr>
        <p:spPr>
          <a:xfrm>
            <a:off x="13258800" y="9336024"/>
            <a:ext cx="4572000" cy="987552"/>
          </a:xfrm>
          <a:prstGeom prst="rect">
            <a:avLst/>
          </a:prstGeom>
          <a:noFill/>
        </p:spPr>
        <p:txBody>
          <a:bodyPr wrap="square" lIns="0" rIns="0" tIns="18288" bIns="18288" anchor="ctr">
            <a:noAutofit/>
          </a:bodyPr>
          <a:lstStyle/>
          <a:p>
            <a:pPr algn="l">
              <a:lnSpc>
                <a:spcPct val="100000"/>
              </a:lnSpc>
              <a:spcBef>
                <a:spcPts val="0"/>
              </a:spcBef>
              <a:spcAft>
                <a:spcPts val="0"/>
              </a:spcAft>
            </a:pPr>
            <a:r>
              <a:rPr sz="1700" b="1" i="0">
                <a:solidFill>
                  <a:srgbClr val="192B37"/>
                </a:solidFill>
              </a:rPr>
              <a:t>And: you stay the engineer</a:t>
            </a:r>
          </a:p>
        </p:txBody>
      </p:sp>
      <p:sp>
        <p:nvSpPr>
          <p:cNvPr id="51" name="TextBox 50"/>
          <p:cNvSpPr txBox="1"/>
          <p:nvPr/>
        </p:nvSpPr>
        <p:spPr>
          <a:xfrm>
            <a:off x="17830800" y="9336024"/>
            <a:ext cx="5577840" cy="987552"/>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agents amplify skill — they don't replace it</a:t>
            </a:r>
          </a:p>
        </p:txBody>
      </p:sp>
      <p:sp>
        <p:nvSpPr>
          <p:cNvPr id="52" name="Rounded Rectangle 51"/>
          <p:cNvSpPr/>
          <p:nvPr/>
        </p:nvSpPr>
        <p:spPr>
          <a:xfrm>
            <a:off x="612648" y="10789920"/>
            <a:ext cx="22860000" cy="960120"/>
          </a:xfrm>
          <a:prstGeom prst="roundRect">
            <a:avLst>
              <a:gd name="adj" fmla="val 1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Oval 52"/>
          <p:cNvSpPr/>
          <p:nvPr/>
        </p:nvSpPr>
        <p:spPr>
          <a:xfrm>
            <a:off x="886968" y="10927080"/>
            <a:ext cx="685800" cy="6858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LuLaugh.png"/>
          <p:cNvPicPr>
            <a:picLocks noChangeAspect="1"/>
          </p:cNvPicPr>
          <p:nvPr/>
        </p:nvPicPr>
        <p:blipFill>
          <a:blip r:embed="rId12"/>
          <a:stretch>
            <a:fillRect/>
          </a:stretch>
        </p:blipFill>
        <p:spPr>
          <a:xfrm>
            <a:off x="1051560" y="11091672"/>
            <a:ext cx="356616" cy="356616"/>
          </a:xfrm>
          <a:prstGeom prst="rect">
            <a:avLst/>
          </a:prstGeom>
        </p:spPr>
      </p:pic>
      <p:sp>
        <p:nvSpPr>
          <p:cNvPr id="55" name="TextBox 54"/>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Plug good tests into the amplifier and you get a concert. Plug in chaos and you get feedback — the screechy kind.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TAP26 agents</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FF5640"/>
                </a:solidFill>
              </a:rPr>
              <a:t>AGENTS FOR DEVELOPERS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Change the app without breaking the tests</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52</a:t>
            </a:r>
          </a:p>
        </p:txBody>
      </p:sp>
      <p:sp>
        <p:nvSpPr>
          <p:cNvPr id="6" name="Rounded Rectangle 5"/>
          <p:cNvSpPr/>
          <p:nvPr/>
        </p:nvSpPr>
        <p:spPr>
          <a:xfrm>
            <a:off x="612648" y="2926080"/>
            <a:ext cx="6766560" cy="7498079"/>
          </a:xfrm>
          <a:prstGeom prst="roundRect">
            <a:avLst>
              <a:gd name="adj" fmla="val 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68680" y="3154680"/>
            <a:ext cx="1097280" cy="109728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Code.png"/>
          <p:cNvPicPr>
            <a:picLocks noChangeAspect="1"/>
          </p:cNvPicPr>
          <p:nvPr/>
        </p:nvPicPr>
        <p:blipFill>
          <a:blip r:embed="rId3"/>
          <a:stretch>
            <a:fillRect/>
          </a:stretch>
        </p:blipFill>
        <p:spPr>
          <a:xfrm>
            <a:off x="1132027" y="3418027"/>
            <a:ext cx="570585" cy="570585"/>
          </a:xfrm>
          <a:prstGeom prst="rect">
            <a:avLst/>
          </a:prstGeom>
        </p:spPr>
      </p:pic>
      <p:sp>
        <p:nvSpPr>
          <p:cNvPr id="9" name="TextBox 8"/>
          <p:cNvSpPr txBox="1"/>
          <p:nvPr/>
        </p:nvSpPr>
        <p:spPr>
          <a:xfrm>
            <a:off x="2194560" y="3154680"/>
            <a:ext cx="502920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1" i="0">
                <a:solidFill>
                  <a:srgbClr val="192B37"/>
                </a:solidFill>
              </a:rPr>
              <a:t>Your agents</a:t>
            </a:r>
          </a:p>
        </p:txBody>
      </p:sp>
      <p:sp>
        <p:nvSpPr>
          <p:cNvPr id="10" name="Rounded Rectangle 9"/>
          <p:cNvSpPr/>
          <p:nvPr/>
        </p:nvSpPr>
        <p:spPr>
          <a:xfrm>
            <a:off x="868680" y="4526280"/>
            <a:ext cx="6263640" cy="129844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97280" y="4617720"/>
            <a:ext cx="585216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3D9BC8"/>
                </a:solidFill>
              </a:rPr>
              <a:t>be-dev</a:t>
            </a:r>
          </a:p>
        </p:txBody>
      </p:sp>
      <p:sp>
        <p:nvSpPr>
          <p:cNvPr id="12" name="TextBox 11"/>
          <p:cNvSpPr txBox="1"/>
          <p:nvPr/>
        </p:nvSpPr>
        <p:spPr>
          <a:xfrm>
            <a:off x="1097280" y="5120640"/>
            <a:ext cx="585216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Express routes, validators, lowdb, GraphQL</a:t>
            </a:r>
          </a:p>
        </p:txBody>
      </p:sp>
      <p:sp>
        <p:nvSpPr>
          <p:cNvPr id="13" name="Rounded Rectangle 12"/>
          <p:cNvSpPr/>
          <p:nvPr/>
        </p:nvSpPr>
        <p:spPr>
          <a:xfrm>
            <a:off x="868680" y="5989320"/>
            <a:ext cx="6263640" cy="129844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97280" y="6080760"/>
            <a:ext cx="585216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3D9BC8"/>
                </a:solidFill>
              </a:rPr>
              <a:t>fe-dev</a:t>
            </a:r>
          </a:p>
        </p:txBody>
      </p:sp>
      <p:sp>
        <p:nvSpPr>
          <p:cNvPr id="15" name="TextBox 14"/>
          <p:cNvSpPr txBox="1"/>
          <p:nvPr/>
        </p:nvSpPr>
        <p:spPr>
          <a:xfrm>
            <a:off x="1097280" y="6583680"/>
            <a:ext cx="585216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React/MUI/XState, keeps data-test</a:t>
            </a:r>
          </a:p>
        </p:txBody>
      </p:sp>
      <p:sp>
        <p:nvSpPr>
          <p:cNvPr id="16" name="Rounded Rectangle 15"/>
          <p:cNvSpPr/>
          <p:nvPr/>
        </p:nvSpPr>
        <p:spPr>
          <a:xfrm>
            <a:off x="868680" y="7452360"/>
            <a:ext cx="6263640" cy="129844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97280" y="7543800"/>
            <a:ext cx="585216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3D9BC8"/>
                </a:solidFill>
              </a:rPr>
              <a:t>debugger</a:t>
            </a:r>
          </a:p>
        </p:txBody>
      </p:sp>
      <p:sp>
        <p:nvSpPr>
          <p:cNvPr id="18" name="TextBox 17"/>
          <p:cNvSpPr txBox="1"/>
          <p:nvPr/>
        </p:nvSpPr>
        <p:spPr>
          <a:xfrm>
            <a:off x="1097280" y="8046720"/>
            <a:ext cx="585216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reproduce → isolate → root cause</a:t>
            </a:r>
          </a:p>
        </p:txBody>
      </p:sp>
      <p:sp>
        <p:nvSpPr>
          <p:cNvPr id="19" name="Rounded Rectangle 18"/>
          <p:cNvSpPr/>
          <p:nvPr/>
        </p:nvSpPr>
        <p:spPr>
          <a:xfrm>
            <a:off x="868680" y="8915400"/>
            <a:ext cx="6263640" cy="129844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97280" y="9006840"/>
            <a:ext cx="585216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3D9BC8"/>
                </a:solidFill>
              </a:rPr>
              <a:t>code-reviewer</a:t>
            </a:r>
          </a:p>
        </p:txBody>
      </p:sp>
      <p:sp>
        <p:nvSpPr>
          <p:cNvPr id="21" name="TextBox 20"/>
          <p:cNvSpPr txBox="1"/>
          <p:nvPr/>
        </p:nvSpPr>
        <p:spPr>
          <a:xfrm>
            <a:off x="1097280" y="9509760"/>
            <a:ext cx="585216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read-only, independent review</a:t>
            </a:r>
          </a:p>
        </p:txBody>
      </p:sp>
      <p:sp>
        <p:nvSpPr>
          <p:cNvPr id="22" name="TextBox 21"/>
          <p:cNvSpPr txBox="1"/>
          <p:nvPr/>
        </p:nvSpPr>
        <p:spPr>
          <a:xfrm>
            <a:off x="7726679" y="2880360"/>
            <a:ext cx="82296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3D9BC8"/>
                </a:solidFill>
              </a:rPr>
              <a:t>TRY ASKING</a:t>
            </a:r>
          </a:p>
        </p:txBody>
      </p:sp>
      <p:sp>
        <p:nvSpPr>
          <p:cNvPr id="23" name="Rounded Rectangle 22"/>
          <p:cNvSpPr/>
          <p:nvPr/>
        </p:nvSpPr>
        <p:spPr>
          <a:xfrm>
            <a:off x="7726679" y="3337560"/>
            <a:ext cx="8412480" cy="1024128"/>
          </a:xfrm>
          <a:prstGeom prst="roundRect">
            <a:avLst>
              <a:gd name="adj" fmla="val 25000"/>
            </a:avLst>
          </a:prstGeom>
          <a:solidFill>
            <a:srgbClr val="F6F8FA"/>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863840" y="3520440"/>
            <a:ext cx="658368" cy="658368"/>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uMessageCircle.png"/>
          <p:cNvPicPr>
            <a:picLocks noChangeAspect="1"/>
          </p:cNvPicPr>
          <p:nvPr/>
        </p:nvPicPr>
        <p:blipFill>
          <a:blip r:embed="rId4"/>
          <a:stretch>
            <a:fillRect/>
          </a:stretch>
        </p:blipFill>
        <p:spPr>
          <a:xfrm>
            <a:off x="8021848" y="3678448"/>
            <a:ext cx="342351" cy="342351"/>
          </a:xfrm>
          <a:prstGeom prst="rect">
            <a:avLst/>
          </a:prstGeom>
        </p:spPr>
      </p:pic>
      <p:sp>
        <p:nvSpPr>
          <p:cNvPr id="26" name="TextBox 25"/>
          <p:cNvSpPr txBox="1"/>
          <p:nvPr/>
        </p:nvSpPr>
        <p:spPr>
          <a:xfrm>
            <a:off x="8686800" y="3337560"/>
            <a:ext cx="731520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/tap-change-api add a 9-digit numeric rule to routingNumber</a:t>
            </a:r>
          </a:p>
        </p:txBody>
      </p:sp>
      <p:sp>
        <p:nvSpPr>
          <p:cNvPr id="27" name="Rounded Rectangle 26"/>
          <p:cNvSpPr/>
          <p:nvPr/>
        </p:nvSpPr>
        <p:spPr>
          <a:xfrm>
            <a:off x="7726679" y="4526280"/>
            <a:ext cx="8412480" cy="1024128"/>
          </a:xfrm>
          <a:prstGeom prst="roundRect">
            <a:avLst>
              <a:gd name="adj" fmla="val 25000"/>
            </a:avLst>
          </a:prstGeom>
          <a:solidFill>
            <a:srgbClr val="F6F8FA"/>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863840" y="4709160"/>
            <a:ext cx="658368" cy="658368"/>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LuMessageCircle.png"/>
          <p:cNvPicPr>
            <a:picLocks noChangeAspect="1"/>
          </p:cNvPicPr>
          <p:nvPr/>
        </p:nvPicPr>
        <p:blipFill>
          <a:blip r:embed="rId4"/>
          <a:stretch>
            <a:fillRect/>
          </a:stretch>
        </p:blipFill>
        <p:spPr>
          <a:xfrm>
            <a:off x="8021848" y="4867168"/>
            <a:ext cx="342351" cy="342351"/>
          </a:xfrm>
          <a:prstGeom prst="rect">
            <a:avLst/>
          </a:prstGeom>
        </p:spPr>
      </p:pic>
      <p:sp>
        <p:nvSpPr>
          <p:cNvPr id="30" name="TextBox 29"/>
          <p:cNvSpPr txBox="1"/>
          <p:nvPr/>
        </p:nvSpPr>
        <p:spPr>
          <a:xfrm>
            <a:off x="8686800" y="4526280"/>
            <a:ext cx="731520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/tap-change-ui show an error when the feed fails (KI-33)</a:t>
            </a:r>
          </a:p>
        </p:txBody>
      </p:sp>
      <p:sp>
        <p:nvSpPr>
          <p:cNvPr id="31" name="Rounded Rectangle 30"/>
          <p:cNvSpPr/>
          <p:nvPr/>
        </p:nvSpPr>
        <p:spPr>
          <a:xfrm>
            <a:off x="7726679" y="5715000"/>
            <a:ext cx="8412480" cy="1024128"/>
          </a:xfrm>
          <a:prstGeom prst="roundRect">
            <a:avLst>
              <a:gd name="adj" fmla="val 25000"/>
            </a:avLst>
          </a:prstGeom>
          <a:solidFill>
            <a:srgbClr val="F6F8FA"/>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7863840" y="5897880"/>
            <a:ext cx="658368" cy="658368"/>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LuMessageCircle.png"/>
          <p:cNvPicPr>
            <a:picLocks noChangeAspect="1"/>
          </p:cNvPicPr>
          <p:nvPr/>
        </p:nvPicPr>
        <p:blipFill>
          <a:blip r:embed="rId4"/>
          <a:stretch>
            <a:fillRect/>
          </a:stretch>
        </p:blipFill>
        <p:spPr>
          <a:xfrm>
            <a:off x="8021848" y="6055888"/>
            <a:ext cx="342351" cy="342351"/>
          </a:xfrm>
          <a:prstGeom prst="rect">
            <a:avLst/>
          </a:prstGeom>
        </p:spPr>
      </p:pic>
      <p:sp>
        <p:nvSpPr>
          <p:cNvPr id="34" name="TextBox 33"/>
          <p:cNvSpPr txBox="1"/>
          <p:nvPr/>
        </p:nvSpPr>
        <p:spPr>
          <a:xfrm>
            <a:off x="8686800" y="5715000"/>
            <a:ext cx="731520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/tap-debug the API starts on 3002 instead of 3001</a:t>
            </a:r>
          </a:p>
        </p:txBody>
      </p:sp>
      <p:sp>
        <p:nvSpPr>
          <p:cNvPr id="35" name="Rounded Rectangle 34"/>
          <p:cNvSpPr/>
          <p:nvPr/>
        </p:nvSpPr>
        <p:spPr>
          <a:xfrm>
            <a:off x="7726679" y="6903720"/>
            <a:ext cx="8412480" cy="1024128"/>
          </a:xfrm>
          <a:prstGeom prst="roundRect">
            <a:avLst>
              <a:gd name="adj" fmla="val 25000"/>
            </a:avLst>
          </a:prstGeom>
          <a:solidFill>
            <a:srgbClr val="F6F8FA"/>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7863840" y="7086600"/>
            <a:ext cx="658368" cy="658368"/>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LuMessageCircle.png"/>
          <p:cNvPicPr>
            <a:picLocks noChangeAspect="1"/>
          </p:cNvPicPr>
          <p:nvPr/>
        </p:nvPicPr>
        <p:blipFill>
          <a:blip r:embed="rId4"/>
          <a:stretch>
            <a:fillRect/>
          </a:stretch>
        </p:blipFill>
        <p:spPr>
          <a:xfrm>
            <a:off x="8021848" y="7244608"/>
            <a:ext cx="342351" cy="342351"/>
          </a:xfrm>
          <a:prstGeom prst="rect">
            <a:avLst/>
          </a:prstGeom>
        </p:spPr>
      </p:pic>
      <p:sp>
        <p:nvSpPr>
          <p:cNvPr id="38" name="TextBox 37"/>
          <p:cNvSpPr txBox="1"/>
          <p:nvPr/>
        </p:nvSpPr>
        <p:spPr>
          <a:xfrm>
            <a:off x="8686800" y="6903720"/>
            <a:ext cx="731520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/tap-review my staged changes</a:t>
            </a:r>
          </a:p>
        </p:txBody>
      </p:sp>
      <p:sp>
        <p:nvSpPr>
          <p:cNvPr id="39" name="TextBox 38"/>
          <p:cNvSpPr txBox="1"/>
          <p:nvPr/>
        </p:nvSpPr>
        <p:spPr>
          <a:xfrm>
            <a:off x="16504920" y="2880360"/>
            <a:ext cx="694944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3D9BC8"/>
                </a:solidFill>
              </a:rPr>
              <a:t>YOU GET</a:t>
            </a:r>
          </a:p>
        </p:txBody>
      </p:sp>
      <p:sp>
        <p:nvSpPr>
          <p:cNvPr id="40" name="Rounded Rectangle 39"/>
          <p:cNvSpPr/>
          <p:nvPr/>
        </p:nvSpPr>
        <p:spPr>
          <a:xfrm>
            <a:off x="16504920" y="3337560"/>
            <a:ext cx="6967728" cy="1024128"/>
          </a:xfrm>
          <a:prstGeom prst="roundRect">
            <a:avLst>
              <a:gd name="adj" fmla="val 2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6642080" y="3520440"/>
            <a:ext cx="658368" cy="658368"/>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LuGitPullRequest.png"/>
          <p:cNvPicPr>
            <a:picLocks noChangeAspect="1"/>
          </p:cNvPicPr>
          <p:nvPr/>
        </p:nvPicPr>
        <p:blipFill>
          <a:blip r:embed="rId5"/>
          <a:stretch>
            <a:fillRect/>
          </a:stretch>
        </p:blipFill>
        <p:spPr>
          <a:xfrm>
            <a:off x="16800088" y="3678448"/>
            <a:ext cx="342351" cy="342351"/>
          </a:xfrm>
          <a:prstGeom prst="rect">
            <a:avLst/>
          </a:prstGeom>
        </p:spPr>
      </p:pic>
      <p:sp>
        <p:nvSpPr>
          <p:cNvPr id="43" name="TextBox 42"/>
          <p:cNvSpPr txBox="1"/>
          <p:nvPr/>
        </p:nvSpPr>
        <p:spPr>
          <a:xfrm>
            <a:off x="17465040" y="3337560"/>
            <a:ext cx="589788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a minimal diff + updated OpenAPI</a:t>
            </a:r>
          </a:p>
        </p:txBody>
      </p:sp>
      <p:sp>
        <p:nvSpPr>
          <p:cNvPr id="44" name="Rounded Rectangle 43"/>
          <p:cNvSpPr/>
          <p:nvPr/>
        </p:nvSpPr>
        <p:spPr>
          <a:xfrm>
            <a:off x="16504920" y="4526280"/>
            <a:ext cx="6967728" cy="1024128"/>
          </a:xfrm>
          <a:prstGeom prst="roundRect">
            <a:avLst>
              <a:gd name="adj" fmla="val 2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16642080" y="4709160"/>
            <a:ext cx="658368" cy="658368"/>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LuFlaskConical.png"/>
          <p:cNvPicPr>
            <a:picLocks noChangeAspect="1"/>
          </p:cNvPicPr>
          <p:nvPr/>
        </p:nvPicPr>
        <p:blipFill>
          <a:blip r:embed="rId6"/>
          <a:stretch>
            <a:fillRect/>
          </a:stretch>
        </p:blipFill>
        <p:spPr>
          <a:xfrm>
            <a:off x="16800088" y="4867168"/>
            <a:ext cx="342351" cy="342351"/>
          </a:xfrm>
          <a:prstGeom prst="rect">
            <a:avLst/>
          </a:prstGeom>
        </p:spPr>
      </p:pic>
      <p:sp>
        <p:nvSpPr>
          <p:cNvPr id="47" name="TextBox 46"/>
          <p:cNvSpPr txBox="1"/>
          <p:nvPr/>
        </p:nvSpPr>
        <p:spPr>
          <a:xfrm>
            <a:off x="17465040" y="4526280"/>
            <a:ext cx="589788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tests updated and green twice</a:t>
            </a:r>
          </a:p>
        </p:txBody>
      </p:sp>
      <p:sp>
        <p:nvSpPr>
          <p:cNvPr id="48" name="Rounded Rectangle 47"/>
          <p:cNvSpPr/>
          <p:nvPr/>
        </p:nvSpPr>
        <p:spPr>
          <a:xfrm>
            <a:off x="16504920" y="5715000"/>
            <a:ext cx="6967728" cy="1024128"/>
          </a:xfrm>
          <a:prstGeom prst="roundRect">
            <a:avLst>
              <a:gd name="adj" fmla="val 2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16642080" y="5897880"/>
            <a:ext cx="658368" cy="658368"/>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LuFileSearch.png"/>
          <p:cNvPicPr>
            <a:picLocks noChangeAspect="1"/>
          </p:cNvPicPr>
          <p:nvPr/>
        </p:nvPicPr>
        <p:blipFill>
          <a:blip r:embed="rId7"/>
          <a:stretch>
            <a:fillRect/>
          </a:stretch>
        </p:blipFill>
        <p:spPr>
          <a:xfrm>
            <a:off x="16800088" y="6055888"/>
            <a:ext cx="342351" cy="342351"/>
          </a:xfrm>
          <a:prstGeom prst="rect">
            <a:avLst/>
          </a:prstGeom>
        </p:spPr>
      </p:pic>
      <p:sp>
        <p:nvSpPr>
          <p:cNvPr id="51" name="TextBox 50"/>
          <p:cNvSpPr txBox="1"/>
          <p:nvPr/>
        </p:nvSpPr>
        <p:spPr>
          <a:xfrm>
            <a:off x="17465040" y="5715000"/>
            <a:ext cx="589788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impact report: which tests to re-run</a:t>
            </a:r>
          </a:p>
        </p:txBody>
      </p:sp>
      <p:sp>
        <p:nvSpPr>
          <p:cNvPr id="52" name="Rounded Rectangle 51"/>
          <p:cNvSpPr/>
          <p:nvPr/>
        </p:nvSpPr>
        <p:spPr>
          <a:xfrm>
            <a:off x="16504920" y="6903720"/>
            <a:ext cx="6967728" cy="1024128"/>
          </a:xfrm>
          <a:prstGeom prst="roundRect">
            <a:avLst>
              <a:gd name="adj" fmla="val 2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Oval 52"/>
          <p:cNvSpPr/>
          <p:nvPr/>
        </p:nvSpPr>
        <p:spPr>
          <a:xfrm>
            <a:off x="16642080" y="7086600"/>
            <a:ext cx="658368" cy="658368"/>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LuNotebookPen.png"/>
          <p:cNvPicPr>
            <a:picLocks noChangeAspect="1"/>
          </p:cNvPicPr>
          <p:nvPr/>
        </p:nvPicPr>
        <p:blipFill>
          <a:blip r:embed="rId8"/>
          <a:stretch>
            <a:fillRect/>
          </a:stretch>
        </p:blipFill>
        <p:spPr>
          <a:xfrm>
            <a:off x="16800088" y="7244608"/>
            <a:ext cx="342351" cy="342351"/>
          </a:xfrm>
          <a:prstGeom prst="rect">
            <a:avLst/>
          </a:prstGeom>
        </p:spPr>
      </p:pic>
      <p:sp>
        <p:nvSpPr>
          <p:cNvPr id="55" name="TextBox 54"/>
          <p:cNvSpPr txBox="1"/>
          <p:nvPr/>
        </p:nvSpPr>
        <p:spPr>
          <a:xfrm>
            <a:off x="17465040" y="6903720"/>
            <a:ext cx="589788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change ledger + hand-off report</a:t>
            </a:r>
          </a:p>
        </p:txBody>
      </p:sp>
      <p:sp>
        <p:nvSpPr>
          <p:cNvPr id="56" name="Rounded Rectangle 55"/>
          <p:cNvSpPr/>
          <p:nvPr/>
        </p:nvSpPr>
        <p:spPr>
          <a:xfrm>
            <a:off x="7726679" y="8138160"/>
            <a:ext cx="15745967" cy="2286000"/>
          </a:xfrm>
          <a:prstGeom prst="roundRect">
            <a:avLst>
              <a:gd name="adj" fmla="val 10000"/>
            </a:avLst>
          </a:prstGeom>
          <a:solidFill>
            <a:srgbClr val="0F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8001000" y="833932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8293608" y="833932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586216" y="833932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006840" y="8211312"/>
            <a:ext cx="14191488"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impact of a change (real impact.mjs output)</a:t>
            </a:r>
          </a:p>
        </p:txBody>
      </p:sp>
      <p:sp>
        <p:nvSpPr>
          <p:cNvPr id="61" name="TextBox 60"/>
          <p:cNvSpPr txBox="1"/>
          <p:nvPr/>
        </p:nvSpPr>
        <p:spPr>
          <a:xfrm>
            <a:off x="8001000" y="8686800"/>
            <a:ext cx="15288767" cy="1600200"/>
          </a:xfrm>
          <a:prstGeom prst="rect">
            <a:avLst/>
          </a:prstGeom>
          <a:noFill/>
        </p:spPr>
        <p:txBody>
          <a:bodyPr wrap="none" lIns="0" rIns="0" tIns="0" bIns="0">
            <a:noAutofit/>
          </a:bodyPr>
          <a:lstStyle/>
          <a:p>
            <a:pPr>
              <a:lnSpc>
                <a:spcPct val="108000"/>
              </a:lnSpc>
              <a:spcBef>
                <a:spcPts val="0"/>
              </a:spcBef>
              <a:spcAft>
                <a:spcPts val="0"/>
              </a:spcAft>
            </a:pPr>
            <a:r>
              <a:rPr sz="1800">
                <a:solidFill>
                  <a:srgbClr val="D7E3EA"/>
                </a:solidFill>
                <a:latin typeface="Consolas"/>
              </a:rPr>
              <a:t>Changed files: 2 (backend-route 1, frontend-component 1)</a:t>
            </a:r>
          </a:p>
          <a:p>
            <a:pPr>
              <a:lnSpc>
                <a:spcPct val="108000"/>
              </a:lnSpc>
              <a:spcBef>
                <a:spcPts val="0"/>
              </a:spcBef>
              <a:spcAft>
                <a:spcPts val="0"/>
              </a:spcAft>
            </a:pPr>
            <a:r>
              <a:rPr sz="1800">
                <a:solidFill>
                  <a:srgbClr val="D7E3EA"/>
                </a:solidFill>
                <a:latin typeface="Consolas"/>
              </a:rPr>
              <a:t>Impacted API routes: 2 · selector changes: 2 · machines: 0</a:t>
            </a:r>
          </a:p>
          <a:p>
            <a:pPr>
              <a:lnSpc>
                <a:spcPct val="108000"/>
              </a:lnSpc>
              <a:spcBef>
                <a:spcPts val="0"/>
              </a:spcBef>
              <a:spcAft>
                <a:spcPts val="0"/>
              </a:spcAft>
            </a:pPr>
            <a:r>
              <a:rPr sz="1800">
                <a:solidFill>
                  <a:srgbClr val="D7E3EA"/>
                </a:solidFill>
                <a:latin typeface="Consolas"/>
              </a:rPr>
              <a:t>Tests to run/review: 17 (6 Playwright, 11 Cypress)</a:t>
            </a:r>
          </a:p>
          <a:p>
            <a:pPr>
              <a:lnSpc>
                <a:spcPct val="108000"/>
              </a:lnSpc>
              <a:spcBef>
                <a:spcPts val="0"/>
              </a:spcBef>
              <a:spcAft>
                <a:spcPts val="0"/>
              </a:spcAft>
            </a:pPr>
            <a:r>
              <a:rPr sz="1800">
                <a:solidFill>
                  <a:srgbClr val="D7E3EA"/>
                </a:solidFill>
                <a:latin typeface="Consolas"/>
              </a:rPr>
              <a:t>1. Fix selector references: sidenav-user-balance → sidenav-balance — run /tap-sync-tests</a:t>
            </a:r>
          </a:p>
        </p:txBody>
      </p:sp>
      <p:sp>
        <p:nvSpPr>
          <p:cNvPr id="62" name="Rounded Rectangle 61"/>
          <p:cNvSpPr/>
          <p:nvPr/>
        </p:nvSpPr>
        <p:spPr>
          <a:xfrm>
            <a:off x="612648" y="10789920"/>
            <a:ext cx="22860000" cy="960120"/>
          </a:xfrm>
          <a:prstGeom prst="roundRect">
            <a:avLst>
              <a:gd name="adj" fmla="val 1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Oval 62"/>
          <p:cNvSpPr/>
          <p:nvPr/>
        </p:nvSpPr>
        <p:spPr>
          <a:xfrm>
            <a:off x="886968" y="10927080"/>
            <a:ext cx="685800" cy="6858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LuLaugh.png"/>
          <p:cNvPicPr>
            <a:picLocks noChangeAspect="1"/>
          </p:cNvPicPr>
          <p:nvPr/>
        </p:nvPicPr>
        <p:blipFill>
          <a:blip r:embed="rId9"/>
          <a:stretch>
            <a:fillRect/>
          </a:stretch>
        </p:blipFill>
        <p:spPr>
          <a:xfrm>
            <a:off x="1051560" y="11091672"/>
            <a:ext cx="356616" cy="356616"/>
          </a:xfrm>
          <a:prstGeom prst="rect">
            <a:avLst/>
          </a:prstGeom>
        </p:spPr>
      </p:pic>
      <p:sp>
        <p:nvSpPr>
          <p:cNvPr id="65" name="TextBox 64"/>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Developers get a pair programmer that never says “works on my machine” — it checks the machine.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TAP26 agents</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FF5640"/>
                </a:solidFill>
              </a:rPr>
              <a:t>AGENTS FOR TESTERS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From charter to green pipeline</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53</a:t>
            </a:r>
          </a:p>
        </p:txBody>
      </p:sp>
      <p:sp>
        <p:nvSpPr>
          <p:cNvPr id="6" name="Rounded Rectangle 5"/>
          <p:cNvSpPr/>
          <p:nvPr/>
        </p:nvSpPr>
        <p:spPr>
          <a:xfrm>
            <a:off x="612648" y="2926080"/>
            <a:ext cx="6766560" cy="7498079"/>
          </a:xfrm>
          <a:prstGeom prst="roundRect">
            <a:avLst>
              <a:gd name="adj" fmla="val 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68680" y="3154680"/>
            <a:ext cx="1097280" cy="109728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FlaskConical.png"/>
          <p:cNvPicPr>
            <a:picLocks noChangeAspect="1"/>
          </p:cNvPicPr>
          <p:nvPr/>
        </p:nvPicPr>
        <p:blipFill>
          <a:blip r:embed="rId3"/>
          <a:stretch>
            <a:fillRect/>
          </a:stretch>
        </p:blipFill>
        <p:spPr>
          <a:xfrm>
            <a:off x="1132027" y="3418027"/>
            <a:ext cx="570585" cy="570585"/>
          </a:xfrm>
          <a:prstGeom prst="rect">
            <a:avLst/>
          </a:prstGeom>
        </p:spPr>
      </p:pic>
      <p:sp>
        <p:nvSpPr>
          <p:cNvPr id="9" name="TextBox 8"/>
          <p:cNvSpPr txBox="1"/>
          <p:nvPr/>
        </p:nvSpPr>
        <p:spPr>
          <a:xfrm>
            <a:off x="2194560" y="3154680"/>
            <a:ext cx="502920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1" i="0">
                <a:solidFill>
                  <a:srgbClr val="192B37"/>
                </a:solidFill>
              </a:rPr>
              <a:t>Your agents</a:t>
            </a:r>
          </a:p>
        </p:txBody>
      </p:sp>
      <p:sp>
        <p:nvSpPr>
          <p:cNvPr id="10" name="Rounded Rectangle 9"/>
          <p:cNvSpPr/>
          <p:nvPr/>
        </p:nvSpPr>
        <p:spPr>
          <a:xfrm>
            <a:off x="868680" y="4526280"/>
            <a:ext cx="6263640" cy="129844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97280" y="4617720"/>
            <a:ext cx="585216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00A859"/>
                </a:solidFill>
              </a:rPr>
              <a:t>api-automation · ui-automation</a:t>
            </a:r>
          </a:p>
        </p:txBody>
      </p:sp>
      <p:sp>
        <p:nvSpPr>
          <p:cNvPr id="12" name="TextBox 11"/>
          <p:cNvSpPr txBox="1"/>
          <p:nvPr/>
        </p:nvSpPr>
        <p:spPr>
          <a:xfrm>
            <a:off x="1097280" y="5120640"/>
            <a:ext cx="585216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functional Playwright specs</a:t>
            </a:r>
          </a:p>
        </p:txBody>
      </p:sp>
      <p:sp>
        <p:nvSpPr>
          <p:cNvPr id="13" name="Rounded Rectangle 12"/>
          <p:cNvSpPr/>
          <p:nvPr/>
        </p:nvSpPr>
        <p:spPr>
          <a:xfrm>
            <a:off x="868680" y="5989320"/>
            <a:ext cx="6263640" cy="129844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97280" y="6080760"/>
            <a:ext cx="585216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00A859"/>
                </a:solidFill>
              </a:rPr>
              <a:t>e2e-architect</a:t>
            </a:r>
          </a:p>
        </p:txBody>
      </p:sp>
      <p:sp>
        <p:nvSpPr>
          <p:cNvPr id="15" name="TextBox 14"/>
          <p:cNvSpPr txBox="1"/>
          <p:nvPr/>
        </p:nvSpPr>
        <p:spPr>
          <a:xfrm>
            <a:off x="1097280" y="6583680"/>
            <a:ext cx="585216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cross-layer journeys (D-006)</a:t>
            </a:r>
          </a:p>
        </p:txBody>
      </p:sp>
      <p:sp>
        <p:nvSpPr>
          <p:cNvPr id="16" name="Rounded Rectangle 15"/>
          <p:cNvSpPr/>
          <p:nvPr/>
        </p:nvSpPr>
        <p:spPr>
          <a:xfrm>
            <a:off x="868680" y="7452360"/>
            <a:ext cx="6263640" cy="129844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97280" y="7543800"/>
            <a:ext cx="585216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00A859"/>
                </a:solidFill>
              </a:rPr>
              <a:t>manual-tester</a:t>
            </a:r>
          </a:p>
        </p:txBody>
      </p:sp>
      <p:sp>
        <p:nvSpPr>
          <p:cNvPr id="18" name="TextBox 17"/>
          <p:cNvSpPr txBox="1"/>
          <p:nvPr/>
        </p:nvSpPr>
        <p:spPr>
          <a:xfrm>
            <a:off x="1097280" y="8046720"/>
            <a:ext cx="585216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charters, test cases, Gherkin</a:t>
            </a:r>
          </a:p>
        </p:txBody>
      </p:sp>
      <p:sp>
        <p:nvSpPr>
          <p:cNvPr id="19" name="Rounded Rectangle 18"/>
          <p:cNvSpPr/>
          <p:nvPr/>
        </p:nvSpPr>
        <p:spPr>
          <a:xfrm>
            <a:off x="868680" y="8915400"/>
            <a:ext cx="6263640" cy="129844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97280" y="9006840"/>
            <a:ext cx="585216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00A859"/>
                </a:solidFill>
              </a:rPr>
              <a:t>a11y · perf · security</a:t>
            </a:r>
          </a:p>
        </p:txBody>
      </p:sp>
      <p:sp>
        <p:nvSpPr>
          <p:cNvPr id="21" name="TextBox 20"/>
          <p:cNvSpPr txBox="1"/>
          <p:nvPr/>
        </p:nvSpPr>
        <p:spPr>
          <a:xfrm>
            <a:off x="1097280" y="9509760"/>
            <a:ext cx="585216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axe, p95 smoke, OWASP lens</a:t>
            </a:r>
          </a:p>
        </p:txBody>
      </p:sp>
      <p:sp>
        <p:nvSpPr>
          <p:cNvPr id="22" name="TextBox 21"/>
          <p:cNvSpPr txBox="1"/>
          <p:nvPr/>
        </p:nvSpPr>
        <p:spPr>
          <a:xfrm>
            <a:off x="7726679" y="2880360"/>
            <a:ext cx="82296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00A859"/>
                </a:solidFill>
              </a:rPr>
              <a:t>TRY ASKING</a:t>
            </a:r>
          </a:p>
        </p:txBody>
      </p:sp>
      <p:sp>
        <p:nvSpPr>
          <p:cNvPr id="23" name="Rounded Rectangle 22"/>
          <p:cNvSpPr/>
          <p:nvPr/>
        </p:nvSpPr>
        <p:spPr>
          <a:xfrm>
            <a:off x="7726679" y="3337560"/>
            <a:ext cx="8412480" cy="1024128"/>
          </a:xfrm>
          <a:prstGeom prst="roundRect">
            <a:avLst>
              <a:gd name="adj" fmla="val 25000"/>
            </a:avLst>
          </a:prstGeom>
          <a:solidFill>
            <a:srgbClr val="F6F8FA"/>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863840" y="3520440"/>
            <a:ext cx="658368" cy="658368"/>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uMessageCircle.png"/>
          <p:cNvPicPr>
            <a:picLocks noChangeAspect="1"/>
          </p:cNvPicPr>
          <p:nvPr/>
        </p:nvPicPr>
        <p:blipFill>
          <a:blip r:embed="rId4"/>
          <a:stretch>
            <a:fillRect/>
          </a:stretch>
        </p:blipFill>
        <p:spPr>
          <a:xfrm>
            <a:off x="8021848" y="3678448"/>
            <a:ext cx="342351" cy="342351"/>
          </a:xfrm>
          <a:prstGeom prst="rect">
            <a:avLst/>
          </a:prstGeom>
        </p:spPr>
      </p:pic>
      <p:sp>
        <p:nvSpPr>
          <p:cNvPr id="26" name="TextBox 25"/>
          <p:cNvSpPr txBox="1"/>
          <p:nvPr/>
        </p:nvSpPr>
        <p:spPr>
          <a:xfrm>
            <a:off x="8686800" y="3337560"/>
            <a:ext cx="731520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/tap-new-test api: rejecting a request must not move money</a:t>
            </a:r>
          </a:p>
        </p:txBody>
      </p:sp>
      <p:sp>
        <p:nvSpPr>
          <p:cNvPr id="27" name="Rounded Rectangle 26"/>
          <p:cNvSpPr/>
          <p:nvPr/>
        </p:nvSpPr>
        <p:spPr>
          <a:xfrm>
            <a:off x="7726679" y="4526280"/>
            <a:ext cx="8412480" cy="1024128"/>
          </a:xfrm>
          <a:prstGeom prst="roundRect">
            <a:avLst>
              <a:gd name="adj" fmla="val 25000"/>
            </a:avLst>
          </a:prstGeom>
          <a:solidFill>
            <a:srgbClr val="F6F8FA"/>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863840" y="4709160"/>
            <a:ext cx="658368" cy="658368"/>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LuMessageCircle.png"/>
          <p:cNvPicPr>
            <a:picLocks noChangeAspect="1"/>
          </p:cNvPicPr>
          <p:nvPr/>
        </p:nvPicPr>
        <p:blipFill>
          <a:blip r:embed="rId4"/>
          <a:stretch>
            <a:fillRect/>
          </a:stretch>
        </p:blipFill>
        <p:spPr>
          <a:xfrm>
            <a:off x="8021848" y="4867168"/>
            <a:ext cx="342351" cy="342351"/>
          </a:xfrm>
          <a:prstGeom prst="rect">
            <a:avLst/>
          </a:prstGeom>
        </p:spPr>
      </p:pic>
      <p:sp>
        <p:nvSpPr>
          <p:cNvPr id="30" name="TextBox 29"/>
          <p:cNvSpPr txBox="1"/>
          <p:nvPr/>
        </p:nvSpPr>
        <p:spPr>
          <a:xfrm>
            <a:off x="8686800" y="4526280"/>
            <a:ext cx="731520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/tap-test-cases new transaction — boundary values</a:t>
            </a:r>
          </a:p>
        </p:txBody>
      </p:sp>
      <p:sp>
        <p:nvSpPr>
          <p:cNvPr id="31" name="Rounded Rectangle 30"/>
          <p:cNvSpPr/>
          <p:nvPr/>
        </p:nvSpPr>
        <p:spPr>
          <a:xfrm>
            <a:off x="7726679" y="5715000"/>
            <a:ext cx="8412480" cy="1024128"/>
          </a:xfrm>
          <a:prstGeom prst="roundRect">
            <a:avLst>
              <a:gd name="adj" fmla="val 25000"/>
            </a:avLst>
          </a:prstGeom>
          <a:solidFill>
            <a:srgbClr val="F6F8FA"/>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7863840" y="5897880"/>
            <a:ext cx="658368" cy="658368"/>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LuMessageCircle.png"/>
          <p:cNvPicPr>
            <a:picLocks noChangeAspect="1"/>
          </p:cNvPicPr>
          <p:nvPr/>
        </p:nvPicPr>
        <p:blipFill>
          <a:blip r:embed="rId4"/>
          <a:stretch>
            <a:fillRect/>
          </a:stretch>
        </p:blipFill>
        <p:spPr>
          <a:xfrm>
            <a:off x="8021848" y="6055888"/>
            <a:ext cx="342351" cy="342351"/>
          </a:xfrm>
          <a:prstGeom prst="rect">
            <a:avLst/>
          </a:prstGeom>
        </p:spPr>
      </p:pic>
      <p:sp>
        <p:nvSpPr>
          <p:cNvPr id="34" name="TextBox 33"/>
          <p:cNvSpPr txBox="1"/>
          <p:nvPr/>
        </p:nvSpPr>
        <p:spPr>
          <a:xfrm>
            <a:off x="8686800" y="5715000"/>
            <a:ext cx="731520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/tap-e2e sign up → onboarding → first payment</a:t>
            </a:r>
          </a:p>
        </p:txBody>
      </p:sp>
      <p:sp>
        <p:nvSpPr>
          <p:cNvPr id="35" name="Rounded Rectangle 34"/>
          <p:cNvSpPr/>
          <p:nvPr/>
        </p:nvSpPr>
        <p:spPr>
          <a:xfrm>
            <a:off x="7726679" y="6903720"/>
            <a:ext cx="8412480" cy="1024128"/>
          </a:xfrm>
          <a:prstGeom prst="roundRect">
            <a:avLst>
              <a:gd name="adj" fmla="val 25000"/>
            </a:avLst>
          </a:prstGeom>
          <a:solidFill>
            <a:srgbClr val="F6F8FA"/>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7863840" y="7086600"/>
            <a:ext cx="658368" cy="658368"/>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LuMessageCircle.png"/>
          <p:cNvPicPr>
            <a:picLocks noChangeAspect="1"/>
          </p:cNvPicPr>
          <p:nvPr/>
        </p:nvPicPr>
        <p:blipFill>
          <a:blip r:embed="rId4"/>
          <a:stretch>
            <a:fillRect/>
          </a:stretch>
        </p:blipFill>
        <p:spPr>
          <a:xfrm>
            <a:off x="8021848" y="7244608"/>
            <a:ext cx="342351" cy="342351"/>
          </a:xfrm>
          <a:prstGeom prst="rect">
            <a:avLst/>
          </a:prstGeom>
        </p:spPr>
      </p:pic>
      <p:sp>
        <p:nvSpPr>
          <p:cNvPr id="38" name="TextBox 37"/>
          <p:cNvSpPr txBox="1"/>
          <p:nvPr/>
        </p:nvSpPr>
        <p:spPr>
          <a:xfrm>
            <a:off x="8686800" y="6903720"/>
            <a:ext cx="731520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/tap-security IDOR matrix user A vs user B</a:t>
            </a:r>
          </a:p>
        </p:txBody>
      </p:sp>
      <p:sp>
        <p:nvSpPr>
          <p:cNvPr id="39" name="TextBox 38"/>
          <p:cNvSpPr txBox="1"/>
          <p:nvPr/>
        </p:nvSpPr>
        <p:spPr>
          <a:xfrm>
            <a:off x="16504920" y="2880360"/>
            <a:ext cx="694944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00A859"/>
                </a:solidFill>
              </a:rPr>
              <a:t>YOU GET</a:t>
            </a:r>
          </a:p>
        </p:txBody>
      </p:sp>
      <p:sp>
        <p:nvSpPr>
          <p:cNvPr id="40" name="Rounded Rectangle 39"/>
          <p:cNvSpPr/>
          <p:nvPr/>
        </p:nvSpPr>
        <p:spPr>
          <a:xfrm>
            <a:off x="16504920" y="3337560"/>
            <a:ext cx="6967728" cy="1024128"/>
          </a:xfrm>
          <a:prstGeom prst="roundRect">
            <a:avLst>
              <a:gd name="adj" fmla="val 2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6642080" y="3520440"/>
            <a:ext cx="658368" cy="658368"/>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LuListChecks.png"/>
          <p:cNvPicPr>
            <a:picLocks noChangeAspect="1"/>
          </p:cNvPicPr>
          <p:nvPr/>
        </p:nvPicPr>
        <p:blipFill>
          <a:blip r:embed="rId5"/>
          <a:stretch>
            <a:fillRect/>
          </a:stretch>
        </p:blipFill>
        <p:spPr>
          <a:xfrm>
            <a:off x="16800088" y="3678448"/>
            <a:ext cx="342351" cy="342351"/>
          </a:xfrm>
          <a:prstGeom prst="rect">
            <a:avLst/>
          </a:prstGeom>
        </p:spPr>
      </p:pic>
      <p:sp>
        <p:nvSpPr>
          <p:cNvPr id="43" name="TextBox 42"/>
          <p:cNvSpPr txBox="1"/>
          <p:nvPr/>
        </p:nvSpPr>
        <p:spPr>
          <a:xfrm>
            <a:off x="17465040" y="3337560"/>
            <a:ext cx="589788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specs that follow the framework rules</a:t>
            </a:r>
          </a:p>
        </p:txBody>
      </p:sp>
      <p:sp>
        <p:nvSpPr>
          <p:cNvPr id="44" name="Rounded Rectangle 43"/>
          <p:cNvSpPr/>
          <p:nvPr/>
        </p:nvSpPr>
        <p:spPr>
          <a:xfrm>
            <a:off x="16504920" y="4526280"/>
            <a:ext cx="6967728" cy="1024128"/>
          </a:xfrm>
          <a:prstGeom prst="roundRect">
            <a:avLst>
              <a:gd name="adj" fmla="val 2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16642080" y="4709160"/>
            <a:ext cx="658368" cy="658368"/>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LuClipboardList.png"/>
          <p:cNvPicPr>
            <a:picLocks noChangeAspect="1"/>
          </p:cNvPicPr>
          <p:nvPr/>
        </p:nvPicPr>
        <p:blipFill>
          <a:blip r:embed="rId6"/>
          <a:stretch>
            <a:fillRect/>
          </a:stretch>
        </p:blipFill>
        <p:spPr>
          <a:xfrm>
            <a:off x="16800088" y="4867168"/>
            <a:ext cx="342351" cy="342351"/>
          </a:xfrm>
          <a:prstGeom prst="rect">
            <a:avLst/>
          </a:prstGeom>
        </p:spPr>
      </p:pic>
      <p:sp>
        <p:nvSpPr>
          <p:cNvPr id="47" name="TextBox 46"/>
          <p:cNvSpPr txBox="1"/>
          <p:nvPr/>
        </p:nvSpPr>
        <p:spPr>
          <a:xfrm>
            <a:off x="17465040" y="4526280"/>
            <a:ext cx="589788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test plans and manual test cases</a:t>
            </a:r>
          </a:p>
        </p:txBody>
      </p:sp>
      <p:sp>
        <p:nvSpPr>
          <p:cNvPr id="48" name="Rounded Rectangle 47"/>
          <p:cNvSpPr/>
          <p:nvPr/>
        </p:nvSpPr>
        <p:spPr>
          <a:xfrm>
            <a:off x="16504920" y="5715000"/>
            <a:ext cx="6967728" cy="1024128"/>
          </a:xfrm>
          <a:prstGeom prst="roundRect">
            <a:avLst>
              <a:gd name="adj" fmla="val 2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16642080" y="5897880"/>
            <a:ext cx="658368" cy="658368"/>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LuBug.png"/>
          <p:cNvPicPr>
            <a:picLocks noChangeAspect="1"/>
          </p:cNvPicPr>
          <p:nvPr/>
        </p:nvPicPr>
        <p:blipFill>
          <a:blip r:embed="rId7"/>
          <a:stretch>
            <a:fillRect/>
          </a:stretch>
        </p:blipFill>
        <p:spPr>
          <a:xfrm>
            <a:off x="16800088" y="6055888"/>
            <a:ext cx="342351" cy="342351"/>
          </a:xfrm>
          <a:prstGeom prst="rect">
            <a:avLst/>
          </a:prstGeom>
        </p:spPr>
      </p:pic>
      <p:sp>
        <p:nvSpPr>
          <p:cNvPr id="51" name="TextBox 50"/>
          <p:cNvSpPr txBox="1"/>
          <p:nvPr/>
        </p:nvSpPr>
        <p:spPr>
          <a:xfrm>
            <a:off x="17465040" y="5715000"/>
            <a:ext cx="589788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BUG-### reports with repro steps</a:t>
            </a:r>
          </a:p>
        </p:txBody>
      </p:sp>
      <p:sp>
        <p:nvSpPr>
          <p:cNvPr id="52" name="Rounded Rectangle 51"/>
          <p:cNvSpPr/>
          <p:nvPr/>
        </p:nvSpPr>
        <p:spPr>
          <a:xfrm>
            <a:off x="16504920" y="6903720"/>
            <a:ext cx="6967728" cy="1024128"/>
          </a:xfrm>
          <a:prstGeom prst="roundRect">
            <a:avLst>
              <a:gd name="adj" fmla="val 2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Oval 52"/>
          <p:cNvSpPr/>
          <p:nvPr/>
        </p:nvSpPr>
        <p:spPr>
          <a:xfrm>
            <a:off x="16642080" y="7086600"/>
            <a:ext cx="658368" cy="658368"/>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LuChartBar.png"/>
          <p:cNvPicPr>
            <a:picLocks noChangeAspect="1"/>
          </p:cNvPicPr>
          <p:nvPr/>
        </p:nvPicPr>
        <p:blipFill>
          <a:blip r:embed="rId8"/>
          <a:stretch>
            <a:fillRect/>
          </a:stretch>
        </p:blipFill>
        <p:spPr>
          <a:xfrm>
            <a:off x="16800088" y="7244608"/>
            <a:ext cx="342351" cy="342351"/>
          </a:xfrm>
          <a:prstGeom prst="rect">
            <a:avLst/>
          </a:prstGeom>
        </p:spPr>
      </p:pic>
      <p:sp>
        <p:nvSpPr>
          <p:cNvPr id="55" name="TextBox 54"/>
          <p:cNvSpPr txBox="1"/>
          <p:nvPr/>
        </p:nvSpPr>
        <p:spPr>
          <a:xfrm>
            <a:off x="17465040" y="6903720"/>
            <a:ext cx="589788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a11y / perf / security reports</a:t>
            </a:r>
          </a:p>
        </p:txBody>
      </p:sp>
      <p:sp>
        <p:nvSpPr>
          <p:cNvPr id="56" name="Rounded Rectangle 55"/>
          <p:cNvSpPr/>
          <p:nvPr/>
        </p:nvSpPr>
        <p:spPr>
          <a:xfrm>
            <a:off x="7726679" y="8138160"/>
            <a:ext cx="15745967" cy="2286000"/>
          </a:xfrm>
          <a:prstGeom prst="roundRect">
            <a:avLst>
              <a:gd name="adj" fmla="val 10000"/>
            </a:avLst>
          </a:prstGeom>
          <a:solidFill>
            <a:srgbClr val="0F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8001000" y="833932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8293608" y="833932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586216" y="833932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006840" y="8211312"/>
            <a:ext cx="14191488"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real test run</a:t>
            </a:r>
          </a:p>
        </p:txBody>
      </p:sp>
      <p:sp>
        <p:nvSpPr>
          <p:cNvPr id="61" name="TextBox 60"/>
          <p:cNvSpPr txBox="1"/>
          <p:nvPr/>
        </p:nvSpPr>
        <p:spPr>
          <a:xfrm>
            <a:off x="8001000" y="8686800"/>
            <a:ext cx="15288767" cy="1600200"/>
          </a:xfrm>
          <a:prstGeom prst="rect">
            <a:avLst/>
          </a:prstGeom>
          <a:noFill/>
        </p:spPr>
        <p:txBody>
          <a:bodyPr wrap="none" lIns="0" rIns="0" tIns="0" bIns="0">
            <a:noAutofit/>
          </a:bodyPr>
          <a:lstStyle/>
          <a:p>
            <a:pPr>
              <a:lnSpc>
                <a:spcPct val="108000"/>
              </a:lnSpc>
              <a:spcBef>
                <a:spcPts val="0"/>
              </a:spcBef>
              <a:spcAft>
                <a:spcPts val="0"/>
              </a:spcAft>
            </a:pPr>
            <a:r>
              <a:rPr sz="1800">
                <a:solidFill>
                  <a:srgbClr val="7EE787"/>
                </a:solidFill>
                <a:latin typeface="Consolas"/>
              </a:rPr>
              <a:t>✓ [ui-desktop] › auth.spec.ts › should redirect to the home page after login (3.4s)</a:t>
            </a:r>
          </a:p>
          <a:p>
            <a:pPr>
              <a:lnSpc>
                <a:spcPct val="108000"/>
              </a:lnSpc>
              <a:spcBef>
                <a:spcPts val="0"/>
              </a:spcBef>
              <a:spcAft>
                <a:spcPts val="0"/>
              </a:spcAft>
            </a:pPr>
            <a:r>
              <a:rPr sz="1800">
                <a:solidFill>
                  <a:srgbClr val="7EE787"/>
                </a:solidFill>
                <a:latin typeface="Consolas"/>
              </a:rPr>
              <a:t>✓ [ui-mobile]  › a11y.spec.ts › notifications has no new critical axe violations (5.1s)</a:t>
            </a:r>
          </a:p>
          <a:p>
            <a:pPr>
              <a:lnSpc>
                <a:spcPct val="108000"/>
              </a:lnSpc>
              <a:spcBef>
                <a:spcPts val="0"/>
              </a:spcBef>
              <a:spcAft>
                <a:spcPts val="0"/>
              </a:spcAft>
            </a:pPr>
            <a:r>
              <a:rPr sz="1800">
                <a:solidFill>
                  <a:srgbClr val="7EE787"/>
                </a:solidFill>
                <a:latin typeface="Consolas"/>
              </a:rPr>
              <a:t>  223 passed · 1 skipped (12.1m)</a:t>
            </a:r>
          </a:p>
        </p:txBody>
      </p:sp>
      <p:sp>
        <p:nvSpPr>
          <p:cNvPr id="62" name="Rounded Rectangle 61"/>
          <p:cNvSpPr/>
          <p:nvPr/>
        </p:nvSpPr>
        <p:spPr>
          <a:xfrm>
            <a:off x="612648" y="10789920"/>
            <a:ext cx="22860000" cy="960120"/>
          </a:xfrm>
          <a:prstGeom prst="roundRect">
            <a:avLst>
              <a:gd name="adj" fmla="val 1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Oval 62"/>
          <p:cNvSpPr/>
          <p:nvPr/>
        </p:nvSpPr>
        <p:spPr>
          <a:xfrm>
            <a:off x="886968" y="10927080"/>
            <a:ext cx="685800" cy="6858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LuLaugh.png"/>
          <p:cNvPicPr>
            <a:picLocks noChangeAspect="1"/>
          </p:cNvPicPr>
          <p:nvPr/>
        </p:nvPicPr>
        <p:blipFill>
          <a:blip r:embed="rId9"/>
          <a:stretch>
            <a:fillRect/>
          </a:stretch>
        </p:blipFill>
        <p:spPr>
          <a:xfrm>
            <a:off x="1051560" y="11091672"/>
            <a:ext cx="356616" cy="356616"/>
          </a:xfrm>
          <a:prstGeom prst="rect">
            <a:avLst/>
          </a:prstGeom>
        </p:spPr>
      </p:pic>
      <p:sp>
        <p:nvSpPr>
          <p:cNvPr id="65" name="TextBox 64"/>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Testers get eight new colleagues. None of them argue about whether it's a bug or a feature.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TAP26 agents</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FF5640"/>
                </a:solidFill>
              </a:rPr>
              <a:t>AGENTS FOR BUSINESS ANALYSTS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Stories, rules and flows — grounded in the real app</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54</a:t>
            </a:r>
          </a:p>
        </p:txBody>
      </p:sp>
      <p:sp>
        <p:nvSpPr>
          <p:cNvPr id="6" name="Rounded Rectangle 5"/>
          <p:cNvSpPr/>
          <p:nvPr/>
        </p:nvSpPr>
        <p:spPr>
          <a:xfrm>
            <a:off x="612648" y="2926080"/>
            <a:ext cx="6766560" cy="7498079"/>
          </a:xfrm>
          <a:prstGeom prst="roundRect">
            <a:avLst>
              <a:gd name="adj" fmla="val 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68680" y="3154680"/>
            <a:ext cx="1097280" cy="109728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ClipboardList.png"/>
          <p:cNvPicPr>
            <a:picLocks noChangeAspect="1"/>
          </p:cNvPicPr>
          <p:nvPr/>
        </p:nvPicPr>
        <p:blipFill>
          <a:blip r:embed="rId3"/>
          <a:stretch>
            <a:fillRect/>
          </a:stretch>
        </p:blipFill>
        <p:spPr>
          <a:xfrm>
            <a:off x="1132027" y="3418027"/>
            <a:ext cx="570585" cy="570585"/>
          </a:xfrm>
          <a:prstGeom prst="rect">
            <a:avLst/>
          </a:prstGeom>
        </p:spPr>
      </p:pic>
      <p:sp>
        <p:nvSpPr>
          <p:cNvPr id="9" name="TextBox 8"/>
          <p:cNvSpPr txBox="1"/>
          <p:nvPr/>
        </p:nvSpPr>
        <p:spPr>
          <a:xfrm>
            <a:off x="2194560" y="3154680"/>
            <a:ext cx="502920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1" i="0">
                <a:solidFill>
                  <a:srgbClr val="192B37"/>
                </a:solidFill>
              </a:rPr>
              <a:t>Your agents</a:t>
            </a:r>
          </a:p>
        </p:txBody>
      </p:sp>
      <p:sp>
        <p:nvSpPr>
          <p:cNvPr id="10" name="Rounded Rectangle 9"/>
          <p:cNvSpPr/>
          <p:nvPr/>
        </p:nvSpPr>
        <p:spPr>
          <a:xfrm>
            <a:off x="868680" y="4526280"/>
            <a:ext cx="6263640" cy="129844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97280" y="4617720"/>
            <a:ext cx="585216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8683C3"/>
                </a:solidFill>
              </a:rPr>
              <a:t>business-analyst</a:t>
            </a:r>
          </a:p>
        </p:txBody>
      </p:sp>
      <p:sp>
        <p:nvSpPr>
          <p:cNvPr id="12" name="TextBox 11"/>
          <p:cNvSpPr txBox="1"/>
          <p:nvPr/>
        </p:nvSpPr>
        <p:spPr>
          <a:xfrm>
            <a:off x="1097280" y="5120640"/>
            <a:ext cx="585216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INVEST stories, Gherkin ACs, glossary</a:t>
            </a:r>
          </a:p>
        </p:txBody>
      </p:sp>
      <p:sp>
        <p:nvSpPr>
          <p:cNvPr id="13" name="Rounded Rectangle 12"/>
          <p:cNvSpPr/>
          <p:nvPr/>
        </p:nvSpPr>
        <p:spPr>
          <a:xfrm>
            <a:off x="868680" y="5989320"/>
            <a:ext cx="6263640" cy="129844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97280" y="6080760"/>
            <a:ext cx="585216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8683C3"/>
                </a:solidFill>
              </a:rPr>
              <a:t>ux-designer</a:t>
            </a:r>
          </a:p>
        </p:txBody>
      </p:sp>
      <p:sp>
        <p:nvSpPr>
          <p:cNvPr id="15" name="TextBox 14"/>
          <p:cNvSpPr txBox="1"/>
          <p:nvPr/>
        </p:nvSpPr>
        <p:spPr>
          <a:xfrm>
            <a:off x="1097280" y="6583680"/>
            <a:ext cx="585216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heuristics review, flows, microcopy</a:t>
            </a:r>
          </a:p>
        </p:txBody>
      </p:sp>
      <p:sp>
        <p:nvSpPr>
          <p:cNvPr id="16" name="Rounded Rectangle 15"/>
          <p:cNvSpPr/>
          <p:nvPr/>
        </p:nvSpPr>
        <p:spPr>
          <a:xfrm>
            <a:off x="868680" y="7452360"/>
            <a:ext cx="6263640" cy="129844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97280" y="7543800"/>
            <a:ext cx="585216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8683C3"/>
                </a:solidFill>
              </a:rPr>
              <a:t>qa-lead</a:t>
            </a:r>
          </a:p>
        </p:txBody>
      </p:sp>
      <p:sp>
        <p:nvSpPr>
          <p:cNvPr id="18" name="TextBox 17"/>
          <p:cNvSpPr txBox="1"/>
          <p:nvPr/>
        </p:nvSpPr>
        <p:spPr>
          <a:xfrm>
            <a:off x="1097280" y="8046720"/>
            <a:ext cx="585216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risk-based plans, traceability</a:t>
            </a:r>
          </a:p>
        </p:txBody>
      </p:sp>
      <p:sp>
        <p:nvSpPr>
          <p:cNvPr id="19" name="Rounded Rectangle 18"/>
          <p:cNvSpPr/>
          <p:nvPr/>
        </p:nvSpPr>
        <p:spPr>
          <a:xfrm>
            <a:off x="868680" y="8915400"/>
            <a:ext cx="6263640" cy="129844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97280" y="9006840"/>
            <a:ext cx="585216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8683C3"/>
                </a:solidFill>
              </a:rPr>
              <a:t>researcher</a:t>
            </a:r>
          </a:p>
        </p:txBody>
      </p:sp>
      <p:sp>
        <p:nvSpPr>
          <p:cNvPr id="21" name="TextBox 20"/>
          <p:cNvSpPr txBox="1"/>
          <p:nvPr/>
        </p:nvSpPr>
        <p:spPr>
          <a:xfrm>
            <a:off x="1097280" y="9509760"/>
            <a:ext cx="585216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deep analysis with citations</a:t>
            </a:r>
          </a:p>
        </p:txBody>
      </p:sp>
      <p:sp>
        <p:nvSpPr>
          <p:cNvPr id="22" name="TextBox 21"/>
          <p:cNvSpPr txBox="1"/>
          <p:nvPr/>
        </p:nvSpPr>
        <p:spPr>
          <a:xfrm>
            <a:off x="7726679" y="2880360"/>
            <a:ext cx="82296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8683C3"/>
                </a:solidFill>
              </a:rPr>
              <a:t>TRY ASKING</a:t>
            </a:r>
          </a:p>
        </p:txBody>
      </p:sp>
      <p:sp>
        <p:nvSpPr>
          <p:cNvPr id="23" name="Rounded Rectangle 22"/>
          <p:cNvSpPr/>
          <p:nvPr/>
        </p:nvSpPr>
        <p:spPr>
          <a:xfrm>
            <a:off x="7726679" y="3337560"/>
            <a:ext cx="8412480" cy="1024128"/>
          </a:xfrm>
          <a:prstGeom prst="roundRect">
            <a:avLst>
              <a:gd name="adj" fmla="val 25000"/>
            </a:avLst>
          </a:prstGeom>
          <a:solidFill>
            <a:srgbClr val="F6F8FA"/>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863840" y="3520440"/>
            <a:ext cx="658368" cy="658368"/>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uMessageCircle.png"/>
          <p:cNvPicPr>
            <a:picLocks noChangeAspect="1"/>
          </p:cNvPicPr>
          <p:nvPr/>
        </p:nvPicPr>
        <p:blipFill>
          <a:blip r:embed="rId4"/>
          <a:stretch>
            <a:fillRect/>
          </a:stretch>
        </p:blipFill>
        <p:spPr>
          <a:xfrm>
            <a:off x="8021848" y="3678448"/>
            <a:ext cx="342351" cy="342351"/>
          </a:xfrm>
          <a:prstGeom prst="rect">
            <a:avLst/>
          </a:prstGeom>
        </p:spPr>
      </p:pic>
      <p:sp>
        <p:nvSpPr>
          <p:cNvPr id="26" name="TextBox 25"/>
          <p:cNvSpPr txBox="1"/>
          <p:nvPr/>
        </p:nvSpPr>
        <p:spPr>
          <a:xfrm>
            <a:off x="8686800" y="3337560"/>
            <a:ext cx="731520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/tap-ask ba what are the privacy rules for the Friends feed?</a:t>
            </a:r>
          </a:p>
        </p:txBody>
      </p:sp>
      <p:sp>
        <p:nvSpPr>
          <p:cNvPr id="27" name="Rounded Rectangle 26"/>
          <p:cNvSpPr/>
          <p:nvPr/>
        </p:nvSpPr>
        <p:spPr>
          <a:xfrm>
            <a:off x="7726679" y="4526280"/>
            <a:ext cx="8412480" cy="1024128"/>
          </a:xfrm>
          <a:prstGeom prst="roundRect">
            <a:avLst>
              <a:gd name="adj" fmla="val 25000"/>
            </a:avLst>
          </a:prstGeom>
          <a:solidFill>
            <a:srgbClr val="F6F8FA"/>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863840" y="4709160"/>
            <a:ext cx="658368" cy="658368"/>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LuMessageCircle.png"/>
          <p:cNvPicPr>
            <a:picLocks noChangeAspect="1"/>
          </p:cNvPicPr>
          <p:nvPr/>
        </p:nvPicPr>
        <p:blipFill>
          <a:blip r:embed="rId4"/>
          <a:stretch>
            <a:fillRect/>
          </a:stretch>
        </p:blipFill>
        <p:spPr>
          <a:xfrm>
            <a:off x="8021848" y="4867168"/>
            <a:ext cx="342351" cy="342351"/>
          </a:xfrm>
          <a:prstGeom prst="rect">
            <a:avLst/>
          </a:prstGeom>
        </p:spPr>
      </p:pic>
      <p:sp>
        <p:nvSpPr>
          <p:cNvPr id="30" name="TextBox 29"/>
          <p:cNvSpPr txBox="1"/>
          <p:nvPr/>
        </p:nvSpPr>
        <p:spPr>
          <a:xfrm>
            <a:off x="8686800" y="4526280"/>
            <a:ext cx="731520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/tap-feature add a note field to bank accounts</a:t>
            </a:r>
          </a:p>
        </p:txBody>
      </p:sp>
      <p:sp>
        <p:nvSpPr>
          <p:cNvPr id="31" name="Rounded Rectangle 30"/>
          <p:cNvSpPr/>
          <p:nvPr/>
        </p:nvSpPr>
        <p:spPr>
          <a:xfrm>
            <a:off x="7726679" y="5715000"/>
            <a:ext cx="8412480" cy="1024128"/>
          </a:xfrm>
          <a:prstGeom prst="roundRect">
            <a:avLst>
              <a:gd name="adj" fmla="val 25000"/>
            </a:avLst>
          </a:prstGeom>
          <a:solidFill>
            <a:srgbClr val="F6F8FA"/>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7863840" y="5897880"/>
            <a:ext cx="658368" cy="658368"/>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LuMessageCircle.png"/>
          <p:cNvPicPr>
            <a:picLocks noChangeAspect="1"/>
          </p:cNvPicPr>
          <p:nvPr/>
        </p:nvPicPr>
        <p:blipFill>
          <a:blip r:embed="rId4"/>
          <a:stretch>
            <a:fillRect/>
          </a:stretch>
        </p:blipFill>
        <p:spPr>
          <a:xfrm>
            <a:off x="8021848" y="6055888"/>
            <a:ext cx="342351" cy="342351"/>
          </a:xfrm>
          <a:prstGeom prst="rect">
            <a:avLst/>
          </a:prstGeom>
        </p:spPr>
      </p:pic>
      <p:sp>
        <p:nvSpPr>
          <p:cNvPr id="34" name="TextBox 33"/>
          <p:cNvSpPr txBox="1"/>
          <p:nvPr/>
        </p:nvSpPr>
        <p:spPr>
          <a:xfrm>
            <a:off x="8686800" y="5715000"/>
            <a:ext cx="731520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/tap-ask ux review the empty states on the home feed</a:t>
            </a:r>
          </a:p>
        </p:txBody>
      </p:sp>
      <p:sp>
        <p:nvSpPr>
          <p:cNvPr id="35" name="Rounded Rectangle 34"/>
          <p:cNvSpPr/>
          <p:nvPr/>
        </p:nvSpPr>
        <p:spPr>
          <a:xfrm>
            <a:off x="7726679" y="6903720"/>
            <a:ext cx="8412480" cy="1024128"/>
          </a:xfrm>
          <a:prstGeom prst="roundRect">
            <a:avLst>
              <a:gd name="adj" fmla="val 25000"/>
            </a:avLst>
          </a:prstGeom>
          <a:solidFill>
            <a:srgbClr val="F6F8FA"/>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7863840" y="7086600"/>
            <a:ext cx="658368" cy="658368"/>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LuMessageCircle.png"/>
          <p:cNvPicPr>
            <a:picLocks noChangeAspect="1"/>
          </p:cNvPicPr>
          <p:nvPr/>
        </p:nvPicPr>
        <p:blipFill>
          <a:blip r:embed="rId4"/>
          <a:stretch>
            <a:fillRect/>
          </a:stretch>
        </p:blipFill>
        <p:spPr>
          <a:xfrm>
            <a:off x="8021848" y="7244608"/>
            <a:ext cx="342351" cy="342351"/>
          </a:xfrm>
          <a:prstGeom prst="rect">
            <a:avLst/>
          </a:prstGeom>
        </p:spPr>
      </p:pic>
      <p:sp>
        <p:nvSpPr>
          <p:cNvPr id="38" name="TextBox 37"/>
          <p:cNvSpPr txBox="1"/>
          <p:nvPr/>
        </p:nvSpPr>
        <p:spPr>
          <a:xfrm>
            <a:off x="8686800" y="6903720"/>
            <a:ext cx="731520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/tap-test-plan for the request-money flow</a:t>
            </a:r>
          </a:p>
        </p:txBody>
      </p:sp>
      <p:sp>
        <p:nvSpPr>
          <p:cNvPr id="39" name="TextBox 38"/>
          <p:cNvSpPr txBox="1"/>
          <p:nvPr/>
        </p:nvSpPr>
        <p:spPr>
          <a:xfrm>
            <a:off x="16504920" y="2880360"/>
            <a:ext cx="694944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8683C3"/>
                </a:solidFill>
              </a:rPr>
              <a:t>YOU GET</a:t>
            </a:r>
          </a:p>
        </p:txBody>
      </p:sp>
      <p:sp>
        <p:nvSpPr>
          <p:cNvPr id="40" name="Rounded Rectangle 39"/>
          <p:cNvSpPr/>
          <p:nvPr/>
        </p:nvSpPr>
        <p:spPr>
          <a:xfrm>
            <a:off x="16504920" y="3337560"/>
            <a:ext cx="6967728" cy="1024128"/>
          </a:xfrm>
          <a:prstGeom prst="roundRect">
            <a:avLst>
              <a:gd name="adj" fmla="val 2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6642080" y="3520440"/>
            <a:ext cx="658368" cy="658368"/>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LuBookOpen.png"/>
          <p:cNvPicPr>
            <a:picLocks noChangeAspect="1"/>
          </p:cNvPicPr>
          <p:nvPr/>
        </p:nvPicPr>
        <p:blipFill>
          <a:blip r:embed="rId5"/>
          <a:stretch>
            <a:fillRect/>
          </a:stretch>
        </p:blipFill>
        <p:spPr>
          <a:xfrm>
            <a:off x="16800088" y="3678448"/>
            <a:ext cx="342351" cy="342351"/>
          </a:xfrm>
          <a:prstGeom prst="rect">
            <a:avLst/>
          </a:prstGeom>
        </p:spPr>
      </p:pic>
      <p:sp>
        <p:nvSpPr>
          <p:cNvPr id="43" name="TextBox 42"/>
          <p:cNvSpPr txBox="1"/>
          <p:nvPr/>
        </p:nvSpPr>
        <p:spPr>
          <a:xfrm>
            <a:off x="17465040" y="3337560"/>
            <a:ext cx="589788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user stories with Gherkin acceptance criteria</a:t>
            </a:r>
          </a:p>
        </p:txBody>
      </p:sp>
      <p:sp>
        <p:nvSpPr>
          <p:cNvPr id="44" name="Rounded Rectangle 43"/>
          <p:cNvSpPr/>
          <p:nvPr/>
        </p:nvSpPr>
        <p:spPr>
          <a:xfrm>
            <a:off x="16504920" y="4526280"/>
            <a:ext cx="6967728" cy="1024128"/>
          </a:xfrm>
          <a:prstGeom prst="roundRect">
            <a:avLst>
              <a:gd name="adj" fmla="val 2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16642080" y="4709160"/>
            <a:ext cx="658368" cy="658368"/>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LuWorkflow.png"/>
          <p:cNvPicPr>
            <a:picLocks noChangeAspect="1"/>
          </p:cNvPicPr>
          <p:nvPr/>
        </p:nvPicPr>
        <p:blipFill>
          <a:blip r:embed="rId6"/>
          <a:stretch>
            <a:fillRect/>
          </a:stretch>
        </p:blipFill>
        <p:spPr>
          <a:xfrm>
            <a:off x="16800088" y="4867168"/>
            <a:ext cx="342351" cy="342351"/>
          </a:xfrm>
          <a:prstGeom prst="rect">
            <a:avLst/>
          </a:prstGeom>
        </p:spPr>
      </p:pic>
      <p:sp>
        <p:nvSpPr>
          <p:cNvPr id="47" name="TextBox 46"/>
          <p:cNvSpPr txBox="1"/>
          <p:nvPr/>
        </p:nvSpPr>
        <p:spPr>
          <a:xfrm>
            <a:off x="17465040" y="4526280"/>
            <a:ext cx="589788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Mermaid process flows</a:t>
            </a:r>
          </a:p>
        </p:txBody>
      </p:sp>
      <p:sp>
        <p:nvSpPr>
          <p:cNvPr id="48" name="Rounded Rectangle 47"/>
          <p:cNvSpPr/>
          <p:nvPr/>
        </p:nvSpPr>
        <p:spPr>
          <a:xfrm>
            <a:off x="16504920" y="5715000"/>
            <a:ext cx="6967728" cy="1024128"/>
          </a:xfrm>
          <a:prstGeom prst="roundRect">
            <a:avLst>
              <a:gd name="adj" fmla="val 2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16642080" y="5897880"/>
            <a:ext cx="658368" cy="658368"/>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LuTable.png"/>
          <p:cNvPicPr>
            <a:picLocks noChangeAspect="1"/>
          </p:cNvPicPr>
          <p:nvPr/>
        </p:nvPicPr>
        <p:blipFill>
          <a:blip r:embed="rId7"/>
          <a:stretch>
            <a:fillRect/>
          </a:stretch>
        </p:blipFill>
        <p:spPr>
          <a:xfrm>
            <a:off x="16800088" y="6055888"/>
            <a:ext cx="342351" cy="342351"/>
          </a:xfrm>
          <a:prstGeom prst="rect">
            <a:avLst/>
          </a:prstGeom>
        </p:spPr>
      </p:pic>
      <p:sp>
        <p:nvSpPr>
          <p:cNvPr id="51" name="TextBox 50"/>
          <p:cNvSpPr txBox="1"/>
          <p:nvPr/>
        </p:nvSpPr>
        <p:spPr>
          <a:xfrm>
            <a:off x="17465040" y="5715000"/>
            <a:ext cx="589788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traceability: story → tests → code</a:t>
            </a:r>
          </a:p>
        </p:txBody>
      </p:sp>
      <p:sp>
        <p:nvSpPr>
          <p:cNvPr id="52" name="Rounded Rectangle 51"/>
          <p:cNvSpPr/>
          <p:nvPr/>
        </p:nvSpPr>
        <p:spPr>
          <a:xfrm>
            <a:off x="16504920" y="6903720"/>
            <a:ext cx="6967728" cy="1024128"/>
          </a:xfrm>
          <a:prstGeom prst="roundRect">
            <a:avLst>
              <a:gd name="adj" fmla="val 2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Oval 52"/>
          <p:cNvSpPr/>
          <p:nvPr/>
        </p:nvSpPr>
        <p:spPr>
          <a:xfrm>
            <a:off x="16642080" y="7086600"/>
            <a:ext cx="658368" cy="658368"/>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LuCircleHelp.png"/>
          <p:cNvPicPr>
            <a:picLocks noChangeAspect="1"/>
          </p:cNvPicPr>
          <p:nvPr/>
        </p:nvPicPr>
        <p:blipFill>
          <a:blip r:embed="rId8"/>
          <a:stretch>
            <a:fillRect/>
          </a:stretch>
        </p:blipFill>
        <p:spPr>
          <a:xfrm>
            <a:off x="16800088" y="7244608"/>
            <a:ext cx="342351" cy="342351"/>
          </a:xfrm>
          <a:prstGeom prst="rect">
            <a:avLst/>
          </a:prstGeom>
        </p:spPr>
      </p:pic>
      <p:sp>
        <p:nvSpPr>
          <p:cNvPr id="55" name="TextBox 54"/>
          <p:cNvSpPr txBox="1"/>
          <p:nvPr/>
        </p:nvSpPr>
        <p:spPr>
          <a:xfrm>
            <a:off x="17465040" y="6903720"/>
            <a:ext cx="589788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open questions logged for the team</a:t>
            </a:r>
          </a:p>
        </p:txBody>
      </p:sp>
      <p:sp>
        <p:nvSpPr>
          <p:cNvPr id="56" name="Rounded Rectangle 55"/>
          <p:cNvSpPr/>
          <p:nvPr/>
        </p:nvSpPr>
        <p:spPr>
          <a:xfrm>
            <a:off x="7726679" y="8138160"/>
            <a:ext cx="15745967" cy="2286000"/>
          </a:xfrm>
          <a:prstGeom prst="roundRect">
            <a:avLst>
              <a:gd name="adj" fmla="val 10000"/>
            </a:avLst>
          </a:prstGeom>
          <a:solidFill>
            <a:srgbClr val="0F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8001000" y="833932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8293608" y="833932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586216" y="833932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006840" y="8211312"/>
            <a:ext cx="14191488"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Gherkin draft (business-analyst)</a:t>
            </a:r>
          </a:p>
        </p:txBody>
      </p:sp>
      <p:sp>
        <p:nvSpPr>
          <p:cNvPr id="61" name="TextBox 60"/>
          <p:cNvSpPr txBox="1"/>
          <p:nvPr/>
        </p:nvSpPr>
        <p:spPr>
          <a:xfrm>
            <a:off x="8001000" y="8686800"/>
            <a:ext cx="15288767" cy="1600200"/>
          </a:xfrm>
          <a:prstGeom prst="rect">
            <a:avLst/>
          </a:prstGeom>
          <a:noFill/>
        </p:spPr>
        <p:txBody>
          <a:bodyPr wrap="none" lIns="0" rIns="0" tIns="0" bIns="0">
            <a:noAutofit/>
          </a:bodyPr>
          <a:lstStyle/>
          <a:p>
            <a:pPr>
              <a:lnSpc>
                <a:spcPct val="108000"/>
              </a:lnSpc>
              <a:spcBef>
                <a:spcPts val="0"/>
              </a:spcBef>
              <a:spcAft>
                <a:spcPts val="0"/>
              </a:spcAft>
            </a:pPr>
            <a:r>
              <a:rPr sz="1800">
                <a:solidFill>
                  <a:srgbClr val="D7E3EA"/>
                </a:solidFill>
                <a:latin typeface="Consolas"/>
              </a:rPr>
              <a:t>Scenario: private payments stay private</a:t>
            </a:r>
          </a:p>
          <a:p>
            <a:pPr>
              <a:lnSpc>
                <a:spcPct val="108000"/>
              </a:lnSpc>
              <a:spcBef>
                <a:spcPts val="0"/>
              </a:spcBef>
              <a:spcAft>
                <a:spcPts val="0"/>
              </a:spcAft>
            </a:pPr>
            <a:r>
              <a:rPr sz="1800">
                <a:solidFill>
                  <a:srgbClr val="D7E3EA"/>
                </a:solidFill>
                <a:latin typeface="Consolas"/>
              </a:rPr>
              <a:t>  Given Alice paid Bob privately</a:t>
            </a:r>
          </a:p>
          <a:p>
            <a:pPr>
              <a:lnSpc>
                <a:spcPct val="108000"/>
              </a:lnSpc>
              <a:spcBef>
                <a:spcPts val="0"/>
              </a:spcBef>
              <a:spcAft>
                <a:spcPts val="0"/>
              </a:spcAft>
            </a:pPr>
            <a:r>
              <a:rPr sz="1800">
                <a:solidFill>
                  <a:srgbClr val="D7E3EA"/>
                </a:solidFill>
                <a:latin typeface="Consolas"/>
              </a:rPr>
              <a:t>  When Ruthie opens the "Friends" feed</a:t>
            </a:r>
          </a:p>
          <a:p>
            <a:pPr>
              <a:lnSpc>
                <a:spcPct val="108000"/>
              </a:lnSpc>
              <a:spcBef>
                <a:spcPts val="0"/>
              </a:spcBef>
              <a:spcAft>
                <a:spcPts val="0"/>
              </a:spcAft>
            </a:pPr>
            <a:r>
              <a:rPr sz="1800">
                <a:solidFill>
                  <a:srgbClr val="D7E3EA"/>
                </a:solidFill>
                <a:latin typeface="Consolas"/>
              </a:rPr>
              <a:t>  Then she does not see Alice's private payment     # today: visible → KI-29</a:t>
            </a:r>
          </a:p>
        </p:txBody>
      </p:sp>
      <p:sp>
        <p:nvSpPr>
          <p:cNvPr id="62" name="Rounded Rectangle 61"/>
          <p:cNvSpPr/>
          <p:nvPr/>
        </p:nvSpPr>
        <p:spPr>
          <a:xfrm>
            <a:off x="612648" y="10789920"/>
            <a:ext cx="22860000" cy="960120"/>
          </a:xfrm>
          <a:prstGeom prst="roundRect">
            <a:avLst>
              <a:gd name="adj" fmla="val 1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Oval 62"/>
          <p:cNvSpPr/>
          <p:nvPr/>
        </p:nvSpPr>
        <p:spPr>
          <a:xfrm>
            <a:off x="886968" y="10927080"/>
            <a:ext cx="685800" cy="6858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LuLaugh.png"/>
          <p:cNvPicPr>
            <a:picLocks noChangeAspect="1"/>
          </p:cNvPicPr>
          <p:nvPr/>
        </p:nvPicPr>
        <p:blipFill>
          <a:blip r:embed="rId9"/>
          <a:stretch>
            <a:fillRect/>
          </a:stretch>
        </p:blipFill>
        <p:spPr>
          <a:xfrm>
            <a:off x="1051560" y="11091672"/>
            <a:ext cx="356616" cy="356616"/>
          </a:xfrm>
          <a:prstGeom prst="rect">
            <a:avLst/>
          </a:prstGeom>
        </p:spPr>
      </p:pic>
      <p:sp>
        <p:nvSpPr>
          <p:cNvPr id="65" name="TextBox 64"/>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BAs finally get a colleague who reads the whole spec. Twice. Before the meeting.</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TAP26 agents</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FF5640"/>
                </a:solidFill>
              </a:rPr>
              <a:t>AGENTS FOR DATA ENGINEERS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Seed, inspect, fake — and never touch real data</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55</a:t>
            </a:r>
          </a:p>
        </p:txBody>
      </p:sp>
      <p:sp>
        <p:nvSpPr>
          <p:cNvPr id="6" name="Rounded Rectangle 5"/>
          <p:cNvSpPr/>
          <p:nvPr/>
        </p:nvSpPr>
        <p:spPr>
          <a:xfrm>
            <a:off x="612648" y="2926080"/>
            <a:ext cx="6766560" cy="7498079"/>
          </a:xfrm>
          <a:prstGeom prst="roundRect">
            <a:avLst>
              <a:gd name="adj" fmla="val 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68680" y="3154680"/>
            <a:ext cx="1097280" cy="109728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Database.png"/>
          <p:cNvPicPr>
            <a:picLocks noChangeAspect="1"/>
          </p:cNvPicPr>
          <p:nvPr/>
        </p:nvPicPr>
        <p:blipFill>
          <a:blip r:embed="rId3"/>
          <a:stretch>
            <a:fillRect/>
          </a:stretch>
        </p:blipFill>
        <p:spPr>
          <a:xfrm>
            <a:off x="1132027" y="3418027"/>
            <a:ext cx="570585" cy="570585"/>
          </a:xfrm>
          <a:prstGeom prst="rect">
            <a:avLst/>
          </a:prstGeom>
        </p:spPr>
      </p:pic>
      <p:sp>
        <p:nvSpPr>
          <p:cNvPr id="9" name="TextBox 8"/>
          <p:cNvSpPr txBox="1"/>
          <p:nvPr/>
        </p:nvSpPr>
        <p:spPr>
          <a:xfrm>
            <a:off x="2194560" y="3154680"/>
            <a:ext cx="502920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1" i="0">
                <a:solidFill>
                  <a:srgbClr val="192B37"/>
                </a:solidFill>
              </a:rPr>
              <a:t>Your agents</a:t>
            </a:r>
          </a:p>
        </p:txBody>
      </p:sp>
      <p:sp>
        <p:nvSpPr>
          <p:cNvPr id="10" name="Rounded Rectangle 9"/>
          <p:cNvSpPr/>
          <p:nvPr/>
        </p:nvSpPr>
        <p:spPr>
          <a:xfrm>
            <a:off x="868680" y="4526280"/>
            <a:ext cx="6263640" cy="129844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97280" y="4617720"/>
            <a:ext cx="585216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DB7D00"/>
                </a:solidFill>
              </a:rPr>
              <a:t>data-tester</a:t>
            </a:r>
          </a:p>
        </p:txBody>
      </p:sp>
      <p:sp>
        <p:nvSpPr>
          <p:cNvPr id="12" name="TextBox 11"/>
          <p:cNvSpPr txBox="1"/>
          <p:nvPr/>
        </p:nvSpPr>
        <p:spPr>
          <a:xfrm>
            <a:off x="1097280" y="5120640"/>
            <a:ext cx="585216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schema, integrity checks, queries</a:t>
            </a:r>
          </a:p>
        </p:txBody>
      </p:sp>
      <p:sp>
        <p:nvSpPr>
          <p:cNvPr id="13" name="Rounded Rectangle 12"/>
          <p:cNvSpPr/>
          <p:nvPr/>
        </p:nvSpPr>
        <p:spPr>
          <a:xfrm>
            <a:off x="868680" y="5989320"/>
            <a:ext cx="6263640" cy="129844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97280" y="6080760"/>
            <a:ext cx="585216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DB7D00"/>
                </a:solidFill>
              </a:rPr>
              <a:t>mock-smith</a:t>
            </a:r>
          </a:p>
        </p:txBody>
      </p:sp>
      <p:sp>
        <p:nvSpPr>
          <p:cNvPr id="15" name="TextBox 14"/>
          <p:cNvSpPr txBox="1"/>
          <p:nvPr/>
        </p:nvSpPr>
        <p:spPr>
          <a:xfrm>
            <a:off x="1097280" y="6583680"/>
            <a:ext cx="585216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factories, stubs, mock scenarios</a:t>
            </a:r>
          </a:p>
        </p:txBody>
      </p:sp>
      <p:sp>
        <p:nvSpPr>
          <p:cNvPr id="16" name="Rounded Rectangle 15"/>
          <p:cNvSpPr/>
          <p:nvPr/>
        </p:nvSpPr>
        <p:spPr>
          <a:xfrm>
            <a:off x="868680" y="7452360"/>
            <a:ext cx="6263640" cy="129844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97280" y="7543800"/>
            <a:ext cx="585216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DB7D00"/>
                </a:solidFill>
              </a:rPr>
              <a:t>contract-guardian</a:t>
            </a:r>
          </a:p>
        </p:txBody>
      </p:sp>
      <p:sp>
        <p:nvSpPr>
          <p:cNvPr id="18" name="TextBox 17"/>
          <p:cNvSpPr txBox="1"/>
          <p:nvPr/>
        </p:nvSpPr>
        <p:spPr>
          <a:xfrm>
            <a:off x="1097280" y="8046720"/>
            <a:ext cx="585216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OpenAPI schemas = data contract</a:t>
            </a:r>
          </a:p>
        </p:txBody>
      </p:sp>
      <p:sp>
        <p:nvSpPr>
          <p:cNvPr id="19" name="Rounded Rectangle 18"/>
          <p:cNvSpPr/>
          <p:nvPr/>
        </p:nvSpPr>
        <p:spPr>
          <a:xfrm>
            <a:off x="868680" y="8915400"/>
            <a:ext cx="6263640" cy="129844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97280" y="9006840"/>
            <a:ext cx="585216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DB7D00"/>
                </a:solidFill>
              </a:rPr>
              <a:t>perf-tester</a:t>
            </a:r>
          </a:p>
        </p:txBody>
      </p:sp>
      <p:sp>
        <p:nvSpPr>
          <p:cNvPr id="21" name="TextBox 20"/>
          <p:cNvSpPr txBox="1"/>
          <p:nvPr/>
        </p:nvSpPr>
        <p:spPr>
          <a:xfrm>
            <a:off x="1097280" y="9509760"/>
            <a:ext cx="585216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latency by data volume</a:t>
            </a:r>
          </a:p>
        </p:txBody>
      </p:sp>
      <p:sp>
        <p:nvSpPr>
          <p:cNvPr id="22" name="TextBox 21"/>
          <p:cNvSpPr txBox="1"/>
          <p:nvPr/>
        </p:nvSpPr>
        <p:spPr>
          <a:xfrm>
            <a:off x="7726679" y="2880360"/>
            <a:ext cx="82296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DB7D00"/>
                </a:solidFill>
              </a:rPr>
              <a:t>TRY ASKING</a:t>
            </a:r>
          </a:p>
        </p:txBody>
      </p:sp>
      <p:sp>
        <p:nvSpPr>
          <p:cNvPr id="23" name="Rounded Rectangle 22"/>
          <p:cNvSpPr/>
          <p:nvPr/>
        </p:nvSpPr>
        <p:spPr>
          <a:xfrm>
            <a:off x="7726679" y="3337560"/>
            <a:ext cx="8412480" cy="1024128"/>
          </a:xfrm>
          <a:prstGeom prst="roundRect">
            <a:avLst>
              <a:gd name="adj" fmla="val 25000"/>
            </a:avLst>
          </a:prstGeom>
          <a:solidFill>
            <a:srgbClr val="F6F8FA"/>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863840" y="3520440"/>
            <a:ext cx="658368" cy="658368"/>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uMessageCircle.png"/>
          <p:cNvPicPr>
            <a:picLocks noChangeAspect="1"/>
          </p:cNvPicPr>
          <p:nvPr/>
        </p:nvPicPr>
        <p:blipFill>
          <a:blip r:embed="rId4"/>
          <a:stretch>
            <a:fillRect/>
          </a:stretch>
        </p:blipFill>
        <p:spPr>
          <a:xfrm>
            <a:off x="8021848" y="3678448"/>
            <a:ext cx="342351" cy="342351"/>
          </a:xfrm>
          <a:prstGeom prst="rect">
            <a:avLst/>
          </a:prstGeom>
        </p:spPr>
      </p:pic>
      <p:sp>
        <p:nvSpPr>
          <p:cNvPr id="26" name="TextBox 25"/>
          <p:cNvSpPr txBox="1"/>
          <p:nvPr/>
        </p:nvSpPr>
        <p:spPr>
          <a:xfrm>
            <a:off x="8686800" y="3337560"/>
            <a:ext cx="731520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/tap-data integrity: every transaction has a valid sender</a:t>
            </a:r>
          </a:p>
        </p:txBody>
      </p:sp>
      <p:sp>
        <p:nvSpPr>
          <p:cNvPr id="27" name="Rounded Rectangle 26"/>
          <p:cNvSpPr/>
          <p:nvPr/>
        </p:nvSpPr>
        <p:spPr>
          <a:xfrm>
            <a:off x="7726679" y="4526280"/>
            <a:ext cx="8412480" cy="1024128"/>
          </a:xfrm>
          <a:prstGeom prst="roundRect">
            <a:avLst>
              <a:gd name="adj" fmla="val 25000"/>
            </a:avLst>
          </a:prstGeom>
          <a:solidFill>
            <a:srgbClr val="F6F8FA"/>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863840" y="4709160"/>
            <a:ext cx="658368" cy="658368"/>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LuMessageCircle.png"/>
          <p:cNvPicPr>
            <a:picLocks noChangeAspect="1"/>
          </p:cNvPicPr>
          <p:nvPr/>
        </p:nvPicPr>
        <p:blipFill>
          <a:blip r:embed="rId4"/>
          <a:stretch>
            <a:fillRect/>
          </a:stretch>
        </p:blipFill>
        <p:spPr>
          <a:xfrm>
            <a:off x="8021848" y="4867168"/>
            <a:ext cx="342351" cy="342351"/>
          </a:xfrm>
          <a:prstGeom prst="rect">
            <a:avLst/>
          </a:prstGeom>
        </p:spPr>
      </p:pic>
      <p:sp>
        <p:nvSpPr>
          <p:cNvPr id="30" name="TextBox 29"/>
          <p:cNvSpPr txBox="1"/>
          <p:nvPr/>
        </p:nvSpPr>
        <p:spPr>
          <a:xfrm>
            <a:off x="8686800" y="4526280"/>
            <a:ext cx="731520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/tap-mocks scenario: 500 on /transactions/public</a:t>
            </a:r>
          </a:p>
        </p:txBody>
      </p:sp>
      <p:sp>
        <p:nvSpPr>
          <p:cNvPr id="31" name="Rounded Rectangle 30"/>
          <p:cNvSpPr/>
          <p:nvPr/>
        </p:nvSpPr>
        <p:spPr>
          <a:xfrm>
            <a:off x="7726679" y="5715000"/>
            <a:ext cx="8412480" cy="1024128"/>
          </a:xfrm>
          <a:prstGeom prst="roundRect">
            <a:avLst>
              <a:gd name="adj" fmla="val 25000"/>
            </a:avLst>
          </a:prstGeom>
          <a:solidFill>
            <a:srgbClr val="F6F8FA"/>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7863840" y="5897880"/>
            <a:ext cx="658368" cy="658368"/>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LuMessageCircle.png"/>
          <p:cNvPicPr>
            <a:picLocks noChangeAspect="1"/>
          </p:cNvPicPr>
          <p:nvPr/>
        </p:nvPicPr>
        <p:blipFill>
          <a:blip r:embed="rId4"/>
          <a:stretch>
            <a:fillRect/>
          </a:stretch>
        </p:blipFill>
        <p:spPr>
          <a:xfrm>
            <a:off x="8021848" y="6055888"/>
            <a:ext cx="342351" cy="342351"/>
          </a:xfrm>
          <a:prstGeom prst="rect">
            <a:avLst/>
          </a:prstGeom>
        </p:spPr>
      </p:pic>
      <p:sp>
        <p:nvSpPr>
          <p:cNvPr id="34" name="TextBox 33"/>
          <p:cNvSpPr txBox="1"/>
          <p:nvPr/>
        </p:nvSpPr>
        <p:spPr>
          <a:xfrm>
            <a:off x="8686800" y="5715000"/>
            <a:ext cx="731520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/tap-data how many private txns does Heath93 have?</a:t>
            </a:r>
          </a:p>
        </p:txBody>
      </p:sp>
      <p:sp>
        <p:nvSpPr>
          <p:cNvPr id="35" name="Rounded Rectangle 34"/>
          <p:cNvSpPr/>
          <p:nvPr/>
        </p:nvSpPr>
        <p:spPr>
          <a:xfrm>
            <a:off x="7726679" y="6903720"/>
            <a:ext cx="8412480" cy="1024128"/>
          </a:xfrm>
          <a:prstGeom prst="roundRect">
            <a:avLst>
              <a:gd name="adj" fmla="val 25000"/>
            </a:avLst>
          </a:prstGeom>
          <a:solidFill>
            <a:srgbClr val="F6F8FA"/>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7863840" y="7086600"/>
            <a:ext cx="658368" cy="658368"/>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LuMessageCircle.png"/>
          <p:cNvPicPr>
            <a:picLocks noChangeAspect="1"/>
          </p:cNvPicPr>
          <p:nvPr/>
        </p:nvPicPr>
        <p:blipFill>
          <a:blip r:embed="rId4"/>
          <a:stretch>
            <a:fillRect/>
          </a:stretch>
        </p:blipFill>
        <p:spPr>
          <a:xfrm>
            <a:off x="8021848" y="7244608"/>
            <a:ext cx="342351" cy="342351"/>
          </a:xfrm>
          <a:prstGeom prst="rect">
            <a:avLst/>
          </a:prstGeom>
        </p:spPr>
      </p:pic>
      <p:sp>
        <p:nvSpPr>
          <p:cNvPr id="38" name="TextBox 37"/>
          <p:cNvSpPr txBox="1"/>
          <p:nvPr/>
        </p:nvSpPr>
        <p:spPr>
          <a:xfrm>
            <a:off x="8686800" y="6903720"/>
            <a:ext cx="731520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/tap-swagger regenerate and diff the schemas</a:t>
            </a:r>
          </a:p>
        </p:txBody>
      </p:sp>
      <p:sp>
        <p:nvSpPr>
          <p:cNvPr id="39" name="TextBox 38"/>
          <p:cNvSpPr txBox="1"/>
          <p:nvPr/>
        </p:nvSpPr>
        <p:spPr>
          <a:xfrm>
            <a:off x="16504920" y="2880360"/>
            <a:ext cx="694944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DB7D00"/>
                </a:solidFill>
              </a:rPr>
              <a:t>YOU GET</a:t>
            </a:r>
          </a:p>
        </p:txBody>
      </p:sp>
      <p:sp>
        <p:nvSpPr>
          <p:cNvPr id="40" name="Rounded Rectangle 39"/>
          <p:cNvSpPr/>
          <p:nvPr/>
        </p:nvSpPr>
        <p:spPr>
          <a:xfrm>
            <a:off x="16504920" y="3337560"/>
            <a:ext cx="6967728" cy="1024128"/>
          </a:xfrm>
          <a:prstGeom prst="roundRect">
            <a:avLst>
              <a:gd name="adj" fmla="val 2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6642080" y="3520440"/>
            <a:ext cx="658368" cy="658368"/>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LuShieldCheck.png"/>
          <p:cNvPicPr>
            <a:picLocks noChangeAspect="1"/>
          </p:cNvPicPr>
          <p:nvPr/>
        </p:nvPicPr>
        <p:blipFill>
          <a:blip r:embed="rId5"/>
          <a:stretch>
            <a:fillRect/>
          </a:stretch>
        </p:blipFill>
        <p:spPr>
          <a:xfrm>
            <a:off x="16800088" y="3678448"/>
            <a:ext cx="342351" cy="342351"/>
          </a:xfrm>
          <a:prstGeom prst="rect">
            <a:avLst/>
          </a:prstGeom>
        </p:spPr>
      </p:pic>
      <p:sp>
        <p:nvSpPr>
          <p:cNvPr id="43" name="TextBox 42"/>
          <p:cNvSpPr txBox="1"/>
          <p:nvPr/>
        </p:nvSpPr>
        <p:spPr>
          <a:xfrm>
            <a:off x="17465040" y="3337560"/>
            <a:ext cx="589788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referential-integrity reports</a:t>
            </a:r>
          </a:p>
        </p:txBody>
      </p:sp>
      <p:sp>
        <p:nvSpPr>
          <p:cNvPr id="44" name="Rounded Rectangle 43"/>
          <p:cNvSpPr/>
          <p:nvPr/>
        </p:nvSpPr>
        <p:spPr>
          <a:xfrm>
            <a:off x="16504920" y="4526280"/>
            <a:ext cx="6967728" cy="1024128"/>
          </a:xfrm>
          <a:prstGeom prst="roundRect">
            <a:avLst>
              <a:gd name="adj" fmla="val 2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16642080" y="4709160"/>
            <a:ext cx="658368" cy="658368"/>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LuGhost.png"/>
          <p:cNvPicPr>
            <a:picLocks noChangeAspect="1"/>
          </p:cNvPicPr>
          <p:nvPr/>
        </p:nvPicPr>
        <p:blipFill>
          <a:blip r:embed="rId6"/>
          <a:stretch>
            <a:fillRect/>
          </a:stretch>
        </p:blipFill>
        <p:spPr>
          <a:xfrm>
            <a:off x="16800088" y="4867168"/>
            <a:ext cx="342351" cy="342351"/>
          </a:xfrm>
          <a:prstGeom prst="rect">
            <a:avLst/>
          </a:prstGeom>
        </p:spPr>
      </p:pic>
      <p:sp>
        <p:nvSpPr>
          <p:cNvPr id="47" name="TextBox 46"/>
          <p:cNvSpPr txBox="1"/>
          <p:nvPr/>
        </p:nvSpPr>
        <p:spPr>
          <a:xfrm>
            <a:off x="17465040" y="4526280"/>
            <a:ext cx="589788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deterministic factories &amp; stubs</a:t>
            </a:r>
          </a:p>
        </p:txBody>
      </p:sp>
      <p:sp>
        <p:nvSpPr>
          <p:cNvPr id="48" name="Rounded Rectangle 47"/>
          <p:cNvSpPr/>
          <p:nvPr/>
        </p:nvSpPr>
        <p:spPr>
          <a:xfrm>
            <a:off x="16504920" y="5715000"/>
            <a:ext cx="6967728" cy="1024128"/>
          </a:xfrm>
          <a:prstGeom prst="roundRect">
            <a:avLst>
              <a:gd name="adj" fmla="val 2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16642080" y="5897880"/>
            <a:ext cx="658368" cy="658368"/>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LuDatabaseZap.png"/>
          <p:cNvPicPr>
            <a:picLocks noChangeAspect="1"/>
          </p:cNvPicPr>
          <p:nvPr/>
        </p:nvPicPr>
        <p:blipFill>
          <a:blip r:embed="rId7"/>
          <a:stretch>
            <a:fillRect/>
          </a:stretch>
        </p:blipFill>
        <p:spPr>
          <a:xfrm>
            <a:off x="16800088" y="6055888"/>
            <a:ext cx="342351" cy="342351"/>
          </a:xfrm>
          <a:prstGeom prst="rect">
            <a:avLst/>
          </a:prstGeom>
        </p:spPr>
      </p:pic>
      <p:sp>
        <p:nvSpPr>
          <p:cNvPr id="51" name="TextBox 50"/>
          <p:cNvSpPr txBox="1"/>
          <p:nvPr/>
        </p:nvSpPr>
        <p:spPr>
          <a:xfrm>
            <a:off x="17465040" y="5715000"/>
            <a:ext cx="589788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reset/seed recipes that never leak</a:t>
            </a:r>
          </a:p>
        </p:txBody>
      </p:sp>
      <p:sp>
        <p:nvSpPr>
          <p:cNvPr id="52" name="Rounded Rectangle 51"/>
          <p:cNvSpPr/>
          <p:nvPr/>
        </p:nvSpPr>
        <p:spPr>
          <a:xfrm>
            <a:off x="16504920" y="6903720"/>
            <a:ext cx="6967728" cy="1024128"/>
          </a:xfrm>
          <a:prstGeom prst="roundRect">
            <a:avLst>
              <a:gd name="adj" fmla="val 2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Oval 52"/>
          <p:cNvSpPr/>
          <p:nvPr/>
        </p:nvSpPr>
        <p:spPr>
          <a:xfrm>
            <a:off x="16642080" y="7086600"/>
            <a:ext cx="658368" cy="658368"/>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LuFileCode.png"/>
          <p:cNvPicPr>
            <a:picLocks noChangeAspect="1"/>
          </p:cNvPicPr>
          <p:nvPr/>
        </p:nvPicPr>
        <p:blipFill>
          <a:blip r:embed="rId8"/>
          <a:stretch>
            <a:fillRect/>
          </a:stretch>
        </p:blipFill>
        <p:spPr>
          <a:xfrm>
            <a:off x="16800088" y="7244608"/>
            <a:ext cx="342351" cy="342351"/>
          </a:xfrm>
          <a:prstGeom prst="rect">
            <a:avLst/>
          </a:prstGeom>
        </p:spPr>
      </p:pic>
      <p:sp>
        <p:nvSpPr>
          <p:cNvPr id="55" name="TextBox 54"/>
          <p:cNvSpPr txBox="1"/>
          <p:nvPr/>
        </p:nvSpPr>
        <p:spPr>
          <a:xfrm>
            <a:off x="17465040" y="6903720"/>
            <a:ext cx="589788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schema drift caught early</a:t>
            </a:r>
          </a:p>
        </p:txBody>
      </p:sp>
      <p:sp>
        <p:nvSpPr>
          <p:cNvPr id="56" name="Rounded Rectangle 55"/>
          <p:cNvSpPr/>
          <p:nvPr/>
        </p:nvSpPr>
        <p:spPr>
          <a:xfrm>
            <a:off x="7726679" y="8138160"/>
            <a:ext cx="15745967" cy="2286000"/>
          </a:xfrm>
          <a:prstGeom prst="roundRect">
            <a:avLst>
              <a:gd name="adj" fmla="val 10000"/>
            </a:avLst>
          </a:prstGeom>
          <a:solidFill>
            <a:srgbClr val="0F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8001000" y="833932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8293608" y="833932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586216" y="833932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006840" y="8211312"/>
            <a:ext cx="14191488"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real mock API checks (:3101)</a:t>
            </a:r>
          </a:p>
        </p:txBody>
      </p:sp>
      <p:sp>
        <p:nvSpPr>
          <p:cNvPr id="61" name="TextBox 60"/>
          <p:cNvSpPr txBox="1"/>
          <p:nvPr/>
        </p:nvSpPr>
        <p:spPr>
          <a:xfrm>
            <a:off x="8001000" y="8686800"/>
            <a:ext cx="15288767" cy="1600200"/>
          </a:xfrm>
          <a:prstGeom prst="rect">
            <a:avLst/>
          </a:prstGeom>
          <a:noFill/>
        </p:spPr>
        <p:txBody>
          <a:bodyPr wrap="none" lIns="0" rIns="0" tIns="0" bIns="0">
            <a:noAutofit/>
          </a:bodyPr>
          <a:lstStyle/>
          <a:p>
            <a:pPr>
              <a:lnSpc>
                <a:spcPct val="108000"/>
              </a:lnSpc>
              <a:spcBef>
                <a:spcPts val="0"/>
              </a:spcBef>
              <a:spcAft>
                <a:spcPts val="0"/>
              </a:spcAft>
            </a:pPr>
            <a:r>
              <a:rPr sz="1800" b="1">
                <a:solidFill>
                  <a:srgbClr val="7EE787"/>
                </a:solidFill>
                <a:latin typeface="Consolas"/>
              </a:rPr>
              <a:t>$ </a:t>
            </a:r>
            <a:r>
              <a:rPr sz="1800">
                <a:solidFill>
                  <a:srgbClr val="FFFFFF"/>
                </a:solidFill>
                <a:latin typeface="Consolas"/>
              </a:rPr>
              <a:t>curl -s -H "x-mock-scenario: empty-notifications" localhost:3101/notifications</a:t>
            </a:r>
          </a:p>
          <a:p>
            <a:pPr>
              <a:lnSpc>
                <a:spcPct val="108000"/>
              </a:lnSpc>
              <a:spcBef>
                <a:spcPts val="0"/>
              </a:spcBef>
              <a:spcAft>
                <a:spcPts val="0"/>
              </a:spcAft>
            </a:pPr>
            <a:r>
              <a:rPr sz="1800">
                <a:solidFill>
                  <a:srgbClr val="D7E3EA"/>
                </a:solidFill>
                <a:latin typeface="Consolas"/>
              </a:rPr>
              <a:t>{ "results": [] }</a:t>
            </a:r>
          </a:p>
          <a:p>
            <a:pPr>
              <a:lnSpc>
                <a:spcPct val="108000"/>
              </a:lnSpc>
              <a:spcBef>
                <a:spcPts val="0"/>
              </a:spcBef>
              <a:spcAft>
                <a:spcPts val="0"/>
              </a:spcAft>
            </a:pPr>
            <a:r>
              <a:rPr sz="1800" b="1">
                <a:solidFill>
                  <a:srgbClr val="7EE787"/>
                </a:solidFill>
                <a:latin typeface="Consolas"/>
              </a:rPr>
              <a:t>$ </a:t>
            </a:r>
            <a:r>
              <a:rPr sz="1800">
                <a:solidFill>
                  <a:srgbClr val="FFFFFF"/>
                </a:solidFill>
                <a:latin typeface="Consolas"/>
              </a:rPr>
              <a:t>curl -s -o /dev/null -w "%{http_code} %{time_total}s" "localhost:3101/transactions/public?__scenario=slow"</a:t>
            </a:r>
          </a:p>
          <a:p>
            <a:pPr>
              <a:lnSpc>
                <a:spcPct val="108000"/>
              </a:lnSpc>
              <a:spcBef>
                <a:spcPts val="0"/>
              </a:spcBef>
              <a:spcAft>
                <a:spcPts val="0"/>
              </a:spcAft>
            </a:pPr>
            <a:r>
              <a:rPr sz="1800">
                <a:solidFill>
                  <a:srgbClr val="D7E3EA"/>
                </a:solidFill>
                <a:latin typeface="Consolas"/>
              </a:rPr>
              <a:t>200 2.003631s</a:t>
            </a:r>
          </a:p>
        </p:txBody>
      </p:sp>
      <p:sp>
        <p:nvSpPr>
          <p:cNvPr id="62" name="Rounded Rectangle 61"/>
          <p:cNvSpPr/>
          <p:nvPr/>
        </p:nvSpPr>
        <p:spPr>
          <a:xfrm>
            <a:off x="612648" y="10789920"/>
            <a:ext cx="22860000" cy="960120"/>
          </a:xfrm>
          <a:prstGeom prst="roundRect">
            <a:avLst>
              <a:gd name="adj" fmla="val 1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Oval 62"/>
          <p:cNvSpPr/>
          <p:nvPr/>
        </p:nvSpPr>
        <p:spPr>
          <a:xfrm>
            <a:off x="886968" y="10927080"/>
            <a:ext cx="685800" cy="6858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LuLaugh.png"/>
          <p:cNvPicPr>
            <a:picLocks noChangeAspect="1"/>
          </p:cNvPicPr>
          <p:nvPr/>
        </p:nvPicPr>
        <p:blipFill>
          <a:blip r:embed="rId9"/>
          <a:stretch>
            <a:fillRect/>
          </a:stretch>
        </p:blipFill>
        <p:spPr>
          <a:xfrm>
            <a:off x="1051560" y="11091672"/>
            <a:ext cx="356616" cy="356616"/>
          </a:xfrm>
          <a:prstGeom prst="rect">
            <a:avLst/>
          </a:prstGeom>
        </p:spPr>
      </p:pic>
      <p:sp>
        <p:nvSpPr>
          <p:cNvPr id="65" name="TextBox 64"/>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Data engineers love our seed: 600 transactions, 5 users, 0 GDPR incidents.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TAP26 agents</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FF5640"/>
                </a:solidFill>
              </a:rPr>
              <a:t>AGENTS FOR TECHNICAL WRITERS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Docs that keep up with the code</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56</a:t>
            </a:r>
          </a:p>
        </p:txBody>
      </p:sp>
      <p:sp>
        <p:nvSpPr>
          <p:cNvPr id="6" name="Rounded Rectangle 5"/>
          <p:cNvSpPr/>
          <p:nvPr/>
        </p:nvSpPr>
        <p:spPr>
          <a:xfrm>
            <a:off x="612648" y="2926080"/>
            <a:ext cx="6766560" cy="7498079"/>
          </a:xfrm>
          <a:prstGeom prst="roundRect">
            <a:avLst>
              <a:gd name="adj" fmla="val 5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68680" y="3154680"/>
            <a:ext cx="1097280" cy="109728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Feather.png"/>
          <p:cNvPicPr>
            <a:picLocks noChangeAspect="1"/>
          </p:cNvPicPr>
          <p:nvPr/>
        </p:nvPicPr>
        <p:blipFill>
          <a:blip r:embed="rId3"/>
          <a:stretch>
            <a:fillRect/>
          </a:stretch>
        </p:blipFill>
        <p:spPr>
          <a:xfrm>
            <a:off x="1132027" y="3418027"/>
            <a:ext cx="570585" cy="570585"/>
          </a:xfrm>
          <a:prstGeom prst="rect">
            <a:avLst/>
          </a:prstGeom>
        </p:spPr>
      </p:pic>
      <p:sp>
        <p:nvSpPr>
          <p:cNvPr id="9" name="TextBox 8"/>
          <p:cNvSpPr txBox="1"/>
          <p:nvPr/>
        </p:nvSpPr>
        <p:spPr>
          <a:xfrm>
            <a:off x="2194560" y="3154680"/>
            <a:ext cx="502920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1" i="0">
                <a:solidFill>
                  <a:srgbClr val="192B37"/>
                </a:solidFill>
              </a:rPr>
              <a:t>Your agents</a:t>
            </a:r>
          </a:p>
        </p:txBody>
      </p:sp>
      <p:sp>
        <p:nvSpPr>
          <p:cNvPr id="10" name="Rounded Rectangle 9"/>
          <p:cNvSpPr/>
          <p:nvPr/>
        </p:nvSpPr>
        <p:spPr>
          <a:xfrm>
            <a:off x="868680" y="4526280"/>
            <a:ext cx="6263640" cy="129844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97280" y="4617720"/>
            <a:ext cx="585216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729A00"/>
                </a:solidFill>
              </a:rPr>
              <a:t>doc-writer</a:t>
            </a:r>
          </a:p>
        </p:txBody>
      </p:sp>
      <p:sp>
        <p:nvSpPr>
          <p:cNvPr id="12" name="TextBox 11"/>
          <p:cNvSpPr txBox="1"/>
          <p:nvPr/>
        </p:nvSpPr>
        <p:spPr>
          <a:xfrm>
            <a:off x="1097280" y="5120640"/>
            <a:ext cx="585216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Diátaxis: tutorial · how-to · ref · explanation</a:t>
            </a:r>
          </a:p>
        </p:txBody>
      </p:sp>
      <p:sp>
        <p:nvSpPr>
          <p:cNvPr id="13" name="Rounded Rectangle 12"/>
          <p:cNvSpPr/>
          <p:nvPr/>
        </p:nvSpPr>
        <p:spPr>
          <a:xfrm>
            <a:off x="868680" y="5989320"/>
            <a:ext cx="6263640" cy="129844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97280" y="6080760"/>
            <a:ext cx="585216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729A00"/>
                </a:solidFill>
              </a:rPr>
              <a:t>contract-guardian</a:t>
            </a:r>
          </a:p>
        </p:txBody>
      </p:sp>
      <p:sp>
        <p:nvSpPr>
          <p:cNvPr id="15" name="TextBox 14"/>
          <p:cNvSpPr txBox="1"/>
          <p:nvPr/>
        </p:nvSpPr>
        <p:spPr>
          <a:xfrm>
            <a:off x="1097280" y="6583680"/>
            <a:ext cx="585216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OpenAPI + live Swagger UI</a:t>
            </a:r>
          </a:p>
        </p:txBody>
      </p:sp>
      <p:sp>
        <p:nvSpPr>
          <p:cNvPr id="16" name="Rounded Rectangle 15"/>
          <p:cNvSpPr/>
          <p:nvPr/>
        </p:nvSpPr>
        <p:spPr>
          <a:xfrm>
            <a:off x="868680" y="7452360"/>
            <a:ext cx="6263640" cy="129844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97280" y="7543800"/>
            <a:ext cx="585216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729A00"/>
                </a:solidFill>
              </a:rPr>
              <a:t>knowledge-curator</a:t>
            </a:r>
          </a:p>
        </p:txBody>
      </p:sp>
      <p:sp>
        <p:nvSpPr>
          <p:cNvPr id="18" name="TextBox 17"/>
          <p:cNvSpPr txBox="1"/>
          <p:nvPr/>
        </p:nvSpPr>
        <p:spPr>
          <a:xfrm>
            <a:off x="1097280" y="8046720"/>
            <a:ext cx="585216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keeps memory &amp; knowledge fresh</a:t>
            </a:r>
          </a:p>
        </p:txBody>
      </p:sp>
      <p:sp>
        <p:nvSpPr>
          <p:cNvPr id="19" name="Rounded Rectangle 18"/>
          <p:cNvSpPr/>
          <p:nvPr/>
        </p:nvSpPr>
        <p:spPr>
          <a:xfrm>
            <a:off x="868680" y="8915400"/>
            <a:ext cx="6263640" cy="129844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97280" y="9006840"/>
            <a:ext cx="5852160" cy="5029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729A00"/>
                </a:solidFill>
              </a:rPr>
              <a:t>tutor</a:t>
            </a:r>
          </a:p>
        </p:txBody>
      </p:sp>
      <p:sp>
        <p:nvSpPr>
          <p:cNvPr id="21" name="TextBox 20"/>
          <p:cNvSpPr txBox="1"/>
          <p:nvPr/>
        </p:nvSpPr>
        <p:spPr>
          <a:xfrm>
            <a:off x="1097280" y="9509760"/>
            <a:ext cx="585216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1400" b="0" i="0">
                <a:solidFill>
                  <a:srgbClr val="192B37"/>
                </a:solidFill>
              </a:rPr>
              <a:t>explains at the student's level</a:t>
            </a:r>
          </a:p>
        </p:txBody>
      </p:sp>
      <p:sp>
        <p:nvSpPr>
          <p:cNvPr id="22" name="TextBox 21"/>
          <p:cNvSpPr txBox="1"/>
          <p:nvPr/>
        </p:nvSpPr>
        <p:spPr>
          <a:xfrm>
            <a:off x="7726679" y="2880360"/>
            <a:ext cx="82296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729A00"/>
                </a:solidFill>
              </a:rPr>
              <a:t>TRY ASKING</a:t>
            </a:r>
          </a:p>
        </p:txBody>
      </p:sp>
      <p:sp>
        <p:nvSpPr>
          <p:cNvPr id="23" name="Rounded Rectangle 22"/>
          <p:cNvSpPr/>
          <p:nvPr/>
        </p:nvSpPr>
        <p:spPr>
          <a:xfrm>
            <a:off x="7726679" y="3337560"/>
            <a:ext cx="8412480" cy="1024128"/>
          </a:xfrm>
          <a:prstGeom prst="roundRect">
            <a:avLst>
              <a:gd name="adj" fmla="val 25000"/>
            </a:avLst>
          </a:prstGeom>
          <a:solidFill>
            <a:srgbClr val="F6F8FA"/>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863840" y="3520440"/>
            <a:ext cx="658368" cy="658368"/>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uMessageCircle.png"/>
          <p:cNvPicPr>
            <a:picLocks noChangeAspect="1"/>
          </p:cNvPicPr>
          <p:nvPr/>
        </p:nvPicPr>
        <p:blipFill>
          <a:blip r:embed="rId4"/>
          <a:stretch>
            <a:fillRect/>
          </a:stretch>
        </p:blipFill>
        <p:spPr>
          <a:xfrm>
            <a:off x="8021848" y="3678448"/>
            <a:ext cx="342351" cy="342351"/>
          </a:xfrm>
          <a:prstGeom prst="rect">
            <a:avLst/>
          </a:prstGeom>
        </p:spPr>
      </p:pic>
      <p:sp>
        <p:nvSpPr>
          <p:cNvPr id="26" name="TextBox 25"/>
          <p:cNvSpPr txBox="1"/>
          <p:nvPr/>
        </p:nvSpPr>
        <p:spPr>
          <a:xfrm>
            <a:off x="8686800" y="3337560"/>
            <a:ext cx="731520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/tap-docs summarise this week's changes for release notes</a:t>
            </a:r>
          </a:p>
        </p:txBody>
      </p:sp>
      <p:sp>
        <p:nvSpPr>
          <p:cNvPr id="27" name="Rounded Rectangle 26"/>
          <p:cNvSpPr/>
          <p:nvPr/>
        </p:nvSpPr>
        <p:spPr>
          <a:xfrm>
            <a:off x="7726679" y="4526280"/>
            <a:ext cx="8412480" cy="1024128"/>
          </a:xfrm>
          <a:prstGeom prst="roundRect">
            <a:avLst>
              <a:gd name="adj" fmla="val 25000"/>
            </a:avLst>
          </a:prstGeom>
          <a:solidFill>
            <a:srgbClr val="F6F8FA"/>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863840" y="4709160"/>
            <a:ext cx="658368" cy="658368"/>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LuMessageCircle.png"/>
          <p:cNvPicPr>
            <a:picLocks noChangeAspect="1"/>
          </p:cNvPicPr>
          <p:nvPr/>
        </p:nvPicPr>
        <p:blipFill>
          <a:blip r:embed="rId4"/>
          <a:stretch>
            <a:fillRect/>
          </a:stretch>
        </p:blipFill>
        <p:spPr>
          <a:xfrm>
            <a:off x="8021848" y="4867168"/>
            <a:ext cx="342351" cy="342351"/>
          </a:xfrm>
          <a:prstGeom prst="rect">
            <a:avLst/>
          </a:prstGeom>
        </p:spPr>
      </p:pic>
      <p:sp>
        <p:nvSpPr>
          <p:cNvPr id="30" name="TextBox 29"/>
          <p:cNvSpPr txBox="1"/>
          <p:nvPr/>
        </p:nvSpPr>
        <p:spPr>
          <a:xfrm>
            <a:off x="8686800" y="4526280"/>
            <a:ext cx="731520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/tap-swagger document the new routingNumber rule</a:t>
            </a:r>
          </a:p>
        </p:txBody>
      </p:sp>
      <p:sp>
        <p:nvSpPr>
          <p:cNvPr id="31" name="Rounded Rectangle 30"/>
          <p:cNvSpPr/>
          <p:nvPr/>
        </p:nvSpPr>
        <p:spPr>
          <a:xfrm>
            <a:off x="7726679" y="5715000"/>
            <a:ext cx="8412480" cy="1024128"/>
          </a:xfrm>
          <a:prstGeom prst="roundRect">
            <a:avLst>
              <a:gd name="adj" fmla="val 25000"/>
            </a:avLst>
          </a:prstGeom>
          <a:solidFill>
            <a:srgbClr val="F6F8FA"/>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7863840" y="5897880"/>
            <a:ext cx="658368" cy="658368"/>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LuMessageCircle.png"/>
          <p:cNvPicPr>
            <a:picLocks noChangeAspect="1"/>
          </p:cNvPicPr>
          <p:nvPr/>
        </p:nvPicPr>
        <p:blipFill>
          <a:blip r:embed="rId4"/>
          <a:stretch>
            <a:fillRect/>
          </a:stretch>
        </p:blipFill>
        <p:spPr>
          <a:xfrm>
            <a:off x="8021848" y="6055888"/>
            <a:ext cx="342351" cy="342351"/>
          </a:xfrm>
          <a:prstGeom prst="rect">
            <a:avLst/>
          </a:prstGeom>
        </p:spPr>
      </p:pic>
      <p:sp>
        <p:nvSpPr>
          <p:cNvPr id="34" name="TextBox 33"/>
          <p:cNvSpPr txBox="1"/>
          <p:nvPr/>
        </p:nvSpPr>
        <p:spPr>
          <a:xfrm>
            <a:off x="8686800" y="5715000"/>
            <a:ext cx="731520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/tap-explain fixtures for a beginner</a:t>
            </a:r>
          </a:p>
        </p:txBody>
      </p:sp>
      <p:sp>
        <p:nvSpPr>
          <p:cNvPr id="35" name="Rounded Rectangle 34"/>
          <p:cNvSpPr/>
          <p:nvPr/>
        </p:nvSpPr>
        <p:spPr>
          <a:xfrm>
            <a:off x="7726679" y="6903720"/>
            <a:ext cx="8412480" cy="1024128"/>
          </a:xfrm>
          <a:prstGeom prst="roundRect">
            <a:avLst>
              <a:gd name="adj" fmla="val 25000"/>
            </a:avLst>
          </a:prstGeom>
          <a:solidFill>
            <a:srgbClr val="F6F8FA"/>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7863840" y="7086600"/>
            <a:ext cx="658368" cy="658368"/>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LuMessageCircle.png"/>
          <p:cNvPicPr>
            <a:picLocks noChangeAspect="1"/>
          </p:cNvPicPr>
          <p:nvPr/>
        </p:nvPicPr>
        <p:blipFill>
          <a:blip r:embed="rId4"/>
          <a:stretch>
            <a:fillRect/>
          </a:stretch>
        </p:blipFill>
        <p:spPr>
          <a:xfrm>
            <a:off x="8021848" y="7244608"/>
            <a:ext cx="342351" cy="342351"/>
          </a:xfrm>
          <a:prstGeom prst="rect">
            <a:avLst/>
          </a:prstGeom>
        </p:spPr>
      </p:pic>
      <p:sp>
        <p:nvSpPr>
          <p:cNvPr id="38" name="TextBox 37"/>
          <p:cNvSpPr txBox="1"/>
          <p:nvPr/>
        </p:nvSpPr>
        <p:spPr>
          <a:xfrm>
            <a:off x="8686800" y="6903720"/>
            <a:ext cx="731520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/tap-docs how-to: run only the e2e project</a:t>
            </a:r>
          </a:p>
        </p:txBody>
      </p:sp>
      <p:sp>
        <p:nvSpPr>
          <p:cNvPr id="39" name="TextBox 38"/>
          <p:cNvSpPr txBox="1"/>
          <p:nvPr/>
        </p:nvSpPr>
        <p:spPr>
          <a:xfrm>
            <a:off x="16504920" y="2880360"/>
            <a:ext cx="694944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729A00"/>
                </a:solidFill>
              </a:rPr>
              <a:t>YOU GET</a:t>
            </a:r>
          </a:p>
        </p:txBody>
      </p:sp>
      <p:sp>
        <p:nvSpPr>
          <p:cNvPr id="40" name="Rounded Rectangle 39"/>
          <p:cNvSpPr/>
          <p:nvPr/>
        </p:nvSpPr>
        <p:spPr>
          <a:xfrm>
            <a:off x="16504920" y="3337560"/>
            <a:ext cx="6967728" cy="1024128"/>
          </a:xfrm>
          <a:prstGeom prst="roundRect">
            <a:avLst>
              <a:gd name="adj" fmla="val 25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6642080" y="3520440"/>
            <a:ext cx="658368" cy="658368"/>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LuFileText.png"/>
          <p:cNvPicPr>
            <a:picLocks noChangeAspect="1"/>
          </p:cNvPicPr>
          <p:nvPr/>
        </p:nvPicPr>
        <p:blipFill>
          <a:blip r:embed="rId5"/>
          <a:stretch>
            <a:fillRect/>
          </a:stretch>
        </p:blipFill>
        <p:spPr>
          <a:xfrm>
            <a:off x="16800088" y="3678448"/>
            <a:ext cx="342351" cy="342351"/>
          </a:xfrm>
          <a:prstGeom prst="rect">
            <a:avLst/>
          </a:prstGeom>
        </p:spPr>
      </p:pic>
      <p:sp>
        <p:nvSpPr>
          <p:cNvPr id="43" name="TextBox 42"/>
          <p:cNvSpPr txBox="1"/>
          <p:nvPr/>
        </p:nvSpPr>
        <p:spPr>
          <a:xfrm>
            <a:off x="17465040" y="3337560"/>
            <a:ext cx="589788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15 docs pages, 15 labs, glossary</a:t>
            </a:r>
          </a:p>
        </p:txBody>
      </p:sp>
      <p:sp>
        <p:nvSpPr>
          <p:cNvPr id="44" name="Rounded Rectangle 43"/>
          <p:cNvSpPr/>
          <p:nvPr/>
        </p:nvSpPr>
        <p:spPr>
          <a:xfrm>
            <a:off x="16504920" y="4526280"/>
            <a:ext cx="6967728" cy="1024128"/>
          </a:xfrm>
          <a:prstGeom prst="roundRect">
            <a:avLst>
              <a:gd name="adj" fmla="val 25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16642080" y="4709160"/>
            <a:ext cx="658368" cy="658368"/>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LuBookOpen.png"/>
          <p:cNvPicPr>
            <a:picLocks noChangeAspect="1"/>
          </p:cNvPicPr>
          <p:nvPr/>
        </p:nvPicPr>
        <p:blipFill>
          <a:blip r:embed="rId6"/>
          <a:stretch>
            <a:fillRect/>
          </a:stretch>
        </p:blipFill>
        <p:spPr>
          <a:xfrm>
            <a:off x="16800088" y="4867168"/>
            <a:ext cx="342351" cy="342351"/>
          </a:xfrm>
          <a:prstGeom prst="rect">
            <a:avLst/>
          </a:prstGeom>
        </p:spPr>
      </p:pic>
      <p:sp>
        <p:nvSpPr>
          <p:cNvPr id="47" name="TextBox 46"/>
          <p:cNvSpPr txBox="1"/>
          <p:nvPr/>
        </p:nvSpPr>
        <p:spPr>
          <a:xfrm>
            <a:off x="17465040" y="4526280"/>
            <a:ext cx="589788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Swagger UI that really executes</a:t>
            </a:r>
          </a:p>
        </p:txBody>
      </p:sp>
      <p:sp>
        <p:nvSpPr>
          <p:cNvPr id="48" name="Rounded Rectangle 47"/>
          <p:cNvSpPr/>
          <p:nvPr/>
        </p:nvSpPr>
        <p:spPr>
          <a:xfrm>
            <a:off x="16504920" y="5715000"/>
            <a:ext cx="6967728" cy="1024128"/>
          </a:xfrm>
          <a:prstGeom prst="roundRect">
            <a:avLst>
              <a:gd name="adj" fmla="val 25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16642080" y="5897880"/>
            <a:ext cx="658368" cy="658368"/>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LuNewspaper.png"/>
          <p:cNvPicPr>
            <a:picLocks noChangeAspect="1"/>
          </p:cNvPicPr>
          <p:nvPr/>
        </p:nvPicPr>
        <p:blipFill>
          <a:blip r:embed="rId7"/>
          <a:stretch>
            <a:fillRect/>
          </a:stretch>
        </p:blipFill>
        <p:spPr>
          <a:xfrm>
            <a:off x="16800088" y="6055888"/>
            <a:ext cx="342351" cy="342351"/>
          </a:xfrm>
          <a:prstGeom prst="rect">
            <a:avLst/>
          </a:prstGeom>
        </p:spPr>
      </p:pic>
      <p:sp>
        <p:nvSpPr>
          <p:cNvPr id="51" name="TextBox 50"/>
          <p:cNvSpPr txBox="1"/>
          <p:nvPr/>
        </p:nvSpPr>
        <p:spPr>
          <a:xfrm>
            <a:off x="17465040" y="5715000"/>
            <a:ext cx="589788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release notes from the change ledger</a:t>
            </a:r>
          </a:p>
        </p:txBody>
      </p:sp>
      <p:sp>
        <p:nvSpPr>
          <p:cNvPr id="52" name="Rounded Rectangle 51"/>
          <p:cNvSpPr/>
          <p:nvPr/>
        </p:nvSpPr>
        <p:spPr>
          <a:xfrm>
            <a:off x="16504920" y="6903720"/>
            <a:ext cx="6967728" cy="1024128"/>
          </a:xfrm>
          <a:prstGeom prst="roundRect">
            <a:avLst>
              <a:gd name="adj" fmla="val 25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Oval 52"/>
          <p:cNvSpPr/>
          <p:nvPr/>
        </p:nvSpPr>
        <p:spPr>
          <a:xfrm>
            <a:off x="16642080" y="7086600"/>
            <a:ext cx="658368" cy="658368"/>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LuLanguages.png"/>
          <p:cNvPicPr>
            <a:picLocks noChangeAspect="1"/>
          </p:cNvPicPr>
          <p:nvPr/>
        </p:nvPicPr>
        <p:blipFill>
          <a:blip r:embed="rId8"/>
          <a:stretch>
            <a:fillRect/>
          </a:stretch>
        </p:blipFill>
        <p:spPr>
          <a:xfrm>
            <a:off x="16800088" y="7244608"/>
            <a:ext cx="342351" cy="342351"/>
          </a:xfrm>
          <a:prstGeom prst="rect">
            <a:avLst/>
          </a:prstGeom>
        </p:spPr>
      </p:pic>
      <p:sp>
        <p:nvSpPr>
          <p:cNvPr id="55" name="TextBox 54"/>
          <p:cNvSpPr txBox="1"/>
          <p:nvPr/>
        </p:nvSpPr>
        <p:spPr>
          <a:xfrm>
            <a:off x="17465040" y="6903720"/>
            <a:ext cx="5897880" cy="1024128"/>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same topic, three levels</a:t>
            </a:r>
          </a:p>
        </p:txBody>
      </p:sp>
      <p:sp>
        <p:nvSpPr>
          <p:cNvPr id="56" name="Rounded Rectangle 55"/>
          <p:cNvSpPr/>
          <p:nvPr/>
        </p:nvSpPr>
        <p:spPr>
          <a:xfrm>
            <a:off x="7726679" y="8138160"/>
            <a:ext cx="15745967" cy="2286000"/>
          </a:xfrm>
          <a:prstGeom prst="roundRect">
            <a:avLst>
              <a:gd name="adj" fmla="val 10000"/>
            </a:avLst>
          </a:prstGeom>
          <a:solidFill>
            <a:srgbClr val="0F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8001000" y="833932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8293608" y="833932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586216" y="833932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006840" y="8211312"/>
            <a:ext cx="14191488"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docs index (tap26/docs)</a:t>
            </a:r>
          </a:p>
        </p:txBody>
      </p:sp>
      <p:sp>
        <p:nvSpPr>
          <p:cNvPr id="61" name="TextBox 60"/>
          <p:cNvSpPr txBox="1"/>
          <p:nvPr/>
        </p:nvSpPr>
        <p:spPr>
          <a:xfrm>
            <a:off x="8001000" y="8686800"/>
            <a:ext cx="15288767" cy="1600200"/>
          </a:xfrm>
          <a:prstGeom prst="rect">
            <a:avLst/>
          </a:prstGeom>
          <a:noFill/>
        </p:spPr>
        <p:txBody>
          <a:bodyPr wrap="none" lIns="0" rIns="0" tIns="0" bIns="0">
            <a:noAutofit/>
          </a:bodyPr>
          <a:lstStyle/>
          <a:p>
            <a:pPr>
              <a:lnSpc>
                <a:spcPct val="108000"/>
              </a:lnSpc>
              <a:spcBef>
                <a:spcPts val="0"/>
              </a:spcBef>
              <a:spcAft>
                <a:spcPts val="0"/>
              </a:spcAft>
            </a:pPr>
            <a:r>
              <a:rPr sz="1750">
                <a:solidFill>
                  <a:srgbClr val="D7E3EA"/>
                </a:solidFill>
                <a:latin typeface="Consolas"/>
              </a:rPr>
              <a:t>00-index · 01-getting-started-vscode · 02-architecture · 03-agents · 04-skills · 05-memory-and-self-learning</a:t>
            </a:r>
          </a:p>
          <a:p>
            <a:pPr>
              <a:lnSpc>
                <a:spcPct val="108000"/>
              </a:lnSpc>
              <a:spcBef>
                <a:spcPts val="0"/>
              </a:spcBef>
              <a:spcAft>
                <a:spcPts val="0"/>
              </a:spcAft>
            </a:pPr>
            <a:r>
              <a:rPr sz="1750">
                <a:solidFill>
                  <a:srgbClr val="D7E3EA"/>
                </a:solidFill>
                <a:latin typeface="Consolas"/>
              </a:rPr>
              <a:t>06-workflows · 07-testing-framework · 08-api-contract-and-swagger · 09-mocks-and-stubs · 10-hooks-and-guardrails</a:t>
            </a:r>
          </a:p>
          <a:p>
            <a:pPr>
              <a:lnSpc>
                <a:spcPct val="108000"/>
              </a:lnSpc>
              <a:spcBef>
                <a:spcPts val="0"/>
              </a:spcBef>
              <a:spcAft>
                <a:spcPts val="0"/>
              </a:spcAft>
            </a:pPr>
            <a:r>
              <a:rPr sz="1750">
                <a:solidFill>
                  <a:srgbClr val="D7E3EA"/>
                </a:solidFill>
                <a:latin typeface="Consolas"/>
              </a:rPr>
              <a:t>11-evolving-tap26 · 12-prompting-guide · 13-troubleshooting · 14-faq · glossary · release-notes</a:t>
            </a:r>
          </a:p>
        </p:txBody>
      </p:sp>
      <p:sp>
        <p:nvSpPr>
          <p:cNvPr id="62" name="Rounded Rectangle 61"/>
          <p:cNvSpPr/>
          <p:nvPr/>
        </p:nvSpPr>
        <p:spPr>
          <a:xfrm>
            <a:off x="612648" y="10789920"/>
            <a:ext cx="22860000" cy="960120"/>
          </a:xfrm>
          <a:prstGeom prst="roundRect">
            <a:avLst>
              <a:gd name="adj" fmla="val 1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Oval 62"/>
          <p:cNvSpPr/>
          <p:nvPr/>
        </p:nvSpPr>
        <p:spPr>
          <a:xfrm>
            <a:off x="886968" y="10927080"/>
            <a:ext cx="685800" cy="6858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LuLaugh.png"/>
          <p:cNvPicPr>
            <a:picLocks noChangeAspect="1"/>
          </p:cNvPicPr>
          <p:nvPr/>
        </p:nvPicPr>
        <p:blipFill>
          <a:blip r:embed="rId9"/>
          <a:stretch>
            <a:fillRect/>
          </a:stretch>
        </p:blipFill>
        <p:spPr>
          <a:xfrm>
            <a:off x="1051560" y="11091672"/>
            <a:ext cx="356616" cy="356616"/>
          </a:xfrm>
          <a:prstGeom prst="rect">
            <a:avLst/>
          </a:prstGeom>
        </p:spPr>
      </p:pic>
      <p:sp>
        <p:nvSpPr>
          <p:cNvPr id="65" name="TextBox 64"/>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If it isn't documented, it didn't happen. If it's documented wrong, it happened to someone else.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Agents at work</a:t>
            </a:r>
          </a:p>
        </p:txBody>
      </p:sp>
      <p:sp>
        <p:nvSpPr>
          <p:cNvPr id="3" name="Text Placeholder 2"/>
          <p:cNvSpPr>
            <a:spLocks noGrp="1"/>
          </p:cNvSpPr>
          <p:nvPr>
            <p:ph type="body" idx="21" sz="quarter"/>
          </p:nvPr>
        </p:nvSpPr>
        <p:spPr/>
        <p:txBody>
          <a:bodyPr/>
          <a:lstStyle/>
          <a:p>
            <a:r>
              <a:t>06</a:t>
            </a:r>
          </a:p>
        </p:txBody>
      </p:sp>
      <p:sp>
        <p:nvSpPr>
          <p:cNvPr id="4" name="Text Placeholder 3"/>
          <p:cNvSpPr>
            <a:spLocks noGrp="1"/>
          </p:cNvSpPr>
          <p:nvPr>
            <p:ph type="body" idx="22" sz="quarter"/>
          </p:nvPr>
        </p:nvSpPr>
        <p:spPr/>
        <p:txBody>
          <a:bodyPr/>
          <a:lstStyle/>
          <a:p>
            <a:r>
              <a:t>A production cycle with agents in every seat — and humans at every gate</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57</a:t>
            </a:r>
          </a:p>
        </p:txBody>
      </p:sp>
      <p:sp>
        <p:nvSpPr>
          <p:cNvPr id="6" name="Rounded Rectangle 5"/>
          <p:cNvSpPr/>
          <p:nvPr/>
        </p:nvSpPr>
        <p:spPr>
          <a:xfrm>
            <a:off x="5303520" y="7086600"/>
            <a:ext cx="17007840" cy="1143000"/>
          </a:xfrm>
          <a:prstGeom prst="roundRect">
            <a:avLst>
              <a:gd name="adj" fmla="val 20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532120" y="7287768"/>
            <a:ext cx="731520" cy="73152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Laugh.png"/>
          <p:cNvPicPr>
            <a:picLocks noChangeAspect="1"/>
          </p:cNvPicPr>
          <p:nvPr/>
        </p:nvPicPr>
        <p:blipFill>
          <a:blip r:embed="rId3"/>
          <a:stretch>
            <a:fillRect/>
          </a:stretch>
        </p:blipFill>
        <p:spPr>
          <a:xfrm>
            <a:off x="5707684" y="7463332"/>
            <a:ext cx="380390" cy="380390"/>
          </a:xfrm>
          <a:prstGeom prst="rect">
            <a:avLst/>
          </a:prstGeom>
        </p:spPr>
      </p:pic>
      <p:sp>
        <p:nvSpPr>
          <p:cNvPr id="9" name="TextBox 8"/>
          <p:cNvSpPr txBox="1"/>
          <p:nvPr/>
        </p:nvSpPr>
        <p:spPr>
          <a:xfrm>
            <a:off x="6492240" y="7086600"/>
            <a:ext cx="15636240" cy="114300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0" i="1">
                <a:solidFill>
                  <a:srgbClr val="192B37"/>
                </a:solidFill>
              </a:rPr>
              <a:t>From idea to incident review, the agents clock in at every stage. Unpaid, but extremely well documented.</a:t>
            </a:r>
          </a:p>
        </p:txBody>
      </p:sp>
      <p:sp>
        <p:nvSpPr>
          <p:cNvPr id="10" name="TextBox 9"/>
          <p:cNvSpPr txBox="1"/>
          <p:nvPr/>
        </p:nvSpPr>
        <p:spPr>
          <a:xfrm>
            <a:off x="5303520" y="8915400"/>
            <a:ext cx="91440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729A00"/>
                </a:solidFill>
              </a:rPr>
              <a:t>IN THIS CHAPTER</a:t>
            </a:r>
          </a:p>
        </p:txBody>
      </p:sp>
      <p:sp>
        <p:nvSpPr>
          <p:cNvPr id="11" name="Rounded Rectangle 10"/>
          <p:cNvSpPr/>
          <p:nvPr/>
        </p:nvSpPr>
        <p:spPr>
          <a:xfrm>
            <a:off x="5303520" y="9464040"/>
            <a:ext cx="2811780" cy="640080"/>
          </a:xfrm>
          <a:prstGeom prst="roundRect">
            <a:avLst>
              <a:gd name="adj" fmla="val 50000"/>
            </a:avLst>
          </a:prstGeom>
          <a:solidFill>
            <a:srgbClr val="FFFFFF"/>
          </a:solidFill>
          <a:ln w="12700">
            <a:solidFill>
              <a:srgbClr val="729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94959" y="9464040"/>
            <a:ext cx="2628900"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Production flow</a:t>
            </a:r>
          </a:p>
        </p:txBody>
      </p:sp>
      <p:sp>
        <p:nvSpPr>
          <p:cNvPr id="13" name="Rounded Rectangle 12"/>
          <p:cNvSpPr/>
          <p:nvPr/>
        </p:nvSpPr>
        <p:spPr>
          <a:xfrm>
            <a:off x="8389620" y="9464040"/>
            <a:ext cx="1755648" cy="640080"/>
          </a:xfrm>
          <a:prstGeom prst="roundRect">
            <a:avLst>
              <a:gd name="adj" fmla="val 50000"/>
            </a:avLst>
          </a:prstGeom>
          <a:solidFill>
            <a:srgbClr val="FFFFFF"/>
          </a:solidFill>
          <a:ln w="12700">
            <a:solidFill>
              <a:srgbClr val="729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81060" y="9464040"/>
            <a:ext cx="1572768"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Benefits</a:t>
            </a:r>
          </a:p>
        </p:txBody>
      </p:sp>
      <p:sp>
        <p:nvSpPr>
          <p:cNvPr id="15" name="Rounded Rectangle 14"/>
          <p:cNvSpPr/>
          <p:nvPr/>
        </p:nvSpPr>
        <p:spPr>
          <a:xfrm>
            <a:off x="10419588" y="9464040"/>
            <a:ext cx="1906524" cy="640080"/>
          </a:xfrm>
          <a:prstGeom prst="roundRect">
            <a:avLst>
              <a:gd name="adj" fmla="val 50000"/>
            </a:avLst>
          </a:prstGeom>
          <a:solidFill>
            <a:srgbClr val="FFFFFF"/>
          </a:solidFill>
          <a:ln w="12700">
            <a:solidFill>
              <a:srgbClr val="729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511028" y="9464040"/>
            <a:ext cx="1723644"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Inquiries</a:t>
            </a:r>
          </a:p>
        </p:txBody>
      </p:sp>
      <p:sp>
        <p:nvSpPr>
          <p:cNvPr id="17" name="Rounded Rectangle 16"/>
          <p:cNvSpPr/>
          <p:nvPr/>
        </p:nvSpPr>
        <p:spPr>
          <a:xfrm>
            <a:off x="12600432" y="9464040"/>
            <a:ext cx="2359152" cy="640080"/>
          </a:xfrm>
          <a:prstGeom prst="roundRect">
            <a:avLst>
              <a:gd name="adj" fmla="val 50000"/>
            </a:avLst>
          </a:prstGeom>
          <a:solidFill>
            <a:srgbClr val="FFFFFF"/>
          </a:solidFill>
          <a:ln w="12700">
            <a:solidFill>
              <a:srgbClr val="729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691872" y="9464040"/>
            <a:ext cx="2176272"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Change tests</a:t>
            </a:r>
          </a:p>
        </p:txBody>
      </p:sp>
      <p:sp>
        <p:nvSpPr>
          <p:cNvPr id="19" name="Rounded Rectangle 18"/>
          <p:cNvSpPr/>
          <p:nvPr/>
        </p:nvSpPr>
        <p:spPr>
          <a:xfrm>
            <a:off x="15233904" y="9464040"/>
            <a:ext cx="2660904" cy="640080"/>
          </a:xfrm>
          <a:prstGeom prst="roundRect">
            <a:avLst>
              <a:gd name="adj" fmla="val 50000"/>
            </a:avLst>
          </a:prstGeom>
          <a:solidFill>
            <a:srgbClr val="FFFFFF"/>
          </a:solidFill>
          <a:ln w="12700">
            <a:solidFill>
              <a:srgbClr val="729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5325344" y="9464040"/>
            <a:ext cx="2478024"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Change the app</a:t>
            </a:r>
          </a:p>
        </p:txBody>
      </p:sp>
      <p:sp>
        <p:nvSpPr>
          <p:cNvPr id="21" name="Rounded Rectangle 20"/>
          <p:cNvSpPr/>
          <p:nvPr/>
        </p:nvSpPr>
        <p:spPr>
          <a:xfrm>
            <a:off x="5303520" y="10287000"/>
            <a:ext cx="1755648" cy="640080"/>
          </a:xfrm>
          <a:prstGeom prst="roundRect">
            <a:avLst>
              <a:gd name="adj" fmla="val 50000"/>
            </a:avLst>
          </a:prstGeom>
          <a:solidFill>
            <a:srgbClr val="FFFFFF"/>
          </a:solidFill>
          <a:ln w="12700">
            <a:solidFill>
              <a:srgbClr val="729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394959" y="10287000"/>
            <a:ext cx="1572768"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Document</a:t>
            </a:r>
          </a:p>
        </p:txBody>
      </p:sp>
      <p:sp>
        <p:nvSpPr>
          <p:cNvPr id="23" name="Rounded Rectangle 22"/>
          <p:cNvSpPr/>
          <p:nvPr/>
        </p:nvSpPr>
        <p:spPr>
          <a:xfrm>
            <a:off x="7333488" y="10287000"/>
            <a:ext cx="1152144" cy="640080"/>
          </a:xfrm>
          <a:prstGeom prst="roundRect">
            <a:avLst>
              <a:gd name="adj" fmla="val 50000"/>
            </a:avLst>
          </a:prstGeom>
          <a:solidFill>
            <a:srgbClr val="FFFFFF"/>
          </a:solidFill>
          <a:ln w="12700">
            <a:solidFill>
              <a:srgbClr val="729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24927" y="10287000"/>
            <a:ext cx="969264"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Gaps</a:t>
            </a:r>
          </a:p>
        </p:txBody>
      </p:sp>
      <p:sp>
        <p:nvSpPr>
          <p:cNvPr id="25" name="Rounded Rectangle 24"/>
          <p:cNvSpPr/>
          <p:nvPr/>
        </p:nvSpPr>
        <p:spPr>
          <a:xfrm>
            <a:off x="8759952" y="10287000"/>
            <a:ext cx="2359152" cy="640080"/>
          </a:xfrm>
          <a:prstGeom prst="roundRect">
            <a:avLst>
              <a:gd name="adj" fmla="val 50000"/>
            </a:avLst>
          </a:prstGeom>
          <a:solidFill>
            <a:srgbClr val="FFFFFF"/>
          </a:solidFill>
          <a:ln w="12700">
            <a:solidFill>
              <a:srgbClr val="729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851392" y="10287000"/>
            <a:ext cx="2176272"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Feature docs</a:t>
            </a:r>
          </a:p>
        </p:txBody>
      </p:sp>
      <p:sp>
        <p:nvSpPr>
          <p:cNvPr id="27" name="Rounded Rectangle 26"/>
          <p:cNvSpPr/>
          <p:nvPr/>
        </p:nvSpPr>
        <p:spPr>
          <a:xfrm>
            <a:off x="11393424" y="10287000"/>
            <a:ext cx="1152144" cy="640080"/>
          </a:xfrm>
          <a:prstGeom prst="roundRect">
            <a:avLst>
              <a:gd name="adj" fmla="val 50000"/>
            </a:avLst>
          </a:prstGeom>
          <a:solidFill>
            <a:srgbClr val="FFFFFF"/>
          </a:solidFill>
          <a:ln w="12700">
            <a:solidFill>
              <a:srgbClr val="729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1484864" y="10287000"/>
            <a:ext cx="969264"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Bugs</a:t>
            </a:r>
          </a:p>
        </p:txBody>
      </p:sp>
      <p:sp>
        <p:nvSpPr>
          <p:cNvPr id="29" name="Rounded Rectangle 28"/>
          <p:cNvSpPr/>
          <p:nvPr/>
        </p:nvSpPr>
        <p:spPr>
          <a:xfrm>
            <a:off x="12819888" y="10287000"/>
            <a:ext cx="2057400" cy="640080"/>
          </a:xfrm>
          <a:prstGeom prst="roundRect">
            <a:avLst>
              <a:gd name="adj" fmla="val 50000"/>
            </a:avLst>
          </a:prstGeom>
          <a:solidFill>
            <a:srgbClr val="FFFFFF"/>
          </a:solidFill>
          <a:ln w="12700">
            <a:solidFill>
              <a:srgbClr val="729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2911328" y="10287000"/>
            <a:ext cx="1874519"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Innovation</a:t>
            </a:r>
          </a:p>
        </p:txBody>
      </p:sp>
      <p:sp>
        <p:nvSpPr>
          <p:cNvPr id="31" name="Oval 30"/>
          <p:cNvSpPr/>
          <p:nvPr/>
        </p:nvSpPr>
        <p:spPr>
          <a:xfrm>
            <a:off x="20162520" y="8915400"/>
            <a:ext cx="731520" cy="73152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1122640" y="8915400"/>
            <a:ext cx="731520" cy="731520"/>
          </a:xfrm>
          <a:prstGeom prst="ellipse">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2082760" y="8915400"/>
            <a:ext cx="731520" cy="73152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0162520" y="9875520"/>
            <a:ext cx="731520" cy="731520"/>
          </a:xfrm>
          <a:prstGeom prst="ellipse">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1122640" y="9875520"/>
            <a:ext cx="731520" cy="73152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2082760" y="9875520"/>
            <a:ext cx="731520" cy="731520"/>
          </a:xfrm>
          <a:prstGeom prst="ellipse">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Agents at work</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729A00"/>
                </a:solidFill>
              </a:rPr>
              <a:t>PRODUCTION CYCLE WITH AGENTS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Plan to learn: who does what, and who checks</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58</a:t>
            </a:r>
          </a:p>
        </p:txBody>
      </p:sp>
      <p:sp>
        <p:nvSpPr>
          <p:cNvPr id="6" name="Pentagon 5"/>
          <p:cNvSpPr/>
          <p:nvPr/>
        </p:nvSpPr>
        <p:spPr>
          <a:xfrm>
            <a:off x="612648" y="3017520"/>
            <a:ext cx="2651760" cy="1005840"/>
          </a:xfrm>
          <a:prstGeom prst="homePlate">
            <a:avLst>
              <a:gd name="adj" fmla="val 32000"/>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228600" wrap="square"/>
          <a:lstStyle/>
          <a:p>
            <a:pPr algn="ctr">
              <a:lnSpc>
                <a:spcPct val="95000"/>
              </a:lnSpc>
              <a:spcBef>
                <a:spcPts val="0"/>
              </a:spcBef>
            </a:pPr>
            <a:r>
              <a:rPr sz="1700" b="1" i="0">
                <a:solidFill>
                  <a:srgbClr val="FFFFFF"/>
                </a:solidFill>
              </a:rPr>
              <a:t>Plan</a:t>
            </a:r>
          </a:p>
        </p:txBody>
      </p:sp>
      <p:sp>
        <p:nvSpPr>
          <p:cNvPr id="7" name="Oval 6"/>
          <p:cNvSpPr/>
          <p:nvPr/>
        </p:nvSpPr>
        <p:spPr>
          <a:xfrm>
            <a:off x="1389888" y="4251960"/>
            <a:ext cx="914400" cy="9144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Map.png"/>
          <p:cNvPicPr>
            <a:picLocks noChangeAspect="1"/>
          </p:cNvPicPr>
          <p:nvPr/>
        </p:nvPicPr>
        <p:blipFill>
          <a:blip r:embed="rId3"/>
          <a:stretch>
            <a:fillRect/>
          </a:stretch>
        </p:blipFill>
        <p:spPr>
          <a:xfrm>
            <a:off x="1609344" y="4471416"/>
            <a:ext cx="475488" cy="475488"/>
          </a:xfrm>
          <a:prstGeom prst="rect">
            <a:avLst/>
          </a:prstGeom>
        </p:spPr>
      </p:pic>
      <p:sp>
        <p:nvSpPr>
          <p:cNvPr id="9" name="Rounded Rectangle 8"/>
          <p:cNvSpPr/>
          <p:nvPr/>
        </p:nvSpPr>
        <p:spPr>
          <a:xfrm>
            <a:off x="612648" y="5349240"/>
            <a:ext cx="2377440" cy="1325880"/>
          </a:xfrm>
          <a:prstGeom prst="roundRect">
            <a:avLst>
              <a:gd name="adj" fmla="val 1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5349240"/>
            <a:ext cx="2286000" cy="1325880"/>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qa-lead</a:t>
            </a:r>
          </a:p>
          <a:p>
            <a:pPr algn="ctr">
              <a:lnSpc>
                <a:spcPct val="100000"/>
              </a:lnSpc>
              <a:spcBef>
                <a:spcPts val="0"/>
              </a:spcBef>
              <a:spcAft>
                <a:spcPts val="0"/>
              </a:spcAft>
            </a:pPr>
            <a:r>
              <a:rPr sz="1500" b="0" i="0">
                <a:solidFill>
                  <a:srgbClr val="192B37"/>
                </a:solidFill>
              </a:rPr>
              <a:t>researcher</a:t>
            </a:r>
          </a:p>
        </p:txBody>
      </p:sp>
      <p:sp>
        <p:nvSpPr>
          <p:cNvPr id="11" name="Chevron 10"/>
          <p:cNvSpPr/>
          <p:nvPr/>
        </p:nvSpPr>
        <p:spPr>
          <a:xfrm>
            <a:off x="3127248" y="3017520"/>
            <a:ext cx="2651760" cy="1005840"/>
          </a:xfrm>
          <a:prstGeom prst="chevron">
            <a:avLst>
              <a:gd name="adj" fmla="val 32000"/>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700" b="1" i="0">
                <a:solidFill>
                  <a:srgbClr val="FFFFFF"/>
                </a:solidFill>
              </a:rPr>
              <a:t>Require</a:t>
            </a:r>
          </a:p>
        </p:txBody>
      </p:sp>
      <p:sp>
        <p:nvSpPr>
          <p:cNvPr id="12" name="Oval 11"/>
          <p:cNvSpPr/>
          <p:nvPr/>
        </p:nvSpPr>
        <p:spPr>
          <a:xfrm>
            <a:off x="3904487" y="4251960"/>
            <a:ext cx="914400" cy="9144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uClipboardList.png"/>
          <p:cNvPicPr>
            <a:picLocks noChangeAspect="1"/>
          </p:cNvPicPr>
          <p:nvPr/>
        </p:nvPicPr>
        <p:blipFill>
          <a:blip r:embed="rId4"/>
          <a:stretch>
            <a:fillRect/>
          </a:stretch>
        </p:blipFill>
        <p:spPr>
          <a:xfrm>
            <a:off x="4123944" y="4471416"/>
            <a:ext cx="475488" cy="475488"/>
          </a:xfrm>
          <a:prstGeom prst="rect">
            <a:avLst/>
          </a:prstGeom>
        </p:spPr>
      </p:pic>
      <p:sp>
        <p:nvSpPr>
          <p:cNvPr id="14" name="Rounded Rectangle 13"/>
          <p:cNvSpPr/>
          <p:nvPr/>
        </p:nvSpPr>
        <p:spPr>
          <a:xfrm>
            <a:off x="3127248" y="5349240"/>
            <a:ext cx="2377440" cy="1325880"/>
          </a:xfrm>
          <a:prstGeom prst="roundRect">
            <a:avLst>
              <a:gd name="adj" fmla="val 1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172968" y="5349240"/>
            <a:ext cx="2286000" cy="1325880"/>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business-analyst</a:t>
            </a:r>
          </a:p>
          <a:p>
            <a:pPr algn="ctr">
              <a:lnSpc>
                <a:spcPct val="100000"/>
              </a:lnSpc>
              <a:spcBef>
                <a:spcPts val="0"/>
              </a:spcBef>
              <a:spcAft>
                <a:spcPts val="0"/>
              </a:spcAft>
            </a:pPr>
            <a:r>
              <a:rPr sz="1500" b="0" i="0">
                <a:solidFill>
                  <a:srgbClr val="192B37"/>
                </a:solidFill>
              </a:rPr>
              <a:t>ux-designer</a:t>
            </a:r>
          </a:p>
        </p:txBody>
      </p:sp>
      <p:sp>
        <p:nvSpPr>
          <p:cNvPr id="16" name="Chevron 15"/>
          <p:cNvSpPr/>
          <p:nvPr/>
        </p:nvSpPr>
        <p:spPr>
          <a:xfrm>
            <a:off x="5641848" y="3017520"/>
            <a:ext cx="2651760" cy="1005840"/>
          </a:xfrm>
          <a:prstGeom prst="chevron">
            <a:avLst>
              <a:gd name="adj" fmla="val 32000"/>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700" b="1" i="0">
                <a:solidFill>
                  <a:srgbClr val="FFFFFF"/>
                </a:solidFill>
              </a:rPr>
              <a:t>Design</a:t>
            </a:r>
          </a:p>
        </p:txBody>
      </p:sp>
      <p:sp>
        <p:nvSpPr>
          <p:cNvPr id="17" name="Oval 16"/>
          <p:cNvSpPr/>
          <p:nvPr/>
        </p:nvSpPr>
        <p:spPr>
          <a:xfrm>
            <a:off x="6419088" y="4251960"/>
            <a:ext cx="914400" cy="91440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uPenTool.png"/>
          <p:cNvPicPr>
            <a:picLocks noChangeAspect="1"/>
          </p:cNvPicPr>
          <p:nvPr/>
        </p:nvPicPr>
        <p:blipFill>
          <a:blip r:embed="rId5"/>
          <a:stretch>
            <a:fillRect/>
          </a:stretch>
        </p:blipFill>
        <p:spPr>
          <a:xfrm>
            <a:off x="6638544" y="4471416"/>
            <a:ext cx="475488" cy="475488"/>
          </a:xfrm>
          <a:prstGeom prst="rect">
            <a:avLst/>
          </a:prstGeom>
        </p:spPr>
      </p:pic>
      <p:sp>
        <p:nvSpPr>
          <p:cNvPr id="19" name="Rounded Rectangle 18"/>
          <p:cNvSpPr/>
          <p:nvPr/>
        </p:nvSpPr>
        <p:spPr>
          <a:xfrm>
            <a:off x="5641848" y="5349240"/>
            <a:ext cx="2377440" cy="1325880"/>
          </a:xfrm>
          <a:prstGeom prst="roundRect">
            <a:avLst>
              <a:gd name="adj" fmla="val 1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87568" y="5349240"/>
            <a:ext cx="2286000" cy="1325880"/>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contract-guardian</a:t>
            </a:r>
          </a:p>
          <a:p>
            <a:pPr algn="ctr">
              <a:lnSpc>
                <a:spcPct val="100000"/>
              </a:lnSpc>
              <a:spcBef>
                <a:spcPts val="0"/>
              </a:spcBef>
              <a:spcAft>
                <a:spcPts val="0"/>
              </a:spcAft>
            </a:pPr>
            <a:r>
              <a:rPr sz="1500" b="0" i="0">
                <a:solidFill>
                  <a:srgbClr val="192B37"/>
                </a:solidFill>
              </a:rPr>
              <a:t>e2e-architect</a:t>
            </a:r>
          </a:p>
        </p:txBody>
      </p:sp>
      <p:sp>
        <p:nvSpPr>
          <p:cNvPr id="21" name="Chevron 20"/>
          <p:cNvSpPr/>
          <p:nvPr/>
        </p:nvSpPr>
        <p:spPr>
          <a:xfrm>
            <a:off x="8156448" y="3017520"/>
            <a:ext cx="2651760" cy="1005840"/>
          </a:xfrm>
          <a:prstGeom prst="chevron">
            <a:avLst>
              <a:gd name="adj" fmla="val 32000"/>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700" b="1" i="0">
                <a:solidFill>
                  <a:srgbClr val="FFFFFF"/>
                </a:solidFill>
              </a:rPr>
              <a:t>Build</a:t>
            </a:r>
          </a:p>
        </p:txBody>
      </p:sp>
      <p:sp>
        <p:nvSpPr>
          <p:cNvPr id="22" name="Oval 21"/>
          <p:cNvSpPr/>
          <p:nvPr/>
        </p:nvSpPr>
        <p:spPr>
          <a:xfrm>
            <a:off x="8933688" y="4251960"/>
            <a:ext cx="914400" cy="9144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LuHammer.png"/>
          <p:cNvPicPr>
            <a:picLocks noChangeAspect="1"/>
          </p:cNvPicPr>
          <p:nvPr/>
        </p:nvPicPr>
        <p:blipFill>
          <a:blip r:embed="rId6"/>
          <a:stretch>
            <a:fillRect/>
          </a:stretch>
        </p:blipFill>
        <p:spPr>
          <a:xfrm>
            <a:off x="9153144" y="4471416"/>
            <a:ext cx="475488" cy="475488"/>
          </a:xfrm>
          <a:prstGeom prst="rect">
            <a:avLst/>
          </a:prstGeom>
        </p:spPr>
      </p:pic>
      <p:sp>
        <p:nvSpPr>
          <p:cNvPr id="24" name="Rounded Rectangle 23"/>
          <p:cNvSpPr/>
          <p:nvPr/>
        </p:nvSpPr>
        <p:spPr>
          <a:xfrm>
            <a:off x="8156448" y="5349240"/>
            <a:ext cx="2377440" cy="1325880"/>
          </a:xfrm>
          <a:prstGeom prst="roundRect">
            <a:avLst>
              <a:gd name="adj" fmla="val 1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202168" y="5349240"/>
            <a:ext cx="2286000" cy="1325880"/>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be-dev · fe-dev</a:t>
            </a:r>
          </a:p>
          <a:p>
            <a:pPr algn="ctr">
              <a:lnSpc>
                <a:spcPct val="100000"/>
              </a:lnSpc>
              <a:spcBef>
                <a:spcPts val="0"/>
              </a:spcBef>
              <a:spcAft>
                <a:spcPts val="0"/>
              </a:spcAft>
            </a:pPr>
            <a:r>
              <a:rPr sz="1500" b="0" i="0">
                <a:solidFill>
                  <a:srgbClr val="192B37"/>
                </a:solidFill>
              </a:rPr>
              <a:t>env-ops</a:t>
            </a:r>
          </a:p>
        </p:txBody>
      </p:sp>
      <p:sp>
        <p:nvSpPr>
          <p:cNvPr id="26" name="Chevron 25"/>
          <p:cNvSpPr/>
          <p:nvPr/>
        </p:nvSpPr>
        <p:spPr>
          <a:xfrm>
            <a:off x="10671048" y="3017520"/>
            <a:ext cx="2651760" cy="1005840"/>
          </a:xfrm>
          <a:prstGeom prst="chevron">
            <a:avLst>
              <a:gd name="adj" fmla="val 32000"/>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700" b="1" i="0">
                <a:solidFill>
                  <a:srgbClr val="FFFFFF"/>
                </a:solidFill>
              </a:rPr>
              <a:t>Test</a:t>
            </a:r>
          </a:p>
        </p:txBody>
      </p:sp>
      <p:sp>
        <p:nvSpPr>
          <p:cNvPr id="27" name="Oval 26"/>
          <p:cNvSpPr/>
          <p:nvPr/>
        </p:nvSpPr>
        <p:spPr>
          <a:xfrm>
            <a:off x="11448288" y="4251960"/>
            <a:ext cx="914400" cy="9144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LuFlaskConical.png"/>
          <p:cNvPicPr>
            <a:picLocks noChangeAspect="1"/>
          </p:cNvPicPr>
          <p:nvPr/>
        </p:nvPicPr>
        <p:blipFill>
          <a:blip r:embed="rId7"/>
          <a:stretch>
            <a:fillRect/>
          </a:stretch>
        </p:blipFill>
        <p:spPr>
          <a:xfrm>
            <a:off x="11667744" y="4471416"/>
            <a:ext cx="475488" cy="475488"/>
          </a:xfrm>
          <a:prstGeom prst="rect">
            <a:avLst/>
          </a:prstGeom>
        </p:spPr>
      </p:pic>
      <p:sp>
        <p:nvSpPr>
          <p:cNvPr id="29" name="Rounded Rectangle 28"/>
          <p:cNvSpPr/>
          <p:nvPr/>
        </p:nvSpPr>
        <p:spPr>
          <a:xfrm>
            <a:off x="10671048" y="5349240"/>
            <a:ext cx="2377440" cy="1325880"/>
          </a:xfrm>
          <a:prstGeom prst="roundRect">
            <a:avLst>
              <a:gd name="adj" fmla="val 1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716768" y="5349240"/>
            <a:ext cx="2286000" cy="1325880"/>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api/ui-automation</a:t>
            </a:r>
          </a:p>
          <a:p>
            <a:pPr algn="ctr">
              <a:lnSpc>
                <a:spcPct val="100000"/>
              </a:lnSpc>
              <a:spcBef>
                <a:spcPts val="0"/>
              </a:spcBef>
              <a:spcAft>
                <a:spcPts val="0"/>
              </a:spcAft>
            </a:pPr>
            <a:r>
              <a:rPr sz="1500" b="0" i="0">
                <a:solidFill>
                  <a:srgbClr val="192B37"/>
                </a:solidFill>
              </a:rPr>
              <a:t>a11y · perf · security</a:t>
            </a:r>
          </a:p>
        </p:txBody>
      </p:sp>
      <p:sp>
        <p:nvSpPr>
          <p:cNvPr id="31" name="Chevron 30"/>
          <p:cNvSpPr/>
          <p:nvPr/>
        </p:nvSpPr>
        <p:spPr>
          <a:xfrm>
            <a:off x="13185648" y="3017520"/>
            <a:ext cx="2651760" cy="1005840"/>
          </a:xfrm>
          <a:prstGeom prst="chevron">
            <a:avLst>
              <a:gd name="adj" fmla="val 32000"/>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700" b="1" i="0">
                <a:solidFill>
                  <a:srgbClr val="FFFFFF"/>
                </a:solidFill>
              </a:rPr>
              <a:t>Review</a:t>
            </a:r>
          </a:p>
        </p:txBody>
      </p:sp>
      <p:sp>
        <p:nvSpPr>
          <p:cNvPr id="32" name="Oval 31"/>
          <p:cNvSpPr/>
          <p:nvPr/>
        </p:nvSpPr>
        <p:spPr>
          <a:xfrm>
            <a:off x="13962888" y="4251960"/>
            <a:ext cx="914400" cy="9144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LuScanSearch.png"/>
          <p:cNvPicPr>
            <a:picLocks noChangeAspect="1"/>
          </p:cNvPicPr>
          <p:nvPr/>
        </p:nvPicPr>
        <p:blipFill>
          <a:blip r:embed="rId8"/>
          <a:stretch>
            <a:fillRect/>
          </a:stretch>
        </p:blipFill>
        <p:spPr>
          <a:xfrm>
            <a:off x="14182344" y="4471416"/>
            <a:ext cx="475488" cy="475488"/>
          </a:xfrm>
          <a:prstGeom prst="rect">
            <a:avLst/>
          </a:prstGeom>
        </p:spPr>
      </p:pic>
      <p:sp>
        <p:nvSpPr>
          <p:cNvPr id="34" name="Rounded Rectangle 33"/>
          <p:cNvSpPr/>
          <p:nvPr/>
        </p:nvSpPr>
        <p:spPr>
          <a:xfrm>
            <a:off x="13185648" y="5349240"/>
            <a:ext cx="2377440" cy="1325880"/>
          </a:xfrm>
          <a:prstGeom prst="roundRect">
            <a:avLst>
              <a:gd name="adj" fmla="val 1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3231368" y="5349240"/>
            <a:ext cx="2286000" cy="1325880"/>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code-reviewer</a:t>
            </a:r>
          </a:p>
          <a:p>
            <a:pPr algn="ctr">
              <a:lnSpc>
                <a:spcPct val="100000"/>
              </a:lnSpc>
              <a:spcBef>
                <a:spcPts val="0"/>
              </a:spcBef>
              <a:spcAft>
                <a:spcPts val="0"/>
              </a:spcAft>
            </a:pPr>
            <a:r>
              <a:rPr sz="1500" b="0" i="0">
                <a:solidFill>
                  <a:srgbClr val="192B37"/>
                </a:solidFill>
              </a:rPr>
              <a:t>test-impact-analyst</a:t>
            </a:r>
          </a:p>
        </p:txBody>
      </p:sp>
      <p:sp>
        <p:nvSpPr>
          <p:cNvPr id="36" name="Chevron 35"/>
          <p:cNvSpPr/>
          <p:nvPr/>
        </p:nvSpPr>
        <p:spPr>
          <a:xfrm>
            <a:off x="15700248" y="3017520"/>
            <a:ext cx="2651760" cy="1005840"/>
          </a:xfrm>
          <a:prstGeom prst="chevron">
            <a:avLst>
              <a:gd name="adj" fmla="val 32000"/>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700" b="1" i="0">
                <a:solidFill>
                  <a:srgbClr val="FFFFFF"/>
                </a:solidFill>
              </a:rPr>
              <a:t>Release</a:t>
            </a:r>
          </a:p>
        </p:txBody>
      </p:sp>
      <p:sp>
        <p:nvSpPr>
          <p:cNvPr id="37" name="Oval 36"/>
          <p:cNvSpPr/>
          <p:nvPr/>
        </p:nvSpPr>
        <p:spPr>
          <a:xfrm>
            <a:off x="16477488" y="4251960"/>
            <a:ext cx="914400" cy="9144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LuRocket.png"/>
          <p:cNvPicPr>
            <a:picLocks noChangeAspect="1"/>
          </p:cNvPicPr>
          <p:nvPr/>
        </p:nvPicPr>
        <p:blipFill>
          <a:blip r:embed="rId9"/>
          <a:stretch>
            <a:fillRect/>
          </a:stretch>
        </p:blipFill>
        <p:spPr>
          <a:xfrm>
            <a:off x="16696944" y="4471416"/>
            <a:ext cx="475488" cy="475488"/>
          </a:xfrm>
          <a:prstGeom prst="rect">
            <a:avLst/>
          </a:prstGeom>
        </p:spPr>
      </p:pic>
      <p:sp>
        <p:nvSpPr>
          <p:cNvPr id="39" name="Rounded Rectangle 38"/>
          <p:cNvSpPr/>
          <p:nvPr/>
        </p:nvSpPr>
        <p:spPr>
          <a:xfrm>
            <a:off x="15700248" y="5349240"/>
            <a:ext cx="2377440" cy="1325880"/>
          </a:xfrm>
          <a:prstGeom prst="roundRect">
            <a:avLst>
              <a:gd name="adj" fmla="val 1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5745968" y="5349240"/>
            <a:ext cx="2286000" cy="1325880"/>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env-ops</a:t>
            </a:r>
          </a:p>
          <a:p>
            <a:pPr algn="ctr">
              <a:lnSpc>
                <a:spcPct val="100000"/>
              </a:lnSpc>
              <a:spcBef>
                <a:spcPts val="0"/>
              </a:spcBef>
              <a:spcAft>
                <a:spcPts val="0"/>
              </a:spcAft>
            </a:pPr>
            <a:r>
              <a:rPr sz="1500" b="0" i="0">
                <a:solidFill>
                  <a:srgbClr val="192B37"/>
                </a:solidFill>
              </a:rPr>
              <a:t>doc-writer</a:t>
            </a:r>
          </a:p>
        </p:txBody>
      </p:sp>
      <p:sp>
        <p:nvSpPr>
          <p:cNvPr id="41" name="Chevron 40"/>
          <p:cNvSpPr/>
          <p:nvPr/>
        </p:nvSpPr>
        <p:spPr>
          <a:xfrm>
            <a:off x="18214848" y="3017520"/>
            <a:ext cx="2651760" cy="1005840"/>
          </a:xfrm>
          <a:prstGeom prst="chevron">
            <a:avLst>
              <a:gd name="adj" fmla="val 32000"/>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700" b="1" i="0">
                <a:solidFill>
                  <a:srgbClr val="FFFFFF"/>
                </a:solidFill>
              </a:rPr>
              <a:t>Operate</a:t>
            </a:r>
          </a:p>
        </p:txBody>
      </p:sp>
      <p:sp>
        <p:nvSpPr>
          <p:cNvPr id="42" name="Oval 41"/>
          <p:cNvSpPr/>
          <p:nvPr/>
        </p:nvSpPr>
        <p:spPr>
          <a:xfrm>
            <a:off x="18992088" y="4251960"/>
            <a:ext cx="914400" cy="91440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LuActivity.png"/>
          <p:cNvPicPr>
            <a:picLocks noChangeAspect="1"/>
          </p:cNvPicPr>
          <p:nvPr/>
        </p:nvPicPr>
        <p:blipFill>
          <a:blip r:embed="rId10"/>
          <a:stretch>
            <a:fillRect/>
          </a:stretch>
        </p:blipFill>
        <p:spPr>
          <a:xfrm>
            <a:off x="19211544" y="4471416"/>
            <a:ext cx="475488" cy="475488"/>
          </a:xfrm>
          <a:prstGeom prst="rect">
            <a:avLst/>
          </a:prstGeom>
        </p:spPr>
      </p:pic>
      <p:sp>
        <p:nvSpPr>
          <p:cNvPr id="44" name="Rounded Rectangle 43"/>
          <p:cNvSpPr/>
          <p:nvPr/>
        </p:nvSpPr>
        <p:spPr>
          <a:xfrm>
            <a:off x="18214848" y="5349240"/>
            <a:ext cx="2377440" cy="1325880"/>
          </a:xfrm>
          <a:prstGeom prst="roundRect">
            <a:avLst>
              <a:gd name="adj" fmla="val 1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8260568" y="5349240"/>
            <a:ext cx="2286000" cy="1325880"/>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perf-tester</a:t>
            </a:r>
          </a:p>
          <a:p>
            <a:pPr algn="ctr">
              <a:lnSpc>
                <a:spcPct val="100000"/>
              </a:lnSpc>
              <a:spcBef>
                <a:spcPts val="0"/>
              </a:spcBef>
              <a:spcAft>
                <a:spcPts val="0"/>
              </a:spcAft>
            </a:pPr>
            <a:r>
              <a:rPr sz="1500" b="0" i="0">
                <a:solidFill>
                  <a:srgbClr val="192B37"/>
                </a:solidFill>
              </a:rPr>
              <a:t>debugger</a:t>
            </a:r>
          </a:p>
        </p:txBody>
      </p:sp>
      <p:sp>
        <p:nvSpPr>
          <p:cNvPr id="46" name="Chevron 45"/>
          <p:cNvSpPr/>
          <p:nvPr/>
        </p:nvSpPr>
        <p:spPr>
          <a:xfrm>
            <a:off x="20729448" y="3017520"/>
            <a:ext cx="2651760" cy="1005840"/>
          </a:xfrm>
          <a:prstGeom prst="chevron">
            <a:avLst>
              <a:gd name="adj" fmla="val 32000"/>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700" b="1" i="0">
                <a:solidFill>
                  <a:srgbClr val="FFFFFF"/>
                </a:solidFill>
              </a:rPr>
              <a:t>Learn</a:t>
            </a:r>
          </a:p>
        </p:txBody>
      </p:sp>
      <p:sp>
        <p:nvSpPr>
          <p:cNvPr id="47" name="Oval 46"/>
          <p:cNvSpPr/>
          <p:nvPr/>
        </p:nvSpPr>
        <p:spPr>
          <a:xfrm>
            <a:off x="21506688" y="4251960"/>
            <a:ext cx="914400" cy="91440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LuGraduationCap.png"/>
          <p:cNvPicPr>
            <a:picLocks noChangeAspect="1"/>
          </p:cNvPicPr>
          <p:nvPr/>
        </p:nvPicPr>
        <p:blipFill>
          <a:blip r:embed="rId11"/>
          <a:stretch>
            <a:fillRect/>
          </a:stretch>
        </p:blipFill>
        <p:spPr>
          <a:xfrm>
            <a:off x="21726144" y="4471416"/>
            <a:ext cx="475488" cy="475488"/>
          </a:xfrm>
          <a:prstGeom prst="rect">
            <a:avLst/>
          </a:prstGeom>
        </p:spPr>
      </p:pic>
      <p:sp>
        <p:nvSpPr>
          <p:cNvPr id="49" name="Rounded Rectangle 48"/>
          <p:cNvSpPr/>
          <p:nvPr/>
        </p:nvSpPr>
        <p:spPr>
          <a:xfrm>
            <a:off x="20729448" y="5349240"/>
            <a:ext cx="2377440" cy="1325880"/>
          </a:xfrm>
          <a:prstGeom prst="roundRect">
            <a:avLst>
              <a:gd name="adj" fmla="val 15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20775168" y="5349240"/>
            <a:ext cx="2286000" cy="1325880"/>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knowledge-curator</a:t>
            </a:r>
          </a:p>
          <a:p>
            <a:pPr algn="ctr">
              <a:lnSpc>
                <a:spcPct val="100000"/>
              </a:lnSpc>
              <a:spcBef>
                <a:spcPts val="0"/>
              </a:spcBef>
              <a:spcAft>
                <a:spcPts val="0"/>
              </a:spcAft>
            </a:pPr>
            <a:r>
              <a:rPr sz="1500" b="0" i="0">
                <a:solidFill>
                  <a:srgbClr val="192B37"/>
                </a:solidFill>
              </a:rPr>
              <a:t>/tap-retro</a:t>
            </a:r>
          </a:p>
        </p:txBody>
      </p:sp>
      <p:sp>
        <p:nvSpPr>
          <p:cNvPr id="51" name="Rounded Rectangle 50"/>
          <p:cNvSpPr/>
          <p:nvPr/>
        </p:nvSpPr>
        <p:spPr>
          <a:xfrm>
            <a:off x="3218688" y="6858000"/>
            <a:ext cx="2194560" cy="502920"/>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3310128" y="6858000"/>
            <a:ext cx="2011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300" b="1" i="0">
                <a:solidFill>
                  <a:srgbClr val="FF5640"/>
                </a:solidFill>
              </a:rPr>
              <a:t>human gate</a:t>
            </a:r>
          </a:p>
        </p:txBody>
      </p:sp>
      <p:sp>
        <p:nvSpPr>
          <p:cNvPr id="53" name="Rounded Rectangle 52"/>
          <p:cNvSpPr/>
          <p:nvPr/>
        </p:nvSpPr>
        <p:spPr>
          <a:xfrm>
            <a:off x="13277088" y="6858000"/>
            <a:ext cx="2194560" cy="502920"/>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3368528" y="6858000"/>
            <a:ext cx="2011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300" b="1" i="0">
                <a:solidFill>
                  <a:srgbClr val="FF5640"/>
                </a:solidFill>
              </a:rPr>
              <a:t>human gate</a:t>
            </a:r>
          </a:p>
        </p:txBody>
      </p:sp>
      <p:sp>
        <p:nvSpPr>
          <p:cNvPr id="55" name="Rounded Rectangle 54"/>
          <p:cNvSpPr/>
          <p:nvPr/>
        </p:nvSpPr>
        <p:spPr>
          <a:xfrm>
            <a:off x="15791688" y="6858000"/>
            <a:ext cx="2194560" cy="502920"/>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15883128" y="6858000"/>
            <a:ext cx="2011679"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300" b="1" i="0">
                <a:solidFill>
                  <a:srgbClr val="FF5640"/>
                </a:solidFill>
              </a:rPr>
              <a:t>human gate</a:t>
            </a:r>
          </a:p>
        </p:txBody>
      </p:sp>
      <p:cxnSp>
        <p:nvCxnSpPr>
          <p:cNvPr id="57" name="Connector 56"/>
          <p:cNvCxnSpPr/>
          <p:nvPr/>
        </p:nvCxnSpPr>
        <p:spPr>
          <a:xfrm>
            <a:off x="21945600" y="6675120"/>
            <a:ext cx="0" cy="1051559"/>
          </a:xfrm>
          <a:prstGeom prst="line">
            <a:avLst/>
          </a:prstGeom>
          <a:ln w="31750">
            <a:solidFill>
              <a:srgbClr val="729A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1737360" y="7726679"/>
            <a:ext cx="20208240" cy="0"/>
          </a:xfrm>
          <a:prstGeom prst="line">
            <a:avLst/>
          </a:prstGeom>
          <a:ln w="31750">
            <a:solidFill>
              <a:srgbClr val="729A00"/>
            </a:solidFill>
            <a:prstDash val="dash"/>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1737360" y="6766560"/>
            <a:ext cx="0" cy="960119"/>
          </a:xfrm>
          <a:prstGeom prst="line">
            <a:avLst/>
          </a:prstGeom>
          <a:ln w="31750">
            <a:solidFill>
              <a:srgbClr val="729A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8229600" y="7772400"/>
            <a:ext cx="822960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0" i="1">
                <a:solidFill>
                  <a:srgbClr val="729A00"/>
                </a:solidFill>
              </a:rPr>
              <a:t>feedback: metrics, postmortems, every incident becomes a regression test</a:t>
            </a:r>
          </a:p>
        </p:txBody>
      </p:sp>
      <p:sp>
        <p:nvSpPr>
          <p:cNvPr id="61" name="TextBox 60"/>
          <p:cNvSpPr txBox="1"/>
          <p:nvPr/>
        </p:nvSpPr>
        <p:spPr>
          <a:xfrm>
            <a:off x="612648" y="8321040"/>
            <a:ext cx="109728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729A00"/>
                </a:solidFill>
              </a:rPr>
              <a:t>DORA DELIVERY METRICS</a:t>
            </a:r>
          </a:p>
        </p:txBody>
      </p:sp>
      <p:sp>
        <p:nvSpPr>
          <p:cNvPr id="62" name="Rounded Rectangle 61"/>
          <p:cNvSpPr/>
          <p:nvPr/>
        </p:nvSpPr>
        <p:spPr>
          <a:xfrm>
            <a:off x="612648" y="8778240"/>
            <a:ext cx="4389120" cy="1645920"/>
          </a:xfrm>
          <a:prstGeom prst="roundRect">
            <a:avLst>
              <a:gd name="adj" fmla="val 12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841248" y="8869680"/>
            <a:ext cx="3931920" cy="82296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1" i="0">
                <a:solidFill>
                  <a:srgbClr val="192B37"/>
                </a:solidFill>
              </a:rPr>
              <a:t>Deployment frequency</a:t>
            </a:r>
          </a:p>
        </p:txBody>
      </p:sp>
      <p:sp>
        <p:nvSpPr>
          <p:cNvPr id="64" name="TextBox 63"/>
          <p:cNvSpPr txBox="1"/>
          <p:nvPr/>
        </p:nvSpPr>
        <p:spPr>
          <a:xfrm>
            <a:off x="841248" y="9692640"/>
            <a:ext cx="39319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3D9BC8"/>
                </a:solidFill>
              </a:rPr>
              <a:t>throughput</a:t>
            </a:r>
          </a:p>
        </p:txBody>
      </p:sp>
      <p:sp>
        <p:nvSpPr>
          <p:cNvPr id="65" name="Rounded Rectangle 64"/>
          <p:cNvSpPr/>
          <p:nvPr/>
        </p:nvSpPr>
        <p:spPr>
          <a:xfrm>
            <a:off x="5212080" y="8778240"/>
            <a:ext cx="4389120" cy="1645920"/>
          </a:xfrm>
          <a:prstGeom prst="roundRect">
            <a:avLst>
              <a:gd name="adj" fmla="val 12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5440680" y="8869680"/>
            <a:ext cx="3931920" cy="82296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1" i="0">
                <a:solidFill>
                  <a:srgbClr val="192B37"/>
                </a:solidFill>
              </a:rPr>
              <a:t>Change lead time</a:t>
            </a:r>
          </a:p>
        </p:txBody>
      </p:sp>
      <p:sp>
        <p:nvSpPr>
          <p:cNvPr id="67" name="TextBox 66"/>
          <p:cNvSpPr txBox="1"/>
          <p:nvPr/>
        </p:nvSpPr>
        <p:spPr>
          <a:xfrm>
            <a:off x="5440680" y="9692640"/>
            <a:ext cx="39319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3D9BC8"/>
                </a:solidFill>
              </a:rPr>
              <a:t>throughput</a:t>
            </a:r>
          </a:p>
        </p:txBody>
      </p:sp>
      <p:sp>
        <p:nvSpPr>
          <p:cNvPr id="68" name="Rounded Rectangle 67"/>
          <p:cNvSpPr/>
          <p:nvPr/>
        </p:nvSpPr>
        <p:spPr>
          <a:xfrm>
            <a:off x="9811512" y="8778240"/>
            <a:ext cx="4389120" cy="1645920"/>
          </a:xfrm>
          <a:prstGeom prst="roundRect">
            <a:avLst>
              <a:gd name="adj" fmla="val 12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10040112" y="8869680"/>
            <a:ext cx="3931920" cy="82296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1" i="0">
                <a:solidFill>
                  <a:srgbClr val="192B37"/>
                </a:solidFill>
              </a:rPr>
              <a:t>Recovery time</a:t>
            </a:r>
          </a:p>
        </p:txBody>
      </p:sp>
      <p:sp>
        <p:nvSpPr>
          <p:cNvPr id="70" name="TextBox 69"/>
          <p:cNvSpPr txBox="1"/>
          <p:nvPr/>
        </p:nvSpPr>
        <p:spPr>
          <a:xfrm>
            <a:off x="10040112" y="9692640"/>
            <a:ext cx="39319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3D9BC8"/>
                </a:solidFill>
              </a:rPr>
              <a:t>throughput</a:t>
            </a:r>
          </a:p>
        </p:txBody>
      </p:sp>
      <p:sp>
        <p:nvSpPr>
          <p:cNvPr id="71" name="Rounded Rectangle 70"/>
          <p:cNvSpPr/>
          <p:nvPr/>
        </p:nvSpPr>
        <p:spPr>
          <a:xfrm>
            <a:off x="14410944" y="8778240"/>
            <a:ext cx="4389120" cy="1645920"/>
          </a:xfrm>
          <a:prstGeom prst="roundRect">
            <a:avLst>
              <a:gd name="adj" fmla="val 12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14639543" y="8869680"/>
            <a:ext cx="3931920" cy="82296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1" i="0">
                <a:solidFill>
                  <a:srgbClr val="192B37"/>
                </a:solidFill>
              </a:rPr>
              <a:t>Change fail rate</a:t>
            </a:r>
          </a:p>
        </p:txBody>
      </p:sp>
      <p:sp>
        <p:nvSpPr>
          <p:cNvPr id="73" name="TextBox 72"/>
          <p:cNvSpPr txBox="1"/>
          <p:nvPr/>
        </p:nvSpPr>
        <p:spPr>
          <a:xfrm>
            <a:off x="14639543" y="9692640"/>
            <a:ext cx="39319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FF5640"/>
                </a:solidFill>
              </a:rPr>
              <a:t>instability</a:t>
            </a:r>
          </a:p>
        </p:txBody>
      </p:sp>
      <p:sp>
        <p:nvSpPr>
          <p:cNvPr id="74" name="Rounded Rectangle 73"/>
          <p:cNvSpPr/>
          <p:nvPr/>
        </p:nvSpPr>
        <p:spPr>
          <a:xfrm>
            <a:off x="19010376" y="8778240"/>
            <a:ext cx="4389120" cy="1645920"/>
          </a:xfrm>
          <a:prstGeom prst="roundRect">
            <a:avLst>
              <a:gd name="adj" fmla="val 12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19238976" y="8869680"/>
            <a:ext cx="3931920" cy="822960"/>
          </a:xfrm>
          <a:prstGeom prst="rect">
            <a:avLst/>
          </a:prstGeom>
          <a:noFill/>
        </p:spPr>
        <p:txBody>
          <a:bodyPr wrap="square" lIns="0" rIns="0" tIns="18288" bIns="18288" anchor="ctr">
            <a:noAutofit/>
          </a:bodyPr>
          <a:lstStyle/>
          <a:p>
            <a:pPr algn="l">
              <a:lnSpc>
                <a:spcPct val="100000"/>
              </a:lnSpc>
              <a:spcBef>
                <a:spcPts val="0"/>
              </a:spcBef>
              <a:spcAft>
                <a:spcPts val="0"/>
              </a:spcAft>
            </a:pPr>
            <a:r>
              <a:rPr sz="1900" b="1" i="0">
                <a:solidFill>
                  <a:srgbClr val="192B37"/>
                </a:solidFill>
              </a:rPr>
              <a:t>Rework rate</a:t>
            </a:r>
          </a:p>
        </p:txBody>
      </p:sp>
      <p:sp>
        <p:nvSpPr>
          <p:cNvPr id="76" name="TextBox 75"/>
          <p:cNvSpPr txBox="1"/>
          <p:nvPr/>
        </p:nvSpPr>
        <p:spPr>
          <a:xfrm>
            <a:off x="19238976" y="9692640"/>
            <a:ext cx="393192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FF5640"/>
                </a:solidFill>
              </a:rPr>
              <a:t>instability</a:t>
            </a:r>
          </a:p>
        </p:txBody>
      </p:sp>
      <p:sp>
        <p:nvSpPr>
          <p:cNvPr id="77" name="Rounded Rectangle 76"/>
          <p:cNvSpPr/>
          <p:nvPr/>
        </p:nvSpPr>
        <p:spPr>
          <a:xfrm>
            <a:off x="612648" y="10789920"/>
            <a:ext cx="22860000" cy="960120"/>
          </a:xfrm>
          <a:prstGeom prst="roundRect">
            <a:avLst>
              <a:gd name="adj" fmla="val 15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Oval 77"/>
          <p:cNvSpPr/>
          <p:nvPr/>
        </p:nvSpPr>
        <p:spPr>
          <a:xfrm>
            <a:off x="886968" y="10927080"/>
            <a:ext cx="685800" cy="68580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9" name="Picture 78" descr="LuLaugh.png"/>
          <p:cNvPicPr>
            <a:picLocks noChangeAspect="1"/>
          </p:cNvPicPr>
          <p:nvPr/>
        </p:nvPicPr>
        <p:blipFill>
          <a:blip r:embed="rId12"/>
          <a:stretch>
            <a:fillRect/>
          </a:stretch>
        </p:blipFill>
        <p:spPr>
          <a:xfrm>
            <a:off x="1051560" y="11091672"/>
            <a:ext cx="356616" cy="356616"/>
          </a:xfrm>
          <a:prstGeom prst="rect">
            <a:avLst/>
          </a:prstGeom>
        </p:spPr>
      </p:pic>
      <p:sp>
        <p:nvSpPr>
          <p:cNvPr id="80" name="TextBox 79"/>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Agents in every seat, humans at every gate — like a self-driving car that still needs you to choose the destination.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Agents at work</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729A00"/>
                </a:solidFill>
              </a:rPr>
              <a:t>PRODUCTION CYCLE · BENEFITS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What it bought us on this very project</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59</a:t>
            </a:r>
          </a:p>
        </p:txBody>
      </p:sp>
      <p:sp>
        <p:nvSpPr>
          <p:cNvPr id="6" name="Rounded Rectangle 5"/>
          <p:cNvSpPr/>
          <p:nvPr/>
        </p:nvSpPr>
        <p:spPr>
          <a:xfrm>
            <a:off x="612648" y="2926080"/>
            <a:ext cx="7406640" cy="3566160"/>
          </a:xfrm>
          <a:prstGeom prst="roundRect">
            <a:avLst>
              <a:gd name="adj" fmla="val 6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830568" y="3200400"/>
            <a:ext cx="914400" cy="9144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CircleCheck.png"/>
          <p:cNvPicPr>
            <a:picLocks noChangeAspect="1"/>
          </p:cNvPicPr>
          <p:nvPr/>
        </p:nvPicPr>
        <p:blipFill>
          <a:blip r:embed="rId3"/>
          <a:stretch>
            <a:fillRect/>
          </a:stretch>
        </p:blipFill>
        <p:spPr>
          <a:xfrm>
            <a:off x="7050024" y="3419856"/>
            <a:ext cx="475488" cy="475488"/>
          </a:xfrm>
          <a:prstGeom prst="rect">
            <a:avLst/>
          </a:prstGeom>
        </p:spPr>
      </p:pic>
      <p:sp>
        <p:nvSpPr>
          <p:cNvPr id="9" name="TextBox 8"/>
          <p:cNvSpPr txBox="1"/>
          <p:nvPr/>
        </p:nvSpPr>
        <p:spPr>
          <a:xfrm>
            <a:off x="932688" y="3154680"/>
            <a:ext cx="5760720" cy="1371600"/>
          </a:xfrm>
          <a:prstGeom prst="rect">
            <a:avLst/>
          </a:prstGeom>
          <a:noFill/>
        </p:spPr>
        <p:txBody>
          <a:bodyPr wrap="square" lIns="0" rIns="0" tIns="18288" bIns="18288" anchor="ctr">
            <a:noAutofit/>
          </a:bodyPr>
          <a:lstStyle/>
          <a:p>
            <a:pPr algn="l">
              <a:lnSpc>
                <a:spcPct val="100000"/>
              </a:lnSpc>
              <a:spcBef>
                <a:spcPts val="0"/>
              </a:spcBef>
              <a:spcAft>
                <a:spcPts val="0"/>
              </a:spcAft>
            </a:pPr>
            <a:r>
              <a:rPr sz="6400" b="0" i="0">
                <a:solidFill>
                  <a:srgbClr val="00A859"/>
                </a:solidFill>
                <a:latin typeface="+mj-lt"/>
              </a:rPr>
              <a:t>223</a:t>
            </a:r>
          </a:p>
        </p:txBody>
      </p:sp>
      <p:sp>
        <p:nvSpPr>
          <p:cNvPr id="10" name="TextBox 9"/>
          <p:cNvSpPr txBox="1"/>
          <p:nvPr/>
        </p:nvSpPr>
        <p:spPr>
          <a:xfrm>
            <a:off x="932688" y="4617720"/>
            <a:ext cx="676656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tests green, 0 flaky</a:t>
            </a:r>
          </a:p>
        </p:txBody>
      </p:sp>
      <p:sp>
        <p:nvSpPr>
          <p:cNvPr id="11" name="TextBox 10"/>
          <p:cNvSpPr txBox="1"/>
          <p:nvPr/>
        </p:nvSpPr>
        <p:spPr>
          <a:xfrm>
            <a:off x="932688" y="5440680"/>
            <a:ext cx="676656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1700" b="0" i="0">
                <a:solidFill>
                  <a:srgbClr val="5E6A73"/>
                </a:solidFill>
              </a:rPr>
              <a:t>full regression, 12.1 min</a:t>
            </a:r>
          </a:p>
        </p:txBody>
      </p:sp>
      <p:sp>
        <p:nvSpPr>
          <p:cNvPr id="12" name="Rounded Rectangle 11"/>
          <p:cNvSpPr/>
          <p:nvPr/>
        </p:nvSpPr>
        <p:spPr>
          <a:xfrm>
            <a:off x="8311896" y="2926080"/>
            <a:ext cx="7406640" cy="3566160"/>
          </a:xfrm>
          <a:prstGeom prst="roundRect">
            <a:avLst>
              <a:gd name="adj" fmla="val 6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4529816" y="3200400"/>
            <a:ext cx="914400" cy="9144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uFileCode.png"/>
          <p:cNvPicPr>
            <a:picLocks noChangeAspect="1"/>
          </p:cNvPicPr>
          <p:nvPr/>
        </p:nvPicPr>
        <p:blipFill>
          <a:blip r:embed="rId4"/>
          <a:stretch>
            <a:fillRect/>
          </a:stretch>
        </p:blipFill>
        <p:spPr>
          <a:xfrm>
            <a:off x="14749272" y="3419856"/>
            <a:ext cx="475488" cy="475488"/>
          </a:xfrm>
          <a:prstGeom prst="rect">
            <a:avLst/>
          </a:prstGeom>
        </p:spPr>
      </p:pic>
      <p:sp>
        <p:nvSpPr>
          <p:cNvPr id="15" name="TextBox 14"/>
          <p:cNvSpPr txBox="1"/>
          <p:nvPr/>
        </p:nvSpPr>
        <p:spPr>
          <a:xfrm>
            <a:off x="8631936" y="3154680"/>
            <a:ext cx="5760720" cy="1371600"/>
          </a:xfrm>
          <a:prstGeom prst="rect">
            <a:avLst/>
          </a:prstGeom>
          <a:noFill/>
        </p:spPr>
        <p:txBody>
          <a:bodyPr wrap="square" lIns="0" rIns="0" tIns="18288" bIns="18288" anchor="ctr">
            <a:noAutofit/>
          </a:bodyPr>
          <a:lstStyle/>
          <a:p>
            <a:pPr algn="l">
              <a:lnSpc>
                <a:spcPct val="100000"/>
              </a:lnSpc>
              <a:spcBef>
                <a:spcPts val="0"/>
              </a:spcBef>
              <a:spcAft>
                <a:spcPts val="0"/>
              </a:spcAft>
            </a:pPr>
            <a:r>
              <a:rPr sz="6400" b="0" i="0">
                <a:solidFill>
                  <a:srgbClr val="3D9BC8"/>
                </a:solidFill>
                <a:latin typeface="+mj-lt"/>
              </a:rPr>
              <a:t>135</a:t>
            </a:r>
          </a:p>
        </p:txBody>
      </p:sp>
      <p:sp>
        <p:nvSpPr>
          <p:cNvPr id="16" name="TextBox 15"/>
          <p:cNvSpPr txBox="1"/>
          <p:nvPr/>
        </p:nvSpPr>
        <p:spPr>
          <a:xfrm>
            <a:off x="8631936" y="4617720"/>
            <a:ext cx="676656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live checks of the API spec</a:t>
            </a:r>
          </a:p>
        </p:txBody>
      </p:sp>
      <p:sp>
        <p:nvSpPr>
          <p:cNvPr id="17" name="TextBox 16"/>
          <p:cNvSpPr txBox="1"/>
          <p:nvPr/>
        </p:nvSpPr>
        <p:spPr>
          <a:xfrm>
            <a:off x="8631936" y="5440680"/>
            <a:ext cx="676656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1700" b="0" i="0">
                <a:solidFill>
                  <a:srgbClr val="5E6A73"/>
                </a:solidFill>
              </a:rPr>
              <a:t>35/35 operations in sync</a:t>
            </a:r>
          </a:p>
        </p:txBody>
      </p:sp>
      <p:sp>
        <p:nvSpPr>
          <p:cNvPr id="18" name="Rounded Rectangle 17"/>
          <p:cNvSpPr/>
          <p:nvPr/>
        </p:nvSpPr>
        <p:spPr>
          <a:xfrm>
            <a:off x="16011144" y="2926080"/>
            <a:ext cx="7406640" cy="3566160"/>
          </a:xfrm>
          <a:prstGeom prst="roundRect">
            <a:avLst>
              <a:gd name="adj" fmla="val 6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22229064" y="3200400"/>
            <a:ext cx="914400" cy="9144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uBug.png"/>
          <p:cNvPicPr>
            <a:picLocks noChangeAspect="1"/>
          </p:cNvPicPr>
          <p:nvPr/>
        </p:nvPicPr>
        <p:blipFill>
          <a:blip r:embed="rId5"/>
          <a:stretch>
            <a:fillRect/>
          </a:stretch>
        </p:blipFill>
        <p:spPr>
          <a:xfrm>
            <a:off x="22448520" y="3419856"/>
            <a:ext cx="475488" cy="475488"/>
          </a:xfrm>
          <a:prstGeom prst="rect">
            <a:avLst/>
          </a:prstGeom>
        </p:spPr>
      </p:pic>
      <p:sp>
        <p:nvSpPr>
          <p:cNvPr id="21" name="TextBox 20"/>
          <p:cNvSpPr txBox="1"/>
          <p:nvPr/>
        </p:nvSpPr>
        <p:spPr>
          <a:xfrm>
            <a:off x="16331184" y="3154680"/>
            <a:ext cx="5760720" cy="1371600"/>
          </a:xfrm>
          <a:prstGeom prst="rect">
            <a:avLst/>
          </a:prstGeom>
          <a:noFill/>
        </p:spPr>
        <p:txBody>
          <a:bodyPr wrap="square" lIns="0" rIns="0" tIns="18288" bIns="18288" anchor="ctr">
            <a:noAutofit/>
          </a:bodyPr>
          <a:lstStyle/>
          <a:p>
            <a:pPr algn="l">
              <a:lnSpc>
                <a:spcPct val="100000"/>
              </a:lnSpc>
              <a:spcBef>
                <a:spcPts val="0"/>
              </a:spcBef>
              <a:spcAft>
                <a:spcPts val="0"/>
              </a:spcAft>
            </a:pPr>
            <a:r>
              <a:rPr sz="6400" b="0" i="0">
                <a:solidFill>
                  <a:srgbClr val="FF5640"/>
                </a:solidFill>
                <a:latin typeface="+mj-lt"/>
              </a:rPr>
              <a:t>37</a:t>
            </a:r>
          </a:p>
        </p:txBody>
      </p:sp>
      <p:sp>
        <p:nvSpPr>
          <p:cNvPr id="22" name="TextBox 21"/>
          <p:cNvSpPr txBox="1"/>
          <p:nvPr/>
        </p:nvSpPr>
        <p:spPr>
          <a:xfrm>
            <a:off x="16331184" y="4617720"/>
            <a:ext cx="676656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defects catalogued with repros</a:t>
            </a:r>
          </a:p>
        </p:txBody>
      </p:sp>
      <p:sp>
        <p:nvSpPr>
          <p:cNvPr id="23" name="TextBox 22"/>
          <p:cNvSpPr txBox="1"/>
          <p:nvPr/>
        </p:nvSpPr>
        <p:spPr>
          <a:xfrm>
            <a:off x="16331184" y="5440680"/>
            <a:ext cx="676656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1700" b="0" i="0">
                <a:solidFill>
                  <a:srgbClr val="5E6A73"/>
                </a:solidFill>
              </a:rPr>
              <a:t>KI-01…33 + A11Y-01…04</a:t>
            </a:r>
          </a:p>
        </p:txBody>
      </p:sp>
      <p:sp>
        <p:nvSpPr>
          <p:cNvPr id="24" name="Rounded Rectangle 23"/>
          <p:cNvSpPr/>
          <p:nvPr/>
        </p:nvSpPr>
        <p:spPr>
          <a:xfrm>
            <a:off x="612648" y="6720840"/>
            <a:ext cx="7406640" cy="3566160"/>
          </a:xfrm>
          <a:prstGeom prst="roundRect">
            <a:avLst>
              <a:gd name="adj" fmla="val 6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830568" y="6995160"/>
            <a:ext cx="914400" cy="9144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LuUsers.png"/>
          <p:cNvPicPr>
            <a:picLocks noChangeAspect="1"/>
          </p:cNvPicPr>
          <p:nvPr/>
        </p:nvPicPr>
        <p:blipFill>
          <a:blip r:embed="rId6"/>
          <a:stretch>
            <a:fillRect/>
          </a:stretch>
        </p:blipFill>
        <p:spPr>
          <a:xfrm>
            <a:off x="7050024" y="7214616"/>
            <a:ext cx="475488" cy="475488"/>
          </a:xfrm>
          <a:prstGeom prst="rect">
            <a:avLst/>
          </a:prstGeom>
        </p:spPr>
      </p:pic>
      <p:sp>
        <p:nvSpPr>
          <p:cNvPr id="27" name="TextBox 26"/>
          <p:cNvSpPr txBox="1"/>
          <p:nvPr/>
        </p:nvSpPr>
        <p:spPr>
          <a:xfrm>
            <a:off x="932688" y="6949440"/>
            <a:ext cx="5760720" cy="1371600"/>
          </a:xfrm>
          <a:prstGeom prst="rect">
            <a:avLst/>
          </a:prstGeom>
          <a:noFill/>
        </p:spPr>
        <p:txBody>
          <a:bodyPr wrap="square" lIns="0" rIns="0" tIns="18288" bIns="18288" anchor="ctr">
            <a:noAutofit/>
          </a:bodyPr>
          <a:lstStyle/>
          <a:p>
            <a:pPr algn="l">
              <a:lnSpc>
                <a:spcPct val="100000"/>
              </a:lnSpc>
              <a:spcBef>
                <a:spcPts val="0"/>
              </a:spcBef>
              <a:spcAft>
                <a:spcPts val="0"/>
              </a:spcAft>
            </a:pPr>
            <a:r>
              <a:rPr sz="6400" b="0" i="0">
                <a:solidFill>
                  <a:srgbClr val="8683C3"/>
                </a:solidFill>
                <a:latin typeface="+mj-lt"/>
              </a:rPr>
              <a:t>9</a:t>
            </a:r>
          </a:p>
        </p:txBody>
      </p:sp>
      <p:sp>
        <p:nvSpPr>
          <p:cNvPr id="28" name="TextBox 27"/>
          <p:cNvSpPr txBox="1"/>
          <p:nvPr/>
        </p:nvSpPr>
        <p:spPr>
          <a:xfrm>
            <a:off x="932688" y="8412480"/>
            <a:ext cx="676656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builders in parallel</a:t>
            </a:r>
          </a:p>
        </p:txBody>
      </p:sp>
      <p:sp>
        <p:nvSpPr>
          <p:cNvPr id="29" name="TextBox 28"/>
          <p:cNvSpPr txBox="1"/>
          <p:nvPr/>
        </p:nvSpPr>
        <p:spPr>
          <a:xfrm>
            <a:off x="932688" y="9235440"/>
            <a:ext cx="676656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1700" b="0" i="0">
                <a:solidFill>
                  <a:srgbClr val="5E6A73"/>
                </a:solidFill>
              </a:rPr>
              <a:t>framework built in one session</a:t>
            </a:r>
          </a:p>
        </p:txBody>
      </p:sp>
      <p:sp>
        <p:nvSpPr>
          <p:cNvPr id="30" name="Rounded Rectangle 29"/>
          <p:cNvSpPr/>
          <p:nvPr/>
        </p:nvSpPr>
        <p:spPr>
          <a:xfrm>
            <a:off x="8311896" y="6720840"/>
            <a:ext cx="7406640" cy="3566160"/>
          </a:xfrm>
          <a:prstGeom prst="roundRect">
            <a:avLst>
              <a:gd name="adj" fmla="val 6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14529816" y="6995160"/>
            <a:ext cx="914400" cy="91440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LuScanSearch.png"/>
          <p:cNvPicPr>
            <a:picLocks noChangeAspect="1"/>
          </p:cNvPicPr>
          <p:nvPr/>
        </p:nvPicPr>
        <p:blipFill>
          <a:blip r:embed="rId7"/>
          <a:stretch>
            <a:fillRect/>
          </a:stretch>
        </p:blipFill>
        <p:spPr>
          <a:xfrm>
            <a:off x="14749272" y="7214616"/>
            <a:ext cx="475488" cy="475488"/>
          </a:xfrm>
          <a:prstGeom prst="rect">
            <a:avLst/>
          </a:prstGeom>
        </p:spPr>
      </p:pic>
      <p:sp>
        <p:nvSpPr>
          <p:cNvPr id="33" name="TextBox 32"/>
          <p:cNvSpPr txBox="1"/>
          <p:nvPr/>
        </p:nvSpPr>
        <p:spPr>
          <a:xfrm>
            <a:off x="8631936" y="6949440"/>
            <a:ext cx="5760720" cy="1371600"/>
          </a:xfrm>
          <a:prstGeom prst="rect">
            <a:avLst/>
          </a:prstGeom>
          <a:noFill/>
        </p:spPr>
        <p:txBody>
          <a:bodyPr wrap="square" lIns="0" rIns="0" tIns="18288" bIns="18288" anchor="ctr">
            <a:noAutofit/>
          </a:bodyPr>
          <a:lstStyle/>
          <a:p>
            <a:pPr algn="l">
              <a:lnSpc>
                <a:spcPct val="100000"/>
              </a:lnSpc>
              <a:spcBef>
                <a:spcPts val="0"/>
              </a:spcBef>
              <a:spcAft>
                <a:spcPts val="0"/>
              </a:spcAft>
            </a:pPr>
            <a:r>
              <a:rPr sz="6400" b="0" i="0">
                <a:solidFill>
                  <a:srgbClr val="DB7D00"/>
                </a:solidFill>
                <a:latin typeface="+mj-lt"/>
              </a:rPr>
              <a:t>1 + 8</a:t>
            </a:r>
          </a:p>
        </p:txBody>
      </p:sp>
      <p:sp>
        <p:nvSpPr>
          <p:cNvPr id="34" name="TextBox 33"/>
          <p:cNvSpPr txBox="1"/>
          <p:nvPr/>
        </p:nvSpPr>
        <p:spPr>
          <a:xfrm>
            <a:off x="8631936" y="8412480"/>
            <a:ext cx="676656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blocker + major review findings</a:t>
            </a:r>
          </a:p>
        </p:txBody>
      </p:sp>
      <p:sp>
        <p:nvSpPr>
          <p:cNvPr id="35" name="TextBox 34"/>
          <p:cNvSpPr txBox="1"/>
          <p:nvPr/>
        </p:nvSpPr>
        <p:spPr>
          <a:xfrm>
            <a:off x="8631936" y="9235440"/>
            <a:ext cx="676656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1700" b="0" i="0">
                <a:solidFill>
                  <a:srgbClr val="5E6A73"/>
                </a:solidFill>
              </a:rPr>
              <a:t>fixed before you ever saw them</a:t>
            </a:r>
          </a:p>
        </p:txBody>
      </p:sp>
      <p:sp>
        <p:nvSpPr>
          <p:cNvPr id="36" name="Rounded Rectangle 35"/>
          <p:cNvSpPr/>
          <p:nvPr/>
        </p:nvSpPr>
        <p:spPr>
          <a:xfrm>
            <a:off x="16011144" y="6720840"/>
            <a:ext cx="7406640" cy="3566160"/>
          </a:xfrm>
          <a:prstGeom prst="roundRect">
            <a:avLst>
              <a:gd name="adj" fmla="val 6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22229064" y="6995160"/>
            <a:ext cx="914400" cy="91440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LuRadar.png"/>
          <p:cNvPicPr>
            <a:picLocks noChangeAspect="1"/>
          </p:cNvPicPr>
          <p:nvPr/>
        </p:nvPicPr>
        <p:blipFill>
          <a:blip r:embed="rId8"/>
          <a:stretch>
            <a:fillRect/>
          </a:stretch>
        </p:blipFill>
        <p:spPr>
          <a:xfrm>
            <a:off x="22448520" y="7214616"/>
            <a:ext cx="475488" cy="475488"/>
          </a:xfrm>
          <a:prstGeom prst="rect">
            <a:avLst/>
          </a:prstGeom>
        </p:spPr>
      </p:pic>
      <p:sp>
        <p:nvSpPr>
          <p:cNvPr id="39" name="TextBox 38"/>
          <p:cNvSpPr txBox="1"/>
          <p:nvPr/>
        </p:nvSpPr>
        <p:spPr>
          <a:xfrm>
            <a:off x="16331184" y="6949440"/>
            <a:ext cx="5760720" cy="1371600"/>
          </a:xfrm>
          <a:prstGeom prst="rect">
            <a:avLst/>
          </a:prstGeom>
          <a:noFill/>
        </p:spPr>
        <p:txBody>
          <a:bodyPr wrap="square" lIns="0" rIns="0" tIns="18288" bIns="18288" anchor="ctr">
            <a:noAutofit/>
          </a:bodyPr>
          <a:lstStyle/>
          <a:p>
            <a:pPr algn="l">
              <a:lnSpc>
                <a:spcPct val="100000"/>
              </a:lnSpc>
              <a:spcBef>
                <a:spcPts val="0"/>
              </a:spcBef>
              <a:spcAft>
                <a:spcPts val="0"/>
              </a:spcAft>
            </a:pPr>
            <a:r>
              <a:rPr sz="6400" b="0" i="0">
                <a:solidFill>
                  <a:srgbClr val="729A00"/>
                </a:solidFill>
                <a:latin typeface="+mj-lt"/>
              </a:rPr>
              <a:t>17</a:t>
            </a:r>
          </a:p>
        </p:txBody>
      </p:sp>
      <p:sp>
        <p:nvSpPr>
          <p:cNvPr id="40" name="TextBox 39"/>
          <p:cNvSpPr txBox="1"/>
          <p:nvPr/>
        </p:nvSpPr>
        <p:spPr>
          <a:xfrm>
            <a:off x="16331184" y="8412480"/>
            <a:ext cx="676656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impacted tests found in seconds</a:t>
            </a:r>
          </a:p>
        </p:txBody>
      </p:sp>
      <p:sp>
        <p:nvSpPr>
          <p:cNvPr id="41" name="TextBox 40"/>
          <p:cNvSpPr txBox="1"/>
          <p:nvPr/>
        </p:nvSpPr>
        <p:spPr>
          <a:xfrm>
            <a:off x="16331184" y="9235440"/>
            <a:ext cx="676656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1700" b="0" i="0">
                <a:solidFill>
                  <a:srgbClr val="5E6A73"/>
                </a:solidFill>
              </a:rPr>
              <a:t>from a 2-file change (impact.mjs)</a:t>
            </a:r>
          </a:p>
        </p:txBody>
      </p:sp>
      <p:sp>
        <p:nvSpPr>
          <p:cNvPr id="42" name="Rounded Rectangle 41"/>
          <p:cNvSpPr/>
          <p:nvPr/>
        </p:nvSpPr>
        <p:spPr>
          <a:xfrm>
            <a:off x="612648" y="10789920"/>
            <a:ext cx="22860000" cy="960120"/>
          </a:xfrm>
          <a:prstGeom prst="roundRect">
            <a:avLst>
              <a:gd name="adj" fmla="val 15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886968" y="10927080"/>
            <a:ext cx="685800" cy="68580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LuLaugh.png"/>
          <p:cNvPicPr>
            <a:picLocks noChangeAspect="1"/>
          </p:cNvPicPr>
          <p:nvPr/>
        </p:nvPicPr>
        <p:blipFill>
          <a:blip r:embed="rId9"/>
          <a:stretch>
            <a:fillRect/>
          </a:stretch>
        </p:blipFill>
        <p:spPr>
          <a:xfrm>
            <a:off x="1051560" y="11091672"/>
            <a:ext cx="356616" cy="356616"/>
          </a:xfrm>
          <a:prstGeom prst="rect">
            <a:avLst/>
          </a:prstGeom>
        </p:spPr>
      </p:pic>
      <p:sp>
        <p:nvSpPr>
          <p:cNvPr id="45" name="TextBox 44"/>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Benefits include faster feedback, fewer surprises, and a framework that documents itself while you sleep.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Agents at work</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729A00"/>
                </a:solidFill>
              </a:rPr>
              <a:t>THE INQUIRING PROCESS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Ask a role, get an answer with evidence</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60</a:t>
            </a:r>
          </a:p>
        </p:txBody>
      </p:sp>
      <p:sp>
        <p:nvSpPr>
          <p:cNvPr id="6" name="Oval 5"/>
          <p:cNvSpPr/>
          <p:nvPr/>
        </p:nvSpPr>
        <p:spPr>
          <a:xfrm>
            <a:off x="1847088" y="2926080"/>
            <a:ext cx="1143000" cy="11430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uMessageCircle.png"/>
          <p:cNvPicPr>
            <a:picLocks noChangeAspect="1"/>
          </p:cNvPicPr>
          <p:nvPr/>
        </p:nvPicPr>
        <p:blipFill>
          <a:blip r:embed="rId3"/>
          <a:stretch>
            <a:fillRect/>
          </a:stretch>
        </p:blipFill>
        <p:spPr>
          <a:xfrm>
            <a:off x="2121408" y="3200400"/>
            <a:ext cx="594360" cy="594360"/>
          </a:xfrm>
          <a:prstGeom prst="rect">
            <a:avLst/>
          </a:prstGeom>
        </p:spPr>
      </p:pic>
      <p:sp>
        <p:nvSpPr>
          <p:cNvPr id="8" name="TextBox 7"/>
          <p:cNvSpPr txBox="1"/>
          <p:nvPr/>
        </p:nvSpPr>
        <p:spPr>
          <a:xfrm>
            <a:off x="612648" y="4160520"/>
            <a:ext cx="3611880" cy="502920"/>
          </a:xfrm>
          <a:prstGeom prst="rect">
            <a:avLst/>
          </a:prstGeom>
          <a:noFill/>
        </p:spPr>
        <p:txBody>
          <a:bodyPr wrap="square" lIns="0" rIns="0" tIns="18288" bIns="18288" anchor="t">
            <a:noAutofit/>
          </a:bodyPr>
          <a:lstStyle/>
          <a:p>
            <a:pPr algn="ctr">
              <a:lnSpc>
                <a:spcPct val="100000"/>
              </a:lnSpc>
              <a:spcBef>
                <a:spcPts val="0"/>
              </a:spcBef>
              <a:spcAft>
                <a:spcPts val="0"/>
              </a:spcAft>
            </a:pPr>
            <a:r>
              <a:rPr sz="1900" b="1" i="0">
                <a:solidFill>
                  <a:srgbClr val="192B37"/>
                </a:solidFill>
              </a:rPr>
              <a:t>You ask</a:t>
            </a:r>
          </a:p>
        </p:txBody>
      </p:sp>
      <p:sp>
        <p:nvSpPr>
          <p:cNvPr id="9" name="TextBox 8"/>
          <p:cNvSpPr txBox="1"/>
          <p:nvPr/>
        </p:nvSpPr>
        <p:spPr>
          <a:xfrm>
            <a:off x="612648" y="4663440"/>
            <a:ext cx="361188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0" i="0">
                <a:solidFill>
                  <a:srgbClr val="5E6A73"/>
                </a:solidFill>
              </a:rPr>
              <a:t>/tap-ask be …</a:t>
            </a:r>
          </a:p>
        </p:txBody>
      </p:sp>
      <p:cxnSp>
        <p:nvCxnSpPr>
          <p:cNvPr id="10" name="Connector 9"/>
          <p:cNvCxnSpPr/>
          <p:nvPr/>
        </p:nvCxnSpPr>
        <p:spPr>
          <a:xfrm>
            <a:off x="3172968" y="3493008"/>
            <a:ext cx="2331720" cy="0"/>
          </a:xfrm>
          <a:prstGeom prst="line">
            <a:avLst/>
          </a:prstGeom>
          <a:ln w="38100">
            <a:solidFill>
              <a:srgbClr val="D9E1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5687568" y="2926080"/>
            <a:ext cx="1143000" cy="11430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uWorkflow.png"/>
          <p:cNvPicPr>
            <a:picLocks noChangeAspect="1"/>
          </p:cNvPicPr>
          <p:nvPr/>
        </p:nvPicPr>
        <p:blipFill>
          <a:blip r:embed="rId4"/>
          <a:stretch>
            <a:fillRect/>
          </a:stretch>
        </p:blipFill>
        <p:spPr>
          <a:xfrm>
            <a:off x="5961888" y="3200400"/>
            <a:ext cx="594360" cy="594360"/>
          </a:xfrm>
          <a:prstGeom prst="rect">
            <a:avLst/>
          </a:prstGeom>
        </p:spPr>
      </p:pic>
      <p:sp>
        <p:nvSpPr>
          <p:cNvPr id="13" name="TextBox 12"/>
          <p:cNvSpPr txBox="1"/>
          <p:nvPr/>
        </p:nvSpPr>
        <p:spPr>
          <a:xfrm>
            <a:off x="4453128" y="4160520"/>
            <a:ext cx="3611880" cy="502920"/>
          </a:xfrm>
          <a:prstGeom prst="rect">
            <a:avLst/>
          </a:prstGeom>
          <a:noFill/>
        </p:spPr>
        <p:txBody>
          <a:bodyPr wrap="square" lIns="0" rIns="0" tIns="18288" bIns="18288" anchor="t">
            <a:noAutofit/>
          </a:bodyPr>
          <a:lstStyle/>
          <a:p>
            <a:pPr algn="ctr">
              <a:lnSpc>
                <a:spcPct val="100000"/>
              </a:lnSpc>
              <a:spcBef>
                <a:spcPts val="0"/>
              </a:spcBef>
              <a:spcAft>
                <a:spcPts val="0"/>
              </a:spcAft>
            </a:pPr>
            <a:r>
              <a:rPr sz="1900" b="1" i="0">
                <a:solidFill>
                  <a:srgbClr val="192B37"/>
                </a:solidFill>
              </a:rPr>
              <a:t>Orchestrator routes</a:t>
            </a:r>
          </a:p>
        </p:txBody>
      </p:sp>
      <p:sp>
        <p:nvSpPr>
          <p:cNvPr id="14" name="TextBox 13"/>
          <p:cNvSpPr txBox="1"/>
          <p:nvPr/>
        </p:nvSpPr>
        <p:spPr>
          <a:xfrm>
            <a:off x="4453128" y="4663440"/>
            <a:ext cx="361188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0" i="0">
                <a:solidFill>
                  <a:srgbClr val="5E6A73"/>
                </a:solidFill>
              </a:rPr>
              <a:t>role → agent</a:t>
            </a:r>
          </a:p>
        </p:txBody>
      </p:sp>
      <p:cxnSp>
        <p:nvCxnSpPr>
          <p:cNvPr id="15" name="Connector 14"/>
          <p:cNvCxnSpPr/>
          <p:nvPr/>
        </p:nvCxnSpPr>
        <p:spPr>
          <a:xfrm>
            <a:off x="7013448" y="3493008"/>
            <a:ext cx="2331719" cy="0"/>
          </a:xfrm>
          <a:prstGeom prst="line">
            <a:avLst/>
          </a:prstGeom>
          <a:ln w="38100">
            <a:solidFill>
              <a:srgbClr val="D9E1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528048" y="2926080"/>
            <a:ext cx="1143000" cy="11430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uScanSearch.png"/>
          <p:cNvPicPr>
            <a:picLocks noChangeAspect="1"/>
          </p:cNvPicPr>
          <p:nvPr/>
        </p:nvPicPr>
        <p:blipFill>
          <a:blip r:embed="rId5"/>
          <a:stretch>
            <a:fillRect/>
          </a:stretch>
        </p:blipFill>
        <p:spPr>
          <a:xfrm>
            <a:off x="9802368" y="3200400"/>
            <a:ext cx="594360" cy="594360"/>
          </a:xfrm>
          <a:prstGeom prst="rect">
            <a:avLst/>
          </a:prstGeom>
        </p:spPr>
      </p:pic>
      <p:sp>
        <p:nvSpPr>
          <p:cNvPr id="18" name="TextBox 17"/>
          <p:cNvSpPr txBox="1"/>
          <p:nvPr/>
        </p:nvSpPr>
        <p:spPr>
          <a:xfrm>
            <a:off x="8293608" y="4160520"/>
            <a:ext cx="3611880" cy="502920"/>
          </a:xfrm>
          <a:prstGeom prst="rect">
            <a:avLst/>
          </a:prstGeom>
          <a:noFill/>
        </p:spPr>
        <p:txBody>
          <a:bodyPr wrap="square" lIns="0" rIns="0" tIns="18288" bIns="18288" anchor="t">
            <a:noAutofit/>
          </a:bodyPr>
          <a:lstStyle/>
          <a:p>
            <a:pPr algn="ctr">
              <a:lnSpc>
                <a:spcPct val="100000"/>
              </a:lnSpc>
              <a:spcBef>
                <a:spcPts val="0"/>
              </a:spcBef>
              <a:spcAft>
                <a:spcPts val="0"/>
              </a:spcAft>
            </a:pPr>
            <a:r>
              <a:rPr sz="1900" b="1" i="0">
                <a:solidFill>
                  <a:srgbClr val="192B37"/>
                </a:solidFill>
              </a:rPr>
              <a:t>Agent investigates</a:t>
            </a:r>
          </a:p>
        </p:txBody>
      </p:sp>
      <p:sp>
        <p:nvSpPr>
          <p:cNvPr id="19" name="TextBox 18"/>
          <p:cNvSpPr txBox="1"/>
          <p:nvPr/>
        </p:nvSpPr>
        <p:spPr>
          <a:xfrm>
            <a:off x="8293608" y="4663440"/>
            <a:ext cx="361188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0" i="0">
                <a:solidFill>
                  <a:srgbClr val="5E6A73"/>
                </a:solidFill>
              </a:rPr>
              <a:t>code · memory · knowledge</a:t>
            </a:r>
          </a:p>
        </p:txBody>
      </p:sp>
      <p:cxnSp>
        <p:nvCxnSpPr>
          <p:cNvPr id="20" name="Connector 19"/>
          <p:cNvCxnSpPr/>
          <p:nvPr/>
        </p:nvCxnSpPr>
        <p:spPr>
          <a:xfrm>
            <a:off x="10853928" y="3493008"/>
            <a:ext cx="2331720" cy="0"/>
          </a:xfrm>
          <a:prstGeom prst="line">
            <a:avLst/>
          </a:prstGeom>
          <a:ln w="38100">
            <a:solidFill>
              <a:srgbClr val="D9E1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13368528" y="2926080"/>
            <a:ext cx="1143000" cy="114300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LuQuote.png"/>
          <p:cNvPicPr>
            <a:picLocks noChangeAspect="1"/>
          </p:cNvPicPr>
          <p:nvPr/>
        </p:nvPicPr>
        <p:blipFill>
          <a:blip r:embed="rId6"/>
          <a:stretch>
            <a:fillRect/>
          </a:stretch>
        </p:blipFill>
        <p:spPr>
          <a:xfrm>
            <a:off x="13642848" y="3200400"/>
            <a:ext cx="594360" cy="594360"/>
          </a:xfrm>
          <a:prstGeom prst="rect">
            <a:avLst/>
          </a:prstGeom>
        </p:spPr>
      </p:pic>
      <p:sp>
        <p:nvSpPr>
          <p:cNvPr id="23" name="TextBox 22"/>
          <p:cNvSpPr txBox="1"/>
          <p:nvPr/>
        </p:nvSpPr>
        <p:spPr>
          <a:xfrm>
            <a:off x="12134088" y="4160520"/>
            <a:ext cx="3611880" cy="502920"/>
          </a:xfrm>
          <a:prstGeom prst="rect">
            <a:avLst/>
          </a:prstGeom>
          <a:noFill/>
        </p:spPr>
        <p:txBody>
          <a:bodyPr wrap="square" lIns="0" rIns="0" tIns="18288" bIns="18288" anchor="t">
            <a:noAutofit/>
          </a:bodyPr>
          <a:lstStyle/>
          <a:p>
            <a:pPr algn="ctr">
              <a:lnSpc>
                <a:spcPct val="100000"/>
              </a:lnSpc>
              <a:spcBef>
                <a:spcPts val="0"/>
              </a:spcBef>
              <a:spcAft>
                <a:spcPts val="0"/>
              </a:spcAft>
            </a:pPr>
            <a:r>
              <a:rPr sz="1900" b="1" i="0">
                <a:solidFill>
                  <a:srgbClr val="192B37"/>
                </a:solidFill>
              </a:rPr>
              <a:t>Answer + evidence</a:t>
            </a:r>
          </a:p>
        </p:txBody>
      </p:sp>
      <p:sp>
        <p:nvSpPr>
          <p:cNvPr id="24" name="TextBox 23"/>
          <p:cNvSpPr txBox="1"/>
          <p:nvPr/>
        </p:nvSpPr>
        <p:spPr>
          <a:xfrm>
            <a:off x="12134088" y="4663440"/>
            <a:ext cx="361188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0" i="0">
                <a:solidFill>
                  <a:srgbClr val="5E6A73"/>
                </a:solidFill>
              </a:rPr>
              <a:t>file:line, real calls</a:t>
            </a:r>
          </a:p>
        </p:txBody>
      </p:sp>
      <p:cxnSp>
        <p:nvCxnSpPr>
          <p:cNvPr id="25" name="Connector 24"/>
          <p:cNvCxnSpPr/>
          <p:nvPr/>
        </p:nvCxnSpPr>
        <p:spPr>
          <a:xfrm>
            <a:off x="14694408" y="3493008"/>
            <a:ext cx="2331720" cy="0"/>
          </a:xfrm>
          <a:prstGeom prst="line">
            <a:avLst/>
          </a:prstGeom>
          <a:ln w="38100">
            <a:solidFill>
              <a:srgbClr val="D9E1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17209008" y="2926080"/>
            <a:ext cx="1143000" cy="11430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LuFlaskConical.png"/>
          <p:cNvPicPr>
            <a:picLocks noChangeAspect="1"/>
          </p:cNvPicPr>
          <p:nvPr/>
        </p:nvPicPr>
        <p:blipFill>
          <a:blip r:embed="rId7"/>
          <a:stretch>
            <a:fillRect/>
          </a:stretch>
        </p:blipFill>
        <p:spPr>
          <a:xfrm>
            <a:off x="17483328" y="3200400"/>
            <a:ext cx="594360" cy="594360"/>
          </a:xfrm>
          <a:prstGeom prst="rect">
            <a:avLst/>
          </a:prstGeom>
        </p:spPr>
      </p:pic>
      <p:sp>
        <p:nvSpPr>
          <p:cNvPr id="28" name="TextBox 27"/>
          <p:cNvSpPr txBox="1"/>
          <p:nvPr/>
        </p:nvSpPr>
        <p:spPr>
          <a:xfrm>
            <a:off x="15974568" y="4160520"/>
            <a:ext cx="3611880" cy="502920"/>
          </a:xfrm>
          <a:prstGeom prst="rect">
            <a:avLst/>
          </a:prstGeom>
          <a:noFill/>
        </p:spPr>
        <p:txBody>
          <a:bodyPr wrap="square" lIns="0" rIns="0" tIns="18288" bIns="18288" anchor="t">
            <a:noAutofit/>
          </a:bodyPr>
          <a:lstStyle/>
          <a:p>
            <a:pPr algn="ctr">
              <a:lnSpc>
                <a:spcPct val="100000"/>
              </a:lnSpc>
              <a:spcBef>
                <a:spcPts val="0"/>
              </a:spcBef>
              <a:spcAft>
                <a:spcPts val="0"/>
              </a:spcAft>
            </a:pPr>
            <a:r>
              <a:rPr sz="1900" b="1" i="0">
                <a:solidFill>
                  <a:srgbClr val="192B37"/>
                </a:solidFill>
              </a:rPr>
              <a:t>How to test it</a:t>
            </a:r>
          </a:p>
        </p:txBody>
      </p:sp>
      <p:sp>
        <p:nvSpPr>
          <p:cNvPr id="29" name="TextBox 28"/>
          <p:cNvSpPr txBox="1"/>
          <p:nvPr/>
        </p:nvSpPr>
        <p:spPr>
          <a:xfrm>
            <a:off x="15974568" y="4663440"/>
            <a:ext cx="361188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0" i="0">
                <a:solidFill>
                  <a:srgbClr val="5E6A73"/>
                </a:solidFill>
              </a:rPr>
              <a:t>ready for /tap-new-test</a:t>
            </a:r>
          </a:p>
        </p:txBody>
      </p:sp>
      <p:cxnSp>
        <p:nvCxnSpPr>
          <p:cNvPr id="30" name="Connector 29"/>
          <p:cNvCxnSpPr/>
          <p:nvPr/>
        </p:nvCxnSpPr>
        <p:spPr>
          <a:xfrm>
            <a:off x="18534888" y="3493008"/>
            <a:ext cx="2331720" cy="0"/>
          </a:xfrm>
          <a:prstGeom prst="line">
            <a:avLst/>
          </a:prstGeom>
          <a:ln w="38100">
            <a:solidFill>
              <a:srgbClr val="D9E1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21049488" y="2926080"/>
            <a:ext cx="1143000" cy="114300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LuSave.png"/>
          <p:cNvPicPr>
            <a:picLocks noChangeAspect="1"/>
          </p:cNvPicPr>
          <p:nvPr/>
        </p:nvPicPr>
        <p:blipFill>
          <a:blip r:embed="rId8"/>
          <a:stretch>
            <a:fillRect/>
          </a:stretch>
        </p:blipFill>
        <p:spPr>
          <a:xfrm>
            <a:off x="21323808" y="3200400"/>
            <a:ext cx="594360" cy="594360"/>
          </a:xfrm>
          <a:prstGeom prst="rect">
            <a:avLst/>
          </a:prstGeom>
        </p:spPr>
      </p:pic>
      <p:sp>
        <p:nvSpPr>
          <p:cNvPr id="33" name="TextBox 32"/>
          <p:cNvSpPr txBox="1"/>
          <p:nvPr/>
        </p:nvSpPr>
        <p:spPr>
          <a:xfrm>
            <a:off x="19815048" y="4160520"/>
            <a:ext cx="3611880" cy="502920"/>
          </a:xfrm>
          <a:prstGeom prst="rect">
            <a:avLst/>
          </a:prstGeom>
          <a:noFill/>
        </p:spPr>
        <p:txBody>
          <a:bodyPr wrap="square" lIns="0" rIns="0" tIns="18288" bIns="18288" anchor="t">
            <a:noAutofit/>
          </a:bodyPr>
          <a:lstStyle/>
          <a:p>
            <a:pPr algn="ctr">
              <a:lnSpc>
                <a:spcPct val="100000"/>
              </a:lnSpc>
              <a:spcBef>
                <a:spcPts val="0"/>
              </a:spcBef>
              <a:spcAft>
                <a:spcPts val="0"/>
              </a:spcAft>
            </a:pPr>
            <a:r>
              <a:rPr sz="1900" b="1" i="0">
                <a:solidFill>
                  <a:srgbClr val="192B37"/>
                </a:solidFill>
              </a:rPr>
              <a:t>Learning saved</a:t>
            </a:r>
          </a:p>
        </p:txBody>
      </p:sp>
      <p:sp>
        <p:nvSpPr>
          <p:cNvPr id="34" name="TextBox 33"/>
          <p:cNvSpPr txBox="1"/>
          <p:nvPr/>
        </p:nvSpPr>
        <p:spPr>
          <a:xfrm>
            <a:off x="19815048" y="4663440"/>
            <a:ext cx="361188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500" b="0" i="0">
                <a:solidFill>
                  <a:srgbClr val="5E6A73"/>
                </a:solidFill>
              </a:rPr>
              <a:t>memory.mjs</a:t>
            </a:r>
          </a:p>
        </p:txBody>
      </p:sp>
      <p:sp>
        <p:nvSpPr>
          <p:cNvPr id="35" name="TextBox 34"/>
          <p:cNvSpPr txBox="1"/>
          <p:nvPr/>
        </p:nvSpPr>
        <p:spPr>
          <a:xfrm>
            <a:off x="612648" y="5349240"/>
            <a:ext cx="2743200" cy="5486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1" i="0">
                <a:solidFill>
                  <a:srgbClr val="729A00"/>
                </a:solidFill>
              </a:rPr>
              <a:t>ROLES:</a:t>
            </a:r>
          </a:p>
        </p:txBody>
      </p:sp>
      <p:sp>
        <p:nvSpPr>
          <p:cNvPr id="36" name="Rounded Rectangle 35"/>
          <p:cNvSpPr/>
          <p:nvPr/>
        </p:nvSpPr>
        <p:spPr>
          <a:xfrm>
            <a:off x="2011680" y="5394960"/>
            <a:ext cx="1325880" cy="502920"/>
          </a:xfrm>
          <a:prstGeom prst="roundRect">
            <a:avLst>
              <a:gd name="adj" fmla="val 50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2103120" y="5394960"/>
            <a:ext cx="1143000"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192B37"/>
                </a:solidFill>
              </a:rPr>
              <a:t>ux</a:t>
            </a:r>
          </a:p>
        </p:txBody>
      </p:sp>
      <p:sp>
        <p:nvSpPr>
          <p:cNvPr id="38" name="Rounded Rectangle 37"/>
          <p:cNvSpPr/>
          <p:nvPr/>
        </p:nvSpPr>
        <p:spPr>
          <a:xfrm>
            <a:off x="3474720" y="5394960"/>
            <a:ext cx="1325880" cy="502920"/>
          </a:xfrm>
          <a:prstGeom prst="roundRect">
            <a:avLst>
              <a:gd name="adj" fmla="val 50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3566160" y="5394960"/>
            <a:ext cx="1143000"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192B37"/>
                </a:solidFill>
              </a:rPr>
              <a:t>be</a:t>
            </a:r>
          </a:p>
        </p:txBody>
      </p:sp>
      <p:sp>
        <p:nvSpPr>
          <p:cNvPr id="40" name="Rounded Rectangle 39"/>
          <p:cNvSpPr/>
          <p:nvPr/>
        </p:nvSpPr>
        <p:spPr>
          <a:xfrm>
            <a:off x="4937760" y="5394960"/>
            <a:ext cx="1325880" cy="502920"/>
          </a:xfrm>
          <a:prstGeom prst="roundRect">
            <a:avLst>
              <a:gd name="adj" fmla="val 50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5029200" y="5394960"/>
            <a:ext cx="1143000"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192B37"/>
                </a:solidFill>
              </a:rPr>
              <a:t>fe</a:t>
            </a:r>
          </a:p>
        </p:txBody>
      </p:sp>
      <p:sp>
        <p:nvSpPr>
          <p:cNvPr id="42" name="Rounded Rectangle 41"/>
          <p:cNvSpPr/>
          <p:nvPr/>
        </p:nvSpPr>
        <p:spPr>
          <a:xfrm>
            <a:off x="6400800" y="5394960"/>
            <a:ext cx="1325880" cy="502920"/>
          </a:xfrm>
          <a:prstGeom prst="roundRect">
            <a:avLst>
              <a:gd name="adj" fmla="val 50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492240" y="5394960"/>
            <a:ext cx="1143000"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192B37"/>
                </a:solidFill>
              </a:rPr>
              <a:t>ba</a:t>
            </a:r>
          </a:p>
        </p:txBody>
      </p:sp>
      <p:sp>
        <p:nvSpPr>
          <p:cNvPr id="44" name="Rounded Rectangle 43"/>
          <p:cNvSpPr/>
          <p:nvPr/>
        </p:nvSpPr>
        <p:spPr>
          <a:xfrm>
            <a:off x="7863840" y="5394960"/>
            <a:ext cx="1325880" cy="502920"/>
          </a:xfrm>
          <a:prstGeom prst="roundRect">
            <a:avLst>
              <a:gd name="adj" fmla="val 50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955280" y="5394960"/>
            <a:ext cx="1143000"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192B37"/>
                </a:solidFill>
              </a:rPr>
              <a:t>manual</a:t>
            </a:r>
          </a:p>
        </p:txBody>
      </p:sp>
      <p:sp>
        <p:nvSpPr>
          <p:cNvPr id="46" name="Rounded Rectangle 45"/>
          <p:cNvSpPr/>
          <p:nvPr/>
        </p:nvSpPr>
        <p:spPr>
          <a:xfrm>
            <a:off x="9326880" y="5394960"/>
            <a:ext cx="1325880" cy="502920"/>
          </a:xfrm>
          <a:prstGeom prst="roundRect">
            <a:avLst>
              <a:gd name="adj" fmla="val 50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418319" y="5394960"/>
            <a:ext cx="1143000"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192B37"/>
                </a:solidFill>
              </a:rPr>
              <a:t>data</a:t>
            </a:r>
          </a:p>
        </p:txBody>
      </p:sp>
      <p:sp>
        <p:nvSpPr>
          <p:cNvPr id="48" name="Rounded Rectangle 47"/>
          <p:cNvSpPr/>
          <p:nvPr/>
        </p:nvSpPr>
        <p:spPr>
          <a:xfrm>
            <a:off x="10789920" y="5394960"/>
            <a:ext cx="1325880" cy="502920"/>
          </a:xfrm>
          <a:prstGeom prst="roundRect">
            <a:avLst>
              <a:gd name="adj" fmla="val 50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881360" y="5394960"/>
            <a:ext cx="1143000"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192B37"/>
                </a:solidFill>
              </a:rPr>
              <a:t>api</a:t>
            </a:r>
          </a:p>
        </p:txBody>
      </p:sp>
      <p:sp>
        <p:nvSpPr>
          <p:cNvPr id="50" name="Rounded Rectangle 49"/>
          <p:cNvSpPr/>
          <p:nvPr/>
        </p:nvSpPr>
        <p:spPr>
          <a:xfrm>
            <a:off x="12252960" y="5394960"/>
            <a:ext cx="1325880" cy="502920"/>
          </a:xfrm>
          <a:prstGeom prst="roundRect">
            <a:avLst>
              <a:gd name="adj" fmla="val 50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2344400" y="5394960"/>
            <a:ext cx="1143000" cy="50292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192B37"/>
                </a:solidFill>
              </a:rPr>
              <a:t>ui</a:t>
            </a:r>
          </a:p>
        </p:txBody>
      </p:sp>
      <p:sp>
        <p:nvSpPr>
          <p:cNvPr id="52" name="Rounded Rectangle 51"/>
          <p:cNvSpPr/>
          <p:nvPr/>
        </p:nvSpPr>
        <p:spPr>
          <a:xfrm>
            <a:off x="612648" y="6172200"/>
            <a:ext cx="22860000" cy="4251960"/>
          </a:xfrm>
          <a:prstGeom prst="roundRect">
            <a:avLst>
              <a:gd name="adj" fmla="val 6021"/>
            </a:avLst>
          </a:prstGeom>
          <a:solidFill>
            <a:srgbClr val="0F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Oval 52"/>
          <p:cNvSpPr/>
          <p:nvPr/>
        </p:nvSpPr>
        <p:spPr>
          <a:xfrm>
            <a:off x="886968" y="637336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179576" y="637336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472184" y="637336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892807" y="6245352"/>
            <a:ext cx="2130552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/tap-ask be · answer (abridged)</a:t>
            </a:r>
          </a:p>
        </p:txBody>
      </p:sp>
      <p:sp>
        <p:nvSpPr>
          <p:cNvPr id="57" name="TextBox 56"/>
          <p:cNvSpPr txBox="1"/>
          <p:nvPr/>
        </p:nvSpPr>
        <p:spPr>
          <a:xfrm>
            <a:off x="886968" y="6720840"/>
            <a:ext cx="22402800" cy="3566160"/>
          </a:xfrm>
          <a:prstGeom prst="rect">
            <a:avLst/>
          </a:prstGeom>
          <a:noFill/>
        </p:spPr>
        <p:txBody>
          <a:bodyPr wrap="none" lIns="0" rIns="0" tIns="0" bIns="0">
            <a:noAutofit/>
          </a:bodyPr>
          <a:lstStyle/>
          <a:p>
            <a:pPr>
              <a:lnSpc>
                <a:spcPct val="108000"/>
              </a:lnSpc>
              <a:spcBef>
                <a:spcPts val="0"/>
              </a:spcBef>
              <a:spcAft>
                <a:spcPts val="0"/>
              </a:spcAft>
            </a:pPr>
            <a:r>
              <a:rPr sz="2100" b="1">
                <a:solidFill>
                  <a:srgbClr val="7EE787"/>
                </a:solidFill>
                <a:latin typeface="Consolas"/>
              </a:rPr>
              <a:t>$ </a:t>
            </a:r>
            <a:r>
              <a:rPr sz="2100">
                <a:solidFill>
                  <a:srgbClr val="FFFFFF"/>
                </a:solidFill>
                <a:latin typeface="Consolas"/>
              </a:rPr>
              <a:t>/tap-ask be "Does POST /bankAccounts validate the account number?"</a:t>
            </a:r>
          </a:p>
          <a:p>
            <a:pPr>
              <a:lnSpc>
                <a:spcPct val="108000"/>
              </a:lnSpc>
              <a:spcBef>
                <a:spcPts val="0"/>
              </a:spcBef>
              <a:spcAft>
                <a:spcPts val="0"/>
              </a:spcAft>
            </a:pPr>
            <a:r>
              <a:rPr sz="2100">
                <a:solidFill>
                  <a:srgbClr val="D7E3EA"/>
                </a:solidFill>
                <a:latin typeface="Consolas"/>
              </a:rPr>
              <a:t>be-dev: Only as a string. backend/validators.ts → isBankAccountValidator checks bankName, accountNumber and</a:t>
            </a:r>
          </a:p>
          <a:p>
            <a:pPr>
              <a:lnSpc>
                <a:spcPct val="108000"/>
              </a:lnSpc>
              <a:spcBef>
                <a:spcPts val="0"/>
              </a:spcBef>
              <a:spcAft>
                <a:spcPts val="0"/>
              </a:spcAft>
            </a:pPr>
            <a:r>
              <a:rPr sz="2100">
                <a:solidFill>
                  <a:srgbClr val="D7E3EA"/>
                </a:solidFill>
                <a:latin typeface="Consolas"/>
              </a:rPr>
              <a:t>        routingNumber with .isString().trim() — no length or digit rules.</a:t>
            </a:r>
          </a:p>
          <a:p>
            <a:pPr>
              <a:lnSpc>
                <a:spcPct val="108000"/>
              </a:lnSpc>
              <a:spcBef>
                <a:spcPts val="0"/>
              </a:spcBef>
              <a:spcAft>
                <a:spcPts val="0"/>
              </a:spcAft>
            </a:pPr>
            <a:r>
              <a:rPr sz="2100">
                <a:solidFill>
                  <a:srgbClr val="D7E3EA"/>
                </a:solidFill>
                <a:latin typeface="Consolas"/>
              </a:rPr>
              <a:t>        Verified: POST /bankAccounts { accountNumber: "123", routingNumber: "123" }  →  200 { account: … }</a:t>
            </a:r>
          </a:p>
          <a:p>
            <a:pPr>
              <a:lnSpc>
                <a:spcPct val="108000"/>
              </a:lnSpc>
              <a:spcBef>
                <a:spcPts val="0"/>
              </a:spcBef>
              <a:spcAft>
                <a:spcPts val="0"/>
              </a:spcAft>
            </a:pPr>
            <a:r>
              <a:rPr sz="2100">
                <a:solidFill>
                  <a:srgbClr val="D7E3EA"/>
                </a:solidFill>
                <a:latin typeface="Consolas"/>
              </a:rPr>
              <a:t>        Suggested rule: body("routingNumber").isLength({ min: 9, max: 9 }).isNumeric()</a:t>
            </a:r>
          </a:p>
          <a:p>
            <a:pPr>
              <a:lnSpc>
                <a:spcPct val="108000"/>
              </a:lnSpc>
              <a:spcBef>
                <a:spcPts val="0"/>
              </a:spcBef>
              <a:spcAft>
                <a:spcPts val="0"/>
              </a:spcAft>
            </a:pPr>
            <a:r>
              <a:rPr sz="2100">
                <a:solidFill>
                  <a:srgbClr val="D7E3EA"/>
                </a:solidFill>
                <a:latin typeface="Consolas"/>
              </a:rPr>
              <a:t>        How to test this: API test posting "123" → expect 422 with one validation message (test.fail today)</a:t>
            </a:r>
          </a:p>
        </p:txBody>
      </p:sp>
      <p:sp>
        <p:nvSpPr>
          <p:cNvPr id="58" name="Rounded Rectangle 57"/>
          <p:cNvSpPr/>
          <p:nvPr/>
        </p:nvSpPr>
        <p:spPr>
          <a:xfrm>
            <a:off x="612648" y="10789920"/>
            <a:ext cx="22860000" cy="960120"/>
          </a:xfrm>
          <a:prstGeom prst="roundRect">
            <a:avLst>
              <a:gd name="adj" fmla="val 15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Oval 58"/>
          <p:cNvSpPr/>
          <p:nvPr/>
        </p:nvSpPr>
        <p:spPr>
          <a:xfrm>
            <a:off x="886968" y="10927080"/>
            <a:ext cx="685800" cy="68580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LuLaugh.png"/>
          <p:cNvPicPr>
            <a:picLocks noChangeAspect="1"/>
          </p:cNvPicPr>
          <p:nvPr/>
        </p:nvPicPr>
        <p:blipFill>
          <a:blip r:embed="rId9"/>
          <a:stretch>
            <a:fillRect/>
          </a:stretch>
        </p:blipFill>
        <p:spPr>
          <a:xfrm>
            <a:off x="1051560" y="11091672"/>
            <a:ext cx="356616" cy="356616"/>
          </a:xfrm>
          <a:prstGeom prst="rect">
            <a:avLst/>
          </a:prstGeom>
        </p:spPr>
      </p:pic>
      <p:sp>
        <p:nvSpPr>
          <p:cNvPr id="61" name="TextBox 60"/>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There are no stupid questions — only questions without a reproducible example.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Agents at work</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729A00"/>
                </a:solidFill>
              </a:rPr>
              <a:t>AGENTS · CHANGE THE PLAYWRIGHT FRAMEWORK</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From “the app changed” to “the suite is green again”</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61</a:t>
            </a:r>
          </a:p>
        </p:txBody>
      </p:sp>
      <p:sp>
        <p:nvSpPr>
          <p:cNvPr id="6" name="Rounded Rectangle 5"/>
          <p:cNvSpPr/>
          <p:nvPr/>
        </p:nvSpPr>
        <p:spPr>
          <a:xfrm>
            <a:off x="612648" y="2926080"/>
            <a:ext cx="3611880" cy="1965960"/>
          </a:xfrm>
          <a:prstGeom prst="roundRect">
            <a:avLst>
              <a:gd name="adj" fmla="val 12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41248" y="3108960"/>
            <a:ext cx="685800" cy="6858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3108960"/>
            <a:ext cx="685800" cy="685800"/>
          </a:xfrm>
          <a:prstGeom prst="rect">
            <a:avLst/>
          </a:prstGeom>
          <a:noFill/>
        </p:spPr>
        <p:txBody>
          <a:bodyPr wrap="square" lIns="0" rIns="0" tIns="18288" bIns="18288" anchor="ctr">
            <a:noAutofit/>
          </a:bodyPr>
          <a:lstStyle/>
          <a:p>
            <a:pPr algn="ctr">
              <a:lnSpc>
                <a:spcPct val="100000"/>
              </a:lnSpc>
              <a:spcBef>
                <a:spcPts val="0"/>
              </a:spcBef>
              <a:spcAft>
                <a:spcPts val="0"/>
              </a:spcAft>
            </a:pPr>
            <a:r>
              <a:rPr sz="2000" b="1" i="0">
                <a:solidFill>
                  <a:srgbClr val="FFFFFF"/>
                </a:solidFill>
              </a:rPr>
              <a:t>1</a:t>
            </a:r>
          </a:p>
        </p:txBody>
      </p:sp>
      <p:sp>
        <p:nvSpPr>
          <p:cNvPr id="9" name="TextBox 8"/>
          <p:cNvSpPr txBox="1"/>
          <p:nvPr/>
        </p:nvSpPr>
        <p:spPr>
          <a:xfrm>
            <a:off x="1664207" y="3108960"/>
            <a:ext cx="2514600" cy="685800"/>
          </a:xfrm>
          <a:prstGeom prst="rect">
            <a:avLst/>
          </a:prstGeom>
          <a:noFill/>
        </p:spPr>
        <p:txBody>
          <a:bodyPr wrap="square" lIns="0" rIns="0" tIns="18288" bIns="18288" anchor="ctr">
            <a:noAutofit/>
          </a:bodyPr>
          <a:lstStyle/>
          <a:p>
            <a:pPr algn="l">
              <a:lnSpc>
                <a:spcPct val="100000"/>
              </a:lnSpc>
              <a:spcBef>
                <a:spcPts val="0"/>
              </a:spcBef>
              <a:spcAft>
                <a:spcPts val="0"/>
              </a:spcAft>
            </a:pPr>
            <a:r>
              <a:rPr sz="1800" b="1" i="0">
                <a:solidFill>
                  <a:srgbClr val="192B37"/>
                </a:solidFill>
              </a:rPr>
              <a:t>/tap-scan</a:t>
            </a:r>
          </a:p>
        </p:txBody>
      </p:sp>
      <p:sp>
        <p:nvSpPr>
          <p:cNvPr id="10" name="TextBox 9"/>
          <p:cNvSpPr txBox="1"/>
          <p:nvPr/>
        </p:nvSpPr>
        <p:spPr>
          <a:xfrm>
            <a:off x="841248" y="3977639"/>
            <a:ext cx="320040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192B37"/>
                </a:solidFill>
              </a:rPr>
              <a:t>refresh inventories</a:t>
            </a:r>
          </a:p>
        </p:txBody>
      </p:sp>
      <p:sp>
        <p:nvSpPr>
          <p:cNvPr id="11" name="Rounded Rectangle 10"/>
          <p:cNvSpPr/>
          <p:nvPr/>
        </p:nvSpPr>
        <p:spPr>
          <a:xfrm>
            <a:off x="4453128" y="2926080"/>
            <a:ext cx="3611880" cy="1965960"/>
          </a:xfrm>
          <a:prstGeom prst="roundRect">
            <a:avLst>
              <a:gd name="adj" fmla="val 12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681728" y="3108960"/>
            <a:ext cx="685800" cy="6858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81728" y="3108960"/>
            <a:ext cx="685800" cy="685800"/>
          </a:xfrm>
          <a:prstGeom prst="rect">
            <a:avLst/>
          </a:prstGeom>
          <a:noFill/>
        </p:spPr>
        <p:txBody>
          <a:bodyPr wrap="square" lIns="0" rIns="0" tIns="18288" bIns="18288" anchor="ctr">
            <a:noAutofit/>
          </a:bodyPr>
          <a:lstStyle/>
          <a:p>
            <a:pPr algn="ctr">
              <a:lnSpc>
                <a:spcPct val="100000"/>
              </a:lnSpc>
              <a:spcBef>
                <a:spcPts val="0"/>
              </a:spcBef>
              <a:spcAft>
                <a:spcPts val="0"/>
              </a:spcAft>
            </a:pPr>
            <a:r>
              <a:rPr sz="2000" b="1" i="0">
                <a:solidFill>
                  <a:srgbClr val="FFFFFF"/>
                </a:solidFill>
              </a:rPr>
              <a:t>2</a:t>
            </a:r>
          </a:p>
        </p:txBody>
      </p:sp>
      <p:sp>
        <p:nvSpPr>
          <p:cNvPr id="14" name="TextBox 13"/>
          <p:cNvSpPr txBox="1"/>
          <p:nvPr/>
        </p:nvSpPr>
        <p:spPr>
          <a:xfrm>
            <a:off x="5504688" y="3108960"/>
            <a:ext cx="2514600" cy="685800"/>
          </a:xfrm>
          <a:prstGeom prst="rect">
            <a:avLst/>
          </a:prstGeom>
          <a:noFill/>
        </p:spPr>
        <p:txBody>
          <a:bodyPr wrap="square" lIns="0" rIns="0" tIns="18288" bIns="18288" anchor="ctr">
            <a:noAutofit/>
          </a:bodyPr>
          <a:lstStyle/>
          <a:p>
            <a:pPr algn="l">
              <a:lnSpc>
                <a:spcPct val="100000"/>
              </a:lnSpc>
              <a:spcBef>
                <a:spcPts val="0"/>
              </a:spcBef>
              <a:spcAft>
                <a:spcPts val="0"/>
              </a:spcAft>
            </a:pPr>
            <a:r>
              <a:rPr sz="1800" b="1" i="0">
                <a:solidFill>
                  <a:srgbClr val="192B37"/>
                </a:solidFill>
              </a:rPr>
              <a:t>impact.mjs</a:t>
            </a:r>
          </a:p>
        </p:txBody>
      </p:sp>
      <p:sp>
        <p:nvSpPr>
          <p:cNvPr id="15" name="TextBox 14"/>
          <p:cNvSpPr txBox="1"/>
          <p:nvPr/>
        </p:nvSpPr>
        <p:spPr>
          <a:xfrm>
            <a:off x="4681728" y="3977639"/>
            <a:ext cx="320040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192B37"/>
                </a:solidFill>
              </a:rPr>
              <a:t>diff → impacted tests</a:t>
            </a:r>
          </a:p>
        </p:txBody>
      </p:sp>
      <p:sp>
        <p:nvSpPr>
          <p:cNvPr id="16" name="Rounded Rectangle 15"/>
          <p:cNvSpPr/>
          <p:nvPr/>
        </p:nvSpPr>
        <p:spPr>
          <a:xfrm>
            <a:off x="8293608" y="2926080"/>
            <a:ext cx="3611880" cy="1965960"/>
          </a:xfrm>
          <a:prstGeom prst="roundRect">
            <a:avLst>
              <a:gd name="adj" fmla="val 12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522208" y="3108960"/>
            <a:ext cx="685800" cy="6858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22208" y="3108960"/>
            <a:ext cx="685800" cy="685800"/>
          </a:xfrm>
          <a:prstGeom prst="rect">
            <a:avLst/>
          </a:prstGeom>
          <a:noFill/>
        </p:spPr>
        <p:txBody>
          <a:bodyPr wrap="square" lIns="0" rIns="0" tIns="18288" bIns="18288" anchor="ctr">
            <a:noAutofit/>
          </a:bodyPr>
          <a:lstStyle/>
          <a:p>
            <a:pPr algn="ctr">
              <a:lnSpc>
                <a:spcPct val="100000"/>
              </a:lnSpc>
              <a:spcBef>
                <a:spcPts val="0"/>
              </a:spcBef>
              <a:spcAft>
                <a:spcPts val="0"/>
              </a:spcAft>
            </a:pPr>
            <a:r>
              <a:rPr sz="2000" b="1" i="0">
                <a:solidFill>
                  <a:srgbClr val="FFFFFF"/>
                </a:solidFill>
              </a:rPr>
              <a:t>3</a:t>
            </a:r>
          </a:p>
        </p:txBody>
      </p:sp>
      <p:sp>
        <p:nvSpPr>
          <p:cNvPr id="19" name="TextBox 18"/>
          <p:cNvSpPr txBox="1"/>
          <p:nvPr/>
        </p:nvSpPr>
        <p:spPr>
          <a:xfrm>
            <a:off x="9345168" y="3108960"/>
            <a:ext cx="2514600" cy="685800"/>
          </a:xfrm>
          <a:prstGeom prst="rect">
            <a:avLst/>
          </a:prstGeom>
          <a:noFill/>
        </p:spPr>
        <p:txBody>
          <a:bodyPr wrap="square" lIns="0" rIns="0" tIns="18288" bIns="18288" anchor="ctr">
            <a:noAutofit/>
          </a:bodyPr>
          <a:lstStyle/>
          <a:p>
            <a:pPr algn="l">
              <a:lnSpc>
                <a:spcPct val="100000"/>
              </a:lnSpc>
              <a:spcBef>
                <a:spcPts val="0"/>
              </a:spcBef>
              <a:spcAft>
                <a:spcPts val="0"/>
              </a:spcAft>
            </a:pPr>
            <a:r>
              <a:rPr sz="1800" b="1" i="0">
                <a:solidFill>
                  <a:srgbClr val="192B37"/>
                </a:solidFill>
              </a:rPr>
              <a:t>/tap-sync-tests</a:t>
            </a:r>
          </a:p>
        </p:txBody>
      </p:sp>
      <p:sp>
        <p:nvSpPr>
          <p:cNvPr id="20" name="TextBox 19"/>
          <p:cNvSpPr txBox="1"/>
          <p:nvPr/>
        </p:nvSpPr>
        <p:spPr>
          <a:xfrm>
            <a:off x="8522208" y="3977639"/>
            <a:ext cx="320040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192B37"/>
                </a:solidFill>
              </a:rPr>
              <a:t>fix selectors &amp; routes</a:t>
            </a:r>
          </a:p>
        </p:txBody>
      </p:sp>
      <p:sp>
        <p:nvSpPr>
          <p:cNvPr id="21" name="Rounded Rectangle 20"/>
          <p:cNvSpPr/>
          <p:nvPr/>
        </p:nvSpPr>
        <p:spPr>
          <a:xfrm>
            <a:off x="12134088" y="2926080"/>
            <a:ext cx="3611880" cy="1965960"/>
          </a:xfrm>
          <a:prstGeom prst="roundRect">
            <a:avLst>
              <a:gd name="adj" fmla="val 12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12362688" y="3108960"/>
            <a:ext cx="685800" cy="68580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62688" y="3108960"/>
            <a:ext cx="685800" cy="685800"/>
          </a:xfrm>
          <a:prstGeom prst="rect">
            <a:avLst/>
          </a:prstGeom>
          <a:noFill/>
        </p:spPr>
        <p:txBody>
          <a:bodyPr wrap="square" lIns="0" rIns="0" tIns="18288" bIns="18288" anchor="ctr">
            <a:noAutofit/>
          </a:bodyPr>
          <a:lstStyle/>
          <a:p>
            <a:pPr algn="ctr">
              <a:lnSpc>
                <a:spcPct val="100000"/>
              </a:lnSpc>
              <a:spcBef>
                <a:spcPts val="0"/>
              </a:spcBef>
              <a:spcAft>
                <a:spcPts val="0"/>
              </a:spcAft>
            </a:pPr>
            <a:r>
              <a:rPr sz="2000" b="1" i="0">
                <a:solidFill>
                  <a:srgbClr val="FFFFFF"/>
                </a:solidFill>
              </a:rPr>
              <a:t>4</a:t>
            </a:r>
          </a:p>
        </p:txBody>
      </p:sp>
      <p:sp>
        <p:nvSpPr>
          <p:cNvPr id="24" name="TextBox 23"/>
          <p:cNvSpPr txBox="1"/>
          <p:nvPr/>
        </p:nvSpPr>
        <p:spPr>
          <a:xfrm>
            <a:off x="13185648" y="3108960"/>
            <a:ext cx="2514600" cy="685800"/>
          </a:xfrm>
          <a:prstGeom prst="rect">
            <a:avLst/>
          </a:prstGeom>
          <a:noFill/>
        </p:spPr>
        <p:txBody>
          <a:bodyPr wrap="square" lIns="0" rIns="0" tIns="18288" bIns="18288" anchor="ctr">
            <a:noAutofit/>
          </a:bodyPr>
          <a:lstStyle/>
          <a:p>
            <a:pPr algn="l">
              <a:lnSpc>
                <a:spcPct val="100000"/>
              </a:lnSpc>
              <a:spcBef>
                <a:spcPts val="0"/>
              </a:spcBef>
              <a:spcAft>
                <a:spcPts val="0"/>
              </a:spcAft>
            </a:pPr>
            <a:r>
              <a:rPr sz="1800" b="1" i="0">
                <a:solidFill>
                  <a:srgbClr val="192B37"/>
                </a:solidFill>
              </a:rPr>
              <a:t>/tap-new-test</a:t>
            </a:r>
          </a:p>
        </p:txBody>
      </p:sp>
      <p:sp>
        <p:nvSpPr>
          <p:cNvPr id="25" name="TextBox 24"/>
          <p:cNvSpPr txBox="1"/>
          <p:nvPr/>
        </p:nvSpPr>
        <p:spPr>
          <a:xfrm>
            <a:off x="12362688" y="3977639"/>
            <a:ext cx="320040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192B37"/>
                </a:solidFill>
              </a:rPr>
              <a:t>cover the new behaviour</a:t>
            </a:r>
          </a:p>
        </p:txBody>
      </p:sp>
      <p:sp>
        <p:nvSpPr>
          <p:cNvPr id="26" name="Rounded Rectangle 25"/>
          <p:cNvSpPr/>
          <p:nvPr/>
        </p:nvSpPr>
        <p:spPr>
          <a:xfrm>
            <a:off x="15974568" y="2926080"/>
            <a:ext cx="3611880" cy="1965960"/>
          </a:xfrm>
          <a:prstGeom prst="roundRect">
            <a:avLst>
              <a:gd name="adj" fmla="val 12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16203168" y="3108960"/>
            <a:ext cx="685800" cy="6858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203168" y="3108960"/>
            <a:ext cx="685800" cy="685800"/>
          </a:xfrm>
          <a:prstGeom prst="rect">
            <a:avLst/>
          </a:prstGeom>
          <a:noFill/>
        </p:spPr>
        <p:txBody>
          <a:bodyPr wrap="square" lIns="0" rIns="0" tIns="18288" bIns="18288" anchor="ctr">
            <a:noAutofit/>
          </a:bodyPr>
          <a:lstStyle/>
          <a:p>
            <a:pPr algn="ctr">
              <a:lnSpc>
                <a:spcPct val="100000"/>
              </a:lnSpc>
              <a:spcBef>
                <a:spcPts val="0"/>
              </a:spcBef>
              <a:spcAft>
                <a:spcPts val="0"/>
              </a:spcAft>
            </a:pPr>
            <a:r>
              <a:rPr sz="2000" b="1" i="0">
                <a:solidFill>
                  <a:srgbClr val="FFFFFF"/>
                </a:solidFill>
              </a:rPr>
              <a:t>5</a:t>
            </a:r>
          </a:p>
        </p:txBody>
      </p:sp>
      <p:sp>
        <p:nvSpPr>
          <p:cNvPr id="29" name="TextBox 28"/>
          <p:cNvSpPr txBox="1"/>
          <p:nvPr/>
        </p:nvSpPr>
        <p:spPr>
          <a:xfrm>
            <a:off x="17026128" y="3108960"/>
            <a:ext cx="2514600" cy="685800"/>
          </a:xfrm>
          <a:prstGeom prst="rect">
            <a:avLst/>
          </a:prstGeom>
          <a:noFill/>
        </p:spPr>
        <p:txBody>
          <a:bodyPr wrap="square" lIns="0" rIns="0" tIns="18288" bIns="18288" anchor="ctr">
            <a:noAutofit/>
          </a:bodyPr>
          <a:lstStyle/>
          <a:p>
            <a:pPr algn="l">
              <a:lnSpc>
                <a:spcPct val="100000"/>
              </a:lnSpc>
              <a:spcBef>
                <a:spcPts val="0"/>
              </a:spcBef>
              <a:spcAft>
                <a:spcPts val="0"/>
              </a:spcAft>
            </a:pPr>
            <a:r>
              <a:rPr sz="1800" b="1" i="0">
                <a:solidFill>
                  <a:srgbClr val="192B37"/>
                </a:solidFill>
              </a:rPr>
              <a:t>run ×2</a:t>
            </a:r>
          </a:p>
        </p:txBody>
      </p:sp>
      <p:sp>
        <p:nvSpPr>
          <p:cNvPr id="30" name="TextBox 29"/>
          <p:cNvSpPr txBox="1"/>
          <p:nvPr/>
        </p:nvSpPr>
        <p:spPr>
          <a:xfrm>
            <a:off x="16203168" y="3977639"/>
            <a:ext cx="320040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192B37"/>
                </a:solidFill>
              </a:rPr>
              <a:t>flake gate</a:t>
            </a:r>
          </a:p>
        </p:txBody>
      </p:sp>
      <p:sp>
        <p:nvSpPr>
          <p:cNvPr id="31" name="Rounded Rectangle 30"/>
          <p:cNvSpPr/>
          <p:nvPr/>
        </p:nvSpPr>
        <p:spPr>
          <a:xfrm>
            <a:off x="19815048" y="2926080"/>
            <a:ext cx="3611880" cy="1965960"/>
          </a:xfrm>
          <a:prstGeom prst="roundRect">
            <a:avLst>
              <a:gd name="adj" fmla="val 12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20043648" y="3108960"/>
            <a:ext cx="685800" cy="68580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0043648" y="3108960"/>
            <a:ext cx="685800" cy="685800"/>
          </a:xfrm>
          <a:prstGeom prst="rect">
            <a:avLst/>
          </a:prstGeom>
          <a:noFill/>
        </p:spPr>
        <p:txBody>
          <a:bodyPr wrap="square" lIns="0" rIns="0" tIns="18288" bIns="18288" anchor="ctr">
            <a:noAutofit/>
          </a:bodyPr>
          <a:lstStyle/>
          <a:p>
            <a:pPr algn="ctr">
              <a:lnSpc>
                <a:spcPct val="100000"/>
              </a:lnSpc>
              <a:spcBef>
                <a:spcPts val="0"/>
              </a:spcBef>
              <a:spcAft>
                <a:spcPts val="0"/>
              </a:spcAft>
            </a:pPr>
            <a:r>
              <a:rPr sz="2000" b="1" i="0">
                <a:solidFill>
                  <a:srgbClr val="FFFFFF"/>
                </a:solidFill>
              </a:rPr>
              <a:t>6</a:t>
            </a:r>
          </a:p>
        </p:txBody>
      </p:sp>
      <p:sp>
        <p:nvSpPr>
          <p:cNvPr id="34" name="TextBox 33"/>
          <p:cNvSpPr txBox="1"/>
          <p:nvPr/>
        </p:nvSpPr>
        <p:spPr>
          <a:xfrm>
            <a:off x="20866608" y="3108960"/>
            <a:ext cx="2514600" cy="685800"/>
          </a:xfrm>
          <a:prstGeom prst="rect">
            <a:avLst/>
          </a:prstGeom>
          <a:noFill/>
        </p:spPr>
        <p:txBody>
          <a:bodyPr wrap="square" lIns="0" rIns="0" tIns="18288" bIns="18288" anchor="ctr">
            <a:noAutofit/>
          </a:bodyPr>
          <a:lstStyle/>
          <a:p>
            <a:pPr algn="l">
              <a:lnSpc>
                <a:spcPct val="100000"/>
              </a:lnSpc>
              <a:spcBef>
                <a:spcPts val="0"/>
              </a:spcBef>
              <a:spcAft>
                <a:spcPts val="0"/>
              </a:spcAft>
            </a:pPr>
            <a:r>
              <a:rPr sz="1800" b="1" i="0">
                <a:solidFill>
                  <a:srgbClr val="192B37"/>
                </a:solidFill>
              </a:rPr>
              <a:t>/tap-review</a:t>
            </a:r>
          </a:p>
        </p:txBody>
      </p:sp>
      <p:sp>
        <p:nvSpPr>
          <p:cNvPr id="35" name="TextBox 34"/>
          <p:cNvSpPr txBox="1"/>
          <p:nvPr/>
        </p:nvSpPr>
        <p:spPr>
          <a:xfrm>
            <a:off x="20043648" y="3977639"/>
            <a:ext cx="320040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0">
                <a:solidFill>
                  <a:srgbClr val="192B37"/>
                </a:solidFill>
              </a:rPr>
              <a:t>independent reviewer</a:t>
            </a:r>
          </a:p>
        </p:txBody>
      </p:sp>
      <p:sp>
        <p:nvSpPr>
          <p:cNvPr id="36" name="Rounded Rectangle 35"/>
          <p:cNvSpPr/>
          <p:nvPr/>
        </p:nvSpPr>
        <p:spPr>
          <a:xfrm>
            <a:off x="612648" y="5166360"/>
            <a:ext cx="14630400" cy="5257800"/>
          </a:xfrm>
          <a:prstGeom prst="roundRect">
            <a:avLst>
              <a:gd name="adj" fmla="val 4869"/>
            </a:avLst>
          </a:prstGeom>
          <a:solidFill>
            <a:srgbClr val="0F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86968" y="536752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79576" y="536752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472184" y="536752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892807" y="5239512"/>
            <a:ext cx="13075920"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node tap26/scripts/impact.mjs (real output, abridged)</a:t>
            </a:r>
          </a:p>
        </p:txBody>
      </p:sp>
      <p:sp>
        <p:nvSpPr>
          <p:cNvPr id="41" name="TextBox 40"/>
          <p:cNvSpPr txBox="1"/>
          <p:nvPr/>
        </p:nvSpPr>
        <p:spPr>
          <a:xfrm>
            <a:off x="886968" y="5715000"/>
            <a:ext cx="14173200" cy="4572000"/>
          </a:xfrm>
          <a:prstGeom prst="rect">
            <a:avLst/>
          </a:prstGeom>
          <a:noFill/>
        </p:spPr>
        <p:txBody>
          <a:bodyPr wrap="none" lIns="0" rIns="0" tIns="0" bIns="0">
            <a:noAutofit/>
          </a:bodyPr>
          <a:lstStyle/>
          <a:p>
            <a:pPr>
              <a:lnSpc>
                <a:spcPct val="108000"/>
              </a:lnSpc>
              <a:spcBef>
                <a:spcPts val="0"/>
              </a:spcBef>
              <a:spcAft>
                <a:spcPts val="0"/>
              </a:spcAft>
            </a:pPr>
            <a:r>
              <a:rPr sz="1800">
                <a:solidFill>
                  <a:srgbClr val="8FA3B3"/>
                </a:solidFill>
                <a:latin typeface="Consolas"/>
              </a:rPr>
              <a:t># Test impact report — working tree vs HEAD</a:t>
            </a:r>
          </a:p>
          <a:p>
            <a:pPr>
              <a:lnSpc>
                <a:spcPct val="108000"/>
              </a:lnSpc>
              <a:spcBef>
                <a:spcPts val="0"/>
              </a:spcBef>
              <a:spcAft>
                <a:spcPts val="0"/>
              </a:spcAft>
            </a:pPr>
            <a:r>
              <a:rPr sz="1800">
                <a:solidFill>
                  <a:srgbClr val="D7E3EA"/>
                </a:solidFill>
                <a:latin typeface="Consolas"/>
              </a:rPr>
              <a:t>- Changed files: 2 (backend-route 1, frontend-component 1)</a:t>
            </a:r>
          </a:p>
          <a:p>
            <a:pPr>
              <a:lnSpc>
                <a:spcPct val="108000"/>
              </a:lnSpc>
              <a:spcBef>
                <a:spcPts val="0"/>
              </a:spcBef>
              <a:spcAft>
                <a:spcPts val="0"/>
              </a:spcAft>
            </a:pPr>
            <a:r>
              <a:rPr sz="1800">
                <a:solidFill>
                  <a:srgbClr val="D7E3EA"/>
                </a:solidFill>
                <a:latin typeface="Consolas"/>
              </a:rPr>
              <a:t>- Impacted API routes: 2 · selector changes: 2 · machines: 0</a:t>
            </a:r>
          </a:p>
          <a:p>
            <a:pPr>
              <a:lnSpc>
                <a:spcPct val="108000"/>
              </a:lnSpc>
              <a:spcBef>
                <a:spcPts val="0"/>
              </a:spcBef>
              <a:spcAft>
                <a:spcPts val="0"/>
              </a:spcAft>
            </a:pPr>
            <a:r>
              <a:rPr sz="1800">
                <a:solidFill>
                  <a:srgbClr val="D7E3EA"/>
                </a:solidFill>
                <a:latin typeface="Consolas"/>
              </a:rPr>
              <a:t>- Tests to run/review: 17 (6 Playwright, 11 Cypress)</a:t>
            </a:r>
          </a:p>
          <a:p>
            <a:pPr>
              <a:lnSpc>
                <a:spcPct val="108000"/>
              </a:lnSpc>
              <a:spcBef>
                <a:spcPts val="0"/>
              </a:spcBef>
              <a:spcAft>
                <a:spcPts val="0"/>
              </a:spcAft>
            </a:pPr>
            <a:r>
              <a:rPr sz="1800">
                <a:solidFill>
                  <a:srgbClr val="D7E3EA"/>
                </a:solidFill>
                <a:latin typeface="Consolas"/>
              </a:rPr>
              <a:t>| renamed → sidenav-balance | sidenav-user-balance | …pay-a-friend.e2e.spec.ts …</a:t>
            </a:r>
          </a:p>
          <a:p>
            <a:pPr>
              <a:lnSpc>
                <a:spcPct val="108000"/>
              </a:lnSpc>
              <a:spcBef>
                <a:spcPts val="0"/>
              </a:spcBef>
              <a:spcAft>
                <a:spcPts val="0"/>
              </a:spcAft>
            </a:pPr>
            <a:r>
              <a:rPr sz="1800">
                <a:solidFill>
                  <a:srgbClr val="D7E3EA"/>
                </a:solidFill>
                <a:latin typeface="Consolas"/>
              </a:rPr>
              <a:t>| removed | GET /users/search | users.api.spec.ts, contract.api.spec.ts …</a:t>
            </a:r>
          </a:p>
          <a:p>
            <a:pPr>
              <a:lnSpc>
                <a:spcPct val="108000"/>
              </a:lnSpc>
              <a:spcBef>
                <a:spcPts val="0"/>
              </a:spcBef>
              <a:spcAft>
                <a:spcPts val="0"/>
              </a:spcAft>
            </a:pPr>
            <a:r>
              <a:rPr sz="1800">
                <a:solidFill>
                  <a:srgbClr val="D7E3EA"/>
                </a:solidFill>
                <a:latin typeface="Consolas"/>
              </a:rPr>
              <a:t>1. Fix selector references → run /tap-sync-tests (ui-automation)</a:t>
            </a:r>
          </a:p>
          <a:p>
            <a:pPr>
              <a:lnSpc>
                <a:spcPct val="108000"/>
              </a:lnSpc>
              <a:spcBef>
                <a:spcPts val="0"/>
              </a:spcBef>
              <a:spcAft>
                <a:spcPts val="0"/>
              </a:spcAft>
            </a:pPr>
            <a:r>
              <a:rPr sz="1800">
                <a:solidFill>
                  <a:srgbClr val="D7E3EA"/>
                </a:solidFill>
                <a:latin typeface="Consolas"/>
              </a:rPr>
              <a:t>2. Contract: update openapi.yaml, spec-drift must be clean</a:t>
            </a:r>
          </a:p>
          <a:p>
            <a:pPr>
              <a:lnSpc>
                <a:spcPct val="108000"/>
              </a:lnSpc>
              <a:spcBef>
                <a:spcPts val="0"/>
              </a:spcBef>
              <a:spcAft>
                <a:spcPts val="0"/>
              </a:spcAft>
            </a:pPr>
            <a:r>
              <a:rPr sz="1800">
                <a:solidFill>
                  <a:srgbClr val="D7E3EA"/>
                </a:solidFill>
                <a:latin typeface="Consolas"/>
              </a:rPr>
              <a:t>3. Add API tests for GET /users/find (api-automation)</a:t>
            </a:r>
          </a:p>
        </p:txBody>
      </p:sp>
      <p:sp>
        <p:nvSpPr>
          <p:cNvPr id="42" name="Rounded Rectangle 41"/>
          <p:cNvSpPr/>
          <p:nvPr/>
        </p:nvSpPr>
        <p:spPr>
          <a:xfrm>
            <a:off x="15544800" y="5166360"/>
            <a:ext cx="7927848" cy="1627632"/>
          </a:xfrm>
          <a:prstGeom prst="roundRect">
            <a:avLst>
              <a:gd name="adj" fmla="val 12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5819120" y="5166360"/>
            <a:ext cx="2377440" cy="1627632"/>
          </a:xfrm>
          <a:prstGeom prst="rect">
            <a:avLst/>
          </a:prstGeom>
          <a:noFill/>
        </p:spPr>
        <p:txBody>
          <a:bodyPr wrap="square" lIns="0" rIns="0" tIns="18288" bIns="18288" anchor="ctr">
            <a:noAutofit/>
          </a:bodyPr>
          <a:lstStyle/>
          <a:p>
            <a:pPr algn="l">
              <a:lnSpc>
                <a:spcPct val="100000"/>
              </a:lnSpc>
              <a:spcBef>
                <a:spcPts val="0"/>
              </a:spcBef>
              <a:spcAft>
                <a:spcPts val="0"/>
              </a:spcAft>
            </a:pPr>
            <a:r>
              <a:rPr sz="5200" b="0" i="0">
                <a:solidFill>
                  <a:srgbClr val="3D9BC8"/>
                </a:solidFill>
                <a:latin typeface="+mj-lt"/>
              </a:rPr>
              <a:t>2</a:t>
            </a:r>
          </a:p>
        </p:txBody>
      </p:sp>
      <p:sp>
        <p:nvSpPr>
          <p:cNvPr id="44" name="TextBox 43"/>
          <p:cNvSpPr txBox="1"/>
          <p:nvPr/>
        </p:nvSpPr>
        <p:spPr>
          <a:xfrm>
            <a:off x="18288000" y="5166360"/>
            <a:ext cx="5029200" cy="1627632"/>
          </a:xfrm>
          <a:prstGeom prst="rect">
            <a:avLst/>
          </a:prstGeom>
          <a:noFill/>
        </p:spPr>
        <p:txBody>
          <a:bodyPr wrap="square" lIns="0" rIns="0" tIns="18288" bIns="18288" anchor="ctr">
            <a:noAutofit/>
          </a:bodyPr>
          <a:lstStyle/>
          <a:p>
            <a:pPr algn="l">
              <a:lnSpc>
                <a:spcPct val="100000"/>
              </a:lnSpc>
              <a:spcBef>
                <a:spcPts val="0"/>
              </a:spcBef>
              <a:spcAft>
                <a:spcPts val="0"/>
              </a:spcAft>
            </a:pPr>
            <a:r>
              <a:rPr sz="2100" b="1" i="0">
                <a:solidFill>
                  <a:srgbClr val="192B37"/>
                </a:solidFill>
              </a:rPr>
              <a:t>files changed</a:t>
            </a:r>
          </a:p>
        </p:txBody>
      </p:sp>
      <p:sp>
        <p:nvSpPr>
          <p:cNvPr id="45" name="Rounded Rectangle 44"/>
          <p:cNvSpPr/>
          <p:nvPr/>
        </p:nvSpPr>
        <p:spPr>
          <a:xfrm>
            <a:off x="15544800" y="6976872"/>
            <a:ext cx="7927848" cy="1627632"/>
          </a:xfrm>
          <a:prstGeom prst="roundRect">
            <a:avLst>
              <a:gd name="adj" fmla="val 12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5819120" y="6976872"/>
            <a:ext cx="2377440" cy="1627632"/>
          </a:xfrm>
          <a:prstGeom prst="rect">
            <a:avLst/>
          </a:prstGeom>
          <a:noFill/>
        </p:spPr>
        <p:txBody>
          <a:bodyPr wrap="square" lIns="0" rIns="0" tIns="18288" bIns="18288" anchor="ctr">
            <a:noAutofit/>
          </a:bodyPr>
          <a:lstStyle/>
          <a:p>
            <a:pPr algn="l">
              <a:lnSpc>
                <a:spcPct val="100000"/>
              </a:lnSpc>
              <a:spcBef>
                <a:spcPts val="0"/>
              </a:spcBef>
              <a:spcAft>
                <a:spcPts val="0"/>
              </a:spcAft>
            </a:pPr>
            <a:r>
              <a:rPr sz="5200" b="0" i="0">
                <a:solidFill>
                  <a:srgbClr val="FF5640"/>
                </a:solidFill>
                <a:latin typeface="+mj-lt"/>
              </a:rPr>
              <a:t>17</a:t>
            </a:r>
          </a:p>
        </p:txBody>
      </p:sp>
      <p:sp>
        <p:nvSpPr>
          <p:cNvPr id="47" name="TextBox 46"/>
          <p:cNvSpPr txBox="1"/>
          <p:nvPr/>
        </p:nvSpPr>
        <p:spPr>
          <a:xfrm>
            <a:off x="18288000" y="6976872"/>
            <a:ext cx="5029200" cy="1627632"/>
          </a:xfrm>
          <a:prstGeom prst="rect">
            <a:avLst/>
          </a:prstGeom>
          <a:noFill/>
        </p:spPr>
        <p:txBody>
          <a:bodyPr wrap="square" lIns="0" rIns="0" tIns="18288" bIns="18288" anchor="ctr">
            <a:noAutofit/>
          </a:bodyPr>
          <a:lstStyle/>
          <a:p>
            <a:pPr algn="l">
              <a:lnSpc>
                <a:spcPct val="100000"/>
              </a:lnSpc>
              <a:spcBef>
                <a:spcPts val="0"/>
              </a:spcBef>
              <a:spcAft>
                <a:spcPts val="0"/>
              </a:spcAft>
            </a:pPr>
            <a:r>
              <a:rPr sz="2100" b="1" i="0">
                <a:solidFill>
                  <a:srgbClr val="192B37"/>
                </a:solidFill>
              </a:rPr>
              <a:t>tests flagged</a:t>
            </a:r>
          </a:p>
        </p:txBody>
      </p:sp>
      <p:sp>
        <p:nvSpPr>
          <p:cNvPr id="48" name="Rounded Rectangle 47"/>
          <p:cNvSpPr/>
          <p:nvPr/>
        </p:nvSpPr>
        <p:spPr>
          <a:xfrm>
            <a:off x="15544800" y="8787384"/>
            <a:ext cx="7927848" cy="1627632"/>
          </a:xfrm>
          <a:prstGeom prst="roundRect">
            <a:avLst>
              <a:gd name="adj" fmla="val 12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5819120" y="8787384"/>
            <a:ext cx="2377440" cy="1627632"/>
          </a:xfrm>
          <a:prstGeom prst="rect">
            <a:avLst/>
          </a:prstGeom>
          <a:noFill/>
        </p:spPr>
        <p:txBody>
          <a:bodyPr wrap="square" lIns="0" rIns="0" tIns="18288" bIns="18288" anchor="ctr">
            <a:noAutofit/>
          </a:bodyPr>
          <a:lstStyle/>
          <a:p>
            <a:pPr algn="l">
              <a:lnSpc>
                <a:spcPct val="100000"/>
              </a:lnSpc>
              <a:spcBef>
                <a:spcPts val="0"/>
              </a:spcBef>
              <a:spcAft>
                <a:spcPts val="0"/>
              </a:spcAft>
            </a:pPr>
            <a:r>
              <a:rPr sz="5200" b="0" i="0">
                <a:solidFill>
                  <a:srgbClr val="00A859"/>
                </a:solidFill>
                <a:latin typeface="+mj-lt"/>
              </a:rPr>
              <a:t>7</a:t>
            </a:r>
          </a:p>
        </p:txBody>
      </p:sp>
      <p:sp>
        <p:nvSpPr>
          <p:cNvPr id="50" name="TextBox 49"/>
          <p:cNvSpPr txBox="1"/>
          <p:nvPr/>
        </p:nvSpPr>
        <p:spPr>
          <a:xfrm>
            <a:off x="18288000" y="8787384"/>
            <a:ext cx="5029200" cy="1627632"/>
          </a:xfrm>
          <a:prstGeom prst="rect">
            <a:avLst/>
          </a:prstGeom>
          <a:noFill/>
        </p:spPr>
        <p:txBody>
          <a:bodyPr wrap="square" lIns="0" rIns="0" tIns="18288" bIns="18288" anchor="ctr">
            <a:noAutofit/>
          </a:bodyPr>
          <a:lstStyle/>
          <a:p>
            <a:pPr algn="l">
              <a:lnSpc>
                <a:spcPct val="100000"/>
              </a:lnSpc>
              <a:spcBef>
                <a:spcPts val="0"/>
              </a:spcBef>
              <a:spcAft>
                <a:spcPts val="0"/>
              </a:spcAft>
            </a:pPr>
            <a:r>
              <a:rPr sz="2100" b="1" i="0">
                <a:solidFill>
                  <a:srgbClr val="192B37"/>
                </a:solidFill>
              </a:rPr>
              <a:t>recommended actions</a:t>
            </a:r>
          </a:p>
        </p:txBody>
      </p:sp>
      <p:sp>
        <p:nvSpPr>
          <p:cNvPr id="51" name="Rounded Rectangle 50"/>
          <p:cNvSpPr/>
          <p:nvPr/>
        </p:nvSpPr>
        <p:spPr>
          <a:xfrm>
            <a:off x="612648" y="10789920"/>
            <a:ext cx="22860000" cy="960120"/>
          </a:xfrm>
          <a:prstGeom prst="roundRect">
            <a:avLst>
              <a:gd name="adj" fmla="val 15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886968" y="10927080"/>
            <a:ext cx="685800" cy="68580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LuLaugh.png"/>
          <p:cNvPicPr>
            <a:picLocks noChangeAspect="1"/>
          </p:cNvPicPr>
          <p:nvPr/>
        </p:nvPicPr>
        <p:blipFill>
          <a:blip r:embed="rId3"/>
          <a:stretch>
            <a:fillRect/>
          </a:stretch>
        </p:blipFill>
        <p:spPr>
          <a:xfrm>
            <a:off x="1051560" y="11091672"/>
            <a:ext cx="356616" cy="356616"/>
          </a:xfrm>
          <a:prstGeom prst="rect">
            <a:avLst/>
          </a:prstGeom>
        </p:spPr>
      </p:pic>
      <p:sp>
        <p:nvSpPr>
          <p:cNvPr id="54" name="TextBox 53"/>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Rename one selector and 17 tests panic. Our agents are the calm friend who says “I've made a list.”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Agents at work</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729A00"/>
                </a:solidFill>
              </a:rPr>
              <a:t>AGENTS · CHANGE THE APPLICATION</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API, UI and infra — three lanes, same discipline</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62</a:t>
            </a:r>
          </a:p>
        </p:txBody>
      </p:sp>
      <p:sp>
        <p:nvSpPr>
          <p:cNvPr id="6" name="Rounded Rectangle 5"/>
          <p:cNvSpPr/>
          <p:nvPr/>
        </p:nvSpPr>
        <p:spPr>
          <a:xfrm>
            <a:off x="612648" y="2926080"/>
            <a:ext cx="3931920" cy="1783080"/>
          </a:xfrm>
          <a:prstGeom prst="roundRect">
            <a:avLst>
              <a:gd name="adj" fmla="val 12000"/>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LuServer.png"/>
          <p:cNvPicPr>
            <a:picLocks noChangeAspect="1"/>
          </p:cNvPicPr>
          <p:nvPr/>
        </p:nvPicPr>
        <p:blipFill>
          <a:blip r:embed="rId3"/>
          <a:stretch>
            <a:fillRect/>
          </a:stretch>
        </p:blipFill>
        <p:spPr>
          <a:xfrm>
            <a:off x="868680" y="3200400"/>
            <a:ext cx="640080" cy="640080"/>
          </a:xfrm>
          <a:prstGeom prst="rect">
            <a:avLst/>
          </a:prstGeom>
        </p:spPr>
      </p:pic>
      <p:sp>
        <p:nvSpPr>
          <p:cNvPr id="8" name="TextBox 7"/>
          <p:cNvSpPr txBox="1"/>
          <p:nvPr/>
        </p:nvSpPr>
        <p:spPr>
          <a:xfrm>
            <a:off x="1691640" y="3108960"/>
            <a:ext cx="2743200" cy="685800"/>
          </a:xfrm>
          <a:prstGeom prst="rect">
            <a:avLst/>
          </a:prstGeom>
          <a:noFill/>
        </p:spPr>
        <p:txBody>
          <a:bodyPr wrap="square" lIns="0" rIns="0" tIns="18288" bIns="18288" anchor="ctr">
            <a:noAutofit/>
          </a:bodyPr>
          <a:lstStyle/>
          <a:p>
            <a:pPr algn="l">
              <a:lnSpc>
                <a:spcPct val="100000"/>
              </a:lnSpc>
              <a:spcBef>
                <a:spcPts val="0"/>
              </a:spcBef>
              <a:spcAft>
                <a:spcPts val="0"/>
              </a:spcAft>
            </a:pPr>
            <a:r>
              <a:rPr sz="2600" b="1" i="0">
                <a:solidFill>
                  <a:srgbClr val="FFFFFF"/>
                </a:solidFill>
              </a:rPr>
              <a:t>API</a:t>
            </a:r>
          </a:p>
        </p:txBody>
      </p:sp>
      <p:sp>
        <p:nvSpPr>
          <p:cNvPr id="9" name="TextBox 8"/>
          <p:cNvSpPr txBox="1"/>
          <p:nvPr/>
        </p:nvSpPr>
        <p:spPr>
          <a:xfrm>
            <a:off x="868680" y="3840480"/>
            <a:ext cx="356616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FFFFFF"/>
                </a:solidFill>
              </a:rPr>
              <a:t>/tap-change-api</a:t>
            </a:r>
          </a:p>
        </p:txBody>
      </p:sp>
      <p:sp>
        <p:nvSpPr>
          <p:cNvPr id="10" name="Pentagon 9"/>
          <p:cNvSpPr/>
          <p:nvPr/>
        </p:nvSpPr>
        <p:spPr>
          <a:xfrm>
            <a:off x="4800600" y="3108960"/>
            <a:ext cx="4846320" cy="1417320"/>
          </a:xfrm>
          <a:prstGeom prst="homePlate">
            <a:avLst>
              <a:gd name="adj" fmla="val 32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228600" wrap="square"/>
          <a:lstStyle/>
          <a:p>
            <a:pPr algn="ctr">
              <a:lnSpc>
                <a:spcPct val="95000"/>
              </a:lnSpc>
              <a:spcBef>
                <a:spcPts val="0"/>
              </a:spcBef>
            </a:pPr>
            <a:r>
              <a:rPr sz="1500" b="1" i="0">
                <a:solidFill>
                  <a:srgbClr val="192B37"/>
                </a:solidFill>
              </a:rPr>
              <a:t>be-dev edits route + validator</a:t>
            </a:r>
          </a:p>
        </p:txBody>
      </p:sp>
      <p:sp>
        <p:nvSpPr>
          <p:cNvPr id="11" name="Chevron 10"/>
          <p:cNvSpPr/>
          <p:nvPr/>
        </p:nvSpPr>
        <p:spPr>
          <a:xfrm>
            <a:off x="9482328" y="3108960"/>
            <a:ext cx="4846320" cy="1417320"/>
          </a:xfrm>
          <a:prstGeom prst="chevron">
            <a:avLst>
              <a:gd name="adj" fmla="val 32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500" b="1" i="0">
                <a:solidFill>
                  <a:srgbClr val="192B37"/>
                </a:solidFill>
              </a:rPr>
              <a:t>contract-guardian updates OpenAPI</a:t>
            </a:r>
          </a:p>
        </p:txBody>
      </p:sp>
      <p:sp>
        <p:nvSpPr>
          <p:cNvPr id="12" name="Chevron 11"/>
          <p:cNvSpPr/>
          <p:nvPr/>
        </p:nvSpPr>
        <p:spPr>
          <a:xfrm>
            <a:off x="14164056" y="3108960"/>
            <a:ext cx="4846320" cy="1417320"/>
          </a:xfrm>
          <a:prstGeom prst="chevron">
            <a:avLst>
              <a:gd name="adj" fmla="val 32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500" b="1" i="0">
                <a:solidFill>
                  <a:srgbClr val="192B37"/>
                </a:solidFill>
              </a:rPr>
              <a:t>spec-drift → IN SYNC</a:t>
            </a:r>
          </a:p>
        </p:txBody>
      </p:sp>
      <p:sp>
        <p:nvSpPr>
          <p:cNvPr id="13" name="Chevron 12"/>
          <p:cNvSpPr/>
          <p:nvPr/>
        </p:nvSpPr>
        <p:spPr>
          <a:xfrm>
            <a:off x="18845784" y="3108960"/>
            <a:ext cx="4846320" cy="1417320"/>
          </a:xfrm>
          <a:prstGeom prst="chevron">
            <a:avLst>
              <a:gd name="adj" fmla="val 32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500" b="1" i="0">
                <a:solidFill>
                  <a:srgbClr val="192B37"/>
                </a:solidFill>
              </a:rPr>
              <a:t>api-automation: tests ×2 green</a:t>
            </a:r>
          </a:p>
        </p:txBody>
      </p:sp>
      <p:sp>
        <p:nvSpPr>
          <p:cNvPr id="14" name="Rounded Rectangle 13"/>
          <p:cNvSpPr/>
          <p:nvPr/>
        </p:nvSpPr>
        <p:spPr>
          <a:xfrm>
            <a:off x="612648" y="4892040"/>
            <a:ext cx="3931920" cy="1783080"/>
          </a:xfrm>
          <a:prstGeom prst="roundRect">
            <a:avLst>
              <a:gd name="adj" fmla="val 12000"/>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LuMonitor.png"/>
          <p:cNvPicPr>
            <a:picLocks noChangeAspect="1"/>
          </p:cNvPicPr>
          <p:nvPr/>
        </p:nvPicPr>
        <p:blipFill>
          <a:blip r:embed="rId4"/>
          <a:stretch>
            <a:fillRect/>
          </a:stretch>
        </p:blipFill>
        <p:spPr>
          <a:xfrm>
            <a:off x="868680" y="5166359"/>
            <a:ext cx="640080" cy="640080"/>
          </a:xfrm>
          <a:prstGeom prst="rect">
            <a:avLst/>
          </a:prstGeom>
        </p:spPr>
      </p:pic>
      <p:sp>
        <p:nvSpPr>
          <p:cNvPr id="16" name="TextBox 15"/>
          <p:cNvSpPr txBox="1"/>
          <p:nvPr/>
        </p:nvSpPr>
        <p:spPr>
          <a:xfrm>
            <a:off x="1691640" y="5074920"/>
            <a:ext cx="2743200" cy="685800"/>
          </a:xfrm>
          <a:prstGeom prst="rect">
            <a:avLst/>
          </a:prstGeom>
          <a:noFill/>
        </p:spPr>
        <p:txBody>
          <a:bodyPr wrap="square" lIns="0" rIns="0" tIns="18288" bIns="18288" anchor="ctr">
            <a:noAutofit/>
          </a:bodyPr>
          <a:lstStyle/>
          <a:p>
            <a:pPr algn="l">
              <a:lnSpc>
                <a:spcPct val="100000"/>
              </a:lnSpc>
              <a:spcBef>
                <a:spcPts val="0"/>
              </a:spcBef>
              <a:spcAft>
                <a:spcPts val="0"/>
              </a:spcAft>
            </a:pPr>
            <a:r>
              <a:rPr sz="2600" b="1" i="0">
                <a:solidFill>
                  <a:srgbClr val="FFFFFF"/>
                </a:solidFill>
              </a:rPr>
              <a:t>UI</a:t>
            </a:r>
          </a:p>
        </p:txBody>
      </p:sp>
      <p:sp>
        <p:nvSpPr>
          <p:cNvPr id="17" name="TextBox 16"/>
          <p:cNvSpPr txBox="1"/>
          <p:nvPr/>
        </p:nvSpPr>
        <p:spPr>
          <a:xfrm>
            <a:off x="868680" y="5806440"/>
            <a:ext cx="356616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FFFFFF"/>
                </a:solidFill>
              </a:rPr>
              <a:t>/tap-change-ui</a:t>
            </a:r>
          </a:p>
        </p:txBody>
      </p:sp>
      <p:sp>
        <p:nvSpPr>
          <p:cNvPr id="18" name="Pentagon 17"/>
          <p:cNvSpPr/>
          <p:nvPr/>
        </p:nvSpPr>
        <p:spPr>
          <a:xfrm>
            <a:off x="4800600" y="5074920"/>
            <a:ext cx="4846320" cy="1417320"/>
          </a:xfrm>
          <a:prstGeom prst="homePlate">
            <a:avLst>
              <a:gd name="adj" fmla="val 32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228600" wrap="square"/>
          <a:lstStyle/>
          <a:p>
            <a:pPr algn="ctr">
              <a:lnSpc>
                <a:spcPct val="95000"/>
              </a:lnSpc>
              <a:spcBef>
                <a:spcPts val="0"/>
              </a:spcBef>
            </a:pPr>
            <a:r>
              <a:rPr sz="1500" b="1" i="0">
                <a:solidFill>
                  <a:srgbClr val="192B37"/>
                </a:solidFill>
              </a:rPr>
              <a:t>ux-designer sketches the change</a:t>
            </a:r>
          </a:p>
        </p:txBody>
      </p:sp>
      <p:sp>
        <p:nvSpPr>
          <p:cNvPr id="19" name="Chevron 18"/>
          <p:cNvSpPr/>
          <p:nvPr/>
        </p:nvSpPr>
        <p:spPr>
          <a:xfrm>
            <a:off x="9482328" y="5074920"/>
            <a:ext cx="4846320" cy="1417320"/>
          </a:xfrm>
          <a:prstGeom prst="chevron">
            <a:avLst>
              <a:gd name="adj" fmla="val 32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500" b="1" i="0">
                <a:solidFill>
                  <a:srgbClr val="192B37"/>
                </a:solidFill>
              </a:rPr>
              <a:t>fe-dev edits React / XState</a:t>
            </a:r>
          </a:p>
        </p:txBody>
      </p:sp>
      <p:sp>
        <p:nvSpPr>
          <p:cNvPr id="20" name="Chevron 19"/>
          <p:cNvSpPr/>
          <p:nvPr/>
        </p:nvSpPr>
        <p:spPr>
          <a:xfrm>
            <a:off x="14164056" y="5074920"/>
            <a:ext cx="4846320" cy="1417320"/>
          </a:xfrm>
          <a:prstGeom prst="chevron">
            <a:avLst>
              <a:gd name="adj" fmla="val 32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500" b="1" i="0">
                <a:solidFill>
                  <a:srgbClr val="192B37"/>
                </a:solidFill>
              </a:rPr>
              <a:t>data-test contract kept</a:t>
            </a:r>
          </a:p>
        </p:txBody>
      </p:sp>
      <p:sp>
        <p:nvSpPr>
          <p:cNvPr id="21" name="Chevron 20"/>
          <p:cNvSpPr/>
          <p:nvPr/>
        </p:nvSpPr>
        <p:spPr>
          <a:xfrm>
            <a:off x="18845784" y="5074920"/>
            <a:ext cx="4846320" cy="1417320"/>
          </a:xfrm>
          <a:prstGeom prst="chevron">
            <a:avLst>
              <a:gd name="adj" fmla="val 32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500" b="1" i="0">
                <a:solidFill>
                  <a:srgbClr val="192B37"/>
                </a:solidFill>
              </a:rPr>
              <a:t>ui-desktop + ui-mobile green</a:t>
            </a:r>
          </a:p>
        </p:txBody>
      </p:sp>
      <p:sp>
        <p:nvSpPr>
          <p:cNvPr id="22" name="Rounded Rectangle 21"/>
          <p:cNvSpPr/>
          <p:nvPr/>
        </p:nvSpPr>
        <p:spPr>
          <a:xfrm>
            <a:off x="612648" y="6858000"/>
            <a:ext cx="3931920" cy="1783080"/>
          </a:xfrm>
          <a:prstGeom prst="roundRect">
            <a:avLst>
              <a:gd name="adj" fmla="val 12000"/>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LuContainer.png"/>
          <p:cNvPicPr>
            <a:picLocks noChangeAspect="1"/>
          </p:cNvPicPr>
          <p:nvPr/>
        </p:nvPicPr>
        <p:blipFill>
          <a:blip r:embed="rId5"/>
          <a:stretch>
            <a:fillRect/>
          </a:stretch>
        </p:blipFill>
        <p:spPr>
          <a:xfrm>
            <a:off x="868680" y="7132320"/>
            <a:ext cx="640080" cy="640080"/>
          </a:xfrm>
          <a:prstGeom prst="rect">
            <a:avLst/>
          </a:prstGeom>
        </p:spPr>
      </p:pic>
      <p:sp>
        <p:nvSpPr>
          <p:cNvPr id="24" name="TextBox 23"/>
          <p:cNvSpPr txBox="1"/>
          <p:nvPr/>
        </p:nvSpPr>
        <p:spPr>
          <a:xfrm>
            <a:off x="1691640" y="7040880"/>
            <a:ext cx="2743200" cy="685800"/>
          </a:xfrm>
          <a:prstGeom prst="rect">
            <a:avLst/>
          </a:prstGeom>
          <a:noFill/>
        </p:spPr>
        <p:txBody>
          <a:bodyPr wrap="square" lIns="0" rIns="0" tIns="18288" bIns="18288" anchor="ctr">
            <a:noAutofit/>
          </a:bodyPr>
          <a:lstStyle/>
          <a:p>
            <a:pPr algn="l">
              <a:lnSpc>
                <a:spcPct val="100000"/>
              </a:lnSpc>
              <a:spcBef>
                <a:spcPts val="0"/>
              </a:spcBef>
              <a:spcAft>
                <a:spcPts val="0"/>
              </a:spcAft>
            </a:pPr>
            <a:r>
              <a:rPr sz="2600" b="1" i="0">
                <a:solidFill>
                  <a:srgbClr val="FFFFFF"/>
                </a:solidFill>
              </a:rPr>
              <a:t>Infra</a:t>
            </a:r>
          </a:p>
        </p:txBody>
      </p:sp>
      <p:sp>
        <p:nvSpPr>
          <p:cNvPr id="25" name="TextBox 24"/>
          <p:cNvSpPr txBox="1"/>
          <p:nvPr/>
        </p:nvSpPr>
        <p:spPr>
          <a:xfrm>
            <a:off x="868680" y="7772400"/>
            <a:ext cx="3566160" cy="64008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FFFFFF"/>
                </a:solidFill>
              </a:rPr>
              <a:t>env-ops</a:t>
            </a:r>
          </a:p>
        </p:txBody>
      </p:sp>
      <p:sp>
        <p:nvSpPr>
          <p:cNvPr id="26" name="Pentagon 25"/>
          <p:cNvSpPr/>
          <p:nvPr/>
        </p:nvSpPr>
        <p:spPr>
          <a:xfrm>
            <a:off x="4800600" y="7040880"/>
            <a:ext cx="4846320" cy="1417320"/>
          </a:xfrm>
          <a:prstGeom prst="homePlate">
            <a:avLst>
              <a:gd name="adj" fmla="val 32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228600" wrap="square"/>
          <a:lstStyle/>
          <a:p>
            <a:pPr algn="ctr">
              <a:lnSpc>
                <a:spcPct val="95000"/>
              </a:lnSpc>
              <a:spcBef>
                <a:spcPts val="0"/>
              </a:spcBef>
            </a:pPr>
            <a:r>
              <a:rPr sz="1500" b="1" i="0">
                <a:solidFill>
                  <a:srgbClr val="192B37"/>
                </a:solidFill>
              </a:rPr>
              <a:t>ports, scripts, .nvmrc, tasks</a:t>
            </a:r>
          </a:p>
        </p:txBody>
      </p:sp>
      <p:sp>
        <p:nvSpPr>
          <p:cNvPr id="27" name="Chevron 26"/>
          <p:cNvSpPr/>
          <p:nvPr/>
        </p:nvSpPr>
        <p:spPr>
          <a:xfrm>
            <a:off x="9482328" y="7040880"/>
            <a:ext cx="4846320" cy="1417320"/>
          </a:xfrm>
          <a:prstGeom prst="chevron">
            <a:avLst>
              <a:gd name="adj" fmla="val 32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500" b="1" i="0">
                <a:solidFill>
                  <a:srgbClr val="192B37"/>
                </a:solidFill>
              </a:rPr>
              <a:t>doctor.mjs health gate</a:t>
            </a:r>
          </a:p>
        </p:txBody>
      </p:sp>
      <p:sp>
        <p:nvSpPr>
          <p:cNvPr id="28" name="Chevron 27"/>
          <p:cNvSpPr/>
          <p:nvPr/>
        </p:nvSpPr>
        <p:spPr>
          <a:xfrm>
            <a:off x="14164056" y="7040880"/>
            <a:ext cx="4846320" cy="1417320"/>
          </a:xfrm>
          <a:prstGeom prst="chevron">
            <a:avLst>
              <a:gd name="adj" fmla="val 32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500" b="1" i="0">
                <a:solidFill>
                  <a:srgbClr val="192B37"/>
                </a:solidFill>
              </a:rPr>
              <a:t>VS Code tasks &amp; launch configs</a:t>
            </a:r>
          </a:p>
        </p:txBody>
      </p:sp>
      <p:sp>
        <p:nvSpPr>
          <p:cNvPr id="29" name="Chevron 28"/>
          <p:cNvSpPr/>
          <p:nvPr/>
        </p:nvSpPr>
        <p:spPr>
          <a:xfrm>
            <a:off x="18845784" y="7040880"/>
            <a:ext cx="4846320" cy="1417320"/>
          </a:xfrm>
          <a:prstGeom prst="chevron">
            <a:avLst>
              <a:gd name="adj" fmla="val 32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rIns="228600" wrap="square"/>
          <a:lstStyle/>
          <a:p>
            <a:pPr algn="ctr">
              <a:lnSpc>
                <a:spcPct val="95000"/>
              </a:lnSpc>
              <a:spcBef>
                <a:spcPts val="0"/>
              </a:spcBef>
            </a:pPr>
            <a:r>
              <a:rPr sz="1500" b="1" i="0">
                <a:solidFill>
                  <a:srgbClr val="192B37"/>
                </a:solidFill>
              </a:rPr>
              <a:t>CI pipeline proposals</a:t>
            </a:r>
          </a:p>
        </p:txBody>
      </p:sp>
      <p:sp>
        <p:nvSpPr>
          <p:cNvPr id="30" name="Rounded Rectangle 29"/>
          <p:cNvSpPr/>
          <p:nvPr/>
        </p:nvSpPr>
        <p:spPr>
          <a:xfrm>
            <a:off x="612648" y="8915400"/>
            <a:ext cx="22860000" cy="1508760"/>
          </a:xfrm>
          <a:prstGeom prst="roundRect">
            <a:avLst>
              <a:gd name="adj" fmla="val 15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868680" y="9235440"/>
            <a:ext cx="868680" cy="86868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LuNotebookPen.png"/>
          <p:cNvPicPr>
            <a:picLocks noChangeAspect="1"/>
          </p:cNvPicPr>
          <p:nvPr/>
        </p:nvPicPr>
        <p:blipFill>
          <a:blip r:embed="rId6"/>
          <a:stretch>
            <a:fillRect/>
          </a:stretch>
        </p:blipFill>
        <p:spPr>
          <a:xfrm>
            <a:off x="1077163" y="9443923"/>
            <a:ext cx="451713" cy="451713"/>
          </a:xfrm>
          <a:prstGeom prst="rect">
            <a:avLst/>
          </a:prstGeom>
        </p:spPr>
      </p:pic>
      <p:sp>
        <p:nvSpPr>
          <p:cNvPr id="33" name="TextBox 32"/>
          <p:cNvSpPr txBox="1"/>
          <p:nvPr/>
        </p:nvSpPr>
        <p:spPr>
          <a:xfrm>
            <a:off x="1965960" y="8915400"/>
            <a:ext cx="21305520" cy="1508760"/>
          </a:xfrm>
          <a:prstGeom prst="rect">
            <a:avLst/>
          </a:prstGeom>
          <a:noFill/>
        </p:spPr>
        <p:txBody>
          <a:bodyPr wrap="square" lIns="0" rIns="0" tIns="18288" bIns="18288" anchor="ctr">
            <a:noAutofit/>
          </a:bodyPr>
          <a:lstStyle/>
          <a:p>
            <a:pPr algn="l">
              <a:lnSpc>
                <a:spcPct val="100000"/>
              </a:lnSpc>
              <a:spcBef>
                <a:spcPts val="0"/>
              </a:spcBef>
              <a:spcAft>
                <a:spcPts val="0"/>
              </a:spcAft>
            </a:pPr>
            <a:r>
              <a:rPr sz="1800" b="0" i="0">
                <a:solidFill>
                  <a:srgbClr val="192B37"/>
                </a:solidFill>
              </a:rPr>
              <a:t>Every edit to app code lands in the </a:t>
            </a:r>
            <a:r>
              <a:rPr sz="1800" b="1" i="0">
                <a:solidFill>
                  <a:srgbClr val="192B37"/>
                </a:solidFill>
              </a:rPr>
              <a:t>change ledger</a:t>
            </a:r>
            <a:r>
              <a:rPr sz="1800" b="0" i="0">
                <a:solidFill>
                  <a:srgbClr val="192B37"/>
                </a:solidFill>
              </a:rPr>
              <a:t> automatically (PostToolUse hook) → </a:t>
            </a:r>
            <a:r>
              <a:rPr sz="1656" b="0" i="0">
                <a:solidFill>
                  <a:srgbClr val="C2410C"/>
                </a:solidFill>
                <a:latin typeface="Consolas"/>
              </a:rPr>
              <a:t>tap26/memory/changes.md</a:t>
            </a:r>
            <a:r>
              <a:rPr sz="1800" b="0" i="0">
                <a:solidFill>
                  <a:srgbClr val="192B37"/>
                </a:solidFill>
              </a:rPr>
              <a:t> → impact analysis, release notes and the next session's digest.</a:t>
            </a:r>
          </a:p>
        </p:txBody>
      </p:sp>
      <p:sp>
        <p:nvSpPr>
          <p:cNvPr id="34" name="Rounded Rectangle 33"/>
          <p:cNvSpPr/>
          <p:nvPr/>
        </p:nvSpPr>
        <p:spPr>
          <a:xfrm>
            <a:off x="612648" y="10789920"/>
            <a:ext cx="22860000" cy="960120"/>
          </a:xfrm>
          <a:prstGeom prst="roundRect">
            <a:avLst>
              <a:gd name="adj" fmla="val 15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86968" y="10927080"/>
            <a:ext cx="685800" cy="68580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LuLaugh.png"/>
          <p:cNvPicPr>
            <a:picLocks noChangeAspect="1"/>
          </p:cNvPicPr>
          <p:nvPr/>
        </p:nvPicPr>
        <p:blipFill>
          <a:blip r:embed="rId7"/>
          <a:stretch>
            <a:fillRect/>
          </a:stretch>
        </p:blipFill>
        <p:spPr>
          <a:xfrm>
            <a:off x="1051560" y="11091672"/>
            <a:ext cx="356616" cy="356616"/>
          </a:xfrm>
          <a:prstGeom prst="rect">
            <a:avLst/>
          </a:prstGeom>
        </p:spPr>
      </p:pic>
      <p:sp>
        <p:nvSpPr>
          <p:cNvPr id="37" name="TextBox 36"/>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Change is the only constant. Well — that and </a:t>
            </a:r>
            <a:r>
              <a:rPr sz="1840" b="0" i="1">
                <a:solidFill>
                  <a:srgbClr val="C2410C"/>
                </a:solidFill>
                <a:latin typeface="Consolas"/>
              </a:rPr>
              <a:t>s3cret</a:t>
            </a:r>
            <a:r>
              <a:rPr sz="2000" b="0" i="1">
                <a:solidFill>
                  <a:srgbClr val="192B37"/>
                </a:solidFill>
              </a:rPr>
              <a: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Agents at work</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729A00"/>
                </a:solidFill>
              </a:rPr>
              <a:t>AGENTS · DOCUMENT THE CHANGES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One change, five places that must agree</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63</a:t>
            </a:r>
          </a:p>
        </p:txBody>
      </p:sp>
      <p:sp>
        <p:nvSpPr>
          <p:cNvPr id="6" name="Oval 5"/>
          <p:cNvSpPr/>
          <p:nvPr/>
        </p:nvSpPr>
        <p:spPr>
          <a:xfrm>
            <a:off x="4663440" y="4937760"/>
            <a:ext cx="3474720" cy="347472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63440" y="4937760"/>
            <a:ext cx="3474720" cy="3474720"/>
          </a:xfrm>
          <a:prstGeom prst="rect">
            <a:avLst/>
          </a:prstGeom>
          <a:noFill/>
        </p:spPr>
        <p:txBody>
          <a:bodyPr wrap="square" lIns="0" rIns="0" tIns="18288" bIns="18288" anchor="ctr">
            <a:noAutofit/>
          </a:bodyPr>
          <a:lstStyle/>
          <a:p>
            <a:pPr algn="ctr">
              <a:lnSpc>
                <a:spcPct val="100000"/>
              </a:lnSpc>
              <a:spcBef>
                <a:spcPts val="0"/>
              </a:spcBef>
              <a:spcAft>
                <a:spcPts val="0"/>
              </a:spcAft>
            </a:pPr>
            <a:r>
              <a:rPr sz="2600" b="1" i="0">
                <a:solidFill>
                  <a:srgbClr val="FFFFFF"/>
                </a:solidFill>
              </a:rPr>
              <a:t>the</a:t>
            </a:r>
          </a:p>
          <a:p>
            <a:pPr algn="ctr">
              <a:lnSpc>
                <a:spcPct val="100000"/>
              </a:lnSpc>
              <a:spcBef>
                <a:spcPts val="0"/>
              </a:spcBef>
              <a:spcAft>
                <a:spcPts val="0"/>
              </a:spcAft>
            </a:pPr>
            <a:r>
              <a:rPr sz="2600" b="1" i="0">
                <a:solidFill>
                  <a:srgbClr val="FFFFFF"/>
                </a:solidFill>
              </a:rPr>
              <a:t>change</a:t>
            </a:r>
          </a:p>
        </p:txBody>
      </p:sp>
      <p:cxnSp>
        <p:nvCxnSpPr>
          <p:cNvPr id="8" name="Connector 7"/>
          <p:cNvCxnSpPr/>
          <p:nvPr/>
        </p:nvCxnSpPr>
        <p:spPr>
          <a:xfrm flipH="1" flipV="1">
            <a:off x="3666744" y="4155948"/>
            <a:ext cx="1664208" cy="1325880"/>
          </a:xfrm>
          <a:prstGeom prst="line">
            <a:avLst/>
          </a:prstGeom>
          <a:ln w="38100">
            <a:solidFill>
              <a:srgbClr val="D9E1E7"/>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3163824" y="3653028"/>
            <a:ext cx="1005840" cy="100584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uFileCode.png"/>
          <p:cNvPicPr>
            <a:picLocks noChangeAspect="1"/>
          </p:cNvPicPr>
          <p:nvPr/>
        </p:nvPicPr>
        <p:blipFill>
          <a:blip r:embed="rId3"/>
          <a:stretch>
            <a:fillRect/>
          </a:stretch>
        </p:blipFill>
        <p:spPr>
          <a:xfrm>
            <a:off x="3405225" y="3894429"/>
            <a:ext cx="523036" cy="523036"/>
          </a:xfrm>
          <a:prstGeom prst="rect">
            <a:avLst/>
          </a:prstGeom>
        </p:spPr>
      </p:pic>
      <p:sp>
        <p:nvSpPr>
          <p:cNvPr id="11" name="TextBox 10"/>
          <p:cNvSpPr txBox="1"/>
          <p:nvPr/>
        </p:nvSpPr>
        <p:spPr>
          <a:xfrm>
            <a:off x="1563624" y="4704588"/>
            <a:ext cx="420624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OpenAPI + Swagger</a:t>
            </a:r>
          </a:p>
        </p:txBody>
      </p:sp>
      <p:sp>
        <p:nvSpPr>
          <p:cNvPr id="12" name="TextBox 11"/>
          <p:cNvSpPr txBox="1"/>
          <p:nvPr/>
        </p:nvSpPr>
        <p:spPr>
          <a:xfrm>
            <a:off x="1563624" y="5116068"/>
            <a:ext cx="4206240" cy="411480"/>
          </a:xfrm>
          <a:prstGeom prst="rect">
            <a:avLst/>
          </a:prstGeom>
          <a:noFill/>
        </p:spPr>
        <p:txBody>
          <a:bodyPr wrap="square" lIns="0" rIns="0" tIns="18288" bIns="18288" anchor="t">
            <a:noAutofit/>
          </a:bodyPr>
          <a:lstStyle/>
          <a:p>
            <a:pPr algn="ctr">
              <a:lnSpc>
                <a:spcPct val="100000"/>
              </a:lnSpc>
              <a:spcBef>
                <a:spcPts val="0"/>
              </a:spcBef>
              <a:spcAft>
                <a:spcPts val="0"/>
              </a:spcAft>
            </a:pPr>
            <a:r>
              <a:rPr sz="1300" b="0" i="0">
                <a:solidFill>
                  <a:srgbClr val="5E6A73"/>
                </a:solidFill>
              </a:rPr>
              <a:t>contract-guardian</a:t>
            </a:r>
          </a:p>
        </p:txBody>
      </p:sp>
      <p:cxnSp>
        <p:nvCxnSpPr>
          <p:cNvPr id="13" name="Connector 12"/>
          <p:cNvCxnSpPr/>
          <p:nvPr/>
        </p:nvCxnSpPr>
        <p:spPr>
          <a:xfrm flipV="1">
            <a:off x="7470648" y="4155948"/>
            <a:ext cx="1664208" cy="1325880"/>
          </a:xfrm>
          <a:prstGeom prst="line">
            <a:avLst/>
          </a:prstGeom>
          <a:ln w="38100">
            <a:solidFill>
              <a:srgbClr val="D9E1E7"/>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631936" y="3653028"/>
            <a:ext cx="1005840" cy="100584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LuBookOpen.png"/>
          <p:cNvPicPr>
            <a:picLocks noChangeAspect="1"/>
          </p:cNvPicPr>
          <p:nvPr/>
        </p:nvPicPr>
        <p:blipFill>
          <a:blip r:embed="rId4"/>
          <a:stretch>
            <a:fillRect/>
          </a:stretch>
        </p:blipFill>
        <p:spPr>
          <a:xfrm>
            <a:off x="8873337" y="3894429"/>
            <a:ext cx="523036" cy="523036"/>
          </a:xfrm>
          <a:prstGeom prst="rect">
            <a:avLst/>
          </a:prstGeom>
        </p:spPr>
      </p:pic>
      <p:sp>
        <p:nvSpPr>
          <p:cNvPr id="16" name="TextBox 15"/>
          <p:cNvSpPr txBox="1"/>
          <p:nvPr/>
        </p:nvSpPr>
        <p:spPr>
          <a:xfrm>
            <a:off x="7031736" y="4704588"/>
            <a:ext cx="420624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docs page (Diátaxis)</a:t>
            </a:r>
          </a:p>
        </p:txBody>
      </p:sp>
      <p:sp>
        <p:nvSpPr>
          <p:cNvPr id="17" name="TextBox 16"/>
          <p:cNvSpPr txBox="1"/>
          <p:nvPr/>
        </p:nvSpPr>
        <p:spPr>
          <a:xfrm>
            <a:off x="7031736" y="5116068"/>
            <a:ext cx="4206240" cy="411480"/>
          </a:xfrm>
          <a:prstGeom prst="rect">
            <a:avLst/>
          </a:prstGeom>
          <a:noFill/>
        </p:spPr>
        <p:txBody>
          <a:bodyPr wrap="square" lIns="0" rIns="0" tIns="18288" bIns="18288" anchor="t">
            <a:noAutofit/>
          </a:bodyPr>
          <a:lstStyle/>
          <a:p>
            <a:pPr algn="ctr">
              <a:lnSpc>
                <a:spcPct val="100000"/>
              </a:lnSpc>
              <a:spcBef>
                <a:spcPts val="0"/>
              </a:spcBef>
              <a:spcAft>
                <a:spcPts val="0"/>
              </a:spcAft>
            </a:pPr>
            <a:r>
              <a:rPr sz="1300" b="0" i="0">
                <a:solidFill>
                  <a:srgbClr val="5E6A73"/>
                </a:solidFill>
              </a:rPr>
              <a:t>doc-writer</a:t>
            </a:r>
          </a:p>
        </p:txBody>
      </p:sp>
      <p:cxnSp>
        <p:nvCxnSpPr>
          <p:cNvPr id="18" name="Connector 17"/>
          <p:cNvCxnSpPr/>
          <p:nvPr/>
        </p:nvCxnSpPr>
        <p:spPr>
          <a:xfrm>
            <a:off x="8005571" y="6675120"/>
            <a:ext cx="2496313" cy="0"/>
          </a:xfrm>
          <a:prstGeom prst="line">
            <a:avLst/>
          </a:prstGeom>
          <a:ln w="38100">
            <a:solidFill>
              <a:srgbClr val="D9E1E7"/>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9998963" y="6172200"/>
            <a:ext cx="1005840" cy="100584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uNewspaper.png"/>
          <p:cNvPicPr>
            <a:picLocks noChangeAspect="1"/>
          </p:cNvPicPr>
          <p:nvPr/>
        </p:nvPicPr>
        <p:blipFill>
          <a:blip r:embed="rId5"/>
          <a:stretch>
            <a:fillRect/>
          </a:stretch>
        </p:blipFill>
        <p:spPr>
          <a:xfrm>
            <a:off x="10240365" y="6413601"/>
            <a:ext cx="523036" cy="523036"/>
          </a:xfrm>
          <a:prstGeom prst="rect">
            <a:avLst/>
          </a:prstGeom>
        </p:spPr>
      </p:pic>
      <p:sp>
        <p:nvSpPr>
          <p:cNvPr id="21" name="TextBox 20"/>
          <p:cNvSpPr txBox="1"/>
          <p:nvPr/>
        </p:nvSpPr>
        <p:spPr>
          <a:xfrm>
            <a:off x="8398763" y="7223759"/>
            <a:ext cx="420624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release notes</a:t>
            </a:r>
          </a:p>
        </p:txBody>
      </p:sp>
      <p:sp>
        <p:nvSpPr>
          <p:cNvPr id="22" name="TextBox 21"/>
          <p:cNvSpPr txBox="1"/>
          <p:nvPr/>
        </p:nvSpPr>
        <p:spPr>
          <a:xfrm>
            <a:off x="8398763" y="7635240"/>
            <a:ext cx="4206240" cy="411480"/>
          </a:xfrm>
          <a:prstGeom prst="rect">
            <a:avLst/>
          </a:prstGeom>
          <a:noFill/>
        </p:spPr>
        <p:txBody>
          <a:bodyPr wrap="square" lIns="0" rIns="0" tIns="18288" bIns="18288" anchor="t">
            <a:noAutofit/>
          </a:bodyPr>
          <a:lstStyle/>
          <a:p>
            <a:pPr algn="ctr">
              <a:lnSpc>
                <a:spcPct val="100000"/>
              </a:lnSpc>
              <a:spcBef>
                <a:spcPts val="0"/>
              </a:spcBef>
              <a:spcAft>
                <a:spcPts val="0"/>
              </a:spcAft>
            </a:pPr>
            <a:r>
              <a:rPr sz="1300" b="0" i="0">
                <a:solidFill>
                  <a:srgbClr val="5E6A73"/>
                </a:solidFill>
              </a:rPr>
              <a:t>from the change ledger</a:t>
            </a:r>
          </a:p>
        </p:txBody>
      </p:sp>
      <p:cxnSp>
        <p:nvCxnSpPr>
          <p:cNvPr id="23" name="Connector 22"/>
          <p:cNvCxnSpPr/>
          <p:nvPr/>
        </p:nvCxnSpPr>
        <p:spPr>
          <a:xfrm>
            <a:off x="7470648" y="7868412"/>
            <a:ext cx="1664208" cy="1325880"/>
          </a:xfrm>
          <a:prstGeom prst="line">
            <a:avLst/>
          </a:prstGeom>
          <a:ln w="38100">
            <a:solidFill>
              <a:srgbClr val="D9E1E7"/>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8631936" y="8691372"/>
            <a:ext cx="1005840" cy="100584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uBrain.png"/>
          <p:cNvPicPr>
            <a:picLocks noChangeAspect="1"/>
          </p:cNvPicPr>
          <p:nvPr/>
        </p:nvPicPr>
        <p:blipFill>
          <a:blip r:embed="rId6"/>
          <a:stretch>
            <a:fillRect/>
          </a:stretch>
        </p:blipFill>
        <p:spPr>
          <a:xfrm>
            <a:off x="8873337" y="8932773"/>
            <a:ext cx="523036" cy="523036"/>
          </a:xfrm>
          <a:prstGeom prst="rect">
            <a:avLst/>
          </a:prstGeom>
        </p:spPr>
      </p:pic>
      <p:sp>
        <p:nvSpPr>
          <p:cNvPr id="26" name="TextBox 25"/>
          <p:cNvSpPr txBox="1"/>
          <p:nvPr/>
        </p:nvSpPr>
        <p:spPr>
          <a:xfrm>
            <a:off x="7031736" y="9742932"/>
            <a:ext cx="420624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memory &amp; knowledge</a:t>
            </a:r>
          </a:p>
        </p:txBody>
      </p:sp>
      <p:sp>
        <p:nvSpPr>
          <p:cNvPr id="27" name="TextBox 26"/>
          <p:cNvSpPr txBox="1"/>
          <p:nvPr/>
        </p:nvSpPr>
        <p:spPr>
          <a:xfrm>
            <a:off x="7031736" y="10154412"/>
            <a:ext cx="4206240" cy="411480"/>
          </a:xfrm>
          <a:prstGeom prst="rect">
            <a:avLst/>
          </a:prstGeom>
          <a:noFill/>
        </p:spPr>
        <p:txBody>
          <a:bodyPr wrap="square" lIns="0" rIns="0" tIns="18288" bIns="18288" anchor="t">
            <a:noAutofit/>
          </a:bodyPr>
          <a:lstStyle/>
          <a:p>
            <a:pPr algn="ctr">
              <a:lnSpc>
                <a:spcPct val="100000"/>
              </a:lnSpc>
              <a:spcBef>
                <a:spcPts val="0"/>
              </a:spcBef>
              <a:spcAft>
                <a:spcPts val="0"/>
              </a:spcAft>
            </a:pPr>
            <a:r>
              <a:rPr sz="1300" b="0" i="0">
                <a:solidFill>
                  <a:srgbClr val="5E6A73"/>
                </a:solidFill>
              </a:rPr>
              <a:t>knowledge-curator</a:t>
            </a:r>
          </a:p>
        </p:txBody>
      </p:sp>
      <p:cxnSp>
        <p:nvCxnSpPr>
          <p:cNvPr id="28" name="Connector 27"/>
          <p:cNvCxnSpPr/>
          <p:nvPr/>
        </p:nvCxnSpPr>
        <p:spPr>
          <a:xfrm flipH="1">
            <a:off x="3666744" y="7868412"/>
            <a:ext cx="1664208" cy="1325880"/>
          </a:xfrm>
          <a:prstGeom prst="line">
            <a:avLst/>
          </a:prstGeom>
          <a:ln w="38100">
            <a:solidFill>
              <a:srgbClr val="D9E1E7"/>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3163824" y="8691372"/>
            <a:ext cx="1005840" cy="100584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LuGitCommitHorizontal.png"/>
          <p:cNvPicPr>
            <a:picLocks noChangeAspect="1"/>
          </p:cNvPicPr>
          <p:nvPr/>
        </p:nvPicPr>
        <p:blipFill>
          <a:blip r:embed="rId7"/>
          <a:stretch>
            <a:fillRect/>
          </a:stretch>
        </p:blipFill>
        <p:spPr>
          <a:xfrm>
            <a:off x="3405225" y="8932773"/>
            <a:ext cx="523036" cy="523036"/>
          </a:xfrm>
          <a:prstGeom prst="rect">
            <a:avLst/>
          </a:prstGeom>
        </p:spPr>
      </p:pic>
      <p:sp>
        <p:nvSpPr>
          <p:cNvPr id="31" name="TextBox 30"/>
          <p:cNvSpPr txBox="1"/>
          <p:nvPr/>
        </p:nvSpPr>
        <p:spPr>
          <a:xfrm>
            <a:off x="1563624" y="9742932"/>
            <a:ext cx="4206240" cy="45720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commit message</a:t>
            </a:r>
          </a:p>
        </p:txBody>
      </p:sp>
      <p:sp>
        <p:nvSpPr>
          <p:cNvPr id="32" name="TextBox 31"/>
          <p:cNvSpPr txBox="1"/>
          <p:nvPr/>
        </p:nvSpPr>
        <p:spPr>
          <a:xfrm>
            <a:off x="1563624" y="10154412"/>
            <a:ext cx="4206240" cy="411480"/>
          </a:xfrm>
          <a:prstGeom prst="rect">
            <a:avLst/>
          </a:prstGeom>
          <a:noFill/>
        </p:spPr>
        <p:txBody>
          <a:bodyPr wrap="square" lIns="0" rIns="0" tIns="18288" bIns="18288" anchor="t">
            <a:noAutofit/>
          </a:bodyPr>
          <a:lstStyle/>
          <a:p>
            <a:pPr algn="ctr">
              <a:lnSpc>
                <a:spcPct val="100000"/>
              </a:lnSpc>
              <a:spcBef>
                <a:spcPts val="0"/>
              </a:spcBef>
              <a:spcAft>
                <a:spcPts val="0"/>
              </a:spcAft>
            </a:pPr>
            <a:r>
              <a:rPr sz="1300" b="0" i="0">
                <a:solidFill>
                  <a:srgbClr val="5E6A73"/>
                </a:solidFill>
              </a:rPr>
              <a:t>Conventional Commits</a:t>
            </a:r>
          </a:p>
        </p:txBody>
      </p:sp>
      <p:sp>
        <p:nvSpPr>
          <p:cNvPr id="33" name="Rounded Rectangle 32"/>
          <p:cNvSpPr/>
          <p:nvPr/>
        </p:nvSpPr>
        <p:spPr>
          <a:xfrm>
            <a:off x="13075920" y="2926080"/>
            <a:ext cx="10396728" cy="3291840"/>
          </a:xfrm>
          <a:prstGeom prst="roundRect">
            <a:avLst>
              <a:gd name="adj" fmla="val 7777"/>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3350240" y="312724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3642848" y="312724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3935456" y="312724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4356080" y="2999232"/>
            <a:ext cx="8842248"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git commit (Conventional Commits 1.0.0)</a:t>
            </a:r>
          </a:p>
        </p:txBody>
      </p:sp>
      <p:sp>
        <p:nvSpPr>
          <p:cNvPr id="38" name="TextBox 37"/>
          <p:cNvSpPr txBox="1"/>
          <p:nvPr/>
        </p:nvSpPr>
        <p:spPr>
          <a:xfrm>
            <a:off x="13350240" y="3474720"/>
            <a:ext cx="9939528" cy="2606040"/>
          </a:xfrm>
          <a:prstGeom prst="rect">
            <a:avLst/>
          </a:prstGeom>
          <a:noFill/>
        </p:spPr>
        <p:txBody>
          <a:bodyPr wrap="none" lIns="0" rIns="0" tIns="0" bIns="0">
            <a:noAutofit/>
          </a:bodyPr>
          <a:lstStyle/>
          <a:p>
            <a:pPr>
              <a:lnSpc>
                <a:spcPct val="108000"/>
              </a:lnSpc>
              <a:spcBef>
                <a:spcPts val="0"/>
              </a:spcBef>
              <a:spcAft>
                <a:spcPts val="0"/>
              </a:spcAft>
            </a:pPr>
            <a:r>
              <a:rPr sz="1800" i="0" b="0">
                <a:solidFill>
                  <a:srgbClr val="8CCFF0"/>
                </a:solidFill>
                <a:latin typeface="Consolas"/>
              </a:rPr>
              <a:t>feat</a:t>
            </a:r>
            <a:r>
              <a:rPr sz="1800" i="0" b="0">
                <a:solidFill>
                  <a:srgbClr val="E6EDF3"/>
                </a:solidFill>
                <a:latin typeface="Consolas"/>
              </a:rPr>
              <a:t>(</a:t>
            </a:r>
            <a:r>
              <a:rPr sz="1800" i="0" b="0">
                <a:solidFill>
                  <a:srgbClr val="E6EDF3"/>
                </a:solidFill>
                <a:latin typeface="Consolas"/>
              </a:rPr>
              <a:t>api</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validate</a:t>
            </a:r>
            <a:r>
              <a:rPr sz="1800" i="0" b="0">
                <a:solidFill>
                  <a:srgbClr val="E6EDF3"/>
                </a:solidFill>
                <a:latin typeface="Consolas"/>
              </a:rPr>
              <a:t> </a:t>
            </a:r>
            <a:r>
              <a:rPr sz="1800" i="0" b="0">
                <a:solidFill>
                  <a:srgbClr val="E6EDF3"/>
                </a:solidFill>
                <a:latin typeface="Consolas"/>
              </a:rPr>
              <a:t>routingNumber</a:t>
            </a:r>
            <a:r>
              <a:rPr sz="1800" i="0" b="0">
                <a:solidFill>
                  <a:srgbClr val="E6EDF3"/>
                </a:solidFill>
                <a:latin typeface="Consolas"/>
              </a:rPr>
              <a:t> </a:t>
            </a:r>
            <a:r>
              <a:rPr sz="1800" i="0" b="0">
                <a:solidFill>
                  <a:srgbClr val="FF9C8A"/>
                </a:solidFill>
                <a:latin typeface="Consolas"/>
              </a:rPr>
              <a:t>as</a:t>
            </a:r>
            <a:r>
              <a:rPr sz="1800" i="0" b="0">
                <a:solidFill>
                  <a:srgbClr val="E6EDF3"/>
                </a:solidFill>
                <a:latin typeface="Consolas"/>
              </a:rPr>
              <a:t> </a:t>
            </a:r>
            <a:r>
              <a:rPr sz="1800" i="0" b="0">
                <a:solidFill>
                  <a:srgbClr val="FFC56B"/>
                </a:solidFill>
                <a:latin typeface="Consolas"/>
              </a:rPr>
              <a:t>9</a:t>
            </a:r>
            <a:r>
              <a:rPr sz="1800" i="0" b="0">
                <a:solidFill>
                  <a:srgbClr val="E6EDF3"/>
                </a:solidFill>
                <a:latin typeface="Consolas"/>
              </a:rPr>
              <a:t> </a:t>
            </a:r>
            <a:r>
              <a:rPr sz="1800" i="0" b="0">
                <a:solidFill>
                  <a:srgbClr val="E6EDF3"/>
                </a:solidFill>
                <a:latin typeface="Consolas"/>
              </a:rPr>
              <a:t>digits</a:t>
            </a:r>
          </a:p>
          <a:p>
            <a:pPr>
              <a:lnSpc>
                <a:spcPct val="108000"/>
              </a:lnSpc>
              <a:spcBef>
                <a:spcPts val="0"/>
              </a:spcBef>
              <a:spcAft>
                <a:spcPts val="0"/>
              </a:spcAft>
            </a:pPr>
            <a:r>
              <a:rPr sz="1800" i="0" b="0">
                <a:solidFill>
                  <a:srgbClr val="E6EDF3"/>
                </a:solidFill>
                <a:latin typeface="Consolas"/>
              </a:rPr>
              <a:t> </a:t>
            </a:r>
          </a:p>
          <a:p>
            <a:pPr>
              <a:lnSpc>
                <a:spcPct val="108000"/>
              </a:lnSpc>
              <a:spcBef>
                <a:spcPts val="0"/>
              </a:spcBef>
              <a:spcAft>
                <a:spcPts val="0"/>
              </a:spcAft>
            </a:pP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isBankAccountValidator</a:t>
            </a:r>
            <a:r>
              <a:rPr sz="1800" i="0" b="0">
                <a:solidFill>
                  <a:srgbClr val="E6EDF3"/>
                </a:solidFill>
                <a:latin typeface="Consolas"/>
              </a:rPr>
              <a:t>:</a:t>
            </a:r>
            <a:r>
              <a:rPr sz="1800" i="0" b="0">
                <a:solidFill>
                  <a:srgbClr val="E6EDF3"/>
                </a:solidFill>
                <a:latin typeface="Consolas"/>
              </a:rPr>
              <a:t> </a:t>
            </a:r>
            <a:r>
              <a:rPr sz="1800" i="0" b="0">
                <a:solidFill>
                  <a:srgbClr val="8CCFF0"/>
                </a:solidFill>
                <a:latin typeface="Consolas"/>
              </a:rPr>
              <a:t>isLength</a:t>
            </a:r>
            <a:r>
              <a:rPr sz="1800" i="0" b="0">
                <a:solidFill>
                  <a:srgbClr val="E6EDF3"/>
                </a:solidFill>
                <a:latin typeface="Consolas"/>
              </a:rPr>
              <a:t>(</a:t>
            </a:r>
            <a:r>
              <a:rPr sz="1800" i="0" b="0">
                <a:solidFill>
                  <a:srgbClr val="FFC56B"/>
                </a:solidFill>
                <a:latin typeface="Consolas"/>
              </a:rPr>
              <a:t>9</a:t>
            </a:r>
            <a:r>
              <a:rPr sz="1800" i="0" b="0">
                <a:solidFill>
                  <a:srgbClr val="E6EDF3"/>
                </a:solidFill>
                <a:latin typeface="Consolas"/>
              </a:rPr>
              <a:t>)</a:t>
            </a:r>
            <a:r>
              <a:rPr sz="1800" i="0" b="0">
                <a:solidFill>
                  <a:srgbClr val="E6EDF3"/>
                </a:solidFill>
                <a:latin typeface="Consolas"/>
              </a:rPr>
              <a:t>.</a:t>
            </a:r>
            <a:r>
              <a:rPr sz="1800" i="0" b="0">
                <a:solidFill>
                  <a:srgbClr val="8CCFF0"/>
                </a:solidFill>
                <a:latin typeface="Consolas"/>
              </a:rPr>
              <a:t>isNumeric</a:t>
            </a:r>
            <a:r>
              <a:rPr sz="1800" i="0" b="0">
                <a:solidFill>
                  <a:srgbClr val="E6EDF3"/>
                </a:solidFill>
                <a:latin typeface="Consolas"/>
              </a:rPr>
              <a:t>(</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a:t>
            </a:r>
            <a:r>
              <a:rPr sz="1800" i="0" b="0">
                <a:solidFill>
                  <a:srgbClr val="E6EDF3"/>
                </a:solidFill>
                <a:latin typeface="Consolas"/>
              </a:rPr>
              <a:t> </a:t>
            </a:r>
            <a:r>
              <a:rPr sz="1800" i="0" b="0">
                <a:solidFill>
                  <a:srgbClr val="C9B8FF"/>
                </a:solidFill>
                <a:latin typeface="Consolas"/>
              </a:rPr>
              <a:t>OpenAPI</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pattern</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a:t>
            </a:r>
            <a:r>
              <a:rPr sz="1800" i="0" b="0">
                <a:solidFill>
                  <a:srgbClr val="FFC56B"/>
                </a:solidFill>
                <a:latin typeface="Consolas"/>
              </a:rPr>
              <a:t>0</a:t>
            </a:r>
            <a:r>
              <a:rPr sz="1800" i="0" b="0">
                <a:solidFill>
                  <a:srgbClr val="E6EDF3"/>
                </a:solidFill>
                <a:latin typeface="Consolas"/>
              </a:rPr>
              <a:t>-</a:t>
            </a:r>
            <a:r>
              <a:rPr sz="1800" i="0" b="0">
                <a:solidFill>
                  <a:srgbClr val="FFC56B"/>
                </a:solidFill>
                <a:latin typeface="Consolas"/>
              </a:rPr>
              <a:t>9</a:t>
            </a:r>
            <a:r>
              <a:rPr sz="1800" i="0" b="0">
                <a:solidFill>
                  <a:srgbClr val="E6EDF3"/>
                </a:solidFill>
                <a:latin typeface="Consolas"/>
              </a:rPr>
              <a:t>]</a:t>
            </a:r>
            <a:r>
              <a:rPr sz="1800" i="0" b="0">
                <a:solidFill>
                  <a:srgbClr val="E6EDF3"/>
                </a:solidFill>
                <a:latin typeface="Consolas"/>
              </a:rPr>
              <a:t>{</a:t>
            </a:r>
            <a:r>
              <a:rPr sz="1800" i="0" b="0">
                <a:solidFill>
                  <a:srgbClr val="FFC56B"/>
                </a:solidFill>
                <a:latin typeface="Consolas"/>
              </a:rPr>
              <a:t>9</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on</a:t>
            </a:r>
            <a:r>
              <a:rPr sz="1800" i="0" b="0">
                <a:solidFill>
                  <a:srgbClr val="E6EDF3"/>
                </a:solidFill>
                <a:latin typeface="Consolas"/>
              </a:rPr>
              <a:t> </a:t>
            </a:r>
            <a:r>
              <a:rPr sz="1800" i="0" b="0">
                <a:solidFill>
                  <a:srgbClr val="C9B8FF"/>
                </a:solidFill>
                <a:latin typeface="Consolas"/>
              </a:rPr>
              <a:t>BankAccount</a:t>
            </a:r>
            <a:r>
              <a:rPr sz="1800" i="0" b="0">
                <a:solidFill>
                  <a:srgbClr val="E6EDF3"/>
                </a:solidFill>
                <a:latin typeface="Consolas"/>
              </a:rPr>
              <a:t>.</a:t>
            </a:r>
            <a:r>
              <a:rPr sz="1800" i="0" b="0">
                <a:solidFill>
                  <a:srgbClr val="E6EDF3"/>
                </a:solidFill>
                <a:latin typeface="Consolas"/>
              </a:rPr>
              <a:t>routingNumber</a:t>
            </a:r>
          </a:p>
          <a:p>
            <a:pPr>
              <a:lnSpc>
                <a:spcPct val="108000"/>
              </a:lnSpc>
              <a:spcBef>
                <a:spcPts val="0"/>
              </a:spcBef>
              <a:spcAft>
                <a:spcPts val="0"/>
              </a:spcAft>
            </a:pP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tests</a:t>
            </a:r>
            <a:r>
              <a:rPr sz="1800" i="0" b="0">
                <a:solidFill>
                  <a:srgbClr val="E6EDF3"/>
                </a:solidFill>
                <a:latin typeface="Consolas"/>
              </a:rPr>
              <a:t>:</a:t>
            </a:r>
            <a:r>
              <a:rPr sz="1800" i="0" b="0">
                <a:solidFill>
                  <a:srgbClr val="E6EDF3"/>
                </a:solidFill>
                <a:latin typeface="Consolas"/>
              </a:rPr>
              <a:t> </a:t>
            </a:r>
            <a:r>
              <a:rPr sz="1800" i="0" b="0">
                <a:solidFill>
                  <a:srgbClr val="C9B8FF"/>
                </a:solidFill>
                <a:latin typeface="Consolas"/>
              </a:rPr>
              <a:t>POST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bankAccounts</a:t>
            </a:r>
            <a:r>
              <a:rPr sz="1800" i="0" b="0">
                <a:solidFill>
                  <a:srgbClr val="E6EDF3"/>
                </a:solidFill>
                <a:latin typeface="Consolas"/>
              </a:rPr>
              <a:t> </a:t>
            </a:r>
            <a:r>
              <a:rPr sz="1800" i="0" b="0">
                <a:solidFill>
                  <a:srgbClr val="9BE3B4"/>
                </a:solidFill>
                <a:latin typeface="Consolas"/>
              </a:rPr>
              <a:t>"123"</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FFC56B"/>
                </a:solidFill>
                <a:latin typeface="Consolas"/>
              </a:rPr>
              <a:t>422</a:t>
            </a:r>
          </a:p>
          <a:p>
            <a:pPr>
              <a:lnSpc>
                <a:spcPct val="108000"/>
              </a:lnSpc>
              <a:spcBef>
                <a:spcPts val="0"/>
              </a:spcBef>
              <a:spcAft>
                <a:spcPts val="0"/>
              </a:spcAft>
            </a:pPr>
            <a:r>
              <a:rPr sz="1800" i="0" b="0">
                <a:solidFill>
                  <a:srgbClr val="E6EDF3"/>
                </a:solidFill>
                <a:latin typeface="Consolas"/>
              </a:rPr>
              <a:t> </a:t>
            </a:r>
          </a:p>
          <a:p>
            <a:pPr>
              <a:lnSpc>
                <a:spcPct val="108000"/>
              </a:lnSpc>
              <a:spcBef>
                <a:spcPts val="0"/>
              </a:spcBef>
              <a:spcAft>
                <a:spcPts val="0"/>
              </a:spcAft>
            </a:pPr>
            <a:r>
              <a:rPr sz="1800" i="0" b="0">
                <a:solidFill>
                  <a:srgbClr val="C9B8FF"/>
                </a:solidFill>
                <a:latin typeface="Consolas"/>
              </a:rPr>
              <a:t>Refs</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tap</a:t>
            </a:r>
            <a:r>
              <a:rPr sz="1800" i="0" b="0">
                <a:solidFill>
                  <a:srgbClr val="E6EDF3"/>
                </a:solidFill>
                <a:latin typeface="Consolas"/>
              </a:rPr>
              <a:t>-</a:t>
            </a:r>
            <a:r>
              <a:rPr sz="1800" i="0" b="0">
                <a:solidFill>
                  <a:srgbClr val="E6EDF3"/>
                </a:solidFill>
                <a:latin typeface="Consolas"/>
              </a:rPr>
              <a:t>ask</a:t>
            </a:r>
            <a:r>
              <a:rPr sz="1800" i="0" b="0">
                <a:solidFill>
                  <a:srgbClr val="E6EDF3"/>
                </a:solidFill>
                <a:latin typeface="Consolas"/>
              </a:rPr>
              <a:t> </a:t>
            </a:r>
            <a:r>
              <a:rPr sz="1800" i="0" b="0">
                <a:solidFill>
                  <a:srgbClr val="E6EDF3"/>
                </a:solidFill>
                <a:latin typeface="Consolas"/>
              </a:rPr>
              <a:t>be</a:t>
            </a:r>
            <a:r>
              <a:rPr sz="1800" i="0" b="0">
                <a:solidFill>
                  <a:srgbClr val="E6EDF3"/>
                </a:solidFill>
                <a:latin typeface="Consolas"/>
              </a:rPr>
              <a:t> </a:t>
            </a:r>
            <a:r>
              <a:rPr sz="1800" i="0" b="0">
                <a:solidFill>
                  <a:srgbClr val="E6EDF3"/>
                </a:solidFill>
                <a:latin typeface="Consolas"/>
              </a:rPr>
              <a:t>answer</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C9B8FF"/>
                </a:solidFill>
                <a:latin typeface="Consolas"/>
              </a:rPr>
              <a:t>BUG</a:t>
            </a:r>
            <a:r>
              <a:rPr sz="1800" i="0" b="0">
                <a:solidFill>
                  <a:srgbClr val="E6EDF3"/>
                </a:solidFill>
                <a:latin typeface="Consolas"/>
              </a:rPr>
              <a:t>-</a:t>
            </a:r>
            <a:r>
              <a:rPr sz="1800" i="0" b="0">
                <a:solidFill>
                  <a:srgbClr val="FFC56B"/>
                </a:solidFill>
                <a:latin typeface="Consolas"/>
              </a:rPr>
              <a:t>001</a:t>
            </a:r>
          </a:p>
        </p:txBody>
      </p:sp>
      <p:sp>
        <p:nvSpPr>
          <p:cNvPr id="39" name="Rounded Rectangle 38"/>
          <p:cNvSpPr/>
          <p:nvPr/>
        </p:nvSpPr>
        <p:spPr>
          <a:xfrm>
            <a:off x="13075920" y="6446520"/>
            <a:ext cx="10396728" cy="3977639"/>
          </a:xfrm>
          <a:prstGeom prst="roundRect">
            <a:avLst>
              <a:gd name="adj" fmla="val 6436"/>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13350240" y="664768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3642848" y="664768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3935456" y="664768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4356080" y="6519672"/>
            <a:ext cx="8842248"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tap26/docs/release-notes.md (example entry)</a:t>
            </a:r>
          </a:p>
        </p:txBody>
      </p:sp>
      <p:sp>
        <p:nvSpPr>
          <p:cNvPr id="44" name="TextBox 43"/>
          <p:cNvSpPr txBox="1"/>
          <p:nvPr/>
        </p:nvSpPr>
        <p:spPr>
          <a:xfrm>
            <a:off x="13350240" y="6995159"/>
            <a:ext cx="9939528" cy="3291839"/>
          </a:xfrm>
          <a:prstGeom prst="rect">
            <a:avLst/>
          </a:prstGeom>
          <a:noFill/>
        </p:spPr>
        <p:txBody>
          <a:bodyPr wrap="none" lIns="0" rIns="0" tIns="0" bIns="0">
            <a:noAutofit/>
          </a:bodyPr>
          <a:lstStyle/>
          <a:p>
            <a:pPr>
              <a:lnSpc>
                <a:spcPct val="108000"/>
              </a:lnSpc>
              <a:spcBef>
                <a:spcPts val="0"/>
              </a:spcBef>
              <a:spcAft>
                <a:spcPts val="0"/>
              </a:spcAft>
            </a:pP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FFC56B"/>
                </a:solidFill>
                <a:latin typeface="Consolas"/>
              </a:rPr>
              <a:t>2026</a:t>
            </a:r>
            <a:r>
              <a:rPr sz="1800" i="0" b="0">
                <a:solidFill>
                  <a:srgbClr val="E6EDF3"/>
                </a:solidFill>
                <a:latin typeface="Consolas"/>
              </a:rPr>
              <a:t>-</a:t>
            </a:r>
            <a:r>
              <a:rPr sz="1800" i="0" b="0">
                <a:solidFill>
                  <a:srgbClr val="FFC56B"/>
                </a:solidFill>
                <a:latin typeface="Consolas"/>
              </a:rPr>
              <a:t>10</a:t>
            </a:r>
            <a:r>
              <a:rPr sz="1800" i="0" b="0">
                <a:solidFill>
                  <a:srgbClr val="E6EDF3"/>
                </a:solidFill>
                <a:latin typeface="Consolas"/>
              </a:rPr>
              <a:t>-</a:t>
            </a:r>
            <a:r>
              <a:rPr sz="1800" i="0" b="0">
                <a:solidFill>
                  <a:srgbClr val="FFC56B"/>
                </a:solidFill>
                <a:latin typeface="Consolas"/>
              </a:rPr>
              <a:t>16</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 </a:t>
            </a:r>
            <a:r>
              <a:rPr sz="1800" i="0" b="0">
                <a:solidFill>
                  <a:srgbClr val="C9B8FF"/>
                </a:solidFill>
                <a:latin typeface="Consolas"/>
              </a:rPr>
              <a:t>API</a:t>
            </a:r>
          </a:p>
          <a:p>
            <a:pPr>
              <a:lnSpc>
                <a:spcPct val="108000"/>
              </a:lnSpc>
              <a:spcBef>
                <a:spcPts val="0"/>
              </a:spcBef>
              <a:spcAft>
                <a:spcPts val="0"/>
              </a:spcAft>
            </a:pP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C9B8FF"/>
                </a:solidFill>
                <a:latin typeface="Consolas"/>
              </a:rPr>
              <a:t>Changed</a:t>
            </a:r>
          </a:p>
          <a:p>
            <a:pPr>
              <a:lnSpc>
                <a:spcPct val="108000"/>
              </a:lnSpc>
              <a:spcBef>
                <a:spcPts val="0"/>
              </a:spcBef>
              <a:spcAft>
                <a:spcPts val="0"/>
              </a:spcAft>
            </a:pPr>
            <a:r>
              <a:rPr sz="1800" i="0" b="0">
                <a:solidFill>
                  <a:srgbClr val="E6EDF3"/>
                </a:solidFill>
                <a:latin typeface="Consolas"/>
              </a:rPr>
              <a:t>-</a:t>
            </a:r>
            <a:r>
              <a:rPr sz="1800" i="0" b="0">
                <a:solidFill>
                  <a:srgbClr val="E6EDF3"/>
                </a:solidFill>
                <a:latin typeface="Consolas"/>
              </a:rPr>
              <a:t> </a:t>
            </a:r>
            <a:r>
              <a:rPr sz="1800" i="0" b="0">
                <a:solidFill>
                  <a:srgbClr val="C9B8FF"/>
                </a:solidFill>
                <a:latin typeface="Consolas"/>
              </a:rPr>
              <a:t>POST</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bankAccounts</a:t>
            </a:r>
            <a:r>
              <a:rPr sz="1800" i="0" b="0">
                <a:solidFill>
                  <a:srgbClr val="E6EDF3"/>
                </a:solidFill>
                <a:latin typeface="Consolas"/>
              </a:rPr>
              <a:t> </a:t>
            </a:r>
            <a:r>
              <a:rPr sz="1800" i="0" b="0">
                <a:solidFill>
                  <a:srgbClr val="E6EDF3"/>
                </a:solidFill>
                <a:latin typeface="Consolas"/>
              </a:rPr>
              <a:t>now</a:t>
            </a:r>
            <a:r>
              <a:rPr sz="1800" i="0" b="0">
                <a:solidFill>
                  <a:srgbClr val="E6EDF3"/>
                </a:solidFill>
                <a:latin typeface="Consolas"/>
              </a:rPr>
              <a:t> </a:t>
            </a:r>
            <a:r>
              <a:rPr sz="1800" i="0" b="0">
                <a:solidFill>
                  <a:srgbClr val="E6EDF3"/>
                </a:solidFill>
                <a:latin typeface="Consolas"/>
              </a:rPr>
              <a:t>rejects</a:t>
            </a:r>
            <a:r>
              <a:rPr sz="1800" i="0" b="0">
                <a:solidFill>
                  <a:srgbClr val="E6EDF3"/>
                </a:solidFill>
                <a:latin typeface="Consolas"/>
              </a:rPr>
              <a:t> </a:t>
            </a:r>
            <a:r>
              <a:rPr sz="1800" i="0" b="0">
                <a:solidFill>
                  <a:srgbClr val="E6EDF3"/>
                </a:solidFill>
                <a:latin typeface="Consolas"/>
              </a:rPr>
              <a:t>routing</a:t>
            </a:r>
            <a:r>
              <a:rPr sz="1800" i="0" b="0">
                <a:solidFill>
                  <a:srgbClr val="E6EDF3"/>
                </a:solidFill>
                <a:latin typeface="Consolas"/>
              </a:rPr>
              <a:t> </a:t>
            </a:r>
            <a:r>
              <a:rPr sz="1800" i="0" b="0">
                <a:solidFill>
                  <a:srgbClr val="E6EDF3"/>
                </a:solidFill>
                <a:latin typeface="Consolas"/>
              </a:rPr>
              <a:t>numbers</a:t>
            </a:r>
            <a:r>
              <a:rPr sz="1800" i="0" b="0">
                <a:solidFill>
                  <a:srgbClr val="E6EDF3"/>
                </a:solidFill>
                <a:latin typeface="Consolas"/>
              </a:rPr>
              <a:t> </a:t>
            </a:r>
            <a:r>
              <a:rPr sz="1800" i="0" b="0">
                <a:solidFill>
                  <a:srgbClr val="E6EDF3"/>
                </a:solidFill>
                <a:latin typeface="Consolas"/>
              </a:rPr>
              <a:t>that</a:t>
            </a:r>
            <a:r>
              <a:rPr sz="1800" i="0" b="0">
                <a:solidFill>
                  <a:srgbClr val="E6EDF3"/>
                </a:solidFill>
                <a:latin typeface="Consolas"/>
              </a:rPr>
              <a:t> </a:t>
            </a:r>
            <a:r>
              <a:rPr sz="1800" i="0" b="0">
                <a:solidFill>
                  <a:srgbClr val="E6EDF3"/>
                </a:solidFill>
                <a:latin typeface="Consolas"/>
              </a:rPr>
              <a:t>are</a:t>
            </a:r>
          </a:p>
          <a:p>
            <a:pPr>
              <a:lnSpc>
                <a:spcPct val="108000"/>
              </a:lnSpc>
              <a:spcBef>
                <a:spcPts val="0"/>
              </a:spcBef>
              <a:spcAft>
                <a:spcPts val="0"/>
              </a:spcAft>
            </a:pPr>
            <a:r>
              <a:rPr sz="1800" i="0" b="0">
                <a:solidFill>
                  <a:srgbClr val="E6EDF3"/>
                </a:solidFill>
                <a:latin typeface="Consolas"/>
              </a:rPr>
              <a:t>  </a:t>
            </a:r>
            <a:r>
              <a:rPr sz="1800" i="0" b="0">
                <a:solidFill>
                  <a:srgbClr val="E6EDF3"/>
                </a:solidFill>
                <a:latin typeface="Consolas"/>
              </a:rPr>
              <a:t>not</a:t>
            </a:r>
            <a:r>
              <a:rPr sz="1800" i="0" b="0">
                <a:solidFill>
                  <a:srgbClr val="E6EDF3"/>
                </a:solidFill>
                <a:latin typeface="Consolas"/>
              </a:rPr>
              <a:t> </a:t>
            </a:r>
            <a:r>
              <a:rPr sz="1800" i="0" b="0">
                <a:solidFill>
                  <a:srgbClr val="FFC56B"/>
                </a:solidFill>
                <a:latin typeface="Consolas"/>
              </a:rPr>
              <a:t>9</a:t>
            </a:r>
            <a:r>
              <a:rPr sz="1800" i="0" b="0">
                <a:solidFill>
                  <a:srgbClr val="E6EDF3"/>
                </a:solidFill>
                <a:latin typeface="Consolas"/>
              </a:rPr>
              <a:t> </a:t>
            </a:r>
            <a:r>
              <a:rPr sz="1800" i="0" b="0">
                <a:solidFill>
                  <a:srgbClr val="8CCFF0"/>
                </a:solidFill>
                <a:latin typeface="Consolas"/>
              </a:rPr>
              <a:t>digits</a:t>
            </a:r>
            <a:r>
              <a:rPr sz="1800" i="0" b="0">
                <a:solidFill>
                  <a:srgbClr val="E6EDF3"/>
                </a:solidFill>
                <a:latin typeface="Consolas"/>
              </a:rPr>
              <a:t> </a:t>
            </a:r>
            <a:r>
              <a:rPr sz="1800" i="0" b="0">
                <a:solidFill>
                  <a:srgbClr val="E6EDF3"/>
                </a:solidFill>
                <a:latin typeface="Consolas"/>
              </a:rPr>
              <a:t>(</a:t>
            </a:r>
            <a:r>
              <a:rPr sz="1800" i="0" b="0">
                <a:solidFill>
                  <a:srgbClr val="FFC56B"/>
                </a:solidFill>
                <a:latin typeface="Consolas"/>
              </a:rPr>
              <a:t>422</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C9B8FF"/>
                </a:solidFill>
                <a:latin typeface="Consolas"/>
              </a:rPr>
              <a:t>Swagger</a:t>
            </a:r>
            <a:r>
              <a:rPr sz="1800" i="0" b="0">
                <a:solidFill>
                  <a:srgbClr val="E6EDF3"/>
                </a:solidFill>
                <a:latin typeface="Consolas"/>
              </a:rPr>
              <a:t> </a:t>
            </a:r>
            <a:r>
              <a:rPr sz="1800" i="0" b="0">
                <a:solidFill>
                  <a:srgbClr val="E6EDF3"/>
                </a:solidFill>
                <a:latin typeface="Consolas"/>
              </a:rPr>
              <a:t>updated</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spec</a:t>
            </a:r>
            <a:r>
              <a:rPr sz="1800" i="0" b="0">
                <a:solidFill>
                  <a:srgbClr val="E6EDF3"/>
                </a:solidFill>
                <a:latin typeface="Consolas"/>
              </a:rPr>
              <a:t>-</a:t>
            </a:r>
            <a:r>
              <a:rPr sz="1800" i="0" b="0">
                <a:solidFill>
                  <a:srgbClr val="E6EDF3"/>
                </a:solidFill>
                <a:latin typeface="Consolas"/>
              </a:rPr>
              <a:t>drift</a:t>
            </a:r>
            <a:r>
              <a:rPr sz="1800" i="0" b="0">
                <a:solidFill>
                  <a:srgbClr val="E6EDF3"/>
                </a:solidFill>
                <a:latin typeface="Consolas"/>
              </a:rPr>
              <a:t> </a:t>
            </a:r>
            <a:r>
              <a:rPr sz="1800" i="0" b="0">
                <a:solidFill>
                  <a:srgbClr val="E6EDF3"/>
                </a:solidFill>
                <a:latin typeface="Consolas"/>
              </a:rPr>
              <a:t>clean</a:t>
            </a:r>
            <a:r>
              <a:rPr sz="1800" i="0" b="0">
                <a:solidFill>
                  <a:srgbClr val="E6EDF3"/>
                </a:solidFill>
                <a:latin typeface="Consolas"/>
              </a:rPr>
              <a:t>.</a:t>
            </a:r>
          </a:p>
          <a:p>
            <a:pPr>
              <a:lnSpc>
                <a:spcPct val="108000"/>
              </a:lnSpc>
              <a:spcBef>
                <a:spcPts val="0"/>
              </a:spcBef>
              <a:spcAft>
                <a:spcPts val="0"/>
              </a:spcAft>
            </a:pP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C9B8FF"/>
                </a:solidFill>
                <a:latin typeface="Consolas"/>
              </a:rPr>
              <a:t>Tests</a:t>
            </a:r>
          </a:p>
          <a:p>
            <a:pPr>
              <a:lnSpc>
                <a:spcPct val="108000"/>
              </a:lnSpc>
              <a:spcBef>
                <a:spcPts val="0"/>
              </a:spcBef>
              <a:spcAft>
                <a:spcPts val="0"/>
              </a:spcAft>
            </a:pP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a:t>
            </a:r>
            <a:r>
              <a:rPr sz="1800" i="0" b="0">
                <a:solidFill>
                  <a:srgbClr val="FFC56B"/>
                </a:solidFill>
                <a:latin typeface="Consolas"/>
              </a:rPr>
              <a:t>2</a:t>
            </a:r>
            <a:r>
              <a:rPr sz="1800" i="0" b="0">
                <a:solidFill>
                  <a:srgbClr val="E6EDF3"/>
                </a:solidFill>
                <a:latin typeface="Consolas"/>
              </a:rPr>
              <a:t> </a:t>
            </a:r>
            <a:r>
              <a:rPr sz="1800" i="0" b="0">
                <a:solidFill>
                  <a:srgbClr val="C9B8FF"/>
                </a:solidFill>
                <a:latin typeface="Consolas"/>
              </a:rPr>
              <a:t>API</a:t>
            </a:r>
            <a:r>
              <a:rPr sz="1800" i="0" b="0">
                <a:solidFill>
                  <a:srgbClr val="E6EDF3"/>
                </a:solidFill>
                <a:latin typeface="Consolas"/>
              </a:rPr>
              <a:t> </a:t>
            </a:r>
            <a:r>
              <a:rPr sz="1800" i="0" b="0">
                <a:solidFill>
                  <a:srgbClr val="8CCFF0"/>
                </a:solidFill>
                <a:latin typeface="Consolas"/>
              </a:rPr>
              <a:t>tests</a:t>
            </a:r>
            <a:r>
              <a:rPr sz="1800" i="0" b="0">
                <a:solidFill>
                  <a:srgbClr val="E6EDF3"/>
                </a:solidFill>
                <a:latin typeface="Consolas"/>
              </a:rPr>
              <a:t> </a:t>
            </a:r>
            <a:r>
              <a:rPr sz="1800" i="0" b="0">
                <a:solidFill>
                  <a:srgbClr val="E6EDF3"/>
                </a:solidFill>
                <a:latin typeface="Consolas"/>
              </a:rPr>
              <a:t>(</a:t>
            </a:r>
            <a:r>
              <a:rPr sz="1800" i="0" b="0">
                <a:solidFill>
                  <a:srgbClr val="E6EDF3"/>
                </a:solidFill>
                <a:latin typeface="Consolas"/>
              </a:rPr>
              <a:t>bankaccounts</a:t>
            </a:r>
            <a:r>
              <a:rPr sz="1800" i="0" b="0">
                <a:solidFill>
                  <a:srgbClr val="E6EDF3"/>
                </a:solidFill>
                <a:latin typeface="Consolas"/>
              </a:rPr>
              <a:t>.</a:t>
            </a:r>
            <a:r>
              <a:rPr sz="1800" i="0" b="0">
                <a:solidFill>
                  <a:srgbClr val="E6EDF3"/>
                </a:solidFill>
                <a:latin typeface="Consolas"/>
              </a:rPr>
              <a:t>api</a:t>
            </a:r>
            <a:r>
              <a:rPr sz="1800" i="0" b="0">
                <a:solidFill>
                  <a:srgbClr val="E6EDF3"/>
                </a:solidFill>
                <a:latin typeface="Consolas"/>
              </a:rPr>
              <a:t>.</a:t>
            </a:r>
            <a:r>
              <a:rPr sz="1800" i="0" b="0">
                <a:solidFill>
                  <a:srgbClr val="E6EDF3"/>
                </a:solidFill>
                <a:latin typeface="Consolas"/>
              </a:rPr>
              <a:t>spec</a:t>
            </a:r>
            <a:r>
              <a:rPr sz="1800" i="0" b="0">
                <a:solidFill>
                  <a:srgbClr val="E6EDF3"/>
                </a:solidFill>
                <a:latin typeface="Consolas"/>
              </a:rPr>
              <a:t>.</a:t>
            </a:r>
            <a:r>
              <a:rPr sz="1800" i="0" b="0">
                <a:solidFill>
                  <a:srgbClr val="E6EDF3"/>
                </a:solidFill>
                <a:latin typeface="Consolas"/>
              </a:rPr>
              <a:t>ts</a:t>
            </a:r>
            <a:r>
              <a:rPr sz="1800" i="0" b="0">
                <a:solidFill>
                  <a:srgbClr val="E6EDF3"/>
                </a:solidFill>
                <a:latin typeface="Consolas"/>
              </a:rPr>
              <a:t>)</a:t>
            </a:r>
            <a:r>
              <a:rPr sz="1800" i="0" b="0">
                <a:solidFill>
                  <a:srgbClr val="E6EDF3"/>
                </a:solidFill>
                <a:latin typeface="Consolas"/>
              </a:rPr>
              <a:t>,</a:t>
            </a:r>
            <a:r>
              <a:rPr sz="1800" i="0" b="0">
                <a:solidFill>
                  <a:srgbClr val="E6EDF3"/>
                </a:solidFill>
                <a:latin typeface="Consolas"/>
              </a:rPr>
              <a:t> </a:t>
            </a:r>
            <a:r>
              <a:rPr sz="1800" i="0" b="0">
                <a:solidFill>
                  <a:srgbClr val="E6EDF3"/>
                </a:solidFill>
                <a:latin typeface="Consolas"/>
              </a:rPr>
              <a:t>green</a:t>
            </a:r>
            <a:r>
              <a:rPr sz="1800" i="0" b="0">
                <a:solidFill>
                  <a:srgbClr val="E6EDF3"/>
                </a:solidFill>
                <a:latin typeface="Consolas"/>
              </a:rPr>
              <a:t> </a:t>
            </a:r>
            <a:r>
              <a:rPr sz="1800" i="0" b="0">
                <a:solidFill>
                  <a:srgbClr val="E6EDF3"/>
                </a:solidFill>
                <a:latin typeface="Consolas"/>
              </a:rPr>
              <a:t>×</a:t>
            </a:r>
            <a:r>
              <a:rPr sz="1800" i="0" b="0">
                <a:solidFill>
                  <a:srgbClr val="FFC56B"/>
                </a:solidFill>
                <a:latin typeface="Consolas"/>
              </a:rPr>
              <a:t>2</a:t>
            </a:r>
          </a:p>
        </p:txBody>
      </p:sp>
      <p:sp>
        <p:nvSpPr>
          <p:cNvPr id="45" name="Rounded Rectangle 44"/>
          <p:cNvSpPr/>
          <p:nvPr/>
        </p:nvSpPr>
        <p:spPr>
          <a:xfrm>
            <a:off x="612648" y="10789920"/>
            <a:ext cx="22860000" cy="960120"/>
          </a:xfrm>
          <a:prstGeom prst="roundRect">
            <a:avLst>
              <a:gd name="adj" fmla="val 15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886968" y="10927080"/>
            <a:ext cx="685800" cy="68580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LuLaugh.png"/>
          <p:cNvPicPr>
            <a:picLocks noChangeAspect="1"/>
          </p:cNvPicPr>
          <p:nvPr/>
        </p:nvPicPr>
        <p:blipFill>
          <a:blip r:embed="rId8"/>
          <a:stretch>
            <a:fillRect/>
          </a:stretch>
        </p:blipFill>
        <p:spPr>
          <a:xfrm>
            <a:off x="1051560" y="11091672"/>
            <a:ext cx="356616" cy="356616"/>
          </a:xfrm>
          <a:prstGeom prst="rect">
            <a:avLst/>
          </a:prstGeom>
        </p:spPr>
      </p:pic>
      <p:sp>
        <p:nvSpPr>
          <p:cNvPr id="48" name="TextBox 47"/>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If code and docs disagree, believe the tests. Then fix the docs. Then have a little lie down.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Agents at work</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729A00"/>
                </a:solidFill>
              </a:rPr>
              <a:t>AGENTS · IDENTIFY GAPS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The gap registry: what nobody tests (yet)</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64</a:t>
            </a:r>
          </a:p>
        </p:txBody>
      </p:sp>
      <p:sp>
        <p:nvSpPr>
          <p:cNvPr id="6" name="Rounded Rectangle 5"/>
          <p:cNvSpPr/>
          <p:nvPr/>
        </p:nvSpPr>
        <p:spPr>
          <a:xfrm>
            <a:off x="612648" y="2926080"/>
            <a:ext cx="19202400" cy="685800"/>
          </a:xfrm>
          <a:prstGeom prst="roundRect">
            <a:avLst>
              <a:gd name="adj" fmla="val 20000"/>
            </a:avLst>
          </a:prstGeom>
          <a:solidFill>
            <a:srgbClr val="192B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2926080"/>
            <a:ext cx="1371600" cy="68580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FFFFFF"/>
                </a:solidFill>
              </a:rPr>
              <a:t>ID</a:t>
            </a:r>
          </a:p>
        </p:txBody>
      </p:sp>
      <p:sp>
        <p:nvSpPr>
          <p:cNvPr id="8" name="TextBox 7"/>
          <p:cNvSpPr txBox="1"/>
          <p:nvPr/>
        </p:nvSpPr>
        <p:spPr>
          <a:xfrm>
            <a:off x="2240280" y="2926080"/>
            <a:ext cx="5852160" cy="68580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FFFFFF"/>
                </a:solidFill>
              </a:rPr>
              <a:t>Gap</a:t>
            </a:r>
          </a:p>
        </p:txBody>
      </p:sp>
      <p:sp>
        <p:nvSpPr>
          <p:cNvPr id="9" name="TextBox 8"/>
          <p:cNvSpPr txBox="1"/>
          <p:nvPr/>
        </p:nvSpPr>
        <p:spPr>
          <a:xfrm>
            <a:off x="8092440" y="2926080"/>
            <a:ext cx="3200400" cy="68580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FFFFFF"/>
                </a:solidFill>
              </a:rPr>
              <a:t>Why it matters</a:t>
            </a:r>
          </a:p>
        </p:txBody>
      </p:sp>
      <p:sp>
        <p:nvSpPr>
          <p:cNvPr id="10" name="TextBox 9"/>
          <p:cNvSpPr txBox="1"/>
          <p:nvPr/>
        </p:nvSpPr>
        <p:spPr>
          <a:xfrm>
            <a:off x="11292840" y="2926080"/>
            <a:ext cx="6126480" cy="68580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FFFFFF"/>
                </a:solidFill>
              </a:rPr>
              <a:t>Suggested test</a:t>
            </a:r>
          </a:p>
        </p:txBody>
      </p:sp>
      <p:sp>
        <p:nvSpPr>
          <p:cNvPr id="11" name="TextBox 10"/>
          <p:cNvSpPr txBox="1"/>
          <p:nvPr/>
        </p:nvSpPr>
        <p:spPr>
          <a:xfrm>
            <a:off x="17419320" y="2926080"/>
            <a:ext cx="2377440" cy="68580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FFFFFF"/>
                </a:solidFill>
              </a:rPr>
              <a:t>Owner</a:t>
            </a:r>
          </a:p>
        </p:txBody>
      </p:sp>
      <p:sp>
        <p:nvSpPr>
          <p:cNvPr id="12" name="Rounded Rectangle 11"/>
          <p:cNvSpPr/>
          <p:nvPr/>
        </p:nvSpPr>
        <p:spPr>
          <a:xfrm>
            <a:off x="612648" y="3703320"/>
            <a:ext cx="19202400" cy="777240"/>
          </a:xfrm>
          <a:prstGeom prst="roundRect">
            <a:avLst>
              <a:gd name="adj" fmla="val 2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68680" y="3703320"/>
            <a:ext cx="128016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3D9BC8"/>
                </a:solidFill>
              </a:rPr>
              <a:t>G-01</a:t>
            </a:r>
          </a:p>
        </p:txBody>
      </p:sp>
      <p:sp>
        <p:nvSpPr>
          <p:cNvPr id="14" name="TextBox 13"/>
          <p:cNvSpPr txBox="1"/>
          <p:nvPr/>
        </p:nvSpPr>
        <p:spPr>
          <a:xfrm>
            <a:off x="2240280" y="3703320"/>
            <a:ext cx="576072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Rejecting a request moves money (KI-05)</a:t>
            </a:r>
          </a:p>
        </p:txBody>
      </p:sp>
      <p:sp>
        <p:nvSpPr>
          <p:cNvPr id="15" name="TextBox 14"/>
          <p:cNvSpPr txBox="1"/>
          <p:nvPr/>
        </p:nvSpPr>
        <p:spPr>
          <a:xfrm>
            <a:off x="8092440" y="3703320"/>
            <a:ext cx="310896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money correctness</a:t>
            </a:r>
          </a:p>
        </p:txBody>
      </p:sp>
      <p:sp>
        <p:nvSpPr>
          <p:cNvPr id="16" name="TextBox 15"/>
          <p:cNvSpPr txBox="1"/>
          <p:nvPr/>
        </p:nvSpPr>
        <p:spPr>
          <a:xfrm>
            <a:off x="11292840" y="3703320"/>
            <a:ext cx="603504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reject → both balances unchanged</a:t>
            </a:r>
          </a:p>
        </p:txBody>
      </p:sp>
      <p:sp>
        <p:nvSpPr>
          <p:cNvPr id="17" name="TextBox 16"/>
          <p:cNvSpPr txBox="1"/>
          <p:nvPr/>
        </p:nvSpPr>
        <p:spPr>
          <a:xfrm>
            <a:off x="17419320" y="3703320"/>
            <a:ext cx="228600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api-automation</a:t>
            </a:r>
          </a:p>
        </p:txBody>
      </p:sp>
      <p:sp>
        <p:nvSpPr>
          <p:cNvPr id="18" name="Rounded Rectangle 17"/>
          <p:cNvSpPr/>
          <p:nvPr/>
        </p:nvSpPr>
        <p:spPr>
          <a:xfrm>
            <a:off x="612648" y="4572000"/>
            <a:ext cx="19202400" cy="777240"/>
          </a:xfrm>
          <a:prstGeom prst="roundRect">
            <a:avLst>
              <a:gd name="adj" fmla="val 2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68680" y="4572000"/>
            <a:ext cx="128016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00A859"/>
                </a:solidFill>
              </a:rPr>
              <a:t>G-03</a:t>
            </a:r>
          </a:p>
        </p:txBody>
      </p:sp>
      <p:sp>
        <p:nvSpPr>
          <p:cNvPr id="20" name="TextBox 19"/>
          <p:cNvSpPr txBox="1"/>
          <p:nvPr/>
        </p:nvSpPr>
        <p:spPr>
          <a:xfrm>
            <a:off x="2240280" y="4572000"/>
            <a:ext cx="576072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Privacy not enforced in Friends feed</a:t>
            </a:r>
          </a:p>
        </p:txBody>
      </p:sp>
      <p:sp>
        <p:nvSpPr>
          <p:cNvPr id="21" name="TextBox 20"/>
          <p:cNvSpPr txBox="1"/>
          <p:nvPr/>
        </p:nvSpPr>
        <p:spPr>
          <a:xfrm>
            <a:off x="8092440" y="4572000"/>
            <a:ext cx="310896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privacy</a:t>
            </a:r>
          </a:p>
        </p:txBody>
      </p:sp>
      <p:sp>
        <p:nvSpPr>
          <p:cNvPr id="22" name="TextBox 21"/>
          <p:cNvSpPr txBox="1"/>
          <p:nvPr/>
        </p:nvSpPr>
        <p:spPr>
          <a:xfrm>
            <a:off x="11292840" y="4572000"/>
            <a:ext cx="603504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every Friends item is non-private</a:t>
            </a:r>
          </a:p>
        </p:txBody>
      </p:sp>
      <p:sp>
        <p:nvSpPr>
          <p:cNvPr id="23" name="TextBox 22"/>
          <p:cNvSpPr txBox="1"/>
          <p:nvPr/>
        </p:nvSpPr>
        <p:spPr>
          <a:xfrm>
            <a:off x="17419320" y="4572000"/>
            <a:ext cx="228600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business-analyst</a:t>
            </a:r>
          </a:p>
        </p:txBody>
      </p:sp>
      <p:sp>
        <p:nvSpPr>
          <p:cNvPr id="24" name="Rounded Rectangle 23"/>
          <p:cNvSpPr/>
          <p:nvPr/>
        </p:nvSpPr>
        <p:spPr>
          <a:xfrm>
            <a:off x="612648" y="5440679"/>
            <a:ext cx="19202400" cy="777240"/>
          </a:xfrm>
          <a:prstGeom prst="roundRect">
            <a:avLst>
              <a:gd name="adj" fmla="val 2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68680" y="5440679"/>
            <a:ext cx="128016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FF5640"/>
                </a:solidFill>
              </a:rPr>
              <a:t>G-04</a:t>
            </a:r>
          </a:p>
        </p:txBody>
      </p:sp>
      <p:sp>
        <p:nvSpPr>
          <p:cNvPr id="26" name="TextBox 25"/>
          <p:cNvSpPr txBox="1"/>
          <p:nvPr/>
        </p:nvSpPr>
        <p:spPr>
          <a:xfrm>
            <a:off x="2240280" y="5440679"/>
            <a:ext cx="576072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IDOR: PATCH another user, read their data</a:t>
            </a:r>
          </a:p>
        </p:txBody>
      </p:sp>
      <p:sp>
        <p:nvSpPr>
          <p:cNvPr id="27" name="TextBox 26"/>
          <p:cNvSpPr txBox="1"/>
          <p:nvPr/>
        </p:nvSpPr>
        <p:spPr>
          <a:xfrm>
            <a:off x="8092440" y="5440679"/>
            <a:ext cx="310896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security</a:t>
            </a:r>
          </a:p>
        </p:txBody>
      </p:sp>
      <p:sp>
        <p:nvSpPr>
          <p:cNvPr id="28" name="TextBox 27"/>
          <p:cNvSpPr txBox="1"/>
          <p:nvPr/>
        </p:nvSpPr>
        <p:spPr>
          <a:xfrm>
            <a:off x="11292840" y="5440679"/>
            <a:ext cx="603504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user A vs user B matrix</a:t>
            </a:r>
          </a:p>
        </p:txBody>
      </p:sp>
      <p:sp>
        <p:nvSpPr>
          <p:cNvPr id="29" name="TextBox 28"/>
          <p:cNvSpPr txBox="1"/>
          <p:nvPr/>
        </p:nvSpPr>
        <p:spPr>
          <a:xfrm>
            <a:off x="17419320" y="5440679"/>
            <a:ext cx="228600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security-tester</a:t>
            </a:r>
          </a:p>
        </p:txBody>
      </p:sp>
      <p:sp>
        <p:nvSpPr>
          <p:cNvPr id="30" name="Rounded Rectangle 29"/>
          <p:cNvSpPr/>
          <p:nvPr/>
        </p:nvSpPr>
        <p:spPr>
          <a:xfrm>
            <a:off x="612648" y="6309359"/>
            <a:ext cx="19202400" cy="777240"/>
          </a:xfrm>
          <a:prstGeom prst="roundRect">
            <a:avLst>
              <a:gd name="adj" fmla="val 2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68680" y="6309359"/>
            <a:ext cx="128016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8683C3"/>
                </a:solidFill>
              </a:rPr>
              <a:t>G-11</a:t>
            </a:r>
          </a:p>
        </p:txBody>
      </p:sp>
      <p:sp>
        <p:nvSpPr>
          <p:cNvPr id="32" name="TextBox 31"/>
          <p:cNvSpPr txBox="1"/>
          <p:nvPr/>
        </p:nvSpPr>
        <p:spPr>
          <a:xfrm>
            <a:off x="2240280" y="6309359"/>
            <a:ext cx="576072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“Transaction Submitted!” even when POST fails</a:t>
            </a:r>
          </a:p>
        </p:txBody>
      </p:sp>
      <p:sp>
        <p:nvSpPr>
          <p:cNvPr id="33" name="TextBox 32"/>
          <p:cNvSpPr txBox="1"/>
          <p:nvPr/>
        </p:nvSpPr>
        <p:spPr>
          <a:xfrm>
            <a:off x="8092440" y="6309359"/>
            <a:ext cx="310896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UX errors</a:t>
            </a:r>
          </a:p>
        </p:txBody>
      </p:sp>
      <p:sp>
        <p:nvSpPr>
          <p:cNvPr id="34" name="TextBox 33"/>
          <p:cNvSpPr txBox="1"/>
          <p:nvPr/>
        </p:nvSpPr>
        <p:spPr>
          <a:xfrm>
            <a:off x="11292840" y="6309359"/>
            <a:ext cx="603504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stub 500 → expect an error</a:t>
            </a:r>
          </a:p>
        </p:txBody>
      </p:sp>
      <p:sp>
        <p:nvSpPr>
          <p:cNvPr id="35" name="TextBox 34"/>
          <p:cNvSpPr txBox="1"/>
          <p:nvPr/>
        </p:nvSpPr>
        <p:spPr>
          <a:xfrm>
            <a:off x="17419320" y="6309359"/>
            <a:ext cx="228600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ui-automation</a:t>
            </a:r>
          </a:p>
        </p:txBody>
      </p:sp>
      <p:sp>
        <p:nvSpPr>
          <p:cNvPr id="36" name="Rounded Rectangle 35"/>
          <p:cNvSpPr/>
          <p:nvPr/>
        </p:nvSpPr>
        <p:spPr>
          <a:xfrm>
            <a:off x="612648" y="7178040"/>
            <a:ext cx="19202400" cy="777240"/>
          </a:xfrm>
          <a:prstGeom prst="roundRect">
            <a:avLst>
              <a:gd name="adj" fmla="val 2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68680" y="7178040"/>
            <a:ext cx="128016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DB7D00"/>
                </a:solidFill>
              </a:rPr>
              <a:t>G-14</a:t>
            </a:r>
          </a:p>
        </p:txBody>
      </p:sp>
      <p:sp>
        <p:nvSpPr>
          <p:cNvPr id="38" name="TextBox 37"/>
          <p:cNvSpPr txBox="1"/>
          <p:nvPr/>
        </p:nvSpPr>
        <p:spPr>
          <a:xfrm>
            <a:off x="2240280" y="7178040"/>
            <a:ext cx="576072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414–599 px viewports untested</a:t>
            </a:r>
          </a:p>
        </p:txBody>
      </p:sp>
      <p:sp>
        <p:nvSpPr>
          <p:cNvPr id="39" name="TextBox 38"/>
          <p:cNvSpPr txBox="1"/>
          <p:nvPr/>
        </p:nvSpPr>
        <p:spPr>
          <a:xfrm>
            <a:off x="8092440" y="7178040"/>
            <a:ext cx="310896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responsive</a:t>
            </a:r>
          </a:p>
        </p:txBody>
      </p:sp>
      <p:sp>
        <p:nvSpPr>
          <p:cNvPr id="40" name="TextBox 39"/>
          <p:cNvSpPr txBox="1"/>
          <p:nvPr/>
        </p:nvSpPr>
        <p:spPr>
          <a:xfrm>
            <a:off x="11292840" y="7178040"/>
            <a:ext cx="603504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add a ui-tablet project</a:t>
            </a:r>
          </a:p>
        </p:txBody>
      </p:sp>
      <p:sp>
        <p:nvSpPr>
          <p:cNvPr id="41" name="TextBox 40"/>
          <p:cNvSpPr txBox="1"/>
          <p:nvPr/>
        </p:nvSpPr>
        <p:spPr>
          <a:xfrm>
            <a:off x="17419320" y="7178040"/>
            <a:ext cx="228600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e2e-architect</a:t>
            </a:r>
          </a:p>
        </p:txBody>
      </p:sp>
      <p:sp>
        <p:nvSpPr>
          <p:cNvPr id="42" name="Rounded Rectangle 41"/>
          <p:cNvSpPr/>
          <p:nvPr/>
        </p:nvSpPr>
        <p:spPr>
          <a:xfrm>
            <a:off x="612648" y="8046720"/>
            <a:ext cx="19202400" cy="777240"/>
          </a:xfrm>
          <a:prstGeom prst="roundRect">
            <a:avLst>
              <a:gd name="adj" fmla="val 25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68680" y="8046720"/>
            <a:ext cx="128016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729A00"/>
                </a:solidFill>
              </a:rPr>
              <a:t>G-16</a:t>
            </a:r>
          </a:p>
        </p:txBody>
      </p:sp>
      <p:sp>
        <p:nvSpPr>
          <p:cNvPr id="44" name="TextBox 43"/>
          <p:cNvSpPr txBox="1"/>
          <p:nvPr/>
        </p:nvSpPr>
        <p:spPr>
          <a:xfrm>
            <a:off x="2240280" y="8046720"/>
            <a:ext cx="576072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No visual regression since Percy</a:t>
            </a:r>
          </a:p>
        </p:txBody>
      </p:sp>
      <p:sp>
        <p:nvSpPr>
          <p:cNvPr id="45" name="TextBox 44"/>
          <p:cNvSpPr txBox="1"/>
          <p:nvPr/>
        </p:nvSpPr>
        <p:spPr>
          <a:xfrm>
            <a:off x="8092440" y="8046720"/>
            <a:ext cx="310896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visual</a:t>
            </a:r>
          </a:p>
        </p:txBody>
      </p:sp>
      <p:sp>
        <p:nvSpPr>
          <p:cNvPr id="46" name="TextBox 45"/>
          <p:cNvSpPr txBox="1"/>
          <p:nvPr/>
        </p:nvSpPr>
        <p:spPr>
          <a:xfrm>
            <a:off x="11292840" y="8046720"/>
            <a:ext cx="603504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toHaveScreenshot() baselines</a:t>
            </a:r>
          </a:p>
        </p:txBody>
      </p:sp>
      <p:sp>
        <p:nvSpPr>
          <p:cNvPr id="47" name="TextBox 46"/>
          <p:cNvSpPr txBox="1"/>
          <p:nvPr/>
        </p:nvSpPr>
        <p:spPr>
          <a:xfrm>
            <a:off x="17419320" y="8046720"/>
            <a:ext cx="2286000" cy="77724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ui-automation</a:t>
            </a:r>
          </a:p>
        </p:txBody>
      </p:sp>
      <p:sp>
        <p:nvSpPr>
          <p:cNvPr id="48" name="Rounded Rectangle 47"/>
          <p:cNvSpPr/>
          <p:nvPr/>
        </p:nvSpPr>
        <p:spPr>
          <a:xfrm>
            <a:off x="19888200" y="2926080"/>
            <a:ext cx="3584448" cy="1709928"/>
          </a:xfrm>
          <a:prstGeom prst="roundRect">
            <a:avLst>
              <a:gd name="adj" fmla="val 12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20071080" y="2971800"/>
            <a:ext cx="320040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4000" b="0" i="0">
                <a:solidFill>
                  <a:srgbClr val="729A00"/>
                </a:solidFill>
                <a:latin typeface="+mj-lt"/>
              </a:rPr>
              <a:t>22</a:t>
            </a:r>
          </a:p>
        </p:txBody>
      </p:sp>
      <p:sp>
        <p:nvSpPr>
          <p:cNvPr id="50" name="TextBox 49"/>
          <p:cNvSpPr txBox="1"/>
          <p:nvPr/>
        </p:nvSpPr>
        <p:spPr>
          <a:xfrm>
            <a:off x="20071080" y="3840480"/>
            <a:ext cx="3291840" cy="777240"/>
          </a:xfrm>
          <a:prstGeom prst="rect">
            <a:avLst/>
          </a:prstGeom>
          <a:noFill/>
        </p:spPr>
        <p:txBody>
          <a:bodyPr wrap="square" lIns="0" rIns="0" tIns="18288" bIns="18288" anchor="t">
            <a:noAutofit/>
          </a:bodyPr>
          <a:lstStyle/>
          <a:p>
            <a:pPr algn="l">
              <a:lnSpc>
                <a:spcPct val="100000"/>
              </a:lnSpc>
              <a:spcBef>
                <a:spcPts val="0"/>
              </a:spcBef>
              <a:spcAft>
                <a:spcPts val="0"/>
              </a:spcAft>
            </a:pPr>
            <a:r>
              <a:rPr sz="1400" b="1" i="0">
                <a:solidFill>
                  <a:srgbClr val="192B37"/>
                </a:solidFill>
              </a:rPr>
              <a:t>coverage gaps G-01…G-22</a:t>
            </a:r>
          </a:p>
        </p:txBody>
      </p:sp>
      <p:sp>
        <p:nvSpPr>
          <p:cNvPr id="51" name="Rounded Rectangle 50"/>
          <p:cNvSpPr/>
          <p:nvPr/>
        </p:nvSpPr>
        <p:spPr>
          <a:xfrm>
            <a:off x="19888200" y="4818888"/>
            <a:ext cx="3584448" cy="1709928"/>
          </a:xfrm>
          <a:prstGeom prst="roundRect">
            <a:avLst>
              <a:gd name="adj" fmla="val 12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20071080" y="4864607"/>
            <a:ext cx="320040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4000" b="0" i="0">
                <a:solidFill>
                  <a:srgbClr val="FF5640"/>
                </a:solidFill>
                <a:latin typeface="+mj-lt"/>
              </a:rPr>
              <a:t>33</a:t>
            </a:r>
          </a:p>
        </p:txBody>
      </p:sp>
      <p:sp>
        <p:nvSpPr>
          <p:cNvPr id="53" name="TextBox 52"/>
          <p:cNvSpPr txBox="1"/>
          <p:nvPr/>
        </p:nvSpPr>
        <p:spPr>
          <a:xfrm>
            <a:off x="20071080" y="5733288"/>
            <a:ext cx="3291840" cy="777240"/>
          </a:xfrm>
          <a:prstGeom prst="rect">
            <a:avLst/>
          </a:prstGeom>
          <a:noFill/>
        </p:spPr>
        <p:txBody>
          <a:bodyPr wrap="square" lIns="0" rIns="0" tIns="18288" bIns="18288" anchor="t">
            <a:noAutofit/>
          </a:bodyPr>
          <a:lstStyle/>
          <a:p>
            <a:pPr algn="l">
              <a:lnSpc>
                <a:spcPct val="100000"/>
              </a:lnSpc>
              <a:spcBef>
                <a:spcPts val="0"/>
              </a:spcBef>
              <a:spcAft>
                <a:spcPts val="0"/>
              </a:spcAft>
            </a:pPr>
            <a:r>
              <a:rPr sz="1400" b="1" i="0">
                <a:solidFill>
                  <a:srgbClr val="192B37"/>
                </a:solidFill>
              </a:rPr>
              <a:t>known defects KI-01…KI-33</a:t>
            </a:r>
          </a:p>
        </p:txBody>
      </p:sp>
      <p:sp>
        <p:nvSpPr>
          <p:cNvPr id="54" name="Rounded Rectangle 53"/>
          <p:cNvSpPr/>
          <p:nvPr/>
        </p:nvSpPr>
        <p:spPr>
          <a:xfrm>
            <a:off x="19888200" y="6711696"/>
            <a:ext cx="3584448" cy="1709928"/>
          </a:xfrm>
          <a:prstGeom prst="roundRect">
            <a:avLst>
              <a:gd name="adj" fmla="val 12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20071080" y="6757416"/>
            <a:ext cx="320040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4000" b="0" i="0">
                <a:solidFill>
                  <a:srgbClr val="8683C3"/>
                </a:solidFill>
                <a:latin typeface="+mj-lt"/>
              </a:rPr>
              <a:t>4</a:t>
            </a:r>
          </a:p>
        </p:txBody>
      </p:sp>
      <p:sp>
        <p:nvSpPr>
          <p:cNvPr id="56" name="TextBox 55"/>
          <p:cNvSpPr txBox="1"/>
          <p:nvPr/>
        </p:nvSpPr>
        <p:spPr>
          <a:xfrm>
            <a:off x="20071080" y="7626096"/>
            <a:ext cx="3291840" cy="777240"/>
          </a:xfrm>
          <a:prstGeom prst="rect">
            <a:avLst/>
          </a:prstGeom>
          <a:noFill/>
        </p:spPr>
        <p:txBody>
          <a:bodyPr wrap="square" lIns="0" rIns="0" tIns="18288" bIns="18288" anchor="t">
            <a:noAutofit/>
          </a:bodyPr>
          <a:lstStyle/>
          <a:p>
            <a:pPr algn="l">
              <a:lnSpc>
                <a:spcPct val="100000"/>
              </a:lnSpc>
              <a:spcBef>
                <a:spcPts val="0"/>
              </a:spcBef>
              <a:spcAft>
                <a:spcPts val="0"/>
              </a:spcAft>
            </a:pPr>
            <a:r>
              <a:rPr sz="1400" b="1" i="0">
                <a:solidFill>
                  <a:srgbClr val="192B37"/>
                </a:solidFill>
              </a:rPr>
              <a:t>accessibility A11Y-01…04</a:t>
            </a:r>
          </a:p>
        </p:txBody>
      </p:sp>
      <p:sp>
        <p:nvSpPr>
          <p:cNvPr id="57" name="Rounded Rectangle 56"/>
          <p:cNvSpPr/>
          <p:nvPr/>
        </p:nvSpPr>
        <p:spPr>
          <a:xfrm>
            <a:off x="19888200" y="8604504"/>
            <a:ext cx="3584448" cy="1709928"/>
          </a:xfrm>
          <a:prstGeom prst="roundRect">
            <a:avLst>
              <a:gd name="adj" fmla="val 12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20071080" y="8650224"/>
            <a:ext cx="320040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4000" b="0" i="0">
                <a:solidFill>
                  <a:srgbClr val="3D9BC8"/>
                </a:solidFill>
                <a:latin typeface="+mj-lt"/>
              </a:rPr>
              <a:t>2</a:t>
            </a:r>
          </a:p>
        </p:txBody>
      </p:sp>
      <p:sp>
        <p:nvSpPr>
          <p:cNvPr id="59" name="TextBox 58"/>
          <p:cNvSpPr txBox="1"/>
          <p:nvPr/>
        </p:nvSpPr>
        <p:spPr>
          <a:xfrm>
            <a:off x="20071080" y="9518904"/>
            <a:ext cx="3291840" cy="777240"/>
          </a:xfrm>
          <a:prstGeom prst="rect">
            <a:avLst/>
          </a:prstGeom>
          <a:noFill/>
        </p:spPr>
        <p:txBody>
          <a:bodyPr wrap="square" lIns="0" rIns="0" tIns="18288" bIns="18288" anchor="t">
            <a:noAutofit/>
          </a:bodyPr>
          <a:lstStyle/>
          <a:p>
            <a:pPr algn="l">
              <a:lnSpc>
                <a:spcPct val="100000"/>
              </a:lnSpc>
              <a:spcBef>
                <a:spcPts val="0"/>
              </a:spcBef>
              <a:spcAft>
                <a:spcPts val="0"/>
              </a:spcAft>
            </a:pPr>
            <a:r>
              <a:rPr sz="1400" b="1" i="0">
                <a:solidFill>
                  <a:srgbClr val="192B37"/>
                </a:solidFill>
              </a:rPr>
              <a:t>test smells TS-01…02</a:t>
            </a:r>
          </a:p>
        </p:txBody>
      </p:sp>
      <p:sp>
        <p:nvSpPr>
          <p:cNvPr id="60" name="TextBox 59"/>
          <p:cNvSpPr txBox="1"/>
          <p:nvPr/>
        </p:nvSpPr>
        <p:spPr>
          <a:xfrm>
            <a:off x="612648" y="9052560"/>
            <a:ext cx="19019520" cy="1280160"/>
          </a:xfrm>
          <a:prstGeom prst="rect">
            <a:avLst/>
          </a:prstGeom>
          <a:noFill/>
        </p:spPr>
        <p:txBody>
          <a:bodyPr wrap="square" lIns="0" rIns="0" tIns="18288" bIns="18288" anchor="t">
            <a:noAutofit/>
          </a:bodyPr>
          <a:lstStyle/>
          <a:p>
            <a:pPr algn="l">
              <a:lnSpc>
                <a:spcPct val="100000"/>
              </a:lnSpc>
              <a:spcBef>
                <a:spcPts val="0"/>
              </a:spcBef>
              <a:spcAft>
                <a:spcPts val="0"/>
              </a:spcAft>
            </a:pPr>
            <a:r>
              <a:rPr sz="1700" b="0" i="0">
                <a:solidFill>
                  <a:srgbClr val="192B37"/>
                </a:solidFill>
              </a:rPr>
              <a:t>Find gaps with: </a:t>
            </a:r>
            <a:r>
              <a:rPr sz="1700" b="1" i="0">
                <a:solidFill>
                  <a:srgbClr val="192B37"/>
                </a:solidFill>
              </a:rPr>
              <a:t>/tap-test-plan</a:t>
            </a:r>
            <a:r>
              <a:rPr sz="1700" b="0" i="0">
                <a:solidFill>
                  <a:srgbClr val="192B37"/>
                </a:solidFill>
              </a:rPr>
              <a:t> (risk-based) · </a:t>
            </a:r>
            <a:r>
              <a:rPr sz="1700" b="1" i="0">
                <a:solidFill>
                  <a:srgbClr val="192B37"/>
                </a:solidFill>
              </a:rPr>
              <a:t>/tap-scan</a:t>
            </a:r>
            <a:r>
              <a:rPr sz="1700" b="0" i="0">
                <a:solidFill>
                  <a:srgbClr val="192B37"/>
                </a:solidFill>
              </a:rPr>
              <a:t> (unreferenced routes &amp; selectors) · </a:t>
            </a:r>
            <a:r>
              <a:rPr sz="1700" b="1" i="0">
                <a:solidFill>
                  <a:srgbClr val="192B37"/>
                </a:solidFill>
              </a:rPr>
              <a:t>/tap-security</a:t>
            </a:r>
            <a:r>
              <a:rPr sz="1700" b="0" i="0">
                <a:solidFill>
                  <a:srgbClr val="192B37"/>
                </a:solidFill>
              </a:rPr>
              <a:t> · </a:t>
            </a:r>
            <a:r>
              <a:rPr sz="1700" b="1" i="0">
                <a:solidFill>
                  <a:srgbClr val="192B37"/>
                </a:solidFill>
              </a:rPr>
              <a:t>/tap-a11y</a:t>
            </a:r>
            <a:r>
              <a:rPr sz="1700" b="0" i="0">
                <a:solidFill>
                  <a:srgbClr val="192B37"/>
                </a:solidFill>
              </a:rPr>
              <a:t> · </a:t>
            </a:r>
            <a:r>
              <a:rPr sz="1700" b="1" i="0">
                <a:solidFill>
                  <a:srgbClr val="192B37"/>
                </a:solidFill>
              </a:rPr>
              <a:t>/tap-research</a:t>
            </a:r>
            <a:r>
              <a:rPr sz="1700" b="0" i="0">
                <a:solidFill>
                  <a:srgbClr val="192B37"/>
                </a:solidFill>
              </a:rPr>
              <a:t> — every gap gets evidence, risk, a suggested test and an owner.</a:t>
            </a:r>
          </a:p>
        </p:txBody>
      </p:sp>
      <p:sp>
        <p:nvSpPr>
          <p:cNvPr id="61" name="Rounded Rectangle 60"/>
          <p:cNvSpPr/>
          <p:nvPr/>
        </p:nvSpPr>
        <p:spPr>
          <a:xfrm>
            <a:off x="612648" y="10789920"/>
            <a:ext cx="22860000" cy="960120"/>
          </a:xfrm>
          <a:prstGeom prst="roundRect">
            <a:avLst>
              <a:gd name="adj" fmla="val 15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Oval 61"/>
          <p:cNvSpPr/>
          <p:nvPr/>
        </p:nvSpPr>
        <p:spPr>
          <a:xfrm>
            <a:off x="886968" y="10927080"/>
            <a:ext cx="685800" cy="68580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LuLaugh.png"/>
          <p:cNvPicPr>
            <a:picLocks noChangeAspect="1"/>
          </p:cNvPicPr>
          <p:nvPr/>
        </p:nvPicPr>
        <p:blipFill>
          <a:blip r:embed="rId3"/>
          <a:stretch>
            <a:fillRect/>
          </a:stretch>
        </p:blipFill>
        <p:spPr>
          <a:xfrm>
            <a:off x="1051560" y="11091672"/>
            <a:ext cx="356616" cy="356616"/>
          </a:xfrm>
          <a:prstGeom prst="rect">
            <a:avLst/>
          </a:prstGeom>
        </p:spPr>
      </p:pic>
      <p:sp>
        <p:nvSpPr>
          <p:cNvPr id="64" name="TextBox 63"/>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Mind the gap. Then log it, rate it, assign it — and close it before it closes on you.</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Agents at work</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729A00"/>
                </a:solidFill>
              </a:rPr>
              <a:t>AGENTS · FEATURE DOCUMENTATION</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A feature doc outline that writes itself (almost)</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65</a:t>
            </a:r>
          </a:p>
        </p:txBody>
      </p:sp>
      <p:sp>
        <p:nvSpPr>
          <p:cNvPr id="6" name="Rounded Rectangle 5"/>
          <p:cNvSpPr/>
          <p:nvPr/>
        </p:nvSpPr>
        <p:spPr>
          <a:xfrm>
            <a:off x="612648" y="2926080"/>
            <a:ext cx="5532120" cy="3566160"/>
          </a:xfrm>
          <a:prstGeom prst="roundRect">
            <a:avLst>
              <a:gd name="adj" fmla="val 8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86968" y="3200400"/>
            <a:ext cx="914400" cy="9144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GraduationCap.png"/>
          <p:cNvPicPr>
            <a:picLocks noChangeAspect="1"/>
          </p:cNvPicPr>
          <p:nvPr/>
        </p:nvPicPr>
        <p:blipFill>
          <a:blip r:embed="rId3"/>
          <a:stretch>
            <a:fillRect/>
          </a:stretch>
        </p:blipFill>
        <p:spPr>
          <a:xfrm>
            <a:off x="1106424" y="3419856"/>
            <a:ext cx="475488" cy="475488"/>
          </a:xfrm>
          <a:prstGeom prst="rect">
            <a:avLst/>
          </a:prstGeom>
        </p:spPr>
      </p:pic>
      <p:sp>
        <p:nvSpPr>
          <p:cNvPr id="9" name="TextBox 8"/>
          <p:cNvSpPr txBox="1"/>
          <p:nvPr/>
        </p:nvSpPr>
        <p:spPr>
          <a:xfrm>
            <a:off x="886968" y="4297680"/>
            <a:ext cx="502920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2600" b="1" i="0">
                <a:solidFill>
                  <a:srgbClr val="192B37"/>
                </a:solidFill>
              </a:rPr>
              <a:t>Tutorial</a:t>
            </a:r>
          </a:p>
        </p:txBody>
      </p:sp>
      <p:sp>
        <p:nvSpPr>
          <p:cNvPr id="10" name="TextBox 9"/>
          <p:cNvSpPr txBox="1"/>
          <p:nvPr/>
        </p:nvSpPr>
        <p:spPr>
          <a:xfrm>
            <a:off x="886968" y="4892040"/>
            <a:ext cx="50292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3D9BC8"/>
                </a:solidFill>
              </a:rPr>
              <a:t>learning-oriented</a:t>
            </a:r>
          </a:p>
        </p:txBody>
      </p:sp>
      <p:sp>
        <p:nvSpPr>
          <p:cNvPr id="11" name="TextBox 10"/>
          <p:cNvSpPr txBox="1"/>
          <p:nvPr/>
        </p:nvSpPr>
        <p:spPr>
          <a:xfrm>
            <a:off x="886968" y="5394960"/>
            <a:ext cx="5029200" cy="9144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1">
                <a:solidFill>
                  <a:srgbClr val="192B37"/>
                </a:solidFill>
              </a:rPr>
              <a:t>“Send your first payment”</a:t>
            </a:r>
          </a:p>
        </p:txBody>
      </p:sp>
      <p:sp>
        <p:nvSpPr>
          <p:cNvPr id="12" name="Rounded Rectangle 11"/>
          <p:cNvSpPr/>
          <p:nvPr/>
        </p:nvSpPr>
        <p:spPr>
          <a:xfrm>
            <a:off x="6373368" y="2926080"/>
            <a:ext cx="5532120" cy="3566160"/>
          </a:xfrm>
          <a:prstGeom prst="roundRect">
            <a:avLst>
              <a:gd name="adj" fmla="val 8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647688" y="3200400"/>
            <a:ext cx="914400" cy="9144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uWrench.png"/>
          <p:cNvPicPr>
            <a:picLocks noChangeAspect="1"/>
          </p:cNvPicPr>
          <p:nvPr/>
        </p:nvPicPr>
        <p:blipFill>
          <a:blip r:embed="rId4"/>
          <a:stretch>
            <a:fillRect/>
          </a:stretch>
        </p:blipFill>
        <p:spPr>
          <a:xfrm>
            <a:off x="6867144" y="3419856"/>
            <a:ext cx="475488" cy="475488"/>
          </a:xfrm>
          <a:prstGeom prst="rect">
            <a:avLst/>
          </a:prstGeom>
        </p:spPr>
      </p:pic>
      <p:sp>
        <p:nvSpPr>
          <p:cNvPr id="15" name="TextBox 14"/>
          <p:cNvSpPr txBox="1"/>
          <p:nvPr/>
        </p:nvSpPr>
        <p:spPr>
          <a:xfrm>
            <a:off x="6647688" y="4297680"/>
            <a:ext cx="502920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2600" b="1" i="0">
                <a:solidFill>
                  <a:srgbClr val="192B37"/>
                </a:solidFill>
              </a:rPr>
              <a:t>How-to</a:t>
            </a:r>
          </a:p>
        </p:txBody>
      </p:sp>
      <p:sp>
        <p:nvSpPr>
          <p:cNvPr id="16" name="TextBox 15"/>
          <p:cNvSpPr txBox="1"/>
          <p:nvPr/>
        </p:nvSpPr>
        <p:spPr>
          <a:xfrm>
            <a:off x="6647688" y="4892040"/>
            <a:ext cx="50292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00A859"/>
                </a:solidFill>
              </a:rPr>
              <a:t>task-oriented</a:t>
            </a:r>
          </a:p>
        </p:txBody>
      </p:sp>
      <p:sp>
        <p:nvSpPr>
          <p:cNvPr id="17" name="TextBox 16"/>
          <p:cNvSpPr txBox="1"/>
          <p:nvPr/>
        </p:nvSpPr>
        <p:spPr>
          <a:xfrm>
            <a:off x="6647688" y="5394960"/>
            <a:ext cx="5029200" cy="9144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1">
                <a:solidFill>
                  <a:srgbClr val="192B37"/>
                </a:solidFill>
              </a:rPr>
              <a:t>“Add a bank account via API”</a:t>
            </a:r>
          </a:p>
        </p:txBody>
      </p:sp>
      <p:sp>
        <p:nvSpPr>
          <p:cNvPr id="18" name="Rounded Rectangle 17"/>
          <p:cNvSpPr/>
          <p:nvPr/>
        </p:nvSpPr>
        <p:spPr>
          <a:xfrm>
            <a:off x="612648" y="6720840"/>
            <a:ext cx="5532120" cy="3566160"/>
          </a:xfrm>
          <a:prstGeom prst="roundRect">
            <a:avLst>
              <a:gd name="adj" fmla="val 8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86968" y="6995160"/>
            <a:ext cx="914400" cy="91440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uBookOpen.png"/>
          <p:cNvPicPr>
            <a:picLocks noChangeAspect="1"/>
          </p:cNvPicPr>
          <p:nvPr/>
        </p:nvPicPr>
        <p:blipFill>
          <a:blip r:embed="rId5"/>
          <a:stretch>
            <a:fillRect/>
          </a:stretch>
        </p:blipFill>
        <p:spPr>
          <a:xfrm>
            <a:off x="1106424" y="7214616"/>
            <a:ext cx="475488" cy="475488"/>
          </a:xfrm>
          <a:prstGeom prst="rect">
            <a:avLst/>
          </a:prstGeom>
        </p:spPr>
      </p:pic>
      <p:sp>
        <p:nvSpPr>
          <p:cNvPr id="21" name="TextBox 20"/>
          <p:cNvSpPr txBox="1"/>
          <p:nvPr/>
        </p:nvSpPr>
        <p:spPr>
          <a:xfrm>
            <a:off x="886968" y="8092440"/>
            <a:ext cx="502920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2600" b="1" i="0">
                <a:solidFill>
                  <a:srgbClr val="192B37"/>
                </a:solidFill>
              </a:rPr>
              <a:t>Reference</a:t>
            </a:r>
          </a:p>
        </p:txBody>
      </p:sp>
      <p:sp>
        <p:nvSpPr>
          <p:cNvPr id="22" name="TextBox 21"/>
          <p:cNvSpPr txBox="1"/>
          <p:nvPr/>
        </p:nvSpPr>
        <p:spPr>
          <a:xfrm>
            <a:off x="886968" y="8686800"/>
            <a:ext cx="50292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DB7D00"/>
                </a:solidFill>
              </a:rPr>
              <a:t>information-oriented</a:t>
            </a:r>
          </a:p>
        </p:txBody>
      </p:sp>
      <p:sp>
        <p:nvSpPr>
          <p:cNvPr id="23" name="TextBox 22"/>
          <p:cNvSpPr txBox="1"/>
          <p:nvPr/>
        </p:nvSpPr>
        <p:spPr>
          <a:xfrm>
            <a:off x="886968" y="9189720"/>
            <a:ext cx="5029200" cy="9144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1">
                <a:solidFill>
                  <a:srgbClr val="192B37"/>
                </a:solidFill>
              </a:rPr>
              <a:t>OpenAPI · data-test map · errors</a:t>
            </a:r>
          </a:p>
        </p:txBody>
      </p:sp>
      <p:sp>
        <p:nvSpPr>
          <p:cNvPr id="24" name="Rounded Rectangle 23"/>
          <p:cNvSpPr/>
          <p:nvPr/>
        </p:nvSpPr>
        <p:spPr>
          <a:xfrm>
            <a:off x="6373368" y="6720840"/>
            <a:ext cx="5532120" cy="3566160"/>
          </a:xfrm>
          <a:prstGeom prst="roundRect">
            <a:avLst>
              <a:gd name="adj" fmla="val 8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647688" y="6995160"/>
            <a:ext cx="914400" cy="9144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LuLightbulb.png"/>
          <p:cNvPicPr>
            <a:picLocks noChangeAspect="1"/>
          </p:cNvPicPr>
          <p:nvPr/>
        </p:nvPicPr>
        <p:blipFill>
          <a:blip r:embed="rId6"/>
          <a:stretch>
            <a:fillRect/>
          </a:stretch>
        </p:blipFill>
        <p:spPr>
          <a:xfrm>
            <a:off x="6867144" y="7214616"/>
            <a:ext cx="475488" cy="475488"/>
          </a:xfrm>
          <a:prstGeom prst="rect">
            <a:avLst/>
          </a:prstGeom>
        </p:spPr>
      </p:pic>
      <p:sp>
        <p:nvSpPr>
          <p:cNvPr id="27" name="TextBox 26"/>
          <p:cNvSpPr txBox="1"/>
          <p:nvPr/>
        </p:nvSpPr>
        <p:spPr>
          <a:xfrm>
            <a:off x="6647688" y="8092440"/>
            <a:ext cx="502920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2600" b="1" i="0">
                <a:solidFill>
                  <a:srgbClr val="192B37"/>
                </a:solidFill>
              </a:rPr>
              <a:t>Explanation</a:t>
            </a:r>
          </a:p>
        </p:txBody>
      </p:sp>
      <p:sp>
        <p:nvSpPr>
          <p:cNvPr id="28" name="TextBox 27"/>
          <p:cNvSpPr txBox="1"/>
          <p:nvPr/>
        </p:nvSpPr>
        <p:spPr>
          <a:xfrm>
            <a:off x="6647688" y="8686800"/>
            <a:ext cx="50292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8683C3"/>
                </a:solidFill>
              </a:rPr>
              <a:t>understanding-oriented</a:t>
            </a:r>
          </a:p>
        </p:txBody>
      </p:sp>
      <p:sp>
        <p:nvSpPr>
          <p:cNvPr id="29" name="TextBox 28"/>
          <p:cNvSpPr txBox="1"/>
          <p:nvPr/>
        </p:nvSpPr>
        <p:spPr>
          <a:xfrm>
            <a:off x="6647688" y="9189720"/>
            <a:ext cx="5029200" cy="9144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0" i="1">
                <a:solidFill>
                  <a:srgbClr val="192B37"/>
                </a:solidFill>
              </a:rPr>
              <a:t>why money is stored in cents</a:t>
            </a:r>
          </a:p>
        </p:txBody>
      </p:sp>
      <p:sp>
        <p:nvSpPr>
          <p:cNvPr id="30" name="Rounded Rectangle 29"/>
          <p:cNvSpPr/>
          <p:nvPr/>
        </p:nvSpPr>
        <p:spPr>
          <a:xfrm>
            <a:off x="12252960" y="2926080"/>
            <a:ext cx="11219688" cy="7498079"/>
          </a:xfrm>
          <a:prstGeom prst="roundRect">
            <a:avLst>
              <a:gd name="adj" fmla="val 4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2573000" y="3108960"/>
            <a:ext cx="105156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729A00"/>
                </a:solidFill>
              </a:rPr>
              <a:t>FEATURE DOC OUTLINE · /tap-feature</a:t>
            </a:r>
          </a:p>
        </p:txBody>
      </p:sp>
      <p:sp>
        <p:nvSpPr>
          <p:cNvPr id="32" name="Rounded Rectangle 31"/>
          <p:cNvSpPr/>
          <p:nvPr/>
        </p:nvSpPr>
        <p:spPr>
          <a:xfrm>
            <a:off x="12573000" y="3703320"/>
            <a:ext cx="10607040" cy="621792"/>
          </a:xfrm>
          <a:prstGeom prst="roundRect">
            <a:avLst>
              <a:gd name="adj" fmla="val 30000"/>
            </a:avLst>
          </a:prstGeom>
          <a:solidFill>
            <a:srgbClr val="FFFFFF"/>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2801600" y="3703320"/>
            <a:ext cx="10241280" cy="621792"/>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0" i="0">
                <a:solidFill>
                  <a:srgbClr val="192B37"/>
                </a:solidFill>
              </a:rPr>
              <a:t>1  Summary — what &amp; why (1 paragraph)</a:t>
            </a:r>
          </a:p>
        </p:txBody>
      </p:sp>
      <p:sp>
        <p:nvSpPr>
          <p:cNvPr id="34" name="Rounded Rectangle 33"/>
          <p:cNvSpPr/>
          <p:nvPr/>
        </p:nvSpPr>
        <p:spPr>
          <a:xfrm>
            <a:off x="12573000" y="4434840"/>
            <a:ext cx="10607040" cy="621792"/>
          </a:xfrm>
          <a:prstGeom prst="roundRect">
            <a:avLst>
              <a:gd name="adj" fmla="val 30000"/>
            </a:avLst>
          </a:prstGeom>
          <a:solidFill>
            <a:srgbClr val="FFFFFF"/>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2801600" y="4434840"/>
            <a:ext cx="10241280" cy="621792"/>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0" i="0">
                <a:solidFill>
                  <a:srgbClr val="192B37"/>
                </a:solidFill>
              </a:rPr>
              <a:t>2  User story + Gherkin acceptance criteria</a:t>
            </a:r>
          </a:p>
        </p:txBody>
      </p:sp>
      <p:sp>
        <p:nvSpPr>
          <p:cNvPr id="36" name="Rounded Rectangle 35"/>
          <p:cNvSpPr/>
          <p:nvPr/>
        </p:nvSpPr>
        <p:spPr>
          <a:xfrm>
            <a:off x="12573000" y="5166360"/>
            <a:ext cx="10607040" cy="621792"/>
          </a:xfrm>
          <a:prstGeom prst="roundRect">
            <a:avLst>
              <a:gd name="adj" fmla="val 30000"/>
            </a:avLst>
          </a:prstGeom>
          <a:solidFill>
            <a:srgbClr val="FFFFFF"/>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2801600" y="5166360"/>
            <a:ext cx="10241280" cy="621792"/>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0" i="0">
                <a:solidFill>
                  <a:srgbClr val="192B37"/>
                </a:solidFill>
              </a:rPr>
              <a:t>3  Flows — Mermaid diagram + screens</a:t>
            </a:r>
          </a:p>
        </p:txBody>
      </p:sp>
      <p:sp>
        <p:nvSpPr>
          <p:cNvPr id="38" name="Rounded Rectangle 37"/>
          <p:cNvSpPr/>
          <p:nvPr/>
        </p:nvSpPr>
        <p:spPr>
          <a:xfrm>
            <a:off x="12573000" y="5897880"/>
            <a:ext cx="10607040" cy="621792"/>
          </a:xfrm>
          <a:prstGeom prst="roundRect">
            <a:avLst>
              <a:gd name="adj" fmla="val 30000"/>
            </a:avLst>
          </a:prstGeom>
          <a:solidFill>
            <a:srgbClr val="FFFFFF"/>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2801600" y="5897880"/>
            <a:ext cx="10241280" cy="621792"/>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0" i="0">
                <a:solidFill>
                  <a:srgbClr val="192B37"/>
                </a:solidFill>
              </a:rPr>
              <a:t>4  API — endpoints, schemas, errors (OpenAPI link)</a:t>
            </a:r>
          </a:p>
        </p:txBody>
      </p:sp>
      <p:sp>
        <p:nvSpPr>
          <p:cNvPr id="40" name="Rounded Rectangle 39"/>
          <p:cNvSpPr/>
          <p:nvPr/>
        </p:nvSpPr>
        <p:spPr>
          <a:xfrm>
            <a:off x="12573000" y="6629400"/>
            <a:ext cx="10607040" cy="621792"/>
          </a:xfrm>
          <a:prstGeom prst="roundRect">
            <a:avLst>
              <a:gd name="adj" fmla="val 30000"/>
            </a:avLst>
          </a:prstGeom>
          <a:solidFill>
            <a:srgbClr val="FFFFFF"/>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2801600" y="6629400"/>
            <a:ext cx="10241280" cy="621792"/>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0" i="0">
                <a:solidFill>
                  <a:srgbClr val="192B37"/>
                </a:solidFill>
              </a:rPr>
              <a:t>5  UI — routes, states, data-test selectors</a:t>
            </a:r>
          </a:p>
        </p:txBody>
      </p:sp>
      <p:sp>
        <p:nvSpPr>
          <p:cNvPr id="42" name="Rounded Rectangle 41"/>
          <p:cNvSpPr/>
          <p:nvPr/>
        </p:nvSpPr>
        <p:spPr>
          <a:xfrm>
            <a:off x="12573000" y="7360920"/>
            <a:ext cx="10607040" cy="621792"/>
          </a:xfrm>
          <a:prstGeom prst="roundRect">
            <a:avLst>
              <a:gd name="adj" fmla="val 30000"/>
            </a:avLst>
          </a:prstGeom>
          <a:solidFill>
            <a:srgbClr val="FFFFFF"/>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2801600" y="7360920"/>
            <a:ext cx="10241280" cy="621792"/>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0" i="0">
                <a:solidFill>
                  <a:srgbClr val="192B37"/>
                </a:solidFill>
              </a:rPr>
              <a:t>6  Data — entities, seed, migration notes</a:t>
            </a:r>
          </a:p>
        </p:txBody>
      </p:sp>
      <p:sp>
        <p:nvSpPr>
          <p:cNvPr id="44" name="Rounded Rectangle 43"/>
          <p:cNvSpPr/>
          <p:nvPr/>
        </p:nvSpPr>
        <p:spPr>
          <a:xfrm>
            <a:off x="12573000" y="8092440"/>
            <a:ext cx="10607040" cy="621792"/>
          </a:xfrm>
          <a:prstGeom prst="roundRect">
            <a:avLst>
              <a:gd name="adj" fmla="val 30000"/>
            </a:avLst>
          </a:prstGeom>
          <a:solidFill>
            <a:srgbClr val="FFFFFF"/>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2801600" y="8092440"/>
            <a:ext cx="10241280" cy="621792"/>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0" i="0">
                <a:solidFill>
                  <a:srgbClr val="192B37"/>
                </a:solidFill>
              </a:rPr>
              <a:t>7  Test coverage — specs, gaps, known issues</a:t>
            </a:r>
          </a:p>
        </p:txBody>
      </p:sp>
      <p:sp>
        <p:nvSpPr>
          <p:cNvPr id="46" name="Rounded Rectangle 45"/>
          <p:cNvSpPr/>
          <p:nvPr/>
        </p:nvSpPr>
        <p:spPr>
          <a:xfrm>
            <a:off x="12573000" y="8823960"/>
            <a:ext cx="10607040" cy="621792"/>
          </a:xfrm>
          <a:prstGeom prst="roundRect">
            <a:avLst>
              <a:gd name="adj" fmla="val 30000"/>
            </a:avLst>
          </a:prstGeom>
          <a:solidFill>
            <a:srgbClr val="FFFFFF"/>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2801600" y="8823960"/>
            <a:ext cx="10241280" cy="621792"/>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0" i="0">
                <a:solidFill>
                  <a:srgbClr val="192B37"/>
                </a:solidFill>
              </a:rPr>
              <a:t>8  Non-functional — a11y, perf, security notes</a:t>
            </a:r>
          </a:p>
        </p:txBody>
      </p:sp>
      <p:sp>
        <p:nvSpPr>
          <p:cNvPr id="48" name="Rounded Rectangle 47"/>
          <p:cNvSpPr/>
          <p:nvPr/>
        </p:nvSpPr>
        <p:spPr>
          <a:xfrm>
            <a:off x="12573000" y="9555480"/>
            <a:ext cx="10607040" cy="621792"/>
          </a:xfrm>
          <a:prstGeom prst="roundRect">
            <a:avLst>
              <a:gd name="adj" fmla="val 30000"/>
            </a:avLst>
          </a:prstGeom>
          <a:solidFill>
            <a:srgbClr val="FFFFFF"/>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2801600" y="9555480"/>
            <a:ext cx="10241280" cy="621792"/>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0" i="0">
                <a:solidFill>
                  <a:srgbClr val="192B37"/>
                </a:solidFill>
              </a:rPr>
              <a:t>9  Rollout &amp; release notes · open questions</a:t>
            </a:r>
          </a:p>
        </p:txBody>
      </p:sp>
      <p:sp>
        <p:nvSpPr>
          <p:cNvPr id="50" name="Rounded Rectangle 49"/>
          <p:cNvSpPr/>
          <p:nvPr/>
        </p:nvSpPr>
        <p:spPr>
          <a:xfrm>
            <a:off x="612648" y="10789920"/>
            <a:ext cx="22860000" cy="960120"/>
          </a:xfrm>
          <a:prstGeom prst="roundRect">
            <a:avLst>
              <a:gd name="adj" fmla="val 15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886968" y="10927080"/>
            <a:ext cx="685800" cy="68580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LuLaugh.png"/>
          <p:cNvPicPr>
            <a:picLocks noChangeAspect="1"/>
          </p:cNvPicPr>
          <p:nvPr/>
        </p:nvPicPr>
        <p:blipFill>
          <a:blip r:embed="rId7"/>
          <a:stretch>
            <a:fillRect/>
          </a:stretch>
        </p:blipFill>
        <p:spPr>
          <a:xfrm>
            <a:off x="1051560" y="11091672"/>
            <a:ext cx="356616" cy="356616"/>
          </a:xfrm>
          <a:prstGeom prst="rect">
            <a:avLst/>
          </a:prstGeom>
        </p:spPr>
      </p:pic>
      <p:sp>
        <p:nvSpPr>
          <p:cNvPr id="53" name="TextBox 52"/>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Documentation: the love letter you write to your future self — who will absolutely not remember any of this.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Agents at work</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729A00"/>
                </a:solidFill>
              </a:rPr>
              <a:t>AGENTS · BUG REPORTS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A bug report that reproduces on the first try</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66</a:t>
            </a:r>
          </a:p>
        </p:txBody>
      </p:sp>
      <p:sp>
        <p:nvSpPr>
          <p:cNvPr id="6" name="Rounded Rectangle 5"/>
          <p:cNvSpPr/>
          <p:nvPr/>
        </p:nvSpPr>
        <p:spPr>
          <a:xfrm>
            <a:off x="612648" y="2926080"/>
            <a:ext cx="12070080" cy="7498079"/>
          </a:xfrm>
          <a:prstGeom prst="roundRect">
            <a:avLst>
              <a:gd name="adj" fmla="val 4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886968" y="3154680"/>
            <a:ext cx="1737360" cy="594360"/>
          </a:xfrm>
          <a:prstGeom prst="roundRect">
            <a:avLst>
              <a:gd name="adj" fmla="val 50000"/>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3154680"/>
            <a:ext cx="1554480" cy="59436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1" i="0">
                <a:solidFill>
                  <a:srgbClr val="FFFFFF"/>
                </a:solidFill>
              </a:rPr>
              <a:t>KI-01</a:t>
            </a:r>
          </a:p>
        </p:txBody>
      </p:sp>
      <p:sp>
        <p:nvSpPr>
          <p:cNvPr id="9" name="Rounded Rectangle 8"/>
          <p:cNvSpPr/>
          <p:nvPr/>
        </p:nvSpPr>
        <p:spPr>
          <a:xfrm>
            <a:off x="2788920" y="3154680"/>
            <a:ext cx="2011680" cy="594360"/>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880360" y="3154680"/>
            <a:ext cx="1828800" cy="594360"/>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1" i="0">
                <a:solidFill>
                  <a:srgbClr val="FF5640"/>
                </a:solidFill>
              </a:rPr>
              <a:t>High</a:t>
            </a:r>
          </a:p>
        </p:txBody>
      </p:sp>
      <p:sp>
        <p:nvSpPr>
          <p:cNvPr id="11" name="Rounded Rectangle 10"/>
          <p:cNvSpPr/>
          <p:nvPr/>
        </p:nvSpPr>
        <p:spPr>
          <a:xfrm>
            <a:off x="4983480" y="3154680"/>
            <a:ext cx="2560320" cy="594360"/>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074920" y="3154680"/>
            <a:ext cx="2377439" cy="594360"/>
          </a:xfrm>
          <a:prstGeom prst="rect">
            <a:avLst/>
          </a:prstGeom>
          <a:noFill/>
        </p:spPr>
        <p:txBody>
          <a:bodyPr wrap="square" lIns="0" rIns="0" tIns="18288" bIns="18288" anchor="ctr">
            <a:noAutofit/>
          </a:bodyPr>
          <a:lstStyle/>
          <a:p>
            <a:pPr algn="ctr">
              <a:lnSpc>
                <a:spcPct val="100000"/>
              </a:lnSpc>
              <a:spcBef>
                <a:spcPts val="0"/>
              </a:spcBef>
              <a:spcAft>
                <a:spcPts val="0"/>
              </a:spcAft>
            </a:pPr>
            <a:r>
              <a:rPr sz="1500" b="0" i="0">
                <a:solidFill>
                  <a:srgbClr val="192B37"/>
                </a:solidFill>
              </a:rPr>
              <a:t>data integrity</a:t>
            </a:r>
          </a:p>
        </p:txBody>
      </p:sp>
      <p:sp>
        <p:nvSpPr>
          <p:cNvPr id="13" name="TextBox 12"/>
          <p:cNvSpPr txBox="1"/>
          <p:nvPr/>
        </p:nvSpPr>
        <p:spPr>
          <a:xfrm>
            <a:off x="886968" y="3931920"/>
            <a:ext cx="11521440" cy="91440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DELETE /contacts/{id} with an unknown id deletes every contact</a:t>
            </a:r>
          </a:p>
        </p:txBody>
      </p:sp>
      <p:sp>
        <p:nvSpPr>
          <p:cNvPr id="14" name="Rounded Rectangle 13"/>
          <p:cNvSpPr/>
          <p:nvPr/>
        </p:nvSpPr>
        <p:spPr>
          <a:xfrm>
            <a:off x="886968" y="4983480"/>
            <a:ext cx="11521440" cy="9144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97280" y="4983480"/>
            <a:ext cx="210312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FF5640"/>
                </a:solidFill>
              </a:rPr>
              <a:t>Steps</a:t>
            </a:r>
          </a:p>
        </p:txBody>
      </p:sp>
      <p:sp>
        <p:nvSpPr>
          <p:cNvPr id="16" name="TextBox 15"/>
          <p:cNvSpPr txBox="1"/>
          <p:nvPr/>
        </p:nvSpPr>
        <p:spPr>
          <a:xfrm>
            <a:off x="3200400" y="4983480"/>
            <a:ext cx="905256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1. POST /testData/seed · 2. login Heath93 · 3. DELETE /contacts/unknownId1</a:t>
            </a:r>
          </a:p>
        </p:txBody>
      </p:sp>
      <p:sp>
        <p:nvSpPr>
          <p:cNvPr id="17" name="Rounded Rectangle 16"/>
          <p:cNvSpPr/>
          <p:nvPr/>
        </p:nvSpPr>
        <p:spPr>
          <a:xfrm>
            <a:off x="886968" y="6035040"/>
            <a:ext cx="11521440" cy="9144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97280" y="6035040"/>
            <a:ext cx="210312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FF5640"/>
                </a:solidFill>
              </a:rPr>
              <a:t>Expected</a:t>
            </a:r>
          </a:p>
        </p:txBody>
      </p:sp>
      <p:sp>
        <p:nvSpPr>
          <p:cNvPr id="19" name="TextBox 18"/>
          <p:cNvSpPr txBox="1"/>
          <p:nvPr/>
        </p:nvSpPr>
        <p:spPr>
          <a:xfrm>
            <a:off x="3200400" y="6035040"/>
            <a:ext cx="905256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404 (or 422) — nothing deleted</a:t>
            </a:r>
          </a:p>
        </p:txBody>
      </p:sp>
      <p:sp>
        <p:nvSpPr>
          <p:cNvPr id="20" name="Rounded Rectangle 19"/>
          <p:cNvSpPr/>
          <p:nvPr/>
        </p:nvSpPr>
        <p:spPr>
          <a:xfrm>
            <a:off x="886968" y="7086600"/>
            <a:ext cx="11521440" cy="9144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97280" y="7086600"/>
            <a:ext cx="210312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FF5640"/>
                </a:solidFill>
              </a:rPr>
              <a:t>Actual</a:t>
            </a:r>
          </a:p>
        </p:txBody>
      </p:sp>
      <p:sp>
        <p:nvSpPr>
          <p:cNvPr id="22" name="TextBox 21"/>
          <p:cNvSpPr txBox="1"/>
          <p:nvPr/>
        </p:nvSpPr>
        <p:spPr>
          <a:xfrm>
            <a:off x="3200400" y="7086600"/>
            <a:ext cx="905256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1" i="0">
                <a:solidFill>
                  <a:srgbClr val="192B37"/>
                </a:solidFill>
              </a:rPr>
              <a:t>200</a:t>
            </a:r>
            <a:r>
              <a:rPr sz="1500" b="0" i="0">
                <a:solidFill>
                  <a:srgbClr val="192B37"/>
                </a:solidFill>
              </a:rPr>
              <a:t> — Heath93's contacts 3 → </a:t>
            </a:r>
            <a:r>
              <a:rPr sz="1500" b="1" i="0">
                <a:solidFill>
                  <a:srgbClr val="192B37"/>
                </a:solidFill>
              </a:rPr>
              <a:t>0</a:t>
            </a:r>
            <a:r>
              <a:rPr sz="1500" b="0" i="0">
                <a:solidFill>
                  <a:srgbClr val="192B37"/>
                </a:solidFill>
              </a:rPr>
              <a:t>, all 15 contacts in the DB gone</a:t>
            </a:r>
          </a:p>
        </p:txBody>
      </p:sp>
      <p:sp>
        <p:nvSpPr>
          <p:cNvPr id="23" name="Rounded Rectangle 22"/>
          <p:cNvSpPr/>
          <p:nvPr/>
        </p:nvSpPr>
        <p:spPr>
          <a:xfrm>
            <a:off x="886968" y="8138160"/>
            <a:ext cx="11521440" cy="9144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97280" y="8138160"/>
            <a:ext cx="210312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FF5640"/>
                </a:solidFill>
              </a:rPr>
              <a:t>Root cause</a:t>
            </a:r>
          </a:p>
        </p:txBody>
      </p:sp>
      <p:sp>
        <p:nvSpPr>
          <p:cNvPr id="25" name="TextBox 24"/>
          <p:cNvSpPr txBox="1"/>
          <p:nvPr/>
        </p:nvSpPr>
        <p:spPr>
          <a:xfrm>
            <a:off x="3200400" y="8138160"/>
            <a:ext cx="905256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380" b="0" i="0">
                <a:solidFill>
                  <a:srgbClr val="C2410C"/>
                </a:solidFill>
                <a:latin typeface="Consolas"/>
              </a:rPr>
              <a:t>removeContactById</a:t>
            </a:r>
            <a:r>
              <a:rPr sz="1500" b="0" i="0">
                <a:solidFill>
                  <a:srgbClr val="192B37"/>
                </a:solidFill>
              </a:rPr>
              <a:t> passes </a:t>
            </a:r>
            <a:r>
              <a:rPr sz="1380" b="0" i="0">
                <a:solidFill>
                  <a:srgbClr val="C2410C"/>
                </a:solidFill>
                <a:latin typeface="Consolas"/>
              </a:rPr>
              <a:t>undefined</a:t>
            </a:r>
            <a:r>
              <a:rPr sz="1500" b="0" i="0">
                <a:solidFill>
                  <a:srgbClr val="192B37"/>
                </a:solidFill>
              </a:rPr>
              <a:t> to lowdb </a:t>
            </a:r>
            <a:r>
              <a:rPr sz="1380" b="0" i="0">
                <a:solidFill>
                  <a:srgbClr val="C2410C"/>
                </a:solidFill>
                <a:latin typeface="Consolas"/>
              </a:rPr>
              <a:t>remove()</a:t>
            </a:r>
            <a:r>
              <a:rPr sz="1500" b="0" i="0">
                <a:solidFill>
                  <a:srgbClr val="192B37"/>
                </a:solidFill>
              </a:rPr>
              <a:t> → matches every row</a:t>
            </a:r>
          </a:p>
        </p:txBody>
      </p:sp>
      <p:sp>
        <p:nvSpPr>
          <p:cNvPr id="26" name="Rounded Rectangle 25"/>
          <p:cNvSpPr/>
          <p:nvPr/>
        </p:nvSpPr>
        <p:spPr>
          <a:xfrm>
            <a:off x="886968" y="9189720"/>
            <a:ext cx="11521440" cy="9144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97280" y="9189720"/>
            <a:ext cx="210312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1" i="0">
                <a:solidFill>
                  <a:srgbClr val="FF5640"/>
                </a:solidFill>
              </a:rPr>
              <a:t>Next</a:t>
            </a:r>
          </a:p>
        </p:txBody>
      </p:sp>
      <p:sp>
        <p:nvSpPr>
          <p:cNvPr id="28" name="TextBox 27"/>
          <p:cNvSpPr txBox="1"/>
          <p:nvPr/>
        </p:nvSpPr>
        <p:spPr>
          <a:xfrm>
            <a:off x="3200400" y="9189720"/>
            <a:ext cx="9052560" cy="914400"/>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0" i="0">
                <a:solidFill>
                  <a:srgbClr val="192B37"/>
                </a:solidFill>
              </a:rPr>
              <a:t>/tap-new-test: assert 404 under </a:t>
            </a:r>
            <a:r>
              <a:rPr sz="1380" b="0" i="0">
                <a:solidFill>
                  <a:srgbClr val="C2410C"/>
                </a:solidFill>
                <a:latin typeface="Consolas"/>
              </a:rPr>
              <a:t>test.fail('KI-01')</a:t>
            </a:r>
            <a:r>
              <a:rPr sz="1500" b="0" i="0">
                <a:solidFill>
                  <a:srgbClr val="192B37"/>
                </a:solidFill>
              </a:rPr>
              <a:t>, then fix</a:t>
            </a:r>
          </a:p>
        </p:txBody>
      </p:sp>
      <p:sp>
        <p:nvSpPr>
          <p:cNvPr id="29" name="Rounded Rectangle 28"/>
          <p:cNvSpPr/>
          <p:nvPr/>
        </p:nvSpPr>
        <p:spPr>
          <a:xfrm>
            <a:off x="12984480" y="2926080"/>
            <a:ext cx="10488168" cy="4846320"/>
          </a:xfrm>
          <a:prstGeom prst="roundRect">
            <a:avLst>
              <a:gd name="adj" fmla="val 5283"/>
            </a:avLst>
          </a:prstGeom>
          <a:solidFill>
            <a:srgbClr val="0F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3258800" y="3127248"/>
            <a:ext cx="182880" cy="18288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3551408" y="3127248"/>
            <a:ext cx="182880" cy="18288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3844016" y="3127248"/>
            <a:ext cx="182880" cy="18288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4264640" y="2999232"/>
            <a:ext cx="8933688" cy="411480"/>
          </a:xfrm>
          <a:prstGeom prst="rect">
            <a:avLst/>
          </a:prstGeom>
          <a:noFill/>
        </p:spPr>
        <p:txBody>
          <a:bodyPr wrap="square" lIns="0" rIns="0" tIns="18288" bIns="18288" anchor="ctr">
            <a:noAutofit/>
          </a:bodyPr>
          <a:lstStyle/>
          <a:p>
            <a:pPr algn="l">
              <a:lnSpc>
                <a:spcPct val="100000"/>
              </a:lnSpc>
              <a:spcBef>
                <a:spcPts val="0"/>
              </a:spcBef>
              <a:spcAft>
                <a:spcPts val="0"/>
              </a:spcAft>
            </a:pPr>
            <a:r>
              <a:rPr sz="1400" b="0" i="0">
                <a:solidFill>
                  <a:srgbClr val="9FB3C2"/>
                </a:solidFill>
              </a:rPr>
              <a:t>live repro · 16.10.2026</a:t>
            </a:r>
          </a:p>
        </p:txBody>
      </p:sp>
      <p:sp>
        <p:nvSpPr>
          <p:cNvPr id="34" name="TextBox 33"/>
          <p:cNvSpPr txBox="1"/>
          <p:nvPr/>
        </p:nvSpPr>
        <p:spPr>
          <a:xfrm>
            <a:off x="13258800" y="3474720"/>
            <a:ext cx="10030968" cy="4160520"/>
          </a:xfrm>
          <a:prstGeom prst="rect">
            <a:avLst/>
          </a:prstGeom>
          <a:noFill/>
        </p:spPr>
        <p:txBody>
          <a:bodyPr wrap="none" lIns="0" rIns="0" tIns="0" bIns="0">
            <a:noAutofit/>
          </a:bodyPr>
          <a:lstStyle/>
          <a:p>
            <a:pPr>
              <a:lnSpc>
                <a:spcPct val="108000"/>
              </a:lnSpc>
              <a:spcBef>
                <a:spcPts val="0"/>
              </a:spcBef>
              <a:spcAft>
                <a:spcPts val="0"/>
              </a:spcAft>
            </a:pPr>
            <a:r>
              <a:rPr sz="2000" b="1">
                <a:solidFill>
                  <a:srgbClr val="7EE787"/>
                </a:solidFill>
                <a:latin typeface="Consolas"/>
              </a:rPr>
              <a:t>$ </a:t>
            </a:r>
            <a:r>
              <a:rPr sz="2000">
                <a:solidFill>
                  <a:srgbClr val="FFFFFF"/>
                </a:solidFill>
                <a:latin typeface="Consolas"/>
              </a:rPr>
              <a:t>curl -X POST :3001/testData/seed        → seed 200</a:t>
            </a:r>
          </a:p>
          <a:p>
            <a:pPr>
              <a:lnSpc>
                <a:spcPct val="108000"/>
              </a:lnSpc>
              <a:spcBef>
                <a:spcPts val="0"/>
              </a:spcBef>
              <a:spcAft>
                <a:spcPts val="0"/>
              </a:spcAft>
            </a:pPr>
            <a:r>
              <a:rPr sz="2000" b="1">
                <a:solidFill>
                  <a:srgbClr val="7EE787"/>
                </a:solidFill>
                <a:latin typeface="Consolas"/>
              </a:rPr>
              <a:t>$ </a:t>
            </a:r>
            <a:r>
              <a:rPr sz="2000">
                <a:solidFill>
                  <a:srgbClr val="FFFFFF"/>
                </a:solidFill>
                <a:latin typeface="Consolas"/>
              </a:rPr>
              <a:t>curl -c jar -d '{"username":"Heath93",…}' :3001/login → 200</a:t>
            </a:r>
          </a:p>
          <a:p>
            <a:pPr>
              <a:lnSpc>
                <a:spcPct val="108000"/>
              </a:lnSpc>
              <a:spcBef>
                <a:spcPts val="0"/>
              </a:spcBef>
              <a:spcAft>
                <a:spcPts val="0"/>
              </a:spcAft>
            </a:pPr>
            <a:r>
              <a:rPr sz="2000" b="1">
                <a:solidFill>
                  <a:srgbClr val="7EE787"/>
                </a:solidFill>
                <a:latin typeface="Consolas"/>
              </a:rPr>
              <a:t>$ </a:t>
            </a:r>
            <a:r>
              <a:rPr sz="2000">
                <a:solidFill>
                  <a:srgbClr val="FFFFFF"/>
                </a:solidFill>
                <a:latin typeface="Consolas"/>
              </a:rPr>
              <a:t>curl -b jar :3001/contacts/Heath93      → before 3</a:t>
            </a:r>
          </a:p>
          <a:p>
            <a:pPr>
              <a:lnSpc>
                <a:spcPct val="108000"/>
              </a:lnSpc>
              <a:spcBef>
                <a:spcPts val="0"/>
              </a:spcBef>
              <a:spcAft>
                <a:spcPts val="0"/>
              </a:spcAft>
            </a:pPr>
            <a:r>
              <a:rPr sz="2000" b="1">
                <a:solidFill>
                  <a:srgbClr val="7EE787"/>
                </a:solidFill>
                <a:latin typeface="Consolas"/>
              </a:rPr>
              <a:t>$ </a:t>
            </a:r>
            <a:r>
              <a:rPr sz="2000">
                <a:solidFill>
                  <a:srgbClr val="FFFFFF"/>
                </a:solidFill>
                <a:latin typeface="Consolas"/>
              </a:rPr>
              <a:t>curl -b jar -X DELETE :3001/contacts/unknownId1 → 200</a:t>
            </a:r>
          </a:p>
          <a:p>
            <a:pPr>
              <a:lnSpc>
                <a:spcPct val="108000"/>
              </a:lnSpc>
              <a:spcBef>
                <a:spcPts val="0"/>
              </a:spcBef>
              <a:spcAft>
                <a:spcPts val="0"/>
              </a:spcAft>
            </a:pPr>
            <a:r>
              <a:rPr sz="2000" b="1">
                <a:solidFill>
                  <a:srgbClr val="7EE787"/>
                </a:solidFill>
                <a:latin typeface="Consolas"/>
              </a:rPr>
              <a:t>$ </a:t>
            </a:r>
            <a:r>
              <a:rPr sz="2000">
                <a:solidFill>
                  <a:srgbClr val="FFFFFF"/>
                </a:solidFill>
                <a:latin typeface="Consolas"/>
              </a:rPr>
              <a:t>curl -b jar :3001/contacts/Heath93      → after 0</a:t>
            </a:r>
          </a:p>
          <a:p>
            <a:pPr>
              <a:lnSpc>
                <a:spcPct val="108000"/>
              </a:lnSpc>
              <a:spcBef>
                <a:spcPts val="0"/>
              </a:spcBef>
              <a:spcAft>
                <a:spcPts val="0"/>
              </a:spcAft>
            </a:pPr>
            <a:r>
              <a:rPr sz="2000" b="1">
                <a:solidFill>
                  <a:srgbClr val="7EE787"/>
                </a:solidFill>
                <a:latin typeface="Consolas"/>
              </a:rPr>
              <a:t>$ </a:t>
            </a:r>
            <a:r>
              <a:rPr sz="2000">
                <a:solidFill>
                  <a:srgbClr val="FFFFFF"/>
                </a:solidFill>
                <a:latin typeface="Consolas"/>
              </a:rPr>
              <a:t>curl :3001/testData/contacts            → 0 in DB</a:t>
            </a:r>
          </a:p>
        </p:txBody>
      </p:sp>
      <p:sp>
        <p:nvSpPr>
          <p:cNvPr id="35" name="TextBox 34"/>
          <p:cNvSpPr txBox="1"/>
          <p:nvPr/>
        </p:nvSpPr>
        <p:spPr>
          <a:xfrm>
            <a:off x="12984480" y="8001000"/>
            <a:ext cx="100584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FF5640"/>
                </a:solidFill>
              </a:rPr>
              <a:t>BUG TEMPLATE (tap26/templates/bug-report.md)</a:t>
            </a:r>
          </a:p>
        </p:txBody>
      </p:sp>
      <p:sp>
        <p:nvSpPr>
          <p:cNvPr id="36" name="Rounded Rectangle 35"/>
          <p:cNvSpPr/>
          <p:nvPr/>
        </p:nvSpPr>
        <p:spPr>
          <a:xfrm>
            <a:off x="12984480" y="8503920"/>
            <a:ext cx="3337560" cy="777240"/>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3075919" y="8503920"/>
            <a:ext cx="3154679"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title · severity · area</a:t>
            </a:r>
          </a:p>
        </p:txBody>
      </p:sp>
      <p:sp>
        <p:nvSpPr>
          <p:cNvPr id="38" name="Rounded Rectangle 37"/>
          <p:cNvSpPr/>
          <p:nvPr/>
        </p:nvSpPr>
        <p:spPr>
          <a:xfrm>
            <a:off x="16504920" y="8503920"/>
            <a:ext cx="3337560" cy="777240"/>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6596360" y="8503920"/>
            <a:ext cx="3154679"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env + seed state</a:t>
            </a:r>
          </a:p>
        </p:txBody>
      </p:sp>
      <p:sp>
        <p:nvSpPr>
          <p:cNvPr id="40" name="Rounded Rectangle 39"/>
          <p:cNvSpPr/>
          <p:nvPr/>
        </p:nvSpPr>
        <p:spPr>
          <a:xfrm>
            <a:off x="20025360" y="8503920"/>
            <a:ext cx="3337560" cy="777240"/>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20116800" y="8503920"/>
            <a:ext cx="3154679"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minimal steps</a:t>
            </a:r>
          </a:p>
        </p:txBody>
      </p:sp>
      <p:sp>
        <p:nvSpPr>
          <p:cNvPr id="42" name="Rounded Rectangle 41"/>
          <p:cNvSpPr/>
          <p:nvPr/>
        </p:nvSpPr>
        <p:spPr>
          <a:xfrm>
            <a:off x="12984480" y="9464040"/>
            <a:ext cx="3337560" cy="777240"/>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3075919" y="9464040"/>
            <a:ext cx="3154679"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expected vs actual</a:t>
            </a:r>
          </a:p>
        </p:txBody>
      </p:sp>
      <p:sp>
        <p:nvSpPr>
          <p:cNvPr id="44" name="Rounded Rectangle 43"/>
          <p:cNvSpPr/>
          <p:nvPr/>
        </p:nvSpPr>
        <p:spPr>
          <a:xfrm>
            <a:off x="16504920" y="9464040"/>
            <a:ext cx="3337560" cy="777240"/>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6596360" y="9464040"/>
            <a:ext cx="3154679"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evidence (curl, trace)</a:t>
            </a:r>
          </a:p>
        </p:txBody>
      </p:sp>
      <p:sp>
        <p:nvSpPr>
          <p:cNvPr id="46" name="Rounded Rectangle 45"/>
          <p:cNvSpPr/>
          <p:nvPr/>
        </p:nvSpPr>
        <p:spPr>
          <a:xfrm>
            <a:off x="20025360" y="9464040"/>
            <a:ext cx="3337560" cy="777240"/>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20116800" y="9464040"/>
            <a:ext cx="3154679" cy="777240"/>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0" i="0">
                <a:solidFill>
                  <a:srgbClr val="192B37"/>
                </a:solidFill>
              </a:rPr>
              <a:t>failing test link</a:t>
            </a:r>
          </a:p>
        </p:txBody>
      </p:sp>
      <p:sp>
        <p:nvSpPr>
          <p:cNvPr id="48" name="Rounded Rectangle 47"/>
          <p:cNvSpPr/>
          <p:nvPr/>
        </p:nvSpPr>
        <p:spPr>
          <a:xfrm>
            <a:off x="612648" y="10789920"/>
            <a:ext cx="22860000" cy="960120"/>
          </a:xfrm>
          <a:prstGeom prst="roundRect">
            <a:avLst>
              <a:gd name="adj" fmla="val 15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886968" y="10927080"/>
            <a:ext cx="685800" cy="68580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LuLaugh.png"/>
          <p:cNvPicPr>
            <a:picLocks noChangeAspect="1"/>
          </p:cNvPicPr>
          <p:nvPr/>
        </p:nvPicPr>
        <p:blipFill>
          <a:blip r:embed="rId3"/>
          <a:stretch>
            <a:fillRect/>
          </a:stretch>
        </p:blipFill>
        <p:spPr>
          <a:xfrm>
            <a:off x="1051560" y="11091672"/>
            <a:ext cx="356616" cy="356616"/>
          </a:xfrm>
          <a:prstGeom prst="rect">
            <a:avLst/>
          </a:prstGeom>
        </p:spPr>
      </p:pic>
      <p:sp>
        <p:nvSpPr>
          <p:cNvPr id="51" name="TextBox 50"/>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A good bug report is like a good joke: short, reproducible, and it lands every single time.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Agents at work</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729A00"/>
                </a:solidFill>
              </a:rPr>
              <a:t>AGENTS · EXPLORE INNOVATION</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Eight experiments for curious juniors</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67</a:t>
            </a:r>
          </a:p>
        </p:txBody>
      </p:sp>
      <p:sp>
        <p:nvSpPr>
          <p:cNvPr id="6" name="Rounded Rectangle 5"/>
          <p:cNvSpPr/>
          <p:nvPr/>
        </p:nvSpPr>
        <p:spPr>
          <a:xfrm>
            <a:off x="612648" y="2926080"/>
            <a:ext cx="5532120" cy="3566160"/>
          </a:xfrm>
          <a:prstGeom prst="roundRect">
            <a:avLst>
              <a:gd name="adj" fmla="val 7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86968" y="3200400"/>
            <a:ext cx="914400" cy="9144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WandSparkles.png"/>
          <p:cNvPicPr>
            <a:picLocks noChangeAspect="1"/>
          </p:cNvPicPr>
          <p:nvPr/>
        </p:nvPicPr>
        <p:blipFill>
          <a:blip r:embed="rId3"/>
          <a:stretch>
            <a:fillRect/>
          </a:stretch>
        </p:blipFill>
        <p:spPr>
          <a:xfrm>
            <a:off x="1106424" y="3419856"/>
            <a:ext cx="475488" cy="475488"/>
          </a:xfrm>
          <a:prstGeom prst="rect">
            <a:avLst/>
          </a:prstGeom>
        </p:spPr>
      </p:pic>
      <p:sp>
        <p:nvSpPr>
          <p:cNvPr id="9" name="TextBox 8"/>
          <p:cNvSpPr txBox="1"/>
          <p:nvPr/>
        </p:nvSpPr>
        <p:spPr>
          <a:xfrm>
            <a:off x="4727448" y="3154680"/>
            <a:ext cx="118872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00A859"/>
                </a:solidFill>
                <a:latin typeface="+mj-lt"/>
              </a:rPr>
              <a:t>01</a:t>
            </a:r>
          </a:p>
        </p:txBody>
      </p:sp>
      <p:sp>
        <p:nvSpPr>
          <p:cNvPr id="10" name="TextBox 9"/>
          <p:cNvSpPr txBox="1"/>
          <p:nvPr/>
        </p:nvSpPr>
        <p:spPr>
          <a:xfrm>
            <a:off x="886968" y="4297680"/>
            <a:ext cx="502920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Self-healing tests</a:t>
            </a:r>
          </a:p>
        </p:txBody>
      </p:sp>
      <p:sp>
        <p:nvSpPr>
          <p:cNvPr id="11" name="TextBox 10"/>
          <p:cNvSpPr txBox="1"/>
          <p:nvPr/>
        </p:nvSpPr>
        <p:spPr>
          <a:xfrm>
            <a:off x="886968" y="4937760"/>
            <a:ext cx="5029200" cy="1463040"/>
          </a:xfrm>
          <a:prstGeom prst="rect">
            <a:avLst/>
          </a:prstGeom>
          <a:noFill/>
        </p:spPr>
        <p:txBody>
          <a:bodyPr wrap="square" lIns="0" rIns="0" tIns="18288" bIns="18288" anchor="t">
            <a:noAutofit/>
          </a:bodyPr>
          <a:lstStyle/>
          <a:p>
            <a:pPr algn="l">
              <a:lnSpc>
                <a:spcPct val="100000"/>
              </a:lnSpc>
              <a:spcBef>
                <a:spcPts val="0"/>
              </a:spcBef>
              <a:spcAft>
                <a:spcPts val="0"/>
              </a:spcAft>
            </a:pPr>
            <a:r>
              <a:rPr sz="1800" b="0" i="0">
                <a:solidFill>
                  <a:srgbClr val="192B37"/>
                </a:solidFill>
              </a:rPr>
              <a:t>Playwright Healer agent proposes locator fixes — a human reviews the diff</a:t>
            </a:r>
          </a:p>
        </p:txBody>
      </p:sp>
      <p:sp>
        <p:nvSpPr>
          <p:cNvPr id="12" name="Rounded Rectangle 11"/>
          <p:cNvSpPr/>
          <p:nvPr/>
        </p:nvSpPr>
        <p:spPr>
          <a:xfrm>
            <a:off x="6373368" y="2926080"/>
            <a:ext cx="5532120" cy="3566160"/>
          </a:xfrm>
          <a:prstGeom prst="roundRect">
            <a:avLst>
              <a:gd name="adj" fmla="val 7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647688" y="3200400"/>
            <a:ext cx="914400" cy="9144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uBot.png"/>
          <p:cNvPicPr>
            <a:picLocks noChangeAspect="1"/>
          </p:cNvPicPr>
          <p:nvPr/>
        </p:nvPicPr>
        <p:blipFill>
          <a:blip r:embed="rId4"/>
          <a:stretch>
            <a:fillRect/>
          </a:stretch>
        </p:blipFill>
        <p:spPr>
          <a:xfrm>
            <a:off x="6867144" y="3419856"/>
            <a:ext cx="475488" cy="475488"/>
          </a:xfrm>
          <a:prstGeom prst="rect">
            <a:avLst/>
          </a:prstGeom>
        </p:spPr>
      </p:pic>
      <p:sp>
        <p:nvSpPr>
          <p:cNvPr id="15" name="TextBox 14"/>
          <p:cNvSpPr txBox="1"/>
          <p:nvPr/>
        </p:nvSpPr>
        <p:spPr>
          <a:xfrm>
            <a:off x="10488167" y="3154680"/>
            <a:ext cx="118872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3D9BC8"/>
                </a:solidFill>
                <a:latin typeface="+mj-lt"/>
              </a:rPr>
              <a:t>02</a:t>
            </a:r>
          </a:p>
        </p:txBody>
      </p:sp>
      <p:sp>
        <p:nvSpPr>
          <p:cNvPr id="16" name="TextBox 15"/>
          <p:cNvSpPr txBox="1"/>
          <p:nvPr/>
        </p:nvSpPr>
        <p:spPr>
          <a:xfrm>
            <a:off x="6647688" y="4297680"/>
            <a:ext cx="502920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Explore via MCP</a:t>
            </a:r>
          </a:p>
        </p:txBody>
      </p:sp>
      <p:sp>
        <p:nvSpPr>
          <p:cNvPr id="17" name="TextBox 16"/>
          <p:cNvSpPr txBox="1"/>
          <p:nvPr/>
        </p:nvSpPr>
        <p:spPr>
          <a:xfrm>
            <a:off x="6647688" y="4937760"/>
            <a:ext cx="5029200" cy="1463040"/>
          </a:xfrm>
          <a:prstGeom prst="rect">
            <a:avLst/>
          </a:prstGeom>
          <a:noFill/>
        </p:spPr>
        <p:txBody>
          <a:bodyPr wrap="square" lIns="0" rIns="0" tIns="18288" bIns="18288" anchor="t">
            <a:noAutofit/>
          </a:bodyPr>
          <a:lstStyle/>
          <a:p>
            <a:pPr algn="l">
              <a:lnSpc>
                <a:spcPct val="100000"/>
              </a:lnSpc>
              <a:spcBef>
                <a:spcPts val="0"/>
              </a:spcBef>
              <a:spcAft>
                <a:spcPts val="0"/>
              </a:spcAft>
            </a:pPr>
            <a:r>
              <a:rPr sz="1800" b="0" i="0">
                <a:solidFill>
                  <a:srgbClr val="192B37"/>
                </a:solidFill>
              </a:rPr>
              <a:t>Playwright MCP lets an agent drive the browser by accessibility tree</a:t>
            </a:r>
          </a:p>
        </p:txBody>
      </p:sp>
      <p:sp>
        <p:nvSpPr>
          <p:cNvPr id="18" name="Rounded Rectangle 17"/>
          <p:cNvSpPr/>
          <p:nvPr/>
        </p:nvSpPr>
        <p:spPr>
          <a:xfrm>
            <a:off x="12134088" y="2926080"/>
            <a:ext cx="5532120" cy="3566160"/>
          </a:xfrm>
          <a:prstGeom prst="roundRect">
            <a:avLst>
              <a:gd name="adj" fmla="val 7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2408408" y="3200400"/>
            <a:ext cx="914400" cy="9144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uFileCode.png"/>
          <p:cNvPicPr>
            <a:picLocks noChangeAspect="1"/>
          </p:cNvPicPr>
          <p:nvPr/>
        </p:nvPicPr>
        <p:blipFill>
          <a:blip r:embed="rId5"/>
          <a:stretch>
            <a:fillRect/>
          </a:stretch>
        </p:blipFill>
        <p:spPr>
          <a:xfrm>
            <a:off x="12627864" y="3419856"/>
            <a:ext cx="475488" cy="475488"/>
          </a:xfrm>
          <a:prstGeom prst="rect">
            <a:avLst/>
          </a:prstGeom>
        </p:spPr>
      </p:pic>
      <p:sp>
        <p:nvSpPr>
          <p:cNvPr id="21" name="TextBox 20"/>
          <p:cNvSpPr txBox="1"/>
          <p:nvPr/>
        </p:nvSpPr>
        <p:spPr>
          <a:xfrm>
            <a:off x="16248888" y="3154680"/>
            <a:ext cx="118872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8683C3"/>
                </a:solidFill>
                <a:latin typeface="+mj-lt"/>
              </a:rPr>
              <a:t>03</a:t>
            </a:r>
          </a:p>
        </p:txBody>
      </p:sp>
      <p:sp>
        <p:nvSpPr>
          <p:cNvPr id="22" name="TextBox 21"/>
          <p:cNvSpPr txBox="1"/>
          <p:nvPr/>
        </p:nvSpPr>
        <p:spPr>
          <a:xfrm>
            <a:off x="12408408" y="4297680"/>
            <a:ext cx="502920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Tests from the spec</a:t>
            </a:r>
          </a:p>
        </p:txBody>
      </p:sp>
      <p:sp>
        <p:nvSpPr>
          <p:cNvPr id="23" name="TextBox 22"/>
          <p:cNvSpPr txBox="1"/>
          <p:nvPr/>
        </p:nvSpPr>
        <p:spPr>
          <a:xfrm>
            <a:off x="12408408" y="4937760"/>
            <a:ext cx="5029200" cy="1463040"/>
          </a:xfrm>
          <a:prstGeom prst="rect">
            <a:avLst/>
          </a:prstGeom>
          <a:noFill/>
        </p:spPr>
        <p:txBody>
          <a:bodyPr wrap="square" lIns="0" rIns="0" tIns="18288" bIns="18288" anchor="t">
            <a:noAutofit/>
          </a:bodyPr>
          <a:lstStyle/>
          <a:p>
            <a:pPr algn="l">
              <a:lnSpc>
                <a:spcPct val="100000"/>
              </a:lnSpc>
              <a:spcBef>
                <a:spcPts val="0"/>
              </a:spcBef>
              <a:spcAft>
                <a:spcPts val="0"/>
              </a:spcAft>
            </a:pPr>
            <a:r>
              <a:rPr sz="1800" b="0" i="0">
                <a:solidFill>
                  <a:srgbClr val="192B37"/>
                </a:solidFill>
              </a:rPr>
              <a:t>Schemathesis property-tests our OpenAPI; triage the 500s</a:t>
            </a:r>
          </a:p>
        </p:txBody>
      </p:sp>
      <p:sp>
        <p:nvSpPr>
          <p:cNvPr id="24" name="Rounded Rectangle 23"/>
          <p:cNvSpPr/>
          <p:nvPr/>
        </p:nvSpPr>
        <p:spPr>
          <a:xfrm>
            <a:off x="17894808" y="2926080"/>
            <a:ext cx="5532120" cy="3566160"/>
          </a:xfrm>
          <a:prstGeom prst="roundRect">
            <a:avLst>
              <a:gd name="adj" fmla="val 7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8169128" y="3200400"/>
            <a:ext cx="914400" cy="91440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LuDices.png"/>
          <p:cNvPicPr>
            <a:picLocks noChangeAspect="1"/>
          </p:cNvPicPr>
          <p:nvPr/>
        </p:nvPicPr>
        <p:blipFill>
          <a:blip r:embed="rId6"/>
          <a:stretch>
            <a:fillRect/>
          </a:stretch>
        </p:blipFill>
        <p:spPr>
          <a:xfrm>
            <a:off x="18388584" y="3419856"/>
            <a:ext cx="475488" cy="475488"/>
          </a:xfrm>
          <a:prstGeom prst="rect">
            <a:avLst/>
          </a:prstGeom>
        </p:spPr>
      </p:pic>
      <p:sp>
        <p:nvSpPr>
          <p:cNvPr id="27" name="TextBox 26"/>
          <p:cNvSpPr txBox="1"/>
          <p:nvPr/>
        </p:nvSpPr>
        <p:spPr>
          <a:xfrm>
            <a:off x="22009608" y="3154680"/>
            <a:ext cx="118872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DB7D00"/>
                </a:solidFill>
                <a:latin typeface="+mj-lt"/>
              </a:rPr>
              <a:t>04</a:t>
            </a:r>
          </a:p>
        </p:txBody>
      </p:sp>
      <p:sp>
        <p:nvSpPr>
          <p:cNvPr id="28" name="TextBox 27"/>
          <p:cNvSpPr txBox="1"/>
          <p:nvPr/>
        </p:nvSpPr>
        <p:spPr>
          <a:xfrm>
            <a:off x="18169128" y="4297680"/>
            <a:ext cx="502920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Synthetic data</a:t>
            </a:r>
          </a:p>
        </p:txBody>
      </p:sp>
      <p:sp>
        <p:nvSpPr>
          <p:cNvPr id="29" name="TextBox 28"/>
          <p:cNvSpPr txBox="1"/>
          <p:nvPr/>
        </p:nvSpPr>
        <p:spPr>
          <a:xfrm>
            <a:off x="18169128" y="4937760"/>
            <a:ext cx="5029200" cy="1463040"/>
          </a:xfrm>
          <a:prstGeom prst="rect">
            <a:avLst/>
          </a:prstGeom>
          <a:noFill/>
        </p:spPr>
        <p:txBody>
          <a:bodyPr wrap="square" lIns="0" rIns="0" tIns="18288" bIns="18288" anchor="t">
            <a:noAutofit/>
          </a:bodyPr>
          <a:lstStyle/>
          <a:p>
            <a:pPr algn="l">
              <a:lnSpc>
                <a:spcPct val="100000"/>
              </a:lnSpc>
              <a:spcBef>
                <a:spcPts val="0"/>
              </a:spcBef>
              <a:spcAft>
                <a:spcPts val="0"/>
              </a:spcAft>
            </a:pPr>
            <a:r>
              <a:rPr sz="1800" b="0" i="0">
                <a:solidFill>
                  <a:srgbClr val="192B37"/>
                </a:solidFill>
              </a:rPr>
              <a:t>Faker factories for users &amp; payments — no real PII, ever</a:t>
            </a:r>
          </a:p>
        </p:txBody>
      </p:sp>
      <p:sp>
        <p:nvSpPr>
          <p:cNvPr id="30" name="Rounded Rectangle 29"/>
          <p:cNvSpPr/>
          <p:nvPr/>
        </p:nvSpPr>
        <p:spPr>
          <a:xfrm>
            <a:off x="612648" y="6720840"/>
            <a:ext cx="5532120" cy="3566160"/>
          </a:xfrm>
          <a:prstGeom prst="roundRect">
            <a:avLst>
              <a:gd name="adj" fmla="val 7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886968" y="6995160"/>
            <a:ext cx="914400" cy="9144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LuAccessibility.png"/>
          <p:cNvPicPr>
            <a:picLocks noChangeAspect="1"/>
          </p:cNvPicPr>
          <p:nvPr/>
        </p:nvPicPr>
        <p:blipFill>
          <a:blip r:embed="rId7"/>
          <a:stretch>
            <a:fillRect/>
          </a:stretch>
        </p:blipFill>
        <p:spPr>
          <a:xfrm>
            <a:off x="1106424" y="7214616"/>
            <a:ext cx="475488" cy="475488"/>
          </a:xfrm>
          <a:prstGeom prst="rect">
            <a:avLst/>
          </a:prstGeom>
        </p:spPr>
      </p:pic>
      <p:sp>
        <p:nvSpPr>
          <p:cNvPr id="33" name="TextBox 32"/>
          <p:cNvSpPr txBox="1"/>
          <p:nvPr/>
        </p:nvSpPr>
        <p:spPr>
          <a:xfrm>
            <a:off x="4727448" y="6949440"/>
            <a:ext cx="118872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FF5640"/>
                </a:solidFill>
                <a:latin typeface="+mj-lt"/>
              </a:rPr>
              <a:t>05</a:t>
            </a:r>
          </a:p>
        </p:txBody>
      </p:sp>
      <p:sp>
        <p:nvSpPr>
          <p:cNvPr id="34" name="TextBox 33"/>
          <p:cNvSpPr txBox="1"/>
          <p:nvPr/>
        </p:nvSpPr>
        <p:spPr>
          <a:xfrm>
            <a:off x="886968" y="8092440"/>
            <a:ext cx="502920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a11y on every page</a:t>
            </a:r>
          </a:p>
        </p:txBody>
      </p:sp>
      <p:sp>
        <p:nvSpPr>
          <p:cNvPr id="35" name="TextBox 34"/>
          <p:cNvSpPr txBox="1"/>
          <p:nvPr/>
        </p:nvSpPr>
        <p:spPr>
          <a:xfrm>
            <a:off x="886968" y="8732520"/>
            <a:ext cx="5029200" cy="1463040"/>
          </a:xfrm>
          <a:prstGeom prst="rect">
            <a:avLst/>
          </a:prstGeom>
          <a:noFill/>
        </p:spPr>
        <p:txBody>
          <a:bodyPr wrap="square" lIns="0" rIns="0" tIns="18288" bIns="18288" anchor="t">
            <a:noAutofit/>
          </a:bodyPr>
          <a:lstStyle/>
          <a:p>
            <a:pPr algn="l">
              <a:lnSpc>
                <a:spcPct val="100000"/>
              </a:lnSpc>
              <a:spcBef>
                <a:spcPts val="0"/>
              </a:spcBef>
              <a:spcAft>
                <a:spcPts val="0"/>
              </a:spcAft>
            </a:pPr>
            <a:r>
              <a:rPr sz="1800" b="0" i="0">
                <a:solidFill>
                  <a:srgbClr val="192B37"/>
                </a:solidFill>
              </a:rPr>
              <a:t>axe after each navigation; agent groups by WCAG rule</a:t>
            </a:r>
          </a:p>
        </p:txBody>
      </p:sp>
      <p:sp>
        <p:nvSpPr>
          <p:cNvPr id="36" name="Rounded Rectangle 35"/>
          <p:cNvSpPr/>
          <p:nvPr/>
        </p:nvSpPr>
        <p:spPr>
          <a:xfrm>
            <a:off x="6373368" y="6720840"/>
            <a:ext cx="5532120" cy="3566160"/>
          </a:xfrm>
          <a:prstGeom prst="roundRect">
            <a:avLst>
              <a:gd name="adj" fmla="val 7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6647688" y="6995160"/>
            <a:ext cx="914400" cy="91440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LuCamera.png"/>
          <p:cNvPicPr>
            <a:picLocks noChangeAspect="1"/>
          </p:cNvPicPr>
          <p:nvPr/>
        </p:nvPicPr>
        <p:blipFill>
          <a:blip r:embed="rId8"/>
          <a:stretch>
            <a:fillRect/>
          </a:stretch>
        </p:blipFill>
        <p:spPr>
          <a:xfrm>
            <a:off x="6867144" y="7214616"/>
            <a:ext cx="475488" cy="475488"/>
          </a:xfrm>
          <a:prstGeom prst="rect">
            <a:avLst/>
          </a:prstGeom>
        </p:spPr>
      </p:pic>
      <p:sp>
        <p:nvSpPr>
          <p:cNvPr id="39" name="TextBox 38"/>
          <p:cNvSpPr txBox="1"/>
          <p:nvPr/>
        </p:nvSpPr>
        <p:spPr>
          <a:xfrm>
            <a:off x="10488167" y="6949440"/>
            <a:ext cx="118872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729A00"/>
                </a:solidFill>
                <a:latin typeface="+mj-lt"/>
              </a:rPr>
              <a:t>06</a:t>
            </a:r>
          </a:p>
        </p:txBody>
      </p:sp>
      <p:sp>
        <p:nvSpPr>
          <p:cNvPr id="40" name="TextBox 39"/>
          <p:cNvSpPr txBox="1"/>
          <p:nvPr/>
        </p:nvSpPr>
        <p:spPr>
          <a:xfrm>
            <a:off x="6647688" y="8092440"/>
            <a:ext cx="502920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Visual regression</a:t>
            </a:r>
          </a:p>
        </p:txBody>
      </p:sp>
      <p:sp>
        <p:nvSpPr>
          <p:cNvPr id="41" name="TextBox 40"/>
          <p:cNvSpPr txBox="1"/>
          <p:nvPr/>
        </p:nvSpPr>
        <p:spPr>
          <a:xfrm>
            <a:off x="6647688" y="8732520"/>
            <a:ext cx="5029200" cy="1463040"/>
          </a:xfrm>
          <a:prstGeom prst="rect">
            <a:avLst/>
          </a:prstGeom>
          <a:noFill/>
        </p:spPr>
        <p:txBody>
          <a:bodyPr wrap="square" lIns="0" rIns="0" tIns="18288" bIns="18288" anchor="t">
            <a:noAutofit/>
          </a:bodyPr>
          <a:lstStyle/>
          <a:p>
            <a:pPr algn="l">
              <a:lnSpc>
                <a:spcPct val="100000"/>
              </a:lnSpc>
              <a:spcBef>
                <a:spcPts val="0"/>
              </a:spcBef>
              <a:spcAft>
                <a:spcPts val="0"/>
              </a:spcAft>
            </a:pPr>
            <a:r>
              <a:rPr sz="1800" b="0" i="0">
                <a:solidFill>
                  <a:srgbClr val="192B37"/>
                </a:solidFill>
              </a:rPr>
              <a:t>toHaveScreenshot baselines + agent-written diff summary</a:t>
            </a:r>
          </a:p>
        </p:txBody>
      </p:sp>
      <p:sp>
        <p:nvSpPr>
          <p:cNvPr id="42" name="Rounded Rectangle 41"/>
          <p:cNvSpPr/>
          <p:nvPr/>
        </p:nvSpPr>
        <p:spPr>
          <a:xfrm>
            <a:off x="12134088" y="6720840"/>
            <a:ext cx="5532120" cy="3566160"/>
          </a:xfrm>
          <a:prstGeom prst="roundRect">
            <a:avLst>
              <a:gd name="adj" fmla="val 7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2408408" y="6995160"/>
            <a:ext cx="914400" cy="9144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LuBug.png"/>
          <p:cNvPicPr>
            <a:picLocks noChangeAspect="1"/>
          </p:cNvPicPr>
          <p:nvPr/>
        </p:nvPicPr>
        <p:blipFill>
          <a:blip r:embed="rId9"/>
          <a:stretch>
            <a:fillRect/>
          </a:stretch>
        </p:blipFill>
        <p:spPr>
          <a:xfrm>
            <a:off x="12627864" y="7214616"/>
            <a:ext cx="475488" cy="475488"/>
          </a:xfrm>
          <a:prstGeom prst="rect">
            <a:avLst/>
          </a:prstGeom>
        </p:spPr>
      </p:pic>
      <p:sp>
        <p:nvSpPr>
          <p:cNvPr id="45" name="TextBox 44"/>
          <p:cNvSpPr txBox="1"/>
          <p:nvPr/>
        </p:nvSpPr>
        <p:spPr>
          <a:xfrm>
            <a:off x="16248888" y="6949440"/>
            <a:ext cx="118872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3D9BC8"/>
                </a:solidFill>
                <a:latin typeface="+mj-lt"/>
              </a:rPr>
              <a:t>07</a:t>
            </a:r>
          </a:p>
        </p:txBody>
      </p:sp>
      <p:sp>
        <p:nvSpPr>
          <p:cNvPr id="46" name="TextBox 45"/>
          <p:cNvSpPr txBox="1"/>
          <p:nvPr/>
        </p:nvSpPr>
        <p:spPr>
          <a:xfrm>
            <a:off x="12408408" y="8092440"/>
            <a:ext cx="502920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Mutation testing</a:t>
            </a:r>
          </a:p>
        </p:txBody>
      </p:sp>
      <p:sp>
        <p:nvSpPr>
          <p:cNvPr id="47" name="TextBox 46"/>
          <p:cNvSpPr txBox="1"/>
          <p:nvPr/>
        </p:nvSpPr>
        <p:spPr>
          <a:xfrm>
            <a:off x="12408408" y="8732520"/>
            <a:ext cx="5029200" cy="1463040"/>
          </a:xfrm>
          <a:prstGeom prst="rect">
            <a:avLst/>
          </a:prstGeom>
          <a:noFill/>
        </p:spPr>
        <p:txBody>
          <a:bodyPr wrap="square" lIns="0" rIns="0" tIns="18288" bIns="18288" anchor="t">
            <a:noAutofit/>
          </a:bodyPr>
          <a:lstStyle/>
          <a:p>
            <a:pPr algn="l">
              <a:lnSpc>
                <a:spcPct val="100000"/>
              </a:lnSpc>
              <a:spcBef>
                <a:spcPts val="0"/>
              </a:spcBef>
              <a:spcAft>
                <a:spcPts val="0"/>
              </a:spcAft>
            </a:pPr>
            <a:r>
              <a:rPr sz="1800" b="0" i="0">
                <a:solidFill>
                  <a:srgbClr val="192B37"/>
                </a:solidFill>
              </a:rPr>
              <a:t>Stryker mutates code — do our tests notice?</a:t>
            </a:r>
          </a:p>
        </p:txBody>
      </p:sp>
      <p:sp>
        <p:nvSpPr>
          <p:cNvPr id="48" name="Rounded Rectangle 47"/>
          <p:cNvSpPr/>
          <p:nvPr/>
        </p:nvSpPr>
        <p:spPr>
          <a:xfrm>
            <a:off x="17894808" y="6720840"/>
            <a:ext cx="5532120" cy="3566160"/>
          </a:xfrm>
          <a:prstGeom prst="roundRect">
            <a:avLst>
              <a:gd name="adj" fmla="val 7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18169128" y="6995160"/>
            <a:ext cx="914400" cy="9144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LuCloudLightning.png"/>
          <p:cNvPicPr>
            <a:picLocks noChangeAspect="1"/>
          </p:cNvPicPr>
          <p:nvPr/>
        </p:nvPicPr>
        <p:blipFill>
          <a:blip r:embed="rId10"/>
          <a:stretch>
            <a:fillRect/>
          </a:stretch>
        </p:blipFill>
        <p:spPr>
          <a:xfrm>
            <a:off x="18388584" y="7214616"/>
            <a:ext cx="475488" cy="475488"/>
          </a:xfrm>
          <a:prstGeom prst="rect">
            <a:avLst/>
          </a:prstGeom>
        </p:spPr>
      </p:pic>
      <p:sp>
        <p:nvSpPr>
          <p:cNvPr id="51" name="TextBox 50"/>
          <p:cNvSpPr txBox="1"/>
          <p:nvPr/>
        </p:nvSpPr>
        <p:spPr>
          <a:xfrm>
            <a:off x="22009608" y="6949440"/>
            <a:ext cx="118872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00A859"/>
                </a:solidFill>
                <a:latin typeface="+mj-lt"/>
              </a:rPr>
              <a:t>08</a:t>
            </a:r>
          </a:p>
        </p:txBody>
      </p:sp>
      <p:sp>
        <p:nvSpPr>
          <p:cNvPr id="52" name="TextBox 51"/>
          <p:cNvSpPr txBox="1"/>
          <p:nvPr/>
        </p:nvSpPr>
        <p:spPr>
          <a:xfrm>
            <a:off x="18169128" y="8092440"/>
            <a:ext cx="502920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2200" b="1" i="0">
                <a:solidFill>
                  <a:srgbClr val="192B37"/>
                </a:solidFill>
              </a:rPr>
              <a:t>Chaos &amp; latency</a:t>
            </a:r>
          </a:p>
        </p:txBody>
      </p:sp>
      <p:sp>
        <p:nvSpPr>
          <p:cNvPr id="53" name="TextBox 52"/>
          <p:cNvSpPr txBox="1"/>
          <p:nvPr/>
        </p:nvSpPr>
        <p:spPr>
          <a:xfrm>
            <a:off x="18169128" y="8732520"/>
            <a:ext cx="5029200" cy="1463040"/>
          </a:xfrm>
          <a:prstGeom prst="rect">
            <a:avLst/>
          </a:prstGeom>
          <a:noFill/>
        </p:spPr>
        <p:txBody>
          <a:bodyPr wrap="square" lIns="0" rIns="0" tIns="18288" bIns="18288" anchor="t">
            <a:noAutofit/>
          </a:bodyPr>
          <a:lstStyle/>
          <a:p>
            <a:pPr algn="l">
              <a:lnSpc>
                <a:spcPct val="100000"/>
              </a:lnSpc>
              <a:spcBef>
                <a:spcPts val="0"/>
              </a:spcBef>
              <a:spcAft>
                <a:spcPts val="0"/>
              </a:spcAft>
            </a:pPr>
            <a:r>
              <a:rPr sz="1800" b="0" i="0">
                <a:solidFill>
                  <a:srgbClr val="192B37"/>
                </a:solidFill>
              </a:rPr>
              <a:t>page.route / Toxiproxy: slow, 500, timeout matrix</a:t>
            </a:r>
          </a:p>
        </p:txBody>
      </p:sp>
      <p:sp>
        <p:nvSpPr>
          <p:cNvPr id="54" name="Rounded Rectangle 53"/>
          <p:cNvSpPr/>
          <p:nvPr/>
        </p:nvSpPr>
        <p:spPr>
          <a:xfrm>
            <a:off x="612648" y="10789920"/>
            <a:ext cx="22860000" cy="960120"/>
          </a:xfrm>
          <a:prstGeom prst="roundRect">
            <a:avLst>
              <a:gd name="adj" fmla="val 15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886968" y="10927080"/>
            <a:ext cx="685800" cy="68580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LuLaugh.png"/>
          <p:cNvPicPr>
            <a:picLocks noChangeAspect="1"/>
          </p:cNvPicPr>
          <p:nvPr/>
        </p:nvPicPr>
        <p:blipFill>
          <a:blip r:embed="rId11"/>
          <a:stretch>
            <a:fillRect/>
          </a:stretch>
        </p:blipFill>
        <p:spPr>
          <a:xfrm>
            <a:off x="1051560" y="11091672"/>
            <a:ext cx="356616" cy="356616"/>
          </a:xfrm>
          <a:prstGeom prst="rect">
            <a:avLst/>
          </a:prstGeom>
        </p:spPr>
      </p:pic>
      <p:sp>
        <p:nvSpPr>
          <p:cNvPr id="57" name="TextBox 56"/>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Innovation is when the Healer agent fixes your locator before you've finished blaming the developer.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Hands-on</a:t>
            </a:r>
          </a:p>
        </p:txBody>
      </p:sp>
      <p:sp>
        <p:nvSpPr>
          <p:cNvPr id="3" name="Text Placeholder 2"/>
          <p:cNvSpPr>
            <a:spLocks noGrp="1"/>
          </p:cNvSpPr>
          <p:nvPr>
            <p:ph type="body" idx="21" sz="quarter"/>
          </p:nvPr>
        </p:nvSpPr>
        <p:spPr/>
        <p:txBody>
          <a:bodyPr/>
          <a:lstStyle/>
          <a:p>
            <a:r>
              <a:t>07</a:t>
            </a:r>
          </a:p>
        </p:txBody>
      </p:sp>
      <p:sp>
        <p:nvSpPr>
          <p:cNvPr id="4" name="Text Placeholder 3"/>
          <p:cNvSpPr>
            <a:spLocks noGrp="1"/>
          </p:cNvSpPr>
          <p:nvPr>
            <p:ph type="body" idx="22" sz="quarter"/>
          </p:nvPr>
        </p:nvSpPr>
        <p:spPr/>
        <p:txBody>
          <a:bodyPr/>
          <a:lstStyle/>
          <a:p>
            <a:r>
              <a:t>Ten exercises from an empty laptop to agents changing code — then ten real-world questions</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68</a:t>
            </a:r>
          </a:p>
        </p:txBody>
      </p:sp>
      <p:sp>
        <p:nvSpPr>
          <p:cNvPr id="6" name="Rounded Rectangle 5"/>
          <p:cNvSpPr/>
          <p:nvPr/>
        </p:nvSpPr>
        <p:spPr>
          <a:xfrm>
            <a:off x="5303520" y="7086600"/>
            <a:ext cx="17007840" cy="1143000"/>
          </a:xfrm>
          <a:prstGeom prst="roundRect">
            <a:avLst>
              <a:gd name="adj" fmla="val 20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532120" y="7287768"/>
            <a:ext cx="731520" cy="73152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Laugh.png"/>
          <p:cNvPicPr>
            <a:picLocks noChangeAspect="1"/>
          </p:cNvPicPr>
          <p:nvPr/>
        </p:nvPicPr>
        <p:blipFill>
          <a:blip r:embed="rId3"/>
          <a:stretch>
            <a:fillRect/>
          </a:stretch>
        </p:blipFill>
        <p:spPr>
          <a:xfrm>
            <a:off x="5707684" y="7463332"/>
            <a:ext cx="380390" cy="380390"/>
          </a:xfrm>
          <a:prstGeom prst="rect">
            <a:avLst/>
          </a:prstGeom>
        </p:spPr>
      </p:pic>
      <p:sp>
        <p:nvSpPr>
          <p:cNvPr id="9" name="TextBox 8"/>
          <p:cNvSpPr txBox="1"/>
          <p:nvPr/>
        </p:nvSpPr>
        <p:spPr>
          <a:xfrm>
            <a:off x="6492240" y="7086600"/>
            <a:ext cx="15636240" cy="114300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0" i="1">
                <a:solidFill>
                  <a:srgbClr val="192B37"/>
                </a:solidFill>
              </a:rPr>
              <a:t>Theory is over. Time to get your hands dirty — in a sandbox, with a freshly seeded database.</a:t>
            </a:r>
          </a:p>
        </p:txBody>
      </p:sp>
      <p:sp>
        <p:nvSpPr>
          <p:cNvPr id="10" name="TextBox 9"/>
          <p:cNvSpPr txBox="1"/>
          <p:nvPr/>
        </p:nvSpPr>
        <p:spPr>
          <a:xfrm>
            <a:off x="5303520" y="8915400"/>
            <a:ext cx="91440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3D9BC8"/>
                </a:solidFill>
              </a:rPr>
              <a:t>IN THIS CHAPTER</a:t>
            </a:r>
          </a:p>
        </p:txBody>
      </p:sp>
      <p:sp>
        <p:nvSpPr>
          <p:cNvPr id="11" name="Rounded Rectangle 10"/>
          <p:cNvSpPr/>
          <p:nvPr/>
        </p:nvSpPr>
        <p:spPr>
          <a:xfrm>
            <a:off x="5303520" y="9464040"/>
            <a:ext cx="2510028" cy="640080"/>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94959" y="9464040"/>
            <a:ext cx="2327148"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Exercises 1–5</a:t>
            </a:r>
          </a:p>
        </p:txBody>
      </p:sp>
      <p:sp>
        <p:nvSpPr>
          <p:cNvPr id="13" name="Rounded Rectangle 12"/>
          <p:cNvSpPr/>
          <p:nvPr/>
        </p:nvSpPr>
        <p:spPr>
          <a:xfrm>
            <a:off x="8087867" y="9464040"/>
            <a:ext cx="2660904" cy="640080"/>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179307" y="9464040"/>
            <a:ext cx="2478024"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Exercises 6–10</a:t>
            </a:r>
          </a:p>
        </p:txBody>
      </p:sp>
      <p:sp>
        <p:nvSpPr>
          <p:cNvPr id="15" name="Rounded Rectangle 14"/>
          <p:cNvSpPr/>
          <p:nvPr/>
        </p:nvSpPr>
        <p:spPr>
          <a:xfrm>
            <a:off x="11023092" y="9464040"/>
            <a:ext cx="4018788" cy="640080"/>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114532" y="9464040"/>
            <a:ext cx="3835908"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10 real-world questions</a:t>
            </a:r>
          </a:p>
        </p:txBody>
      </p:sp>
      <p:sp>
        <p:nvSpPr>
          <p:cNvPr id="17" name="Oval 16"/>
          <p:cNvSpPr/>
          <p:nvPr/>
        </p:nvSpPr>
        <p:spPr>
          <a:xfrm>
            <a:off x="20162520" y="8915400"/>
            <a:ext cx="731520" cy="73152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1122640" y="8915400"/>
            <a:ext cx="731520" cy="731520"/>
          </a:xfrm>
          <a:prstGeom prst="ellipse">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2082760" y="8915400"/>
            <a:ext cx="731520" cy="73152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0162520" y="9875520"/>
            <a:ext cx="731520" cy="731520"/>
          </a:xfrm>
          <a:prstGeom prst="ellipse">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1122640" y="9875520"/>
            <a:ext cx="731520" cy="73152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2082760" y="9875520"/>
            <a:ext cx="731520" cy="731520"/>
          </a:xfrm>
          <a:prstGeom prst="ellipse">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Hands-on</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3D9BC8"/>
                </a:solidFill>
              </a:rPr>
              <a:t>PRACTICAL EXERCISES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From zero to a running app</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69</a:t>
            </a:r>
          </a:p>
        </p:txBody>
      </p:sp>
      <p:sp>
        <p:nvSpPr>
          <p:cNvPr id="6" name="Rounded Rectangle 5"/>
          <p:cNvSpPr/>
          <p:nvPr/>
        </p:nvSpPr>
        <p:spPr>
          <a:xfrm>
            <a:off x="612648" y="2926080"/>
            <a:ext cx="22860000" cy="1353312"/>
          </a:xfrm>
          <a:prstGeom prst="roundRect">
            <a:avLst>
              <a:gd name="adj" fmla="val 1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22960" y="3145536"/>
            <a:ext cx="914400" cy="9144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145536"/>
            <a:ext cx="914400" cy="914400"/>
          </a:xfrm>
          <a:prstGeom prst="rect">
            <a:avLst/>
          </a:prstGeom>
          <a:noFill/>
        </p:spPr>
        <p:txBody>
          <a:bodyPr wrap="square" lIns="0" rIns="0" tIns="18288" bIns="18288" anchor="ctr">
            <a:noAutofit/>
          </a:bodyPr>
          <a:lstStyle/>
          <a:p>
            <a:pPr algn="ctr">
              <a:lnSpc>
                <a:spcPct val="100000"/>
              </a:lnSpc>
              <a:spcBef>
                <a:spcPts val="0"/>
              </a:spcBef>
              <a:spcAft>
                <a:spcPts val="0"/>
              </a:spcAft>
            </a:pPr>
            <a:r>
              <a:rPr sz="2600" b="1" i="0">
                <a:solidFill>
                  <a:srgbClr val="FFFFFF"/>
                </a:solidFill>
              </a:rPr>
              <a:t>1</a:t>
            </a:r>
          </a:p>
        </p:txBody>
      </p:sp>
      <p:sp>
        <p:nvSpPr>
          <p:cNvPr id="9" name="TextBox 8"/>
          <p:cNvSpPr txBox="1"/>
          <p:nvPr/>
        </p:nvSpPr>
        <p:spPr>
          <a:xfrm>
            <a:off x="2011680" y="2926080"/>
            <a:ext cx="3931920" cy="1353312"/>
          </a:xfrm>
          <a:prstGeom prst="rect">
            <a:avLst/>
          </a:prstGeom>
          <a:noFill/>
        </p:spPr>
        <p:txBody>
          <a:bodyPr wrap="square" lIns="0" rIns="0" tIns="18288" bIns="18288" anchor="ctr">
            <a:noAutofit/>
          </a:bodyPr>
          <a:lstStyle/>
          <a:p>
            <a:pPr algn="l">
              <a:lnSpc>
                <a:spcPct val="100000"/>
              </a:lnSpc>
              <a:spcBef>
                <a:spcPts val="0"/>
              </a:spcBef>
              <a:spcAft>
                <a:spcPts val="0"/>
              </a:spcAft>
            </a:pPr>
            <a:r>
              <a:rPr sz="2100" b="1" i="0">
                <a:solidFill>
                  <a:srgbClr val="192B37"/>
                </a:solidFill>
              </a:rPr>
              <a:t>Get the code</a:t>
            </a:r>
          </a:p>
        </p:txBody>
      </p:sp>
      <p:sp>
        <p:nvSpPr>
          <p:cNvPr id="10" name="TextBox 9"/>
          <p:cNvSpPr txBox="1"/>
          <p:nvPr/>
        </p:nvSpPr>
        <p:spPr>
          <a:xfrm>
            <a:off x="6035040" y="2999232"/>
            <a:ext cx="11338560" cy="123444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0" i="0">
                <a:solidFill>
                  <a:srgbClr val="192B37"/>
                </a:solidFill>
              </a:rPr>
              <a:t>copy/clone the folder, open it in VS Code</a:t>
            </a:r>
          </a:p>
          <a:p>
            <a:pPr algn="l">
              <a:lnSpc>
                <a:spcPct val="100000"/>
              </a:lnSpc>
              <a:spcBef>
                <a:spcPts val="0"/>
              </a:spcBef>
              <a:spcAft>
                <a:spcPts val="0"/>
              </a:spcAft>
            </a:pPr>
            <a:r>
              <a:rPr sz="1472" b="0" i="0">
                <a:solidFill>
                  <a:srgbClr val="B4471D"/>
                </a:solidFill>
                <a:latin typeface="Consolas"/>
              </a:rPr>
              <a:t>nvm use</a:t>
            </a:r>
            <a:r>
              <a:rPr sz="1600" b="0" i="0">
                <a:solidFill>
                  <a:srgbClr val="192B37"/>
                </a:solidFill>
              </a:rPr>
              <a:t> → Node 22 · Yarn 1</a:t>
            </a:r>
          </a:p>
        </p:txBody>
      </p:sp>
      <p:sp>
        <p:nvSpPr>
          <p:cNvPr id="11" name="Rounded Rectangle 10"/>
          <p:cNvSpPr/>
          <p:nvPr/>
        </p:nvSpPr>
        <p:spPr>
          <a:xfrm>
            <a:off x="17556480" y="3200400"/>
            <a:ext cx="3931920" cy="804672"/>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7675352" y="3337560"/>
            <a:ext cx="530352" cy="530352"/>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uCheck.png"/>
          <p:cNvPicPr>
            <a:picLocks noChangeAspect="1"/>
          </p:cNvPicPr>
          <p:nvPr/>
        </p:nvPicPr>
        <p:blipFill>
          <a:blip r:embed="rId3"/>
          <a:stretch>
            <a:fillRect/>
          </a:stretch>
        </p:blipFill>
        <p:spPr>
          <a:xfrm>
            <a:off x="17757648" y="3419856"/>
            <a:ext cx="365760" cy="365760"/>
          </a:xfrm>
          <a:prstGeom prst="rect">
            <a:avLst/>
          </a:prstGeom>
        </p:spPr>
      </p:pic>
      <p:sp>
        <p:nvSpPr>
          <p:cNvPr id="14" name="TextBox 13"/>
          <p:cNvSpPr txBox="1"/>
          <p:nvPr/>
        </p:nvSpPr>
        <p:spPr>
          <a:xfrm>
            <a:off x="18333720" y="3200400"/>
            <a:ext cx="3108960" cy="804672"/>
          </a:xfrm>
          <a:prstGeom prst="rect">
            <a:avLst/>
          </a:prstGeom>
          <a:noFill/>
        </p:spPr>
        <p:txBody>
          <a:bodyPr wrap="square" lIns="0" rIns="0" tIns="18288" bIns="18288" anchor="ctr">
            <a:noAutofit/>
          </a:bodyPr>
          <a:lstStyle/>
          <a:p>
            <a:pPr algn="l">
              <a:lnSpc>
                <a:spcPct val="100000"/>
              </a:lnSpc>
              <a:spcBef>
                <a:spcPts val="0"/>
              </a:spcBef>
              <a:spcAft>
                <a:spcPts val="0"/>
              </a:spcAft>
            </a:pPr>
            <a:r>
              <a:rPr sz="1380" b="1" i="0">
                <a:solidFill>
                  <a:srgbClr val="C2410C"/>
                </a:solidFill>
                <a:latin typeface="Consolas"/>
              </a:rPr>
              <a:t>node -v</a:t>
            </a:r>
            <a:r>
              <a:rPr sz="1500" b="1" i="0">
                <a:solidFill>
                  <a:srgbClr val="192B37"/>
                </a:solidFill>
              </a:rPr>
              <a:t> → v22</a:t>
            </a:r>
          </a:p>
        </p:txBody>
      </p:sp>
      <p:sp>
        <p:nvSpPr>
          <p:cNvPr id="15" name="Rounded Rectangle 14"/>
          <p:cNvSpPr/>
          <p:nvPr/>
        </p:nvSpPr>
        <p:spPr>
          <a:xfrm>
            <a:off x="21717000" y="3273552"/>
            <a:ext cx="1554480" cy="658368"/>
          </a:xfrm>
          <a:prstGeom prst="roundRect">
            <a:avLst>
              <a:gd name="adj" fmla="val 50000"/>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1808440" y="3273552"/>
            <a:ext cx="1371600" cy="658368"/>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FFFFFF"/>
                </a:solidFill>
              </a:rPr>
              <a:t>lab-01</a:t>
            </a:r>
          </a:p>
        </p:txBody>
      </p:sp>
      <p:sp>
        <p:nvSpPr>
          <p:cNvPr id="17" name="Rounded Rectangle 16"/>
          <p:cNvSpPr/>
          <p:nvPr/>
        </p:nvSpPr>
        <p:spPr>
          <a:xfrm>
            <a:off x="612648" y="4425696"/>
            <a:ext cx="22860000" cy="1353312"/>
          </a:xfrm>
          <a:prstGeom prst="roundRect">
            <a:avLst>
              <a:gd name="adj" fmla="val 1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2960" y="4645152"/>
            <a:ext cx="914400" cy="9144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645152"/>
            <a:ext cx="914400" cy="914400"/>
          </a:xfrm>
          <a:prstGeom prst="rect">
            <a:avLst/>
          </a:prstGeom>
          <a:noFill/>
        </p:spPr>
        <p:txBody>
          <a:bodyPr wrap="square" lIns="0" rIns="0" tIns="18288" bIns="18288" anchor="ctr">
            <a:noAutofit/>
          </a:bodyPr>
          <a:lstStyle/>
          <a:p>
            <a:pPr algn="ctr">
              <a:lnSpc>
                <a:spcPct val="100000"/>
              </a:lnSpc>
              <a:spcBef>
                <a:spcPts val="0"/>
              </a:spcBef>
              <a:spcAft>
                <a:spcPts val="0"/>
              </a:spcAft>
            </a:pPr>
            <a:r>
              <a:rPr sz="2600" b="1" i="0">
                <a:solidFill>
                  <a:srgbClr val="FFFFFF"/>
                </a:solidFill>
              </a:rPr>
              <a:t>2</a:t>
            </a:r>
          </a:p>
        </p:txBody>
      </p:sp>
      <p:sp>
        <p:nvSpPr>
          <p:cNvPr id="20" name="TextBox 19"/>
          <p:cNvSpPr txBox="1"/>
          <p:nvPr/>
        </p:nvSpPr>
        <p:spPr>
          <a:xfrm>
            <a:off x="2011680" y="4425696"/>
            <a:ext cx="3931920" cy="1353312"/>
          </a:xfrm>
          <a:prstGeom prst="rect">
            <a:avLst/>
          </a:prstGeom>
          <a:noFill/>
        </p:spPr>
        <p:txBody>
          <a:bodyPr wrap="square" lIns="0" rIns="0" tIns="18288" bIns="18288" anchor="ctr">
            <a:noAutofit/>
          </a:bodyPr>
          <a:lstStyle/>
          <a:p>
            <a:pPr algn="l">
              <a:lnSpc>
                <a:spcPct val="100000"/>
              </a:lnSpc>
              <a:spcBef>
                <a:spcPts val="0"/>
              </a:spcBef>
              <a:spcAft>
                <a:spcPts val="0"/>
              </a:spcAft>
            </a:pPr>
            <a:r>
              <a:rPr sz="2100" b="1" i="0">
                <a:solidFill>
                  <a:srgbClr val="192B37"/>
                </a:solidFill>
              </a:rPr>
              <a:t>Install everything</a:t>
            </a:r>
          </a:p>
        </p:txBody>
      </p:sp>
      <p:sp>
        <p:nvSpPr>
          <p:cNvPr id="21" name="TextBox 20"/>
          <p:cNvSpPr txBox="1"/>
          <p:nvPr/>
        </p:nvSpPr>
        <p:spPr>
          <a:xfrm>
            <a:off x="6035040" y="4498848"/>
            <a:ext cx="11338560" cy="1234440"/>
          </a:xfrm>
          <a:prstGeom prst="rect">
            <a:avLst/>
          </a:prstGeom>
          <a:noFill/>
        </p:spPr>
        <p:txBody>
          <a:bodyPr wrap="square" lIns="0" rIns="0" tIns="18288" bIns="18288" anchor="ctr">
            <a:noAutofit/>
          </a:bodyPr>
          <a:lstStyle/>
          <a:p>
            <a:pPr algn="l">
              <a:lnSpc>
                <a:spcPct val="100000"/>
              </a:lnSpc>
              <a:spcBef>
                <a:spcPts val="0"/>
              </a:spcBef>
              <a:spcAft>
                <a:spcPts val="0"/>
              </a:spcAft>
            </a:pPr>
            <a:r>
              <a:rPr sz="1472" b="0" i="0">
                <a:solidFill>
                  <a:srgbClr val="B4471D"/>
                </a:solidFill>
                <a:latin typeface="Consolas"/>
              </a:rPr>
              <a:t>CYPRESS_INSTALL_BINARY=0 yarn install</a:t>
            </a:r>
          </a:p>
          <a:p>
            <a:pPr algn="l">
              <a:lnSpc>
                <a:spcPct val="100000"/>
              </a:lnSpc>
              <a:spcBef>
                <a:spcPts val="0"/>
              </a:spcBef>
              <a:spcAft>
                <a:spcPts val="0"/>
              </a:spcAft>
            </a:pPr>
            <a:r>
              <a:rPr sz="1472" b="0" i="0">
                <a:solidFill>
                  <a:srgbClr val="B4471D"/>
                </a:solidFill>
                <a:latin typeface="Consolas"/>
              </a:rPr>
              <a:t>cd playwright &amp;&amp; npm ci &amp;&amp; npx playwright install chromium</a:t>
            </a:r>
          </a:p>
        </p:txBody>
      </p:sp>
      <p:sp>
        <p:nvSpPr>
          <p:cNvPr id="22" name="Rounded Rectangle 21"/>
          <p:cNvSpPr/>
          <p:nvPr/>
        </p:nvSpPr>
        <p:spPr>
          <a:xfrm>
            <a:off x="17556480" y="4700016"/>
            <a:ext cx="3931920" cy="804672"/>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7675352" y="4837176"/>
            <a:ext cx="530352" cy="530352"/>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LuCheck.png"/>
          <p:cNvPicPr>
            <a:picLocks noChangeAspect="1"/>
          </p:cNvPicPr>
          <p:nvPr/>
        </p:nvPicPr>
        <p:blipFill>
          <a:blip r:embed="rId3"/>
          <a:stretch>
            <a:fillRect/>
          </a:stretch>
        </p:blipFill>
        <p:spPr>
          <a:xfrm>
            <a:off x="17757648" y="4919472"/>
            <a:ext cx="365760" cy="365760"/>
          </a:xfrm>
          <a:prstGeom prst="rect">
            <a:avLst/>
          </a:prstGeom>
        </p:spPr>
      </p:pic>
      <p:sp>
        <p:nvSpPr>
          <p:cNvPr id="25" name="TextBox 24"/>
          <p:cNvSpPr txBox="1"/>
          <p:nvPr/>
        </p:nvSpPr>
        <p:spPr>
          <a:xfrm>
            <a:off x="18333720" y="4700016"/>
            <a:ext cx="3108960" cy="804672"/>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1" i="0">
                <a:solidFill>
                  <a:srgbClr val="192B37"/>
                </a:solidFill>
              </a:rPr>
              <a:t>no errors</a:t>
            </a:r>
          </a:p>
        </p:txBody>
      </p:sp>
      <p:sp>
        <p:nvSpPr>
          <p:cNvPr id="26" name="Rounded Rectangle 25"/>
          <p:cNvSpPr/>
          <p:nvPr/>
        </p:nvSpPr>
        <p:spPr>
          <a:xfrm>
            <a:off x="21717000" y="4773168"/>
            <a:ext cx="1554480" cy="658368"/>
          </a:xfrm>
          <a:prstGeom prst="roundRect">
            <a:avLst>
              <a:gd name="adj" fmla="val 50000"/>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21808440" y="4773168"/>
            <a:ext cx="1371600" cy="658368"/>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FFFFFF"/>
                </a:solidFill>
              </a:rPr>
              <a:t>lab-01</a:t>
            </a:r>
          </a:p>
        </p:txBody>
      </p:sp>
      <p:sp>
        <p:nvSpPr>
          <p:cNvPr id="28" name="Rounded Rectangle 27"/>
          <p:cNvSpPr/>
          <p:nvPr/>
        </p:nvSpPr>
        <p:spPr>
          <a:xfrm>
            <a:off x="612648" y="5925312"/>
            <a:ext cx="22860000" cy="1353312"/>
          </a:xfrm>
          <a:prstGeom prst="roundRect">
            <a:avLst>
              <a:gd name="adj" fmla="val 1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822960" y="6144768"/>
            <a:ext cx="914400" cy="9144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6144768"/>
            <a:ext cx="914400" cy="914400"/>
          </a:xfrm>
          <a:prstGeom prst="rect">
            <a:avLst/>
          </a:prstGeom>
          <a:noFill/>
        </p:spPr>
        <p:txBody>
          <a:bodyPr wrap="square" lIns="0" rIns="0" tIns="18288" bIns="18288" anchor="ctr">
            <a:noAutofit/>
          </a:bodyPr>
          <a:lstStyle/>
          <a:p>
            <a:pPr algn="ctr">
              <a:lnSpc>
                <a:spcPct val="100000"/>
              </a:lnSpc>
              <a:spcBef>
                <a:spcPts val="0"/>
              </a:spcBef>
              <a:spcAft>
                <a:spcPts val="0"/>
              </a:spcAft>
            </a:pPr>
            <a:r>
              <a:rPr sz="2600" b="1" i="0">
                <a:solidFill>
                  <a:srgbClr val="FFFFFF"/>
                </a:solidFill>
              </a:rPr>
              <a:t>3</a:t>
            </a:r>
          </a:p>
        </p:txBody>
      </p:sp>
      <p:sp>
        <p:nvSpPr>
          <p:cNvPr id="31" name="TextBox 30"/>
          <p:cNvSpPr txBox="1"/>
          <p:nvPr/>
        </p:nvSpPr>
        <p:spPr>
          <a:xfrm>
            <a:off x="2011680" y="5925312"/>
            <a:ext cx="3931920" cy="1353312"/>
          </a:xfrm>
          <a:prstGeom prst="rect">
            <a:avLst/>
          </a:prstGeom>
          <a:noFill/>
        </p:spPr>
        <p:txBody>
          <a:bodyPr wrap="square" lIns="0" rIns="0" tIns="18288" bIns="18288" anchor="ctr">
            <a:noAutofit/>
          </a:bodyPr>
          <a:lstStyle/>
          <a:p>
            <a:pPr algn="l">
              <a:lnSpc>
                <a:spcPct val="100000"/>
              </a:lnSpc>
              <a:spcBef>
                <a:spcPts val="0"/>
              </a:spcBef>
              <a:spcAft>
                <a:spcPts val="0"/>
              </a:spcAft>
            </a:pPr>
            <a:r>
              <a:rPr sz="2100" b="1" i="0">
                <a:solidFill>
                  <a:srgbClr val="192B37"/>
                </a:solidFill>
              </a:rPr>
              <a:t>Run the app</a:t>
            </a:r>
          </a:p>
        </p:txBody>
      </p:sp>
      <p:sp>
        <p:nvSpPr>
          <p:cNvPr id="32" name="TextBox 31"/>
          <p:cNvSpPr txBox="1"/>
          <p:nvPr/>
        </p:nvSpPr>
        <p:spPr>
          <a:xfrm>
            <a:off x="6035040" y="5998464"/>
            <a:ext cx="11338560" cy="1234440"/>
          </a:xfrm>
          <a:prstGeom prst="rect">
            <a:avLst/>
          </a:prstGeom>
          <a:noFill/>
        </p:spPr>
        <p:txBody>
          <a:bodyPr wrap="square" lIns="0" rIns="0" tIns="18288" bIns="18288" anchor="ctr">
            <a:noAutofit/>
          </a:bodyPr>
          <a:lstStyle/>
          <a:p>
            <a:pPr algn="l">
              <a:lnSpc>
                <a:spcPct val="100000"/>
              </a:lnSpc>
              <a:spcBef>
                <a:spcPts val="0"/>
              </a:spcBef>
              <a:spcAft>
                <a:spcPts val="0"/>
              </a:spcAft>
            </a:pPr>
            <a:r>
              <a:rPr sz="1472" b="0" i="0">
                <a:solidFill>
                  <a:srgbClr val="B4471D"/>
                </a:solidFill>
                <a:latin typeface="Consolas"/>
              </a:rPr>
              <a:t>yarn dev</a:t>
            </a:r>
            <a:r>
              <a:rPr sz="1600" b="0" i="0">
                <a:solidFill>
                  <a:srgbClr val="192B37"/>
                </a:solidFill>
              </a:rPr>
              <a:t> → UI :3000 · API :3001</a:t>
            </a:r>
          </a:p>
          <a:p>
            <a:pPr algn="l">
              <a:lnSpc>
                <a:spcPct val="100000"/>
              </a:lnSpc>
              <a:spcBef>
                <a:spcPts val="0"/>
              </a:spcBef>
              <a:spcAft>
                <a:spcPts val="0"/>
              </a:spcAft>
            </a:pPr>
            <a:r>
              <a:rPr sz="1600" b="0" i="0">
                <a:solidFill>
                  <a:srgbClr val="192B37"/>
                </a:solidFill>
              </a:rPr>
              <a:t>sign in as </a:t>
            </a:r>
            <a:r>
              <a:rPr sz="1600" b="1" i="0">
                <a:solidFill>
                  <a:srgbClr val="192B37"/>
                </a:solidFill>
              </a:rPr>
              <a:t>Heath93</a:t>
            </a:r>
            <a:r>
              <a:rPr sz="1600" b="0" i="0">
                <a:solidFill>
                  <a:srgbClr val="192B37"/>
                </a:solidFill>
              </a:rPr>
              <a:t> / </a:t>
            </a:r>
            <a:r>
              <a:rPr sz="1472" b="0" i="0">
                <a:solidFill>
                  <a:srgbClr val="B4471D"/>
                </a:solidFill>
                <a:latin typeface="Consolas"/>
              </a:rPr>
              <a:t>s3cret</a:t>
            </a:r>
          </a:p>
        </p:txBody>
      </p:sp>
      <p:sp>
        <p:nvSpPr>
          <p:cNvPr id="33" name="Rounded Rectangle 32"/>
          <p:cNvSpPr/>
          <p:nvPr/>
        </p:nvSpPr>
        <p:spPr>
          <a:xfrm>
            <a:off x="17556480" y="6199632"/>
            <a:ext cx="3931920" cy="804672"/>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7675352" y="6336792"/>
            <a:ext cx="530352" cy="530352"/>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LuCheck.png"/>
          <p:cNvPicPr>
            <a:picLocks noChangeAspect="1"/>
          </p:cNvPicPr>
          <p:nvPr/>
        </p:nvPicPr>
        <p:blipFill>
          <a:blip r:embed="rId3"/>
          <a:stretch>
            <a:fillRect/>
          </a:stretch>
        </p:blipFill>
        <p:spPr>
          <a:xfrm>
            <a:off x="17757648" y="6419088"/>
            <a:ext cx="365760" cy="365760"/>
          </a:xfrm>
          <a:prstGeom prst="rect">
            <a:avLst/>
          </a:prstGeom>
        </p:spPr>
      </p:pic>
      <p:sp>
        <p:nvSpPr>
          <p:cNvPr id="36" name="TextBox 35"/>
          <p:cNvSpPr txBox="1"/>
          <p:nvPr/>
        </p:nvSpPr>
        <p:spPr>
          <a:xfrm>
            <a:off x="18333720" y="6199632"/>
            <a:ext cx="3108960" cy="804672"/>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1" i="0">
                <a:solidFill>
                  <a:srgbClr val="192B37"/>
                </a:solidFill>
              </a:rPr>
              <a:t>home feed loads</a:t>
            </a:r>
          </a:p>
        </p:txBody>
      </p:sp>
      <p:sp>
        <p:nvSpPr>
          <p:cNvPr id="37" name="Rounded Rectangle 36"/>
          <p:cNvSpPr/>
          <p:nvPr/>
        </p:nvSpPr>
        <p:spPr>
          <a:xfrm>
            <a:off x="21717000" y="6272784"/>
            <a:ext cx="1554480" cy="658368"/>
          </a:xfrm>
          <a:prstGeom prst="roundRect">
            <a:avLst>
              <a:gd name="adj" fmla="val 50000"/>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1808440" y="6272784"/>
            <a:ext cx="1371600" cy="658368"/>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FFFFFF"/>
                </a:solidFill>
              </a:rPr>
              <a:t>lab-02</a:t>
            </a:r>
          </a:p>
        </p:txBody>
      </p:sp>
      <p:sp>
        <p:nvSpPr>
          <p:cNvPr id="39" name="Rounded Rectangle 38"/>
          <p:cNvSpPr/>
          <p:nvPr/>
        </p:nvSpPr>
        <p:spPr>
          <a:xfrm>
            <a:off x="612648" y="7424928"/>
            <a:ext cx="22860000" cy="1353312"/>
          </a:xfrm>
          <a:prstGeom prst="roundRect">
            <a:avLst>
              <a:gd name="adj" fmla="val 1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822960" y="7644384"/>
            <a:ext cx="914400" cy="9144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60" y="7644384"/>
            <a:ext cx="914400" cy="914400"/>
          </a:xfrm>
          <a:prstGeom prst="rect">
            <a:avLst/>
          </a:prstGeom>
          <a:noFill/>
        </p:spPr>
        <p:txBody>
          <a:bodyPr wrap="square" lIns="0" rIns="0" tIns="18288" bIns="18288" anchor="ctr">
            <a:noAutofit/>
          </a:bodyPr>
          <a:lstStyle/>
          <a:p>
            <a:pPr algn="ctr">
              <a:lnSpc>
                <a:spcPct val="100000"/>
              </a:lnSpc>
              <a:spcBef>
                <a:spcPts val="0"/>
              </a:spcBef>
              <a:spcAft>
                <a:spcPts val="0"/>
              </a:spcAft>
            </a:pPr>
            <a:r>
              <a:rPr sz="2600" b="1" i="0">
                <a:solidFill>
                  <a:srgbClr val="FFFFFF"/>
                </a:solidFill>
              </a:rPr>
              <a:t>4</a:t>
            </a:r>
          </a:p>
        </p:txBody>
      </p:sp>
      <p:sp>
        <p:nvSpPr>
          <p:cNvPr id="42" name="TextBox 41"/>
          <p:cNvSpPr txBox="1"/>
          <p:nvPr/>
        </p:nvSpPr>
        <p:spPr>
          <a:xfrm>
            <a:off x="2011680" y="7424928"/>
            <a:ext cx="3931920" cy="1353312"/>
          </a:xfrm>
          <a:prstGeom prst="rect">
            <a:avLst/>
          </a:prstGeom>
          <a:noFill/>
        </p:spPr>
        <p:txBody>
          <a:bodyPr wrap="square" lIns="0" rIns="0" tIns="18288" bIns="18288" anchor="ctr">
            <a:noAutofit/>
          </a:bodyPr>
          <a:lstStyle/>
          <a:p>
            <a:pPr algn="l">
              <a:lnSpc>
                <a:spcPct val="100000"/>
              </a:lnSpc>
              <a:spcBef>
                <a:spcPts val="0"/>
              </a:spcBef>
              <a:spcAft>
                <a:spcPts val="0"/>
              </a:spcAft>
            </a:pPr>
            <a:r>
              <a:rPr sz="2100" b="1" i="0">
                <a:solidFill>
                  <a:srgbClr val="192B37"/>
                </a:solidFill>
              </a:rPr>
              <a:t>Install TAP26</a:t>
            </a:r>
          </a:p>
        </p:txBody>
      </p:sp>
      <p:sp>
        <p:nvSpPr>
          <p:cNvPr id="43" name="TextBox 42"/>
          <p:cNvSpPr txBox="1"/>
          <p:nvPr/>
        </p:nvSpPr>
        <p:spPr>
          <a:xfrm>
            <a:off x="6035040" y="7498080"/>
            <a:ext cx="11338560" cy="1234440"/>
          </a:xfrm>
          <a:prstGeom prst="rect">
            <a:avLst/>
          </a:prstGeom>
          <a:noFill/>
        </p:spPr>
        <p:txBody>
          <a:bodyPr wrap="square" lIns="0" rIns="0" tIns="18288" bIns="18288" anchor="ctr">
            <a:noAutofit/>
          </a:bodyPr>
          <a:lstStyle/>
          <a:p>
            <a:pPr algn="l">
              <a:lnSpc>
                <a:spcPct val="100000"/>
              </a:lnSpc>
              <a:spcBef>
                <a:spcPts val="0"/>
              </a:spcBef>
              <a:spcAft>
                <a:spcPts val="0"/>
              </a:spcAft>
            </a:pPr>
            <a:r>
              <a:rPr sz="1472" b="0" i="0">
                <a:solidFill>
                  <a:srgbClr val="B4471D"/>
                </a:solidFill>
                <a:latin typeface="Consolas"/>
              </a:rPr>
              <a:t>node tap26/install/install.mjs</a:t>
            </a:r>
          </a:p>
          <a:p>
            <a:pPr algn="l">
              <a:lnSpc>
                <a:spcPct val="100000"/>
              </a:lnSpc>
              <a:spcBef>
                <a:spcPts val="0"/>
              </a:spcBef>
              <a:spcAft>
                <a:spcPts val="0"/>
              </a:spcAft>
            </a:pPr>
            <a:r>
              <a:rPr sz="1472" b="0" i="0">
                <a:solidFill>
                  <a:srgbClr val="B4471D"/>
                </a:solidFill>
                <a:latin typeface="Consolas"/>
              </a:rPr>
              <a:t>node tap26/scripts/check-framework.mjs --strict</a:t>
            </a:r>
          </a:p>
        </p:txBody>
      </p:sp>
      <p:sp>
        <p:nvSpPr>
          <p:cNvPr id="44" name="Rounded Rectangle 43"/>
          <p:cNvSpPr/>
          <p:nvPr/>
        </p:nvSpPr>
        <p:spPr>
          <a:xfrm>
            <a:off x="17556480" y="7699248"/>
            <a:ext cx="3931920" cy="804672"/>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17675352" y="7836408"/>
            <a:ext cx="530352" cy="530352"/>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LuCheck.png"/>
          <p:cNvPicPr>
            <a:picLocks noChangeAspect="1"/>
          </p:cNvPicPr>
          <p:nvPr/>
        </p:nvPicPr>
        <p:blipFill>
          <a:blip r:embed="rId3"/>
          <a:stretch>
            <a:fillRect/>
          </a:stretch>
        </p:blipFill>
        <p:spPr>
          <a:xfrm>
            <a:off x="17757648" y="7918704"/>
            <a:ext cx="365760" cy="365760"/>
          </a:xfrm>
          <a:prstGeom prst="rect">
            <a:avLst/>
          </a:prstGeom>
        </p:spPr>
      </p:pic>
      <p:sp>
        <p:nvSpPr>
          <p:cNvPr id="47" name="TextBox 46"/>
          <p:cNvSpPr txBox="1"/>
          <p:nvPr/>
        </p:nvSpPr>
        <p:spPr>
          <a:xfrm>
            <a:off x="18333720" y="7699248"/>
            <a:ext cx="3108960" cy="804672"/>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1" i="0">
                <a:solidFill>
                  <a:srgbClr val="192B37"/>
                </a:solidFill>
              </a:rPr>
              <a:t>“all checks passed”</a:t>
            </a:r>
          </a:p>
        </p:txBody>
      </p:sp>
      <p:sp>
        <p:nvSpPr>
          <p:cNvPr id="48" name="Rounded Rectangle 47"/>
          <p:cNvSpPr/>
          <p:nvPr/>
        </p:nvSpPr>
        <p:spPr>
          <a:xfrm>
            <a:off x="21717000" y="7772400"/>
            <a:ext cx="1554480" cy="658368"/>
          </a:xfrm>
          <a:prstGeom prst="roundRect">
            <a:avLst>
              <a:gd name="adj" fmla="val 50000"/>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21808440" y="7772400"/>
            <a:ext cx="1371600" cy="658368"/>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FFFFFF"/>
                </a:solidFill>
              </a:rPr>
              <a:t>lab-01</a:t>
            </a:r>
          </a:p>
        </p:txBody>
      </p:sp>
      <p:sp>
        <p:nvSpPr>
          <p:cNvPr id="50" name="Rounded Rectangle 49"/>
          <p:cNvSpPr/>
          <p:nvPr/>
        </p:nvSpPr>
        <p:spPr>
          <a:xfrm>
            <a:off x="612648" y="8924544"/>
            <a:ext cx="22860000" cy="1353312"/>
          </a:xfrm>
          <a:prstGeom prst="roundRect">
            <a:avLst>
              <a:gd name="adj" fmla="val 15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822960" y="9144000"/>
            <a:ext cx="914400" cy="91440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2960" y="9144000"/>
            <a:ext cx="914400" cy="914400"/>
          </a:xfrm>
          <a:prstGeom prst="rect">
            <a:avLst/>
          </a:prstGeom>
          <a:noFill/>
        </p:spPr>
        <p:txBody>
          <a:bodyPr wrap="square" lIns="0" rIns="0" tIns="18288" bIns="18288" anchor="ctr">
            <a:noAutofit/>
          </a:bodyPr>
          <a:lstStyle/>
          <a:p>
            <a:pPr algn="ctr">
              <a:lnSpc>
                <a:spcPct val="100000"/>
              </a:lnSpc>
              <a:spcBef>
                <a:spcPts val="0"/>
              </a:spcBef>
              <a:spcAft>
                <a:spcPts val="0"/>
              </a:spcAft>
            </a:pPr>
            <a:r>
              <a:rPr sz="2600" b="1" i="0">
                <a:solidFill>
                  <a:srgbClr val="FFFFFF"/>
                </a:solidFill>
              </a:rPr>
              <a:t>5</a:t>
            </a:r>
          </a:p>
        </p:txBody>
      </p:sp>
      <p:sp>
        <p:nvSpPr>
          <p:cNvPr id="53" name="TextBox 52"/>
          <p:cNvSpPr txBox="1"/>
          <p:nvPr/>
        </p:nvSpPr>
        <p:spPr>
          <a:xfrm>
            <a:off x="2011680" y="8924544"/>
            <a:ext cx="3931920" cy="1353312"/>
          </a:xfrm>
          <a:prstGeom prst="rect">
            <a:avLst/>
          </a:prstGeom>
          <a:noFill/>
        </p:spPr>
        <p:txBody>
          <a:bodyPr wrap="square" lIns="0" rIns="0" tIns="18288" bIns="18288" anchor="ctr">
            <a:noAutofit/>
          </a:bodyPr>
          <a:lstStyle/>
          <a:p>
            <a:pPr algn="l">
              <a:lnSpc>
                <a:spcPct val="100000"/>
              </a:lnSpc>
              <a:spcBef>
                <a:spcPts val="0"/>
              </a:spcBef>
              <a:spcAft>
                <a:spcPts val="0"/>
              </a:spcAft>
            </a:pPr>
            <a:r>
              <a:rPr sz="2100" b="1" i="0">
                <a:solidFill>
                  <a:srgbClr val="192B37"/>
                </a:solidFill>
              </a:rPr>
              <a:t>Health check</a:t>
            </a:r>
          </a:p>
        </p:txBody>
      </p:sp>
      <p:sp>
        <p:nvSpPr>
          <p:cNvPr id="54" name="TextBox 53"/>
          <p:cNvSpPr txBox="1"/>
          <p:nvPr/>
        </p:nvSpPr>
        <p:spPr>
          <a:xfrm>
            <a:off x="6035040" y="8997696"/>
            <a:ext cx="11338560" cy="1234440"/>
          </a:xfrm>
          <a:prstGeom prst="rect">
            <a:avLst/>
          </a:prstGeom>
          <a:noFill/>
        </p:spPr>
        <p:txBody>
          <a:bodyPr wrap="square" lIns="0" rIns="0" tIns="18288" bIns="18288" anchor="ctr">
            <a:noAutofit/>
          </a:bodyPr>
          <a:lstStyle/>
          <a:p>
            <a:pPr algn="l">
              <a:lnSpc>
                <a:spcPct val="100000"/>
              </a:lnSpc>
              <a:spcBef>
                <a:spcPts val="0"/>
              </a:spcBef>
              <a:spcAft>
                <a:spcPts val="0"/>
              </a:spcAft>
            </a:pPr>
            <a:r>
              <a:rPr sz="1472" b="0" i="0">
                <a:solidFill>
                  <a:srgbClr val="B4471D"/>
                </a:solidFill>
                <a:latin typeface="Consolas"/>
              </a:rPr>
              <a:t>node tap26/scripts/doctor.mjs</a:t>
            </a:r>
          </a:p>
          <a:p>
            <a:pPr algn="l">
              <a:lnSpc>
                <a:spcPct val="100000"/>
              </a:lnSpc>
              <a:spcBef>
                <a:spcPts val="0"/>
              </a:spcBef>
              <a:spcAft>
                <a:spcPts val="0"/>
              </a:spcAft>
            </a:pPr>
            <a:r>
              <a:rPr sz="1600" b="0" i="0">
                <a:solidFill>
                  <a:srgbClr val="192B37"/>
                </a:solidFill>
              </a:rPr>
              <a:t>fix anything red before moving on</a:t>
            </a:r>
          </a:p>
        </p:txBody>
      </p:sp>
      <p:sp>
        <p:nvSpPr>
          <p:cNvPr id="55" name="Rounded Rectangle 54"/>
          <p:cNvSpPr/>
          <p:nvPr/>
        </p:nvSpPr>
        <p:spPr>
          <a:xfrm>
            <a:off x="17556480" y="9198864"/>
            <a:ext cx="3931920" cy="804672"/>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Oval 55"/>
          <p:cNvSpPr/>
          <p:nvPr/>
        </p:nvSpPr>
        <p:spPr>
          <a:xfrm>
            <a:off x="17675352" y="9336024"/>
            <a:ext cx="530352" cy="530352"/>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LuCheck.png"/>
          <p:cNvPicPr>
            <a:picLocks noChangeAspect="1"/>
          </p:cNvPicPr>
          <p:nvPr/>
        </p:nvPicPr>
        <p:blipFill>
          <a:blip r:embed="rId3"/>
          <a:stretch>
            <a:fillRect/>
          </a:stretch>
        </p:blipFill>
        <p:spPr>
          <a:xfrm>
            <a:off x="17757648" y="9418320"/>
            <a:ext cx="365760" cy="365760"/>
          </a:xfrm>
          <a:prstGeom prst="rect">
            <a:avLst/>
          </a:prstGeom>
        </p:spPr>
      </p:pic>
      <p:sp>
        <p:nvSpPr>
          <p:cNvPr id="58" name="TextBox 57"/>
          <p:cNvSpPr txBox="1"/>
          <p:nvPr/>
        </p:nvSpPr>
        <p:spPr>
          <a:xfrm>
            <a:off x="18333720" y="9198864"/>
            <a:ext cx="3108960" cy="804672"/>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1" i="0">
                <a:solidFill>
                  <a:srgbClr val="192B37"/>
                </a:solidFill>
              </a:rPr>
              <a:t>17 ok · 0 errors</a:t>
            </a:r>
          </a:p>
        </p:txBody>
      </p:sp>
      <p:sp>
        <p:nvSpPr>
          <p:cNvPr id="59" name="Rounded Rectangle 58"/>
          <p:cNvSpPr/>
          <p:nvPr/>
        </p:nvSpPr>
        <p:spPr>
          <a:xfrm>
            <a:off x="21717000" y="9272016"/>
            <a:ext cx="1554480" cy="658368"/>
          </a:xfrm>
          <a:prstGeom prst="roundRect">
            <a:avLst>
              <a:gd name="adj" fmla="val 50000"/>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21808440" y="9272016"/>
            <a:ext cx="1371600" cy="658368"/>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FFFFFF"/>
                </a:solidFill>
              </a:rPr>
              <a:t>lab-02</a:t>
            </a:r>
          </a:p>
        </p:txBody>
      </p:sp>
      <p:sp>
        <p:nvSpPr>
          <p:cNvPr id="61" name="Rounded Rectangle 60"/>
          <p:cNvSpPr/>
          <p:nvPr/>
        </p:nvSpPr>
        <p:spPr>
          <a:xfrm>
            <a:off x="612648" y="10789920"/>
            <a:ext cx="22860000" cy="960120"/>
          </a:xfrm>
          <a:prstGeom prst="roundRect">
            <a:avLst>
              <a:gd name="adj" fmla="val 1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Oval 61"/>
          <p:cNvSpPr/>
          <p:nvPr/>
        </p:nvSpPr>
        <p:spPr>
          <a:xfrm>
            <a:off x="886968" y="10927080"/>
            <a:ext cx="685800" cy="6858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LuLaugh.png"/>
          <p:cNvPicPr>
            <a:picLocks noChangeAspect="1"/>
          </p:cNvPicPr>
          <p:nvPr/>
        </p:nvPicPr>
        <p:blipFill>
          <a:blip r:embed="rId4"/>
          <a:stretch>
            <a:fillRect/>
          </a:stretch>
        </p:blipFill>
        <p:spPr>
          <a:xfrm>
            <a:off x="1051560" y="11091672"/>
            <a:ext cx="356616" cy="356616"/>
          </a:xfrm>
          <a:prstGeom prst="rect">
            <a:avLst/>
          </a:prstGeom>
        </p:spPr>
      </p:pic>
      <p:sp>
        <p:nvSpPr>
          <p:cNvPr id="64" name="TextBox 63"/>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Exercise 3 is the first time you'll log in as Heath93. Try not to spend his $1,509.53 all at once.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Hands-on</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3D9BC8"/>
                </a:solidFill>
              </a:rPr>
              <a:t>PRACTICAL EXERCISES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From running app to agents changing code</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70</a:t>
            </a:r>
          </a:p>
        </p:txBody>
      </p:sp>
      <p:sp>
        <p:nvSpPr>
          <p:cNvPr id="6" name="Rounded Rectangle 5"/>
          <p:cNvSpPr/>
          <p:nvPr/>
        </p:nvSpPr>
        <p:spPr>
          <a:xfrm>
            <a:off x="612648" y="2926080"/>
            <a:ext cx="22860000" cy="1353312"/>
          </a:xfrm>
          <a:prstGeom prst="roundRect">
            <a:avLst>
              <a:gd name="adj" fmla="val 15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22960" y="3145536"/>
            <a:ext cx="914400" cy="91440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145536"/>
            <a:ext cx="914400" cy="914400"/>
          </a:xfrm>
          <a:prstGeom prst="rect">
            <a:avLst/>
          </a:prstGeom>
          <a:noFill/>
        </p:spPr>
        <p:txBody>
          <a:bodyPr wrap="square" lIns="0" rIns="0" tIns="18288" bIns="18288" anchor="ctr">
            <a:noAutofit/>
          </a:bodyPr>
          <a:lstStyle/>
          <a:p>
            <a:pPr algn="ctr">
              <a:lnSpc>
                <a:spcPct val="100000"/>
              </a:lnSpc>
              <a:spcBef>
                <a:spcPts val="0"/>
              </a:spcBef>
              <a:spcAft>
                <a:spcPts val="0"/>
              </a:spcAft>
            </a:pPr>
            <a:r>
              <a:rPr sz="2600" b="1" i="0">
                <a:solidFill>
                  <a:srgbClr val="FFFFFF"/>
                </a:solidFill>
              </a:rPr>
              <a:t>6</a:t>
            </a:r>
          </a:p>
        </p:txBody>
      </p:sp>
      <p:sp>
        <p:nvSpPr>
          <p:cNvPr id="9" name="TextBox 8"/>
          <p:cNvSpPr txBox="1"/>
          <p:nvPr/>
        </p:nvSpPr>
        <p:spPr>
          <a:xfrm>
            <a:off x="2011680" y="2926080"/>
            <a:ext cx="3931920" cy="1353312"/>
          </a:xfrm>
          <a:prstGeom prst="rect">
            <a:avLst/>
          </a:prstGeom>
          <a:noFill/>
        </p:spPr>
        <p:txBody>
          <a:bodyPr wrap="square" lIns="0" rIns="0" tIns="18288" bIns="18288" anchor="ctr">
            <a:noAutofit/>
          </a:bodyPr>
          <a:lstStyle/>
          <a:p>
            <a:pPr algn="l">
              <a:lnSpc>
                <a:spcPct val="100000"/>
              </a:lnSpc>
              <a:spcBef>
                <a:spcPts val="0"/>
              </a:spcBef>
              <a:spcAft>
                <a:spcPts val="0"/>
              </a:spcAft>
            </a:pPr>
            <a:r>
              <a:rPr sz="2100" b="1" i="0">
                <a:solidFill>
                  <a:srgbClr val="192B37"/>
                </a:solidFill>
              </a:rPr>
              <a:t>First API run</a:t>
            </a:r>
          </a:p>
        </p:txBody>
      </p:sp>
      <p:sp>
        <p:nvSpPr>
          <p:cNvPr id="10" name="TextBox 9"/>
          <p:cNvSpPr txBox="1"/>
          <p:nvPr/>
        </p:nvSpPr>
        <p:spPr>
          <a:xfrm>
            <a:off x="6035040" y="2999232"/>
            <a:ext cx="11338560" cy="1234440"/>
          </a:xfrm>
          <a:prstGeom prst="rect">
            <a:avLst/>
          </a:prstGeom>
          <a:noFill/>
        </p:spPr>
        <p:txBody>
          <a:bodyPr wrap="square" lIns="0" rIns="0" tIns="18288" bIns="18288" anchor="ctr">
            <a:noAutofit/>
          </a:bodyPr>
          <a:lstStyle/>
          <a:p>
            <a:pPr algn="l">
              <a:lnSpc>
                <a:spcPct val="100000"/>
              </a:lnSpc>
              <a:spcBef>
                <a:spcPts val="0"/>
              </a:spcBef>
              <a:spcAft>
                <a:spcPts val="0"/>
              </a:spcAft>
            </a:pPr>
            <a:r>
              <a:rPr sz="1472" b="0" i="0">
                <a:solidFill>
                  <a:srgbClr val="B4471D"/>
                </a:solidFill>
                <a:latin typeface="Consolas"/>
              </a:rPr>
              <a:t>cd playwright</a:t>
            </a:r>
          </a:p>
          <a:p>
            <a:pPr algn="l">
              <a:lnSpc>
                <a:spcPct val="100000"/>
              </a:lnSpc>
              <a:spcBef>
                <a:spcPts val="0"/>
              </a:spcBef>
              <a:spcAft>
                <a:spcPts val="0"/>
              </a:spcAft>
            </a:pPr>
            <a:r>
              <a:rPr sz="1472" b="0" i="0">
                <a:solidFill>
                  <a:srgbClr val="B4471D"/>
                </a:solidFill>
                <a:latin typeface="Consolas"/>
              </a:rPr>
              <a:t>npx playwright test --project=api</a:t>
            </a:r>
          </a:p>
        </p:txBody>
      </p:sp>
      <p:sp>
        <p:nvSpPr>
          <p:cNvPr id="11" name="Rounded Rectangle 10"/>
          <p:cNvSpPr/>
          <p:nvPr/>
        </p:nvSpPr>
        <p:spPr>
          <a:xfrm>
            <a:off x="17556480" y="3200400"/>
            <a:ext cx="3931920" cy="804672"/>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7675352" y="3337560"/>
            <a:ext cx="530352" cy="530352"/>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uCheck.png"/>
          <p:cNvPicPr>
            <a:picLocks noChangeAspect="1"/>
          </p:cNvPicPr>
          <p:nvPr/>
        </p:nvPicPr>
        <p:blipFill>
          <a:blip r:embed="rId3"/>
          <a:stretch>
            <a:fillRect/>
          </a:stretch>
        </p:blipFill>
        <p:spPr>
          <a:xfrm>
            <a:off x="17757648" y="3419856"/>
            <a:ext cx="365760" cy="365760"/>
          </a:xfrm>
          <a:prstGeom prst="rect">
            <a:avLst/>
          </a:prstGeom>
        </p:spPr>
      </p:pic>
      <p:sp>
        <p:nvSpPr>
          <p:cNvPr id="14" name="TextBox 13"/>
          <p:cNvSpPr txBox="1"/>
          <p:nvPr/>
        </p:nvSpPr>
        <p:spPr>
          <a:xfrm>
            <a:off x="18333720" y="3200400"/>
            <a:ext cx="3108960" cy="804672"/>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1" i="0">
                <a:solidFill>
                  <a:srgbClr val="192B37"/>
                </a:solidFill>
              </a:rPr>
              <a:t>73 passed</a:t>
            </a:r>
          </a:p>
        </p:txBody>
      </p:sp>
      <p:sp>
        <p:nvSpPr>
          <p:cNvPr id="15" name="Rounded Rectangle 14"/>
          <p:cNvSpPr/>
          <p:nvPr/>
        </p:nvSpPr>
        <p:spPr>
          <a:xfrm>
            <a:off x="21717000" y="3273552"/>
            <a:ext cx="1554480" cy="658368"/>
          </a:xfrm>
          <a:prstGeom prst="roundRect">
            <a:avLst>
              <a:gd name="adj" fmla="val 50000"/>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1808440" y="3273552"/>
            <a:ext cx="1371600" cy="658368"/>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FFFFFF"/>
                </a:solidFill>
              </a:rPr>
              <a:t>lab-05</a:t>
            </a:r>
          </a:p>
        </p:txBody>
      </p:sp>
      <p:sp>
        <p:nvSpPr>
          <p:cNvPr id="17" name="Rounded Rectangle 16"/>
          <p:cNvSpPr/>
          <p:nvPr/>
        </p:nvSpPr>
        <p:spPr>
          <a:xfrm>
            <a:off x="612648" y="4425696"/>
            <a:ext cx="22860000" cy="1353312"/>
          </a:xfrm>
          <a:prstGeom prst="roundRect">
            <a:avLst>
              <a:gd name="adj" fmla="val 1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2960" y="4645152"/>
            <a:ext cx="914400" cy="9144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645152"/>
            <a:ext cx="914400" cy="914400"/>
          </a:xfrm>
          <a:prstGeom prst="rect">
            <a:avLst/>
          </a:prstGeom>
          <a:noFill/>
        </p:spPr>
        <p:txBody>
          <a:bodyPr wrap="square" lIns="0" rIns="0" tIns="18288" bIns="18288" anchor="ctr">
            <a:noAutofit/>
          </a:bodyPr>
          <a:lstStyle/>
          <a:p>
            <a:pPr algn="ctr">
              <a:lnSpc>
                <a:spcPct val="100000"/>
              </a:lnSpc>
              <a:spcBef>
                <a:spcPts val="0"/>
              </a:spcBef>
              <a:spcAft>
                <a:spcPts val="0"/>
              </a:spcAft>
            </a:pPr>
            <a:r>
              <a:rPr sz="2600" b="1" i="0">
                <a:solidFill>
                  <a:srgbClr val="FFFFFF"/>
                </a:solidFill>
              </a:rPr>
              <a:t>7</a:t>
            </a:r>
          </a:p>
        </p:txBody>
      </p:sp>
      <p:sp>
        <p:nvSpPr>
          <p:cNvPr id="20" name="TextBox 19"/>
          <p:cNvSpPr txBox="1"/>
          <p:nvPr/>
        </p:nvSpPr>
        <p:spPr>
          <a:xfrm>
            <a:off x="2011680" y="4425696"/>
            <a:ext cx="3931920" cy="1353312"/>
          </a:xfrm>
          <a:prstGeom prst="rect">
            <a:avLst/>
          </a:prstGeom>
          <a:noFill/>
        </p:spPr>
        <p:txBody>
          <a:bodyPr wrap="square" lIns="0" rIns="0" tIns="18288" bIns="18288" anchor="ctr">
            <a:noAutofit/>
          </a:bodyPr>
          <a:lstStyle/>
          <a:p>
            <a:pPr algn="l">
              <a:lnSpc>
                <a:spcPct val="100000"/>
              </a:lnSpc>
              <a:spcBef>
                <a:spcPts val="0"/>
              </a:spcBef>
              <a:spcAft>
                <a:spcPts val="0"/>
              </a:spcAft>
            </a:pPr>
            <a:r>
              <a:rPr sz="2100" b="1" i="0">
                <a:solidFill>
                  <a:srgbClr val="192B37"/>
                </a:solidFill>
              </a:rPr>
              <a:t>UI mode</a:t>
            </a:r>
          </a:p>
        </p:txBody>
      </p:sp>
      <p:sp>
        <p:nvSpPr>
          <p:cNvPr id="21" name="TextBox 20"/>
          <p:cNvSpPr txBox="1"/>
          <p:nvPr/>
        </p:nvSpPr>
        <p:spPr>
          <a:xfrm>
            <a:off x="6035040" y="4498848"/>
            <a:ext cx="11338560" cy="1234440"/>
          </a:xfrm>
          <a:prstGeom prst="rect">
            <a:avLst/>
          </a:prstGeom>
          <a:noFill/>
        </p:spPr>
        <p:txBody>
          <a:bodyPr wrap="square" lIns="0" rIns="0" tIns="18288" bIns="18288" anchor="ctr">
            <a:noAutofit/>
          </a:bodyPr>
          <a:lstStyle/>
          <a:p>
            <a:pPr algn="l">
              <a:lnSpc>
                <a:spcPct val="100000"/>
              </a:lnSpc>
              <a:spcBef>
                <a:spcPts val="0"/>
              </a:spcBef>
              <a:spcAft>
                <a:spcPts val="0"/>
              </a:spcAft>
            </a:pPr>
            <a:r>
              <a:rPr sz="1472" b="0" i="0">
                <a:solidFill>
                  <a:srgbClr val="B4471D"/>
                </a:solidFill>
                <a:latin typeface="Consolas"/>
              </a:rPr>
              <a:t>npx playwright test --ui --project=ui-desktop</a:t>
            </a:r>
          </a:p>
          <a:p>
            <a:pPr algn="l">
              <a:lnSpc>
                <a:spcPct val="100000"/>
              </a:lnSpc>
              <a:spcBef>
                <a:spcPts val="0"/>
              </a:spcBef>
              <a:spcAft>
                <a:spcPts val="0"/>
              </a:spcAft>
            </a:pPr>
            <a:r>
              <a:rPr sz="1600" b="0" i="0">
                <a:solidFill>
                  <a:srgbClr val="192B37"/>
                </a:solidFill>
              </a:rPr>
              <a:t>run auth.spec.ts, scrub the timeline</a:t>
            </a:r>
          </a:p>
        </p:txBody>
      </p:sp>
      <p:sp>
        <p:nvSpPr>
          <p:cNvPr id="22" name="Rounded Rectangle 21"/>
          <p:cNvSpPr/>
          <p:nvPr/>
        </p:nvSpPr>
        <p:spPr>
          <a:xfrm>
            <a:off x="17556480" y="4700016"/>
            <a:ext cx="3931920" cy="804672"/>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7675352" y="4837176"/>
            <a:ext cx="530352" cy="530352"/>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LuCheck.png"/>
          <p:cNvPicPr>
            <a:picLocks noChangeAspect="1"/>
          </p:cNvPicPr>
          <p:nvPr/>
        </p:nvPicPr>
        <p:blipFill>
          <a:blip r:embed="rId3"/>
          <a:stretch>
            <a:fillRect/>
          </a:stretch>
        </p:blipFill>
        <p:spPr>
          <a:xfrm>
            <a:off x="17757648" y="4919472"/>
            <a:ext cx="365760" cy="365760"/>
          </a:xfrm>
          <a:prstGeom prst="rect">
            <a:avLst/>
          </a:prstGeom>
        </p:spPr>
      </p:pic>
      <p:sp>
        <p:nvSpPr>
          <p:cNvPr id="25" name="TextBox 24"/>
          <p:cNvSpPr txBox="1"/>
          <p:nvPr/>
        </p:nvSpPr>
        <p:spPr>
          <a:xfrm>
            <a:off x="18333720" y="4700016"/>
            <a:ext cx="3108960" cy="804672"/>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1" i="0">
                <a:solidFill>
                  <a:srgbClr val="192B37"/>
                </a:solidFill>
              </a:rPr>
              <a:t>8 tests green</a:t>
            </a:r>
          </a:p>
        </p:txBody>
      </p:sp>
      <p:sp>
        <p:nvSpPr>
          <p:cNvPr id="26" name="Rounded Rectangle 25"/>
          <p:cNvSpPr/>
          <p:nvPr/>
        </p:nvSpPr>
        <p:spPr>
          <a:xfrm>
            <a:off x="21717000" y="4773168"/>
            <a:ext cx="1554480" cy="658368"/>
          </a:xfrm>
          <a:prstGeom prst="roundRect">
            <a:avLst>
              <a:gd name="adj" fmla="val 50000"/>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21808440" y="4773168"/>
            <a:ext cx="1371600" cy="658368"/>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FFFFFF"/>
                </a:solidFill>
              </a:rPr>
              <a:t>lab-06</a:t>
            </a:r>
          </a:p>
        </p:txBody>
      </p:sp>
      <p:sp>
        <p:nvSpPr>
          <p:cNvPr id="28" name="Rounded Rectangle 27"/>
          <p:cNvSpPr/>
          <p:nvPr/>
        </p:nvSpPr>
        <p:spPr>
          <a:xfrm>
            <a:off x="612648" y="5925312"/>
            <a:ext cx="22860000" cy="1353312"/>
          </a:xfrm>
          <a:prstGeom prst="roundRect">
            <a:avLst>
              <a:gd name="adj" fmla="val 1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822960" y="6144768"/>
            <a:ext cx="914400" cy="9144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6144768"/>
            <a:ext cx="914400" cy="914400"/>
          </a:xfrm>
          <a:prstGeom prst="rect">
            <a:avLst/>
          </a:prstGeom>
          <a:noFill/>
        </p:spPr>
        <p:txBody>
          <a:bodyPr wrap="square" lIns="0" rIns="0" tIns="18288" bIns="18288" anchor="ctr">
            <a:noAutofit/>
          </a:bodyPr>
          <a:lstStyle/>
          <a:p>
            <a:pPr algn="ctr">
              <a:lnSpc>
                <a:spcPct val="100000"/>
              </a:lnSpc>
              <a:spcBef>
                <a:spcPts val="0"/>
              </a:spcBef>
              <a:spcAft>
                <a:spcPts val="0"/>
              </a:spcAft>
            </a:pPr>
            <a:r>
              <a:rPr sz="2600" b="1" i="0">
                <a:solidFill>
                  <a:srgbClr val="FFFFFF"/>
                </a:solidFill>
              </a:rPr>
              <a:t>8</a:t>
            </a:r>
          </a:p>
        </p:txBody>
      </p:sp>
      <p:sp>
        <p:nvSpPr>
          <p:cNvPr id="31" name="TextBox 30"/>
          <p:cNvSpPr txBox="1"/>
          <p:nvPr/>
        </p:nvSpPr>
        <p:spPr>
          <a:xfrm>
            <a:off x="2011680" y="5925312"/>
            <a:ext cx="3931920" cy="1353312"/>
          </a:xfrm>
          <a:prstGeom prst="rect">
            <a:avLst/>
          </a:prstGeom>
          <a:noFill/>
        </p:spPr>
        <p:txBody>
          <a:bodyPr wrap="square" lIns="0" rIns="0" tIns="18288" bIns="18288" anchor="ctr">
            <a:noAutofit/>
          </a:bodyPr>
          <a:lstStyle/>
          <a:p>
            <a:pPr algn="l">
              <a:lnSpc>
                <a:spcPct val="100000"/>
              </a:lnSpc>
              <a:spcBef>
                <a:spcPts val="0"/>
              </a:spcBef>
              <a:spcAft>
                <a:spcPts val="0"/>
              </a:spcAft>
            </a:pPr>
            <a:r>
              <a:rPr sz="2100" b="1" i="0">
                <a:solidFill>
                  <a:srgbClr val="192B37"/>
                </a:solidFill>
              </a:rPr>
              <a:t>Report &amp; trace</a:t>
            </a:r>
          </a:p>
        </p:txBody>
      </p:sp>
      <p:sp>
        <p:nvSpPr>
          <p:cNvPr id="32" name="TextBox 31"/>
          <p:cNvSpPr txBox="1"/>
          <p:nvPr/>
        </p:nvSpPr>
        <p:spPr>
          <a:xfrm>
            <a:off x="6035040" y="5998464"/>
            <a:ext cx="11338560" cy="1234440"/>
          </a:xfrm>
          <a:prstGeom prst="rect">
            <a:avLst/>
          </a:prstGeom>
          <a:noFill/>
        </p:spPr>
        <p:txBody>
          <a:bodyPr wrap="square" lIns="0" rIns="0" tIns="18288" bIns="18288" anchor="ctr">
            <a:noAutofit/>
          </a:bodyPr>
          <a:lstStyle/>
          <a:p>
            <a:pPr algn="l">
              <a:lnSpc>
                <a:spcPct val="100000"/>
              </a:lnSpc>
              <a:spcBef>
                <a:spcPts val="0"/>
              </a:spcBef>
              <a:spcAft>
                <a:spcPts val="0"/>
              </a:spcAft>
            </a:pPr>
            <a:r>
              <a:rPr sz="1472" b="0" i="0">
                <a:solidFill>
                  <a:srgbClr val="B4471D"/>
                </a:solidFill>
                <a:latin typeface="Consolas"/>
              </a:rPr>
              <a:t>npx playwright test --project=e2e --trace on</a:t>
            </a:r>
          </a:p>
          <a:p>
            <a:pPr algn="l">
              <a:lnSpc>
                <a:spcPct val="100000"/>
              </a:lnSpc>
              <a:spcBef>
                <a:spcPts val="0"/>
              </a:spcBef>
              <a:spcAft>
                <a:spcPts val="0"/>
              </a:spcAft>
            </a:pPr>
            <a:r>
              <a:rPr sz="1472" b="0" i="0">
                <a:solidFill>
                  <a:srgbClr val="B4471D"/>
                </a:solidFill>
                <a:latin typeface="Consolas"/>
              </a:rPr>
              <a:t>npx playwright show-report</a:t>
            </a:r>
            <a:r>
              <a:rPr sz="1600" b="0" i="0">
                <a:solidFill>
                  <a:srgbClr val="192B37"/>
                </a:solidFill>
              </a:rPr>
              <a:t> → open the trace</a:t>
            </a:r>
          </a:p>
        </p:txBody>
      </p:sp>
      <p:sp>
        <p:nvSpPr>
          <p:cNvPr id="33" name="Rounded Rectangle 32"/>
          <p:cNvSpPr/>
          <p:nvPr/>
        </p:nvSpPr>
        <p:spPr>
          <a:xfrm>
            <a:off x="17556480" y="6199632"/>
            <a:ext cx="3931920" cy="804672"/>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7675352" y="6336792"/>
            <a:ext cx="530352" cy="530352"/>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LuCheck.png"/>
          <p:cNvPicPr>
            <a:picLocks noChangeAspect="1"/>
          </p:cNvPicPr>
          <p:nvPr/>
        </p:nvPicPr>
        <p:blipFill>
          <a:blip r:embed="rId3"/>
          <a:stretch>
            <a:fillRect/>
          </a:stretch>
        </p:blipFill>
        <p:spPr>
          <a:xfrm>
            <a:off x="17757648" y="6419088"/>
            <a:ext cx="365760" cy="365760"/>
          </a:xfrm>
          <a:prstGeom prst="rect">
            <a:avLst/>
          </a:prstGeom>
        </p:spPr>
      </p:pic>
      <p:sp>
        <p:nvSpPr>
          <p:cNvPr id="36" name="TextBox 35"/>
          <p:cNvSpPr txBox="1"/>
          <p:nvPr/>
        </p:nvSpPr>
        <p:spPr>
          <a:xfrm>
            <a:off x="18333720" y="6199632"/>
            <a:ext cx="3108960" cy="804672"/>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1" i="0">
                <a:solidFill>
                  <a:srgbClr val="192B37"/>
                </a:solidFill>
              </a:rPr>
              <a:t>find “Bob likes…”</a:t>
            </a:r>
          </a:p>
        </p:txBody>
      </p:sp>
      <p:sp>
        <p:nvSpPr>
          <p:cNvPr id="37" name="Rounded Rectangle 36"/>
          <p:cNvSpPr/>
          <p:nvPr/>
        </p:nvSpPr>
        <p:spPr>
          <a:xfrm>
            <a:off x="21717000" y="6272784"/>
            <a:ext cx="1554480" cy="658368"/>
          </a:xfrm>
          <a:prstGeom prst="roundRect">
            <a:avLst>
              <a:gd name="adj" fmla="val 50000"/>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1808440" y="6272784"/>
            <a:ext cx="1371600" cy="658368"/>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FFFFFF"/>
                </a:solidFill>
              </a:rPr>
              <a:t>lab-13</a:t>
            </a:r>
          </a:p>
        </p:txBody>
      </p:sp>
      <p:sp>
        <p:nvSpPr>
          <p:cNvPr id="39" name="Rounded Rectangle 38"/>
          <p:cNvSpPr/>
          <p:nvPr/>
        </p:nvSpPr>
        <p:spPr>
          <a:xfrm>
            <a:off x="612648" y="7424928"/>
            <a:ext cx="22860000" cy="1353312"/>
          </a:xfrm>
          <a:prstGeom prst="roundRect">
            <a:avLst>
              <a:gd name="adj" fmla="val 15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822960" y="7644384"/>
            <a:ext cx="914400" cy="9144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60" y="7644384"/>
            <a:ext cx="914400" cy="914400"/>
          </a:xfrm>
          <a:prstGeom prst="rect">
            <a:avLst/>
          </a:prstGeom>
          <a:noFill/>
        </p:spPr>
        <p:txBody>
          <a:bodyPr wrap="square" lIns="0" rIns="0" tIns="18288" bIns="18288" anchor="ctr">
            <a:noAutofit/>
          </a:bodyPr>
          <a:lstStyle/>
          <a:p>
            <a:pPr algn="ctr">
              <a:lnSpc>
                <a:spcPct val="100000"/>
              </a:lnSpc>
              <a:spcBef>
                <a:spcPts val="0"/>
              </a:spcBef>
              <a:spcAft>
                <a:spcPts val="0"/>
              </a:spcAft>
            </a:pPr>
            <a:r>
              <a:rPr sz="2600" b="1" i="0">
                <a:solidFill>
                  <a:srgbClr val="FFFFFF"/>
                </a:solidFill>
              </a:rPr>
              <a:t>9</a:t>
            </a:r>
          </a:p>
        </p:txBody>
      </p:sp>
      <p:sp>
        <p:nvSpPr>
          <p:cNvPr id="42" name="TextBox 41"/>
          <p:cNvSpPr txBox="1"/>
          <p:nvPr/>
        </p:nvSpPr>
        <p:spPr>
          <a:xfrm>
            <a:off x="2011680" y="7424928"/>
            <a:ext cx="3931920" cy="1353312"/>
          </a:xfrm>
          <a:prstGeom prst="rect">
            <a:avLst/>
          </a:prstGeom>
          <a:noFill/>
        </p:spPr>
        <p:txBody>
          <a:bodyPr wrap="square" lIns="0" rIns="0" tIns="18288" bIns="18288" anchor="ctr">
            <a:noAutofit/>
          </a:bodyPr>
          <a:lstStyle/>
          <a:p>
            <a:pPr algn="l">
              <a:lnSpc>
                <a:spcPct val="100000"/>
              </a:lnSpc>
              <a:spcBef>
                <a:spcPts val="0"/>
              </a:spcBef>
              <a:spcAft>
                <a:spcPts val="0"/>
              </a:spcAft>
            </a:pPr>
            <a:r>
              <a:rPr sz="2100" b="1" i="0">
                <a:solidFill>
                  <a:srgbClr val="192B37"/>
                </a:solidFill>
              </a:rPr>
              <a:t>Meet the agents</a:t>
            </a:r>
          </a:p>
        </p:txBody>
      </p:sp>
      <p:sp>
        <p:nvSpPr>
          <p:cNvPr id="43" name="TextBox 42"/>
          <p:cNvSpPr txBox="1"/>
          <p:nvPr/>
        </p:nvSpPr>
        <p:spPr>
          <a:xfrm>
            <a:off x="6035040" y="7498080"/>
            <a:ext cx="11338560" cy="1234440"/>
          </a:xfrm>
          <a:prstGeom prst="rect">
            <a:avLst/>
          </a:prstGeom>
          <a:noFill/>
        </p:spPr>
        <p:txBody>
          <a:bodyPr wrap="square" lIns="0" rIns="0" tIns="18288" bIns="18288" anchor="ctr">
            <a:noAutofit/>
          </a:bodyPr>
          <a:lstStyle/>
          <a:p>
            <a:pPr algn="l">
              <a:lnSpc>
                <a:spcPct val="100000"/>
              </a:lnSpc>
              <a:spcBef>
                <a:spcPts val="0"/>
              </a:spcBef>
              <a:spcAft>
                <a:spcPts val="0"/>
              </a:spcAft>
            </a:pPr>
            <a:r>
              <a:rPr sz="1600" b="0" i="0">
                <a:solidFill>
                  <a:srgbClr val="192B37"/>
                </a:solidFill>
              </a:rPr>
              <a:t>Claude Code in VS Code: </a:t>
            </a:r>
            <a:r>
              <a:rPr sz="1472" b="0" i="0">
                <a:solidFill>
                  <a:srgbClr val="B4471D"/>
                </a:solidFill>
                <a:latin typeface="Consolas"/>
              </a:rPr>
              <a:t>/tap-start</a:t>
            </a:r>
            <a:r>
              <a:rPr sz="1600" b="0" i="0">
                <a:solidFill>
                  <a:srgbClr val="192B37"/>
                </a:solidFill>
              </a:rPr>
              <a:t>, </a:t>
            </a:r>
            <a:r>
              <a:rPr sz="1472" b="0" i="0">
                <a:solidFill>
                  <a:srgbClr val="B4471D"/>
                </a:solidFill>
                <a:latin typeface="Consolas"/>
              </a:rPr>
              <a:t>/tap-status</a:t>
            </a:r>
          </a:p>
          <a:p>
            <a:pPr algn="l">
              <a:lnSpc>
                <a:spcPct val="100000"/>
              </a:lnSpc>
              <a:spcBef>
                <a:spcPts val="0"/>
              </a:spcBef>
              <a:spcAft>
                <a:spcPts val="0"/>
              </a:spcAft>
            </a:pPr>
            <a:r>
              <a:rPr sz="1472" b="0" i="0">
                <a:solidFill>
                  <a:srgbClr val="B4471D"/>
                </a:solidFill>
                <a:latin typeface="Consolas"/>
              </a:rPr>
              <a:t>/tap-ask ba acceptance criteria for requesting money</a:t>
            </a:r>
          </a:p>
        </p:txBody>
      </p:sp>
      <p:sp>
        <p:nvSpPr>
          <p:cNvPr id="44" name="Rounded Rectangle 43"/>
          <p:cNvSpPr/>
          <p:nvPr/>
        </p:nvSpPr>
        <p:spPr>
          <a:xfrm>
            <a:off x="17556480" y="7699248"/>
            <a:ext cx="3931920" cy="804672"/>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17675352" y="7836408"/>
            <a:ext cx="530352" cy="530352"/>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LuCheck.png"/>
          <p:cNvPicPr>
            <a:picLocks noChangeAspect="1"/>
          </p:cNvPicPr>
          <p:nvPr/>
        </p:nvPicPr>
        <p:blipFill>
          <a:blip r:embed="rId3"/>
          <a:stretch>
            <a:fillRect/>
          </a:stretch>
        </p:blipFill>
        <p:spPr>
          <a:xfrm>
            <a:off x="17757648" y="7918704"/>
            <a:ext cx="365760" cy="365760"/>
          </a:xfrm>
          <a:prstGeom prst="rect">
            <a:avLst/>
          </a:prstGeom>
        </p:spPr>
      </p:pic>
      <p:sp>
        <p:nvSpPr>
          <p:cNvPr id="47" name="TextBox 46"/>
          <p:cNvSpPr txBox="1"/>
          <p:nvPr/>
        </p:nvSpPr>
        <p:spPr>
          <a:xfrm>
            <a:off x="18333720" y="7699248"/>
            <a:ext cx="3108960" cy="804672"/>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1" i="0">
                <a:solidFill>
                  <a:srgbClr val="192B37"/>
                </a:solidFill>
              </a:rPr>
              <a:t>Health: PASS</a:t>
            </a:r>
          </a:p>
        </p:txBody>
      </p:sp>
      <p:sp>
        <p:nvSpPr>
          <p:cNvPr id="48" name="Rounded Rectangle 47"/>
          <p:cNvSpPr/>
          <p:nvPr/>
        </p:nvSpPr>
        <p:spPr>
          <a:xfrm>
            <a:off x="21717000" y="7772400"/>
            <a:ext cx="1554480" cy="658368"/>
          </a:xfrm>
          <a:prstGeom prst="roundRect">
            <a:avLst>
              <a:gd name="adj" fmla="val 50000"/>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21808440" y="7772400"/>
            <a:ext cx="1371600" cy="658368"/>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FFFFFF"/>
                </a:solidFill>
              </a:rPr>
              <a:t>lab-04</a:t>
            </a:r>
          </a:p>
        </p:txBody>
      </p:sp>
      <p:sp>
        <p:nvSpPr>
          <p:cNvPr id="50" name="Rounded Rectangle 49"/>
          <p:cNvSpPr/>
          <p:nvPr/>
        </p:nvSpPr>
        <p:spPr>
          <a:xfrm>
            <a:off x="612648" y="8924544"/>
            <a:ext cx="22860000" cy="1353312"/>
          </a:xfrm>
          <a:prstGeom prst="roundRect">
            <a:avLst>
              <a:gd name="adj" fmla="val 15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822960" y="9144000"/>
            <a:ext cx="914400" cy="9144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2960" y="9144000"/>
            <a:ext cx="914400" cy="914400"/>
          </a:xfrm>
          <a:prstGeom prst="rect">
            <a:avLst/>
          </a:prstGeom>
          <a:noFill/>
        </p:spPr>
        <p:txBody>
          <a:bodyPr wrap="square" lIns="0" rIns="0" tIns="18288" bIns="18288" anchor="ctr">
            <a:noAutofit/>
          </a:bodyPr>
          <a:lstStyle/>
          <a:p>
            <a:pPr algn="ctr">
              <a:lnSpc>
                <a:spcPct val="100000"/>
              </a:lnSpc>
              <a:spcBef>
                <a:spcPts val="0"/>
              </a:spcBef>
              <a:spcAft>
                <a:spcPts val="0"/>
              </a:spcAft>
            </a:pPr>
            <a:r>
              <a:rPr sz="2600" b="1" i="0">
                <a:solidFill>
                  <a:srgbClr val="FFFFFF"/>
                </a:solidFill>
              </a:rPr>
              <a:t>10</a:t>
            </a:r>
          </a:p>
        </p:txBody>
      </p:sp>
      <p:sp>
        <p:nvSpPr>
          <p:cNvPr id="53" name="TextBox 52"/>
          <p:cNvSpPr txBox="1"/>
          <p:nvPr/>
        </p:nvSpPr>
        <p:spPr>
          <a:xfrm>
            <a:off x="2011680" y="8924544"/>
            <a:ext cx="3931920" cy="1353312"/>
          </a:xfrm>
          <a:prstGeom prst="rect">
            <a:avLst/>
          </a:prstGeom>
          <a:noFill/>
        </p:spPr>
        <p:txBody>
          <a:bodyPr wrap="square" lIns="0" rIns="0" tIns="18288" bIns="18288" anchor="ctr">
            <a:noAutofit/>
          </a:bodyPr>
          <a:lstStyle/>
          <a:p>
            <a:pPr algn="l">
              <a:lnSpc>
                <a:spcPct val="100000"/>
              </a:lnSpc>
              <a:spcBef>
                <a:spcPts val="0"/>
              </a:spcBef>
              <a:spcAft>
                <a:spcPts val="0"/>
              </a:spcAft>
            </a:pPr>
            <a:r>
              <a:rPr sz="2100" b="1" i="0">
                <a:solidFill>
                  <a:srgbClr val="192B37"/>
                </a:solidFill>
              </a:rPr>
              <a:t>Change + test</a:t>
            </a:r>
          </a:p>
        </p:txBody>
      </p:sp>
      <p:sp>
        <p:nvSpPr>
          <p:cNvPr id="54" name="TextBox 53"/>
          <p:cNvSpPr txBox="1"/>
          <p:nvPr/>
        </p:nvSpPr>
        <p:spPr>
          <a:xfrm>
            <a:off x="6035040" y="8997696"/>
            <a:ext cx="11338560" cy="1234440"/>
          </a:xfrm>
          <a:prstGeom prst="rect">
            <a:avLst/>
          </a:prstGeom>
          <a:noFill/>
        </p:spPr>
        <p:txBody>
          <a:bodyPr wrap="square" lIns="0" rIns="0" tIns="18288" bIns="18288" anchor="ctr">
            <a:noAutofit/>
          </a:bodyPr>
          <a:lstStyle/>
          <a:p>
            <a:pPr algn="l">
              <a:lnSpc>
                <a:spcPct val="100000"/>
              </a:lnSpc>
              <a:spcBef>
                <a:spcPts val="0"/>
              </a:spcBef>
              <a:spcAft>
                <a:spcPts val="0"/>
              </a:spcAft>
            </a:pPr>
            <a:r>
              <a:rPr sz="1472" b="0" i="0">
                <a:solidFill>
                  <a:srgbClr val="B4471D"/>
                </a:solidFill>
                <a:latin typeface="Consolas"/>
              </a:rPr>
              <a:t>/tap-new-test api: routingNumber "123" → 422</a:t>
            </a:r>
          </a:p>
          <a:p>
            <a:pPr algn="l">
              <a:lnSpc>
                <a:spcPct val="100000"/>
              </a:lnSpc>
              <a:spcBef>
                <a:spcPts val="0"/>
              </a:spcBef>
              <a:spcAft>
                <a:spcPts val="0"/>
              </a:spcAft>
            </a:pPr>
            <a:r>
              <a:rPr sz="1600" b="0" i="0">
                <a:solidFill>
                  <a:srgbClr val="192B37"/>
                </a:solidFill>
              </a:rPr>
              <a:t>run it twice · mark </a:t>
            </a:r>
            <a:r>
              <a:rPr sz="1472" b="0" i="0">
                <a:solidFill>
                  <a:srgbClr val="B4471D"/>
                </a:solidFill>
                <a:latin typeface="Consolas"/>
              </a:rPr>
              <a:t>test.fail</a:t>
            </a:r>
            <a:r>
              <a:rPr sz="1600" b="0" i="0">
                <a:solidFill>
                  <a:srgbClr val="192B37"/>
                </a:solidFill>
              </a:rPr>
              <a:t> + KI · </a:t>
            </a:r>
            <a:r>
              <a:rPr sz="1472" b="0" i="0">
                <a:solidFill>
                  <a:srgbClr val="B4471D"/>
                </a:solidFill>
                <a:latin typeface="Consolas"/>
              </a:rPr>
              <a:t>/tap-review</a:t>
            </a:r>
          </a:p>
        </p:txBody>
      </p:sp>
      <p:sp>
        <p:nvSpPr>
          <p:cNvPr id="55" name="Rounded Rectangle 54"/>
          <p:cNvSpPr/>
          <p:nvPr/>
        </p:nvSpPr>
        <p:spPr>
          <a:xfrm>
            <a:off x="17556480" y="9198864"/>
            <a:ext cx="3931920" cy="804672"/>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Oval 55"/>
          <p:cNvSpPr/>
          <p:nvPr/>
        </p:nvSpPr>
        <p:spPr>
          <a:xfrm>
            <a:off x="17675352" y="9336024"/>
            <a:ext cx="530352" cy="530352"/>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LuCheck.png"/>
          <p:cNvPicPr>
            <a:picLocks noChangeAspect="1"/>
          </p:cNvPicPr>
          <p:nvPr/>
        </p:nvPicPr>
        <p:blipFill>
          <a:blip r:embed="rId3"/>
          <a:stretch>
            <a:fillRect/>
          </a:stretch>
        </p:blipFill>
        <p:spPr>
          <a:xfrm>
            <a:off x="17757648" y="9418320"/>
            <a:ext cx="365760" cy="365760"/>
          </a:xfrm>
          <a:prstGeom prst="rect">
            <a:avLst/>
          </a:prstGeom>
        </p:spPr>
      </p:pic>
      <p:sp>
        <p:nvSpPr>
          <p:cNvPr id="58" name="TextBox 57"/>
          <p:cNvSpPr txBox="1"/>
          <p:nvPr/>
        </p:nvSpPr>
        <p:spPr>
          <a:xfrm>
            <a:off x="18333720" y="9198864"/>
            <a:ext cx="3108960" cy="804672"/>
          </a:xfrm>
          <a:prstGeom prst="rect">
            <a:avLst/>
          </a:prstGeom>
          <a:noFill/>
        </p:spPr>
        <p:txBody>
          <a:bodyPr wrap="square" lIns="0" rIns="0" tIns="18288" bIns="18288" anchor="ctr">
            <a:noAutofit/>
          </a:bodyPr>
          <a:lstStyle/>
          <a:p>
            <a:pPr algn="l">
              <a:lnSpc>
                <a:spcPct val="100000"/>
              </a:lnSpc>
              <a:spcBef>
                <a:spcPts val="0"/>
              </a:spcBef>
              <a:spcAft>
                <a:spcPts val="0"/>
              </a:spcAft>
            </a:pPr>
            <a:r>
              <a:rPr sz="1500" b="1" i="0">
                <a:solidFill>
                  <a:srgbClr val="192B37"/>
                </a:solidFill>
              </a:rPr>
              <a:t>green ×2, reviewed</a:t>
            </a:r>
          </a:p>
        </p:txBody>
      </p:sp>
      <p:sp>
        <p:nvSpPr>
          <p:cNvPr id="59" name="Rounded Rectangle 58"/>
          <p:cNvSpPr/>
          <p:nvPr/>
        </p:nvSpPr>
        <p:spPr>
          <a:xfrm>
            <a:off x="21717000" y="9272016"/>
            <a:ext cx="1554480" cy="658368"/>
          </a:xfrm>
          <a:prstGeom prst="roundRect">
            <a:avLst>
              <a:gd name="adj" fmla="val 50000"/>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21808440" y="9272016"/>
            <a:ext cx="1371600" cy="658368"/>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FFFFFF"/>
                </a:solidFill>
              </a:rPr>
              <a:t>lab-07</a:t>
            </a:r>
          </a:p>
        </p:txBody>
      </p:sp>
      <p:sp>
        <p:nvSpPr>
          <p:cNvPr id="61" name="Rounded Rectangle 60"/>
          <p:cNvSpPr/>
          <p:nvPr/>
        </p:nvSpPr>
        <p:spPr>
          <a:xfrm>
            <a:off x="612648" y="10789920"/>
            <a:ext cx="22860000" cy="960120"/>
          </a:xfrm>
          <a:prstGeom prst="roundRect">
            <a:avLst>
              <a:gd name="adj" fmla="val 1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Oval 61"/>
          <p:cNvSpPr/>
          <p:nvPr/>
        </p:nvSpPr>
        <p:spPr>
          <a:xfrm>
            <a:off x="886968" y="10927080"/>
            <a:ext cx="685800" cy="6858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LuLaugh.png"/>
          <p:cNvPicPr>
            <a:picLocks noChangeAspect="1"/>
          </p:cNvPicPr>
          <p:nvPr/>
        </p:nvPicPr>
        <p:blipFill>
          <a:blip r:embed="rId4"/>
          <a:stretch>
            <a:fillRect/>
          </a:stretch>
        </p:blipFill>
        <p:spPr>
          <a:xfrm>
            <a:off x="1051560" y="11091672"/>
            <a:ext cx="356616" cy="356616"/>
          </a:xfrm>
          <a:prstGeom prst="rect">
            <a:avLst/>
          </a:prstGeom>
        </p:spPr>
      </p:pic>
      <p:sp>
        <p:nvSpPr>
          <p:cNvPr id="64" name="TextBox 63"/>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Exercise 10: you ask an agent to write a test, then you review it. Trust, but </a:t>
            </a:r>
            <a:r>
              <a:rPr sz="1840" b="0" i="1">
                <a:solidFill>
                  <a:srgbClr val="C2410C"/>
                </a:solidFill>
                <a:latin typeface="Consolas"/>
              </a:rPr>
              <a:t>expect</a:t>
            </a:r>
            <a:r>
              <a:rPr sz="2000" b="0" i="1">
                <a:solidFill>
                  <a:srgbClr val="192B37"/>
                </a:solidFill>
              </a:rPr>
              <a: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Hands-on</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3D9BC8"/>
                </a:solidFill>
              </a:rPr>
              <a:t>REAL-WORLD QUESTIONS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Questions 1 &amp; 2 — straight from the field</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71</a:t>
            </a:r>
          </a:p>
        </p:txBody>
      </p:sp>
      <p:sp>
        <p:nvSpPr>
          <p:cNvPr id="6" name="Rounded Rectangle 5"/>
          <p:cNvSpPr/>
          <p:nvPr/>
        </p:nvSpPr>
        <p:spPr>
          <a:xfrm>
            <a:off x="612648" y="2926080"/>
            <a:ext cx="11247120" cy="7498079"/>
          </a:xfrm>
          <a:prstGeom prst="roundRect">
            <a:avLst>
              <a:gd name="adj" fmla="val 4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86968" y="3154680"/>
            <a:ext cx="1005840" cy="100584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3154680"/>
            <a:ext cx="1005840" cy="1005840"/>
          </a:xfrm>
          <a:prstGeom prst="rect">
            <a:avLst/>
          </a:prstGeom>
          <a:noFill/>
        </p:spPr>
        <p:txBody>
          <a:bodyPr wrap="square" lIns="0" rIns="0" tIns="18288" bIns="18288" anchor="ctr">
            <a:noAutofit/>
          </a:bodyPr>
          <a:lstStyle/>
          <a:p>
            <a:pPr algn="ctr">
              <a:lnSpc>
                <a:spcPct val="100000"/>
              </a:lnSpc>
              <a:spcBef>
                <a:spcPts val="0"/>
              </a:spcBef>
              <a:spcAft>
                <a:spcPts val="0"/>
              </a:spcAft>
            </a:pPr>
            <a:r>
              <a:rPr sz="2200" b="1" i="0">
                <a:solidFill>
                  <a:srgbClr val="FFFFFF"/>
                </a:solidFill>
              </a:rPr>
              <a:t>Q1</a:t>
            </a:r>
          </a:p>
        </p:txBody>
      </p:sp>
      <p:sp>
        <p:nvSpPr>
          <p:cNvPr id="9" name="TextBox 8"/>
          <p:cNvSpPr txBox="1"/>
          <p:nvPr/>
        </p:nvSpPr>
        <p:spPr>
          <a:xfrm>
            <a:off x="2121408" y="3108960"/>
            <a:ext cx="950976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1" i="0">
                <a:solidFill>
                  <a:srgbClr val="192B37"/>
                </a:solidFill>
              </a:rPr>
              <a:t>How common are flaky tests?</a:t>
            </a:r>
          </a:p>
        </p:txBody>
      </p:sp>
      <p:sp>
        <p:nvSpPr>
          <p:cNvPr id="10" name="Rounded Rectangle 9"/>
          <p:cNvSpPr/>
          <p:nvPr/>
        </p:nvSpPr>
        <p:spPr>
          <a:xfrm>
            <a:off x="88696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24127"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3D9BC8"/>
                </a:solidFill>
                <a:latin typeface="+mj-lt"/>
              </a:rPr>
              <a:t>16%</a:t>
            </a:r>
          </a:p>
        </p:txBody>
      </p:sp>
      <p:sp>
        <p:nvSpPr>
          <p:cNvPr id="12" name="TextBox 11"/>
          <p:cNvSpPr txBox="1"/>
          <p:nvPr/>
        </p:nvSpPr>
        <p:spPr>
          <a:xfrm>
            <a:off x="106984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of Google's tests show some flakiness</a:t>
            </a:r>
          </a:p>
        </p:txBody>
      </p:sp>
      <p:sp>
        <p:nvSpPr>
          <p:cNvPr id="13" name="Rounded Rectangle 12"/>
          <p:cNvSpPr/>
          <p:nvPr/>
        </p:nvSpPr>
        <p:spPr>
          <a:xfrm>
            <a:off x="449884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63600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3D9BC8"/>
                </a:solidFill>
                <a:latin typeface="+mj-lt"/>
              </a:rPr>
              <a:t>1.5%</a:t>
            </a:r>
          </a:p>
        </p:txBody>
      </p:sp>
      <p:sp>
        <p:nvSpPr>
          <p:cNvPr id="15" name="TextBox 14"/>
          <p:cNvSpPr txBox="1"/>
          <p:nvPr/>
        </p:nvSpPr>
        <p:spPr>
          <a:xfrm>
            <a:off x="468172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of all runs report a flaky result</a:t>
            </a:r>
          </a:p>
        </p:txBody>
      </p:sp>
      <p:sp>
        <p:nvSpPr>
          <p:cNvPr id="16" name="Rounded Rectangle 15"/>
          <p:cNvSpPr/>
          <p:nvPr/>
        </p:nvSpPr>
        <p:spPr>
          <a:xfrm>
            <a:off x="811072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4788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3D9BC8"/>
                </a:solidFill>
                <a:latin typeface="+mj-lt"/>
              </a:rPr>
              <a:t>84%</a:t>
            </a:r>
          </a:p>
        </p:txBody>
      </p:sp>
      <p:sp>
        <p:nvSpPr>
          <p:cNvPr id="18" name="TextBox 17"/>
          <p:cNvSpPr txBox="1"/>
          <p:nvPr/>
        </p:nvSpPr>
        <p:spPr>
          <a:xfrm>
            <a:off x="829360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of pass→fail transitions involved a flaky test</a:t>
            </a:r>
          </a:p>
        </p:txBody>
      </p:sp>
      <p:sp>
        <p:nvSpPr>
          <p:cNvPr id="19" name="Oval 18"/>
          <p:cNvSpPr/>
          <p:nvPr/>
        </p:nvSpPr>
        <p:spPr>
          <a:xfrm>
            <a:off x="886968" y="7543800"/>
            <a:ext cx="685800" cy="6858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uLightbulb.png"/>
          <p:cNvPicPr>
            <a:picLocks noChangeAspect="1"/>
          </p:cNvPicPr>
          <p:nvPr/>
        </p:nvPicPr>
        <p:blipFill>
          <a:blip r:embed="rId3"/>
          <a:stretch>
            <a:fillRect/>
          </a:stretch>
        </p:blipFill>
        <p:spPr>
          <a:xfrm>
            <a:off x="1051560" y="7708392"/>
            <a:ext cx="356616" cy="356616"/>
          </a:xfrm>
          <a:prstGeom prst="rect">
            <a:avLst/>
          </a:prstGeom>
        </p:spPr>
      </p:pic>
      <p:sp>
        <p:nvSpPr>
          <p:cNvPr id="21" name="TextBox 20"/>
          <p:cNvSpPr txBox="1"/>
          <p:nvPr/>
        </p:nvSpPr>
        <p:spPr>
          <a:xfrm>
            <a:off x="1755648" y="7452360"/>
            <a:ext cx="9829800" cy="2103120"/>
          </a:xfrm>
          <a:prstGeom prst="rect">
            <a:avLst/>
          </a:prstGeom>
          <a:noFill/>
        </p:spPr>
        <p:txBody>
          <a:bodyPr wrap="square" lIns="0" rIns="0" tIns="18288" bIns="18288" anchor="t">
            <a:noAutofit/>
          </a:bodyPr>
          <a:lstStyle/>
          <a:p>
            <a:pPr algn="l">
              <a:lnSpc>
                <a:spcPct val="100000"/>
              </a:lnSpc>
              <a:spcBef>
                <a:spcPts val="0"/>
              </a:spcBef>
              <a:spcAft>
                <a:spcPts val="0"/>
              </a:spcAft>
            </a:pPr>
            <a:r>
              <a:rPr sz="2000" b="0" i="0">
                <a:solidFill>
                  <a:srgbClr val="192B37"/>
                </a:solidFill>
              </a:rPr>
              <a:t>Very. Bigger tests flake more (large tests ~14% vs small 0.5%). Our cure: isolated contexts, a seed per test, no hard waits, wait for responses.</a:t>
            </a:r>
          </a:p>
        </p:txBody>
      </p:sp>
      <p:sp>
        <p:nvSpPr>
          <p:cNvPr id="22" name="TextBox 21"/>
          <p:cNvSpPr txBox="1"/>
          <p:nvPr/>
        </p:nvSpPr>
        <p:spPr>
          <a:xfrm>
            <a:off x="886968" y="9646920"/>
            <a:ext cx="1069848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1300" b="0" i="1">
                <a:solidFill>
                  <a:srgbClr val="5E6A73"/>
                </a:solidFill>
              </a:rPr>
              <a:t>Sources: testing.googleblog.com · 2016 &amp; 2017</a:t>
            </a:r>
          </a:p>
        </p:txBody>
      </p:sp>
      <p:sp>
        <p:nvSpPr>
          <p:cNvPr id="23" name="Rounded Rectangle 22"/>
          <p:cNvSpPr/>
          <p:nvPr/>
        </p:nvSpPr>
        <p:spPr>
          <a:xfrm>
            <a:off x="12225528" y="2926080"/>
            <a:ext cx="11247120" cy="7498079"/>
          </a:xfrm>
          <a:prstGeom prst="roundRect">
            <a:avLst>
              <a:gd name="adj" fmla="val 4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2499848" y="3154680"/>
            <a:ext cx="1005840" cy="100584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499848" y="3154680"/>
            <a:ext cx="1005840" cy="1005840"/>
          </a:xfrm>
          <a:prstGeom prst="rect">
            <a:avLst/>
          </a:prstGeom>
          <a:noFill/>
        </p:spPr>
        <p:txBody>
          <a:bodyPr wrap="square" lIns="0" rIns="0" tIns="18288" bIns="18288" anchor="ctr">
            <a:noAutofit/>
          </a:bodyPr>
          <a:lstStyle/>
          <a:p>
            <a:pPr algn="ctr">
              <a:lnSpc>
                <a:spcPct val="100000"/>
              </a:lnSpc>
              <a:spcBef>
                <a:spcPts val="0"/>
              </a:spcBef>
              <a:spcAft>
                <a:spcPts val="0"/>
              </a:spcAft>
            </a:pPr>
            <a:r>
              <a:rPr sz="2200" b="1" i="0">
                <a:solidFill>
                  <a:srgbClr val="FFFFFF"/>
                </a:solidFill>
              </a:rPr>
              <a:t>Q2</a:t>
            </a:r>
          </a:p>
        </p:txBody>
      </p:sp>
      <p:sp>
        <p:nvSpPr>
          <p:cNvPr id="26" name="TextBox 25"/>
          <p:cNvSpPr txBox="1"/>
          <p:nvPr/>
        </p:nvSpPr>
        <p:spPr>
          <a:xfrm>
            <a:off x="13734288" y="3108960"/>
            <a:ext cx="950976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1" i="0">
                <a:solidFill>
                  <a:srgbClr val="192B37"/>
                </a:solidFill>
              </a:rPr>
              <a:t>Is a bug really “100× more expensive” in production?</a:t>
            </a:r>
          </a:p>
        </p:txBody>
      </p:sp>
      <p:sp>
        <p:nvSpPr>
          <p:cNvPr id="27" name="Rounded Rectangle 26"/>
          <p:cNvSpPr/>
          <p:nvPr/>
        </p:nvSpPr>
        <p:spPr>
          <a:xfrm>
            <a:off x="1249984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263700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FF5640"/>
                </a:solidFill>
                <a:latin typeface="+mj-lt"/>
              </a:rPr>
              <a:t>100×</a:t>
            </a:r>
          </a:p>
        </p:txBody>
      </p:sp>
      <p:sp>
        <p:nvSpPr>
          <p:cNvPr id="29" name="TextBox 28"/>
          <p:cNvSpPr txBox="1"/>
          <p:nvPr/>
        </p:nvSpPr>
        <p:spPr>
          <a:xfrm>
            <a:off x="1268272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chart traced to notes with no data</a:t>
            </a:r>
          </a:p>
        </p:txBody>
      </p:sp>
      <p:sp>
        <p:nvSpPr>
          <p:cNvPr id="30" name="Rounded Rectangle 29"/>
          <p:cNvSpPr/>
          <p:nvPr/>
        </p:nvSpPr>
        <p:spPr>
          <a:xfrm>
            <a:off x="1611172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624888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FF5640"/>
                </a:solidFill>
                <a:latin typeface="+mj-lt"/>
              </a:rPr>
              <a:t>171</a:t>
            </a:r>
          </a:p>
        </p:txBody>
      </p:sp>
      <p:sp>
        <p:nvSpPr>
          <p:cNvPr id="32" name="TextBox 31"/>
          <p:cNvSpPr txBox="1"/>
          <p:nvPr/>
        </p:nvSpPr>
        <p:spPr>
          <a:xfrm>
            <a:off x="1629460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projects: no “delayed issue effect” found</a:t>
            </a:r>
          </a:p>
        </p:txBody>
      </p:sp>
      <p:sp>
        <p:nvSpPr>
          <p:cNvPr id="33" name="Rounded Rectangle 32"/>
          <p:cNvSpPr/>
          <p:nvPr/>
        </p:nvSpPr>
        <p:spPr>
          <a:xfrm>
            <a:off x="1972360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986076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FF5640"/>
                </a:solidFill>
                <a:latin typeface="+mj-lt"/>
              </a:rPr>
              <a:t>$59.5B</a:t>
            </a:r>
          </a:p>
        </p:txBody>
      </p:sp>
      <p:sp>
        <p:nvSpPr>
          <p:cNvPr id="35" name="TextBox 34"/>
          <p:cNvSpPr txBox="1"/>
          <p:nvPr/>
        </p:nvSpPr>
        <p:spPr>
          <a:xfrm>
            <a:off x="1990648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per year — NIST 2002 cost of poor testing</a:t>
            </a:r>
          </a:p>
        </p:txBody>
      </p:sp>
      <p:sp>
        <p:nvSpPr>
          <p:cNvPr id="36" name="Oval 35"/>
          <p:cNvSpPr/>
          <p:nvPr/>
        </p:nvSpPr>
        <p:spPr>
          <a:xfrm>
            <a:off x="12499848" y="7543800"/>
            <a:ext cx="685800" cy="6858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LuLightbulb.png"/>
          <p:cNvPicPr>
            <a:picLocks noChangeAspect="1"/>
          </p:cNvPicPr>
          <p:nvPr/>
        </p:nvPicPr>
        <p:blipFill>
          <a:blip r:embed="rId3"/>
          <a:stretch>
            <a:fillRect/>
          </a:stretch>
        </p:blipFill>
        <p:spPr>
          <a:xfrm>
            <a:off x="12664440" y="7708392"/>
            <a:ext cx="356616" cy="356616"/>
          </a:xfrm>
          <a:prstGeom prst="rect">
            <a:avLst/>
          </a:prstGeom>
        </p:spPr>
      </p:pic>
      <p:sp>
        <p:nvSpPr>
          <p:cNvPr id="38" name="TextBox 37"/>
          <p:cNvSpPr txBox="1"/>
          <p:nvPr/>
        </p:nvSpPr>
        <p:spPr>
          <a:xfrm>
            <a:off x="13368528" y="7452360"/>
            <a:ext cx="9829800" cy="2103120"/>
          </a:xfrm>
          <a:prstGeom prst="rect">
            <a:avLst/>
          </a:prstGeom>
          <a:noFill/>
        </p:spPr>
        <p:txBody>
          <a:bodyPr wrap="square" lIns="0" rIns="0" tIns="18288" bIns="18288" anchor="t">
            <a:noAutofit/>
          </a:bodyPr>
          <a:lstStyle/>
          <a:p>
            <a:pPr algn="l">
              <a:lnSpc>
                <a:spcPct val="100000"/>
              </a:lnSpc>
              <a:spcBef>
                <a:spcPts val="0"/>
              </a:spcBef>
              <a:spcAft>
                <a:spcPts val="0"/>
              </a:spcAft>
            </a:pPr>
            <a:r>
              <a:rPr sz="2000" b="0" i="0">
                <a:solidFill>
                  <a:srgbClr val="192B37"/>
                </a:solidFill>
              </a:rPr>
              <a:t>Treat “100×” as a myth. Late bugs can still be very expensive — just not by a magic constant. Argue with your own evidence.</a:t>
            </a:r>
          </a:p>
        </p:txBody>
      </p:sp>
      <p:sp>
        <p:nvSpPr>
          <p:cNvPr id="39" name="TextBox 38"/>
          <p:cNvSpPr txBox="1"/>
          <p:nvPr/>
        </p:nvSpPr>
        <p:spPr>
          <a:xfrm>
            <a:off x="12499848" y="9646920"/>
            <a:ext cx="1069848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1300" b="0" i="1">
                <a:solidFill>
                  <a:srgbClr val="5E6A73"/>
                </a:solidFill>
              </a:rPr>
              <a:t>Sources: The Register 2021 · Menzies et al. arXiv:1609.04886 · NIST 2002</a:t>
            </a:r>
          </a:p>
        </p:txBody>
      </p:sp>
      <p:sp>
        <p:nvSpPr>
          <p:cNvPr id="40" name="Rounded Rectangle 39"/>
          <p:cNvSpPr/>
          <p:nvPr/>
        </p:nvSpPr>
        <p:spPr>
          <a:xfrm>
            <a:off x="612648" y="10789920"/>
            <a:ext cx="22860000" cy="960120"/>
          </a:xfrm>
          <a:prstGeom prst="roundRect">
            <a:avLst>
              <a:gd name="adj" fmla="val 1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886968" y="10927080"/>
            <a:ext cx="685800" cy="6858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LuLaugh.png"/>
          <p:cNvPicPr>
            <a:picLocks noChangeAspect="1"/>
          </p:cNvPicPr>
          <p:nvPr/>
        </p:nvPicPr>
        <p:blipFill>
          <a:blip r:embed="rId4"/>
          <a:stretch>
            <a:fillRect/>
          </a:stretch>
        </p:blipFill>
        <p:spPr>
          <a:xfrm>
            <a:off x="1051560" y="11091672"/>
            <a:ext cx="356616" cy="356616"/>
          </a:xfrm>
          <a:prstGeom prst="rect">
            <a:avLst/>
          </a:prstGeom>
        </p:spPr>
      </p:pic>
      <p:sp>
        <p:nvSpPr>
          <p:cNvPr id="43" name="TextBox 42"/>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The 100× rule is the urban legend of QA — everyone's cousin's manager saw the chart once.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Hands-on</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3D9BC8"/>
                </a:solidFill>
              </a:rPr>
              <a:t>REAL-WORLD QUESTIONS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Questions 3 &amp; 4 — straight from the field</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72</a:t>
            </a:r>
          </a:p>
        </p:txBody>
      </p:sp>
      <p:sp>
        <p:nvSpPr>
          <p:cNvPr id="6" name="Rounded Rectangle 5"/>
          <p:cNvSpPr/>
          <p:nvPr/>
        </p:nvSpPr>
        <p:spPr>
          <a:xfrm>
            <a:off x="612648" y="2926080"/>
            <a:ext cx="11247120" cy="7498079"/>
          </a:xfrm>
          <a:prstGeom prst="roundRect">
            <a:avLst>
              <a:gd name="adj" fmla="val 4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86968" y="3154680"/>
            <a:ext cx="1005840" cy="100584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3154680"/>
            <a:ext cx="1005840" cy="1005840"/>
          </a:xfrm>
          <a:prstGeom prst="rect">
            <a:avLst/>
          </a:prstGeom>
          <a:noFill/>
        </p:spPr>
        <p:txBody>
          <a:bodyPr wrap="square" lIns="0" rIns="0" tIns="18288" bIns="18288" anchor="ctr">
            <a:noAutofit/>
          </a:bodyPr>
          <a:lstStyle/>
          <a:p>
            <a:pPr algn="ctr">
              <a:lnSpc>
                <a:spcPct val="100000"/>
              </a:lnSpc>
              <a:spcBef>
                <a:spcPts val="0"/>
              </a:spcBef>
              <a:spcAft>
                <a:spcPts val="0"/>
              </a:spcAft>
            </a:pPr>
            <a:r>
              <a:rPr sz="2200" b="1" i="0">
                <a:solidFill>
                  <a:srgbClr val="FFFFFF"/>
                </a:solidFill>
              </a:rPr>
              <a:t>Q3</a:t>
            </a:r>
          </a:p>
        </p:txBody>
      </p:sp>
      <p:sp>
        <p:nvSpPr>
          <p:cNvPr id="9" name="TextBox 8"/>
          <p:cNvSpPr txBox="1"/>
          <p:nvPr/>
        </p:nvSpPr>
        <p:spPr>
          <a:xfrm>
            <a:off x="2121408" y="3108960"/>
            <a:ext cx="950976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1" i="0">
                <a:solidFill>
                  <a:srgbClr val="192B37"/>
                </a:solidFill>
              </a:rPr>
              <a:t>Should I automate everything through the UI?</a:t>
            </a:r>
          </a:p>
        </p:txBody>
      </p:sp>
      <p:sp>
        <p:nvSpPr>
          <p:cNvPr id="10" name="Rounded Rectangle 9"/>
          <p:cNvSpPr/>
          <p:nvPr/>
        </p:nvSpPr>
        <p:spPr>
          <a:xfrm>
            <a:off x="88696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24127"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3000" b="0" i="0">
                <a:solidFill>
                  <a:srgbClr val="00A859"/>
                </a:solidFill>
                <a:latin typeface="+mj-lt"/>
              </a:rPr>
              <a:t>80/15/5</a:t>
            </a:r>
          </a:p>
        </p:txBody>
      </p:sp>
      <p:sp>
        <p:nvSpPr>
          <p:cNvPr id="12" name="TextBox 11"/>
          <p:cNvSpPr txBox="1"/>
          <p:nvPr/>
        </p:nvSpPr>
        <p:spPr>
          <a:xfrm>
            <a:off x="106984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unit / integration / e2e at Google</a:t>
            </a:r>
          </a:p>
        </p:txBody>
      </p:sp>
      <p:sp>
        <p:nvSpPr>
          <p:cNvPr id="13" name="Rounded Rectangle 12"/>
          <p:cNvSpPr/>
          <p:nvPr/>
        </p:nvSpPr>
        <p:spPr>
          <a:xfrm>
            <a:off x="449884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63600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00A859"/>
                </a:solidFill>
                <a:latin typeface="+mj-lt"/>
              </a:rPr>
              <a:t>27,000</a:t>
            </a:r>
          </a:p>
        </p:txBody>
      </p:sp>
      <p:sp>
        <p:nvSpPr>
          <p:cNvPr id="15" name="TextBox 14"/>
          <p:cNvSpPr txBox="1"/>
          <p:nvPr/>
        </p:nvSpPr>
        <p:spPr>
          <a:xfrm>
            <a:off x="468172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legacy tests retired by one Microsoft team</a:t>
            </a:r>
          </a:p>
        </p:txBody>
      </p:sp>
      <p:sp>
        <p:nvSpPr>
          <p:cNvPr id="16" name="Rounded Rectangle 15"/>
          <p:cNvSpPr/>
          <p:nvPr/>
        </p:nvSpPr>
        <p:spPr>
          <a:xfrm>
            <a:off x="811072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4788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00A859"/>
                </a:solidFill>
                <a:latin typeface="+mj-lt"/>
              </a:rPr>
              <a:t>&lt;6 min</a:t>
            </a:r>
          </a:p>
        </p:txBody>
      </p:sp>
      <p:sp>
        <p:nvSpPr>
          <p:cNvPr id="18" name="TextBox 17"/>
          <p:cNvSpPr txBox="1"/>
          <p:nvPr/>
        </p:nvSpPr>
        <p:spPr>
          <a:xfrm>
            <a:off x="829360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for 60,000+ unit tests afterwards</a:t>
            </a:r>
          </a:p>
        </p:txBody>
      </p:sp>
      <p:sp>
        <p:nvSpPr>
          <p:cNvPr id="19" name="Oval 18"/>
          <p:cNvSpPr/>
          <p:nvPr/>
        </p:nvSpPr>
        <p:spPr>
          <a:xfrm>
            <a:off x="886968" y="7543800"/>
            <a:ext cx="685800" cy="6858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uLightbulb.png"/>
          <p:cNvPicPr>
            <a:picLocks noChangeAspect="1"/>
          </p:cNvPicPr>
          <p:nvPr/>
        </p:nvPicPr>
        <p:blipFill>
          <a:blip r:embed="rId3"/>
          <a:stretch>
            <a:fillRect/>
          </a:stretch>
        </p:blipFill>
        <p:spPr>
          <a:xfrm>
            <a:off x="1051560" y="7708392"/>
            <a:ext cx="356616" cy="356616"/>
          </a:xfrm>
          <a:prstGeom prst="rect">
            <a:avLst/>
          </a:prstGeom>
        </p:spPr>
      </p:pic>
      <p:sp>
        <p:nvSpPr>
          <p:cNvPr id="21" name="TextBox 20"/>
          <p:cNvSpPr txBox="1"/>
          <p:nvPr/>
        </p:nvSpPr>
        <p:spPr>
          <a:xfrm>
            <a:off x="1755648" y="7452360"/>
            <a:ext cx="9829800" cy="2103120"/>
          </a:xfrm>
          <a:prstGeom prst="rect">
            <a:avLst/>
          </a:prstGeom>
          <a:noFill/>
        </p:spPr>
        <p:txBody>
          <a:bodyPr wrap="square" lIns="0" rIns="0" tIns="18288" bIns="18288" anchor="t">
            <a:noAutofit/>
          </a:bodyPr>
          <a:lstStyle/>
          <a:p>
            <a:pPr algn="l">
              <a:lnSpc>
                <a:spcPct val="100000"/>
              </a:lnSpc>
              <a:spcBef>
                <a:spcPts val="0"/>
              </a:spcBef>
              <a:spcAft>
                <a:spcPts val="0"/>
              </a:spcAft>
            </a:pPr>
            <a:r>
              <a:rPr sz="2000" b="0" i="0">
                <a:solidFill>
                  <a:srgbClr val="192B37"/>
                </a:solidFill>
              </a:rPr>
              <a:t>No. Push checks down the pyramid: API and unit tests are faster and steadier. Keep a few journeys (like ours) end-to-end.</a:t>
            </a:r>
          </a:p>
        </p:txBody>
      </p:sp>
      <p:sp>
        <p:nvSpPr>
          <p:cNvPr id="22" name="TextBox 21"/>
          <p:cNvSpPr txBox="1"/>
          <p:nvPr/>
        </p:nvSpPr>
        <p:spPr>
          <a:xfrm>
            <a:off x="886968" y="9646920"/>
            <a:ext cx="1069848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1300" b="0" i="1">
                <a:solidFill>
                  <a:srgbClr val="5E6A73"/>
                </a:solidFill>
              </a:rPr>
              <a:t>Sources: SWE at Google ch.11 · martinfowler.com · learn.microsoft.com</a:t>
            </a:r>
          </a:p>
        </p:txBody>
      </p:sp>
      <p:sp>
        <p:nvSpPr>
          <p:cNvPr id="23" name="Rounded Rectangle 22"/>
          <p:cNvSpPr/>
          <p:nvPr/>
        </p:nvSpPr>
        <p:spPr>
          <a:xfrm>
            <a:off x="12225528" y="2926080"/>
            <a:ext cx="11247120" cy="7498079"/>
          </a:xfrm>
          <a:prstGeom prst="roundRect">
            <a:avLst>
              <a:gd name="adj" fmla="val 4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2499848" y="3154680"/>
            <a:ext cx="1005840" cy="100584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499848" y="3154680"/>
            <a:ext cx="1005840" cy="1005840"/>
          </a:xfrm>
          <a:prstGeom prst="rect">
            <a:avLst/>
          </a:prstGeom>
          <a:noFill/>
        </p:spPr>
        <p:txBody>
          <a:bodyPr wrap="square" lIns="0" rIns="0" tIns="18288" bIns="18288" anchor="ctr">
            <a:noAutofit/>
          </a:bodyPr>
          <a:lstStyle/>
          <a:p>
            <a:pPr algn="ctr">
              <a:lnSpc>
                <a:spcPct val="100000"/>
              </a:lnSpc>
              <a:spcBef>
                <a:spcPts val="0"/>
              </a:spcBef>
              <a:spcAft>
                <a:spcPts val="0"/>
              </a:spcAft>
            </a:pPr>
            <a:r>
              <a:rPr sz="2200" b="1" i="0">
                <a:solidFill>
                  <a:srgbClr val="FFFFFF"/>
                </a:solidFill>
              </a:rPr>
              <a:t>Q4</a:t>
            </a:r>
          </a:p>
        </p:txBody>
      </p:sp>
      <p:sp>
        <p:nvSpPr>
          <p:cNvPr id="26" name="TextBox 25"/>
          <p:cNvSpPr txBox="1"/>
          <p:nvPr/>
        </p:nvSpPr>
        <p:spPr>
          <a:xfrm>
            <a:off x="13734288" y="3108960"/>
            <a:ext cx="950976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1" i="0">
                <a:solidFill>
                  <a:srgbClr val="192B37"/>
                </a:solidFill>
              </a:rPr>
              <a:t>Will AI replace testers?</a:t>
            </a:r>
          </a:p>
        </p:txBody>
      </p:sp>
      <p:sp>
        <p:nvSpPr>
          <p:cNvPr id="27" name="Rounded Rectangle 26"/>
          <p:cNvSpPr/>
          <p:nvPr/>
        </p:nvSpPr>
        <p:spPr>
          <a:xfrm>
            <a:off x="1249984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263700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8683C3"/>
                </a:solidFill>
                <a:latin typeface="+mj-lt"/>
              </a:rPr>
              <a:t>84%</a:t>
            </a:r>
          </a:p>
        </p:txBody>
      </p:sp>
      <p:sp>
        <p:nvSpPr>
          <p:cNvPr id="29" name="TextBox 28"/>
          <p:cNvSpPr txBox="1"/>
          <p:nvPr/>
        </p:nvSpPr>
        <p:spPr>
          <a:xfrm>
            <a:off x="1268272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of devs use or plan to use AI tools</a:t>
            </a:r>
          </a:p>
        </p:txBody>
      </p:sp>
      <p:sp>
        <p:nvSpPr>
          <p:cNvPr id="30" name="Rounded Rectangle 29"/>
          <p:cNvSpPr/>
          <p:nvPr/>
        </p:nvSpPr>
        <p:spPr>
          <a:xfrm>
            <a:off x="1611172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624888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8683C3"/>
                </a:solidFill>
                <a:latin typeface="+mj-lt"/>
              </a:rPr>
              <a:t>46%</a:t>
            </a:r>
          </a:p>
        </p:txBody>
      </p:sp>
      <p:sp>
        <p:nvSpPr>
          <p:cNvPr id="32" name="TextBox 31"/>
          <p:cNvSpPr txBox="1"/>
          <p:nvPr/>
        </p:nvSpPr>
        <p:spPr>
          <a:xfrm>
            <a:off x="1629460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distrust the accuracy</a:t>
            </a:r>
          </a:p>
        </p:txBody>
      </p:sp>
      <p:sp>
        <p:nvSpPr>
          <p:cNvPr id="33" name="Rounded Rectangle 32"/>
          <p:cNvSpPr/>
          <p:nvPr/>
        </p:nvSpPr>
        <p:spPr>
          <a:xfrm>
            <a:off x="1972360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986076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8683C3"/>
                </a:solidFill>
                <a:latin typeface="+mj-lt"/>
              </a:rPr>
              <a:t>39%</a:t>
            </a:r>
          </a:p>
        </p:txBody>
      </p:sp>
      <p:sp>
        <p:nvSpPr>
          <p:cNvPr id="35" name="TextBox 34"/>
          <p:cNvSpPr txBox="1"/>
          <p:nvPr/>
        </p:nvSpPr>
        <p:spPr>
          <a:xfrm>
            <a:off x="1990648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of core skills change by 2030 (WEF)</a:t>
            </a:r>
          </a:p>
        </p:txBody>
      </p:sp>
      <p:sp>
        <p:nvSpPr>
          <p:cNvPr id="36" name="Oval 35"/>
          <p:cNvSpPr/>
          <p:nvPr/>
        </p:nvSpPr>
        <p:spPr>
          <a:xfrm>
            <a:off x="12499848" y="7543800"/>
            <a:ext cx="685800" cy="6858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LuLightbulb.png"/>
          <p:cNvPicPr>
            <a:picLocks noChangeAspect="1"/>
          </p:cNvPicPr>
          <p:nvPr/>
        </p:nvPicPr>
        <p:blipFill>
          <a:blip r:embed="rId3"/>
          <a:stretch>
            <a:fillRect/>
          </a:stretch>
        </p:blipFill>
        <p:spPr>
          <a:xfrm>
            <a:off x="12664440" y="7708392"/>
            <a:ext cx="356616" cy="356616"/>
          </a:xfrm>
          <a:prstGeom prst="rect">
            <a:avLst/>
          </a:prstGeom>
        </p:spPr>
      </p:pic>
      <p:sp>
        <p:nvSpPr>
          <p:cNvPr id="38" name="TextBox 37"/>
          <p:cNvSpPr txBox="1"/>
          <p:nvPr/>
        </p:nvSpPr>
        <p:spPr>
          <a:xfrm>
            <a:off x="13368528" y="7452360"/>
            <a:ext cx="9829800" cy="2103120"/>
          </a:xfrm>
          <a:prstGeom prst="rect">
            <a:avLst/>
          </a:prstGeom>
          <a:noFill/>
        </p:spPr>
        <p:txBody>
          <a:bodyPr wrap="square" lIns="0" rIns="0" tIns="18288" bIns="18288" anchor="t">
            <a:noAutofit/>
          </a:bodyPr>
          <a:lstStyle/>
          <a:p>
            <a:pPr algn="l">
              <a:lnSpc>
                <a:spcPct val="100000"/>
              </a:lnSpc>
              <a:spcBef>
                <a:spcPts val="0"/>
              </a:spcBef>
              <a:spcAft>
                <a:spcPts val="0"/>
              </a:spcAft>
            </a:pPr>
            <a:r>
              <a:rPr sz="2000" b="0" i="0">
                <a:solidFill>
                  <a:srgbClr val="192B37"/>
                </a:solidFill>
              </a:rPr>
              <a:t>The job changes rather than disappears. 66% complain of “almost right” answers — someone has to verify. That someone is you.</a:t>
            </a:r>
          </a:p>
        </p:txBody>
      </p:sp>
      <p:sp>
        <p:nvSpPr>
          <p:cNvPr id="39" name="TextBox 38"/>
          <p:cNvSpPr txBox="1"/>
          <p:nvPr/>
        </p:nvSpPr>
        <p:spPr>
          <a:xfrm>
            <a:off x="12499848" y="9646920"/>
            <a:ext cx="1069848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1300" b="0" i="1">
                <a:solidFill>
                  <a:srgbClr val="5E6A73"/>
                </a:solidFill>
              </a:rPr>
              <a:t>Sources: Stack Overflow Survey 2025 · WEF Future of Jobs 2025</a:t>
            </a:r>
          </a:p>
        </p:txBody>
      </p:sp>
      <p:sp>
        <p:nvSpPr>
          <p:cNvPr id="40" name="Rounded Rectangle 39"/>
          <p:cNvSpPr/>
          <p:nvPr/>
        </p:nvSpPr>
        <p:spPr>
          <a:xfrm>
            <a:off x="612648" y="10789920"/>
            <a:ext cx="22860000" cy="960120"/>
          </a:xfrm>
          <a:prstGeom prst="roundRect">
            <a:avLst>
              <a:gd name="adj" fmla="val 1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886968" y="10927080"/>
            <a:ext cx="685800" cy="6858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LuLaugh.png"/>
          <p:cNvPicPr>
            <a:picLocks noChangeAspect="1"/>
          </p:cNvPicPr>
          <p:nvPr/>
        </p:nvPicPr>
        <p:blipFill>
          <a:blip r:embed="rId4"/>
          <a:stretch>
            <a:fillRect/>
          </a:stretch>
        </p:blipFill>
        <p:spPr>
          <a:xfrm>
            <a:off x="1051560" y="11091672"/>
            <a:ext cx="356616" cy="356616"/>
          </a:xfrm>
          <a:prstGeom prst="rect">
            <a:avLst/>
          </a:prstGeom>
        </p:spPr>
      </p:pic>
      <p:sp>
        <p:nvSpPr>
          <p:cNvPr id="43" name="TextBox 42"/>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Testing everything through the UI is like checking the fridge temperature by eating everything in it.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Hands-on</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3D9BC8"/>
                </a:solidFill>
              </a:rPr>
              <a:t>REAL-WORLD QUESTIONS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Questions 5 &amp; 6 — straight from the field</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73</a:t>
            </a:r>
          </a:p>
        </p:txBody>
      </p:sp>
      <p:sp>
        <p:nvSpPr>
          <p:cNvPr id="6" name="Rounded Rectangle 5"/>
          <p:cNvSpPr/>
          <p:nvPr/>
        </p:nvSpPr>
        <p:spPr>
          <a:xfrm>
            <a:off x="612648" y="2926080"/>
            <a:ext cx="11247120" cy="7498079"/>
          </a:xfrm>
          <a:prstGeom prst="roundRect">
            <a:avLst>
              <a:gd name="adj" fmla="val 4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86968" y="3154680"/>
            <a:ext cx="1005840" cy="100584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3154680"/>
            <a:ext cx="1005840" cy="1005840"/>
          </a:xfrm>
          <a:prstGeom prst="rect">
            <a:avLst/>
          </a:prstGeom>
          <a:noFill/>
        </p:spPr>
        <p:txBody>
          <a:bodyPr wrap="square" lIns="0" rIns="0" tIns="18288" bIns="18288" anchor="ctr">
            <a:noAutofit/>
          </a:bodyPr>
          <a:lstStyle/>
          <a:p>
            <a:pPr algn="ctr">
              <a:lnSpc>
                <a:spcPct val="100000"/>
              </a:lnSpc>
              <a:spcBef>
                <a:spcPts val="0"/>
              </a:spcBef>
              <a:spcAft>
                <a:spcPts val="0"/>
              </a:spcAft>
            </a:pPr>
            <a:r>
              <a:rPr sz="2200" b="1" i="0">
                <a:solidFill>
                  <a:srgbClr val="FFFFFF"/>
                </a:solidFill>
              </a:rPr>
              <a:t>Q5</a:t>
            </a:r>
          </a:p>
        </p:txBody>
      </p:sp>
      <p:sp>
        <p:nvSpPr>
          <p:cNvPr id="9" name="TextBox 8"/>
          <p:cNvSpPr txBox="1"/>
          <p:nvPr/>
        </p:nvSpPr>
        <p:spPr>
          <a:xfrm>
            <a:off x="2121408" y="3108960"/>
            <a:ext cx="950976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1" i="0">
                <a:solidFill>
                  <a:srgbClr val="192B37"/>
                </a:solidFill>
              </a:rPr>
              <a:t>How do the big companies test?</a:t>
            </a:r>
          </a:p>
        </p:txBody>
      </p:sp>
      <p:sp>
        <p:nvSpPr>
          <p:cNvPr id="10" name="Rounded Rectangle 9"/>
          <p:cNvSpPr/>
          <p:nvPr/>
        </p:nvSpPr>
        <p:spPr>
          <a:xfrm>
            <a:off x="88696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24127"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3000" b="0" i="0">
                <a:solidFill>
                  <a:srgbClr val="DB7D00"/>
                </a:solidFill>
                <a:latin typeface="+mj-lt"/>
              </a:rPr>
              <a:t>billions</a:t>
            </a:r>
          </a:p>
        </p:txBody>
      </p:sp>
      <p:sp>
        <p:nvSpPr>
          <p:cNvPr id="12" name="TextBox 11"/>
          <p:cNvSpPr txBox="1"/>
          <p:nvPr/>
        </p:nvSpPr>
        <p:spPr>
          <a:xfrm>
            <a:off x="106984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of test cases run at Google every week</a:t>
            </a:r>
          </a:p>
        </p:txBody>
      </p:sp>
      <p:sp>
        <p:nvSpPr>
          <p:cNvPr id="13" name="Rounded Rectangle 12"/>
          <p:cNvSpPr/>
          <p:nvPr/>
        </p:nvSpPr>
        <p:spPr>
          <a:xfrm>
            <a:off x="449884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63600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3000" b="0" i="0">
                <a:solidFill>
                  <a:srgbClr val="DB7D00"/>
                </a:solidFill>
                <a:latin typeface="+mj-lt"/>
              </a:rPr>
              <a:t>S · M · L</a:t>
            </a:r>
          </a:p>
        </p:txBody>
      </p:sp>
      <p:sp>
        <p:nvSpPr>
          <p:cNvPr id="15" name="TextBox 14"/>
          <p:cNvSpPr txBox="1"/>
          <p:nvPr/>
        </p:nvSpPr>
        <p:spPr>
          <a:xfrm>
            <a:off x="468172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tests sized by what they may touch</a:t>
            </a:r>
          </a:p>
        </p:txBody>
      </p:sp>
      <p:sp>
        <p:nvSpPr>
          <p:cNvPr id="16" name="Rounded Rectangle 15"/>
          <p:cNvSpPr/>
          <p:nvPr/>
        </p:nvSpPr>
        <p:spPr>
          <a:xfrm>
            <a:off x="811072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4788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DB7D00"/>
                </a:solidFill>
                <a:latin typeface="+mj-lt"/>
              </a:rPr>
              <a:t>2011</a:t>
            </a:r>
          </a:p>
        </p:txBody>
      </p:sp>
      <p:sp>
        <p:nvSpPr>
          <p:cNvPr id="18" name="TextBox 17"/>
          <p:cNvSpPr txBox="1"/>
          <p:nvPr/>
        </p:nvSpPr>
        <p:spPr>
          <a:xfrm>
            <a:off x="829360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Netflix Chaos Monkey kills prod instances</a:t>
            </a:r>
          </a:p>
        </p:txBody>
      </p:sp>
      <p:sp>
        <p:nvSpPr>
          <p:cNvPr id="19" name="Oval 18"/>
          <p:cNvSpPr/>
          <p:nvPr/>
        </p:nvSpPr>
        <p:spPr>
          <a:xfrm>
            <a:off x="886968" y="7543800"/>
            <a:ext cx="685800" cy="68580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uLightbulb.png"/>
          <p:cNvPicPr>
            <a:picLocks noChangeAspect="1"/>
          </p:cNvPicPr>
          <p:nvPr/>
        </p:nvPicPr>
        <p:blipFill>
          <a:blip r:embed="rId3"/>
          <a:stretch>
            <a:fillRect/>
          </a:stretch>
        </p:blipFill>
        <p:spPr>
          <a:xfrm>
            <a:off x="1051560" y="7708392"/>
            <a:ext cx="356616" cy="356616"/>
          </a:xfrm>
          <a:prstGeom prst="rect">
            <a:avLst/>
          </a:prstGeom>
        </p:spPr>
      </p:pic>
      <p:sp>
        <p:nvSpPr>
          <p:cNvPr id="21" name="TextBox 20"/>
          <p:cNvSpPr txBox="1"/>
          <p:nvPr/>
        </p:nvSpPr>
        <p:spPr>
          <a:xfrm>
            <a:off x="1755648" y="7452360"/>
            <a:ext cx="9829800" cy="2103120"/>
          </a:xfrm>
          <a:prstGeom prst="rect">
            <a:avLst/>
          </a:prstGeom>
          <a:noFill/>
        </p:spPr>
        <p:txBody>
          <a:bodyPr wrap="square" lIns="0" rIns="0" tIns="18288" bIns="18288" anchor="t">
            <a:noAutofit/>
          </a:bodyPr>
          <a:lstStyle/>
          <a:p>
            <a:pPr algn="l">
              <a:lnSpc>
                <a:spcPct val="100000"/>
              </a:lnSpc>
              <a:spcBef>
                <a:spcPts val="0"/>
              </a:spcBef>
              <a:spcAft>
                <a:spcPts val="0"/>
              </a:spcAft>
            </a:pPr>
            <a:r>
              <a:rPr sz="2000" b="0" i="0">
                <a:solidFill>
                  <a:srgbClr val="192B37"/>
                </a:solidFill>
              </a:rPr>
              <a:t>Lots of small fast tests, strict size rules, and deliberately breaking production to prove resilience. Beyoncé Rule: if you liked it, put a test on it.</a:t>
            </a:r>
          </a:p>
        </p:txBody>
      </p:sp>
      <p:sp>
        <p:nvSpPr>
          <p:cNvPr id="22" name="TextBox 21"/>
          <p:cNvSpPr txBox="1"/>
          <p:nvPr/>
        </p:nvSpPr>
        <p:spPr>
          <a:xfrm>
            <a:off x="886968" y="9646920"/>
            <a:ext cx="1069848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1300" b="0" i="1">
                <a:solidFill>
                  <a:srgbClr val="5E6A73"/>
                </a:solidFill>
              </a:rPr>
              <a:t>Sources: abseil.io SWE book ch.11 · Netflix Tech Blog · principlesofchaos.org</a:t>
            </a:r>
          </a:p>
        </p:txBody>
      </p:sp>
      <p:sp>
        <p:nvSpPr>
          <p:cNvPr id="23" name="Rounded Rectangle 22"/>
          <p:cNvSpPr/>
          <p:nvPr/>
        </p:nvSpPr>
        <p:spPr>
          <a:xfrm>
            <a:off x="12225528" y="2926080"/>
            <a:ext cx="11247120" cy="7498079"/>
          </a:xfrm>
          <a:prstGeom prst="roundRect">
            <a:avLst>
              <a:gd name="adj" fmla="val 4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2499848" y="3154680"/>
            <a:ext cx="1005840" cy="100584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499848" y="3154680"/>
            <a:ext cx="1005840" cy="1005840"/>
          </a:xfrm>
          <a:prstGeom prst="rect">
            <a:avLst/>
          </a:prstGeom>
          <a:noFill/>
        </p:spPr>
        <p:txBody>
          <a:bodyPr wrap="square" lIns="0" rIns="0" tIns="18288" bIns="18288" anchor="ctr">
            <a:noAutofit/>
          </a:bodyPr>
          <a:lstStyle/>
          <a:p>
            <a:pPr algn="ctr">
              <a:lnSpc>
                <a:spcPct val="100000"/>
              </a:lnSpc>
              <a:spcBef>
                <a:spcPts val="0"/>
              </a:spcBef>
              <a:spcAft>
                <a:spcPts val="0"/>
              </a:spcAft>
            </a:pPr>
            <a:r>
              <a:rPr sz="2200" b="1" i="0">
                <a:solidFill>
                  <a:srgbClr val="FFFFFF"/>
                </a:solidFill>
              </a:rPr>
              <a:t>Q6</a:t>
            </a:r>
          </a:p>
        </p:txBody>
      </p:sp>
      <p:sp>
        <p:nvSpPr>
          <p:cNvPr id="26" name="TextBox 25"/>
          <p:cNvSpPr txBox="1"/>
          <p:nvPr/>
        </p:nvSpPr>
        <p:spPr>
          <a:xfrm>
            <a:off x="13734288" y="3108960"/>
            <a:ext cx="950976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1" i="0">
                <a:solidFill>
                  <a:srgbClr val="192B37"/>
                </a:solidFill>
              </a:rPr>
              <a:t>What happens when testing misses something?</a:t>
            </a:r>
          </a:p>
        </p:txBody>
      </p:sp>
      <p:sp>
        <p:nvSpPr>
          <p:cNvPr id="27" name="Rounded Rectangle 26"/>
          <p:cNvSpPr/>
          <p:nvPr/>
        </p:nvSpPr>
        <p:spPr>
          <a:xfrm>
            <a:off x="1249984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263700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3000" b="0" i="0">
                <a:solidFill>
                  <a:srgbClr val="FF5640"/>
                </a:solidFill>
                <a:latin typeface="+mj-lt"/>
              </a:rPr>
              <a:t>21 vs 20</a:t>
            </a:r>
          </a:p>
        </p:txBody>
      </p:sp>
      <p:sp>
        <p:nvSpPr>
          <p:cNvPr id="29" name="TextBox 28"/>
          <p:cNvSpPr txBox="1"/>
          <p:nvPr/>
        </p:nvSpPr>
        <p:spPr>
          <a:xfrm>
            <a:off x="1268272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fields — CrowdStrike, 19 Jul 2024</a:t>
            </a:r>
          </a:p>
        </p:txBody>
      </p:sp>
      <p:sp>
        <p:nvSpPr>
          <p:cNvPr id="30" name="Rounded Rectangle 29"/>
          <p:cNvSpPr/>
          <p:nvPr/>
        </p:nvSpPr>
        <p:spPr>
          <a:xfrm>
            <a:off x="1611172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624888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FF5640"/>
                </a:solidFill>
                <a:latin typeface="+mj-lt"/>
              </a:rPr>
              <a:t>8.5M</a:t>
            </a:r>
          </a:p>
        </p:txBody>
      </p:sp>
      <p:sp>
        <p:nvSpPr>
          <p:cNvPr id="32" name="TextBox 31"/>
          <p:cNvSpPr txBox="1"/>
          <p:nvPr/>
        </p:nvSpPr>
        <p:spPr>
          <a:xfrm>
            <a:off x="1629460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Windows devices crashed</a:t>
            </a:r>
          </a:p>
        </p:txBody>
      </p:sp>
      <p:sp>
        <p:nvSpPr>
          <p:cNvPr id="33" name="Rounded Rectangle 32"/>
          <p:cNvSpPr/>
          <p:nvPr/>
        </p:nvSpPr>
        <p:spPr>
          <a:xfrm>
            <a:off x="1972360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986076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FF5640"/>
                </a:solidFill>
                <a:latin typeface="+mj-lt"/>
              </a:rPr>
              <a:t>$460M</a:t>
            </a:r>
          </a:p>
        </p:txBody>
      </p:sp>
      <p:sp>
        <p:nvSpPr>
          <p:cNvPr id="35" name="TextBox 34"/>
          <p:cNvSpPr txBox="1"/>
          <p:nvPr/>
        </p:nvSpPr>
        <p:spPr>
          <a:xfrm>
            <a:off x="1990648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lost in 45 min — Knight Capital 2012</a:t>
            </a:r>
          </a:p>
        </p:txBody>
      </p:sp>
      <p:sp>
        <p:nvSpPr>
          <p:cNvPr id="36" name="Oval 35"/>
          <p:cNvSpPr/>
          <p:nvPr/>
        </p:nvSpPr>
        <p:spPr>
          <a:xfrm>
            <a:off x="12499848" y="7543800"/>
            <a:ext cx="685800" cy="68580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LuLightbulb.png"/>
          <p:cNvPicPr>
            <a:picLocks noChangeAspect="1"/>
          </p:cNvPicPr>
          <p:nvPr/>
        </p:nvPicPr>
        <p:blipFill>
          <a:blip r:embed="rId3"/>
          <a:stretch>
            <a:fillRect/>
          </a:stretch>
        </p:blipFill>
        <p:spPr>
          <a:xfrm>
            <a:off x="12664440" y="7708392"/>
            <a:ext cx="356616" cy="356616"/>
          </a:xfrm>
          <a:prstGeom prst="rect">
            <a:avLst/>
          </a:prstGeom>
        </p:spPr>
      </p:pic>
      <p:sp>
        <p:nvSpPr>
          <p:cNvPr id="38" name="TextBox 37"/>
          <p:cNvSpPr txBox="1"/>
          <p:nvPr/>
        </p:nvSpPr>
        <p:spPr>
          <a:xfrm>
            <a:off x="13368528" y="7452360"/>
            <a:ext cx="9829800" cy="2103120"/>
          </a:xfrm>
          <a:prstGeom prst="rect">
            <a:avLst/>
          </a:prstGeom>
          <a:noFill/>
        </p:spPr>
        <p:txBody>
          <a:bodyPr wrap="square" lIns="0" rIns="0" tIns="18288" bIns="18288" anchor="t">
            <a:noAutofit/>
          </a:bodyPr>
          <a:lstStyle/>
          <a:p>
            <a:pPr algn="l">
              <a:lnSpc>
                <a:spcPct val="100000"/>
              </a:lnSpc>
              <a:spcBef>
                <a:spcPts val="0"/>
              </a:spcBef>
              <a:spcAft>
                <a:spcPts val="0"/>
              </a:spcAft>
            </a:pPr>
            <a:r>
              <a:rPr sz="2000" b="0" i="0">
                <a:solidFill>
                  <a:srgbClr val="192B37"/>
                </a:solidFill>
              </a:rPr>
              <a:t>Validators with wildcards, no staged rollout, dead code left on 1 of 8 servers. Small gaps, huge blast radius — hence our gap registry.</a:t>
            </a:r>
          </a:p>
        </p:txBody>
      </p:sp>
      <p:sp>
        <p:nvSpPr>
          <p:cNvPr id="39" name="TextBox 38"/>
          <p:cNvSpPr txBox="1"/>
          <p:nvPr/>
        </p:nvSpPr>
        <p:spPr>
          <a:xfrm>
            <a:off x="12499848" y="9646920"/>
            <a:ext cx="1069848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1300" b="0" i="1">
                <a:solidFill>
                  <a:srgbClr val="5E6A73"/>
                </a:solidFill>
              </a:rPr>
              <a:t>Sources: CrowdStrike RCA 2024 · Microsoft blog · SEC 34-70694</a:t>
            </a:r>
          </a:p>
        </p:txBody>
      </p:sp>
      <p:sp>
        <p:nvSpPr>
          <p:cNvPr id="40" name="Rounded Rectangle 39"/>
          <p:cNvSpPr/>
          <p:nvPr/>
        </p:nvSpPr>
        <p:spPr>
          <a:xfrm>
            <a:off x="612648" y="10789920"/>
            <a:ext cx="22860000" cy="960120"/>
          </a:xfrm>
          <a:prstGeom prst="roundRect">
            <a:avLst>
              <a:gd name="adj" fmla="val 1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886968" y="10927080"/>
            <a:ext cx="685800" cy="6858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LuLaugh.png"/>
          <p:cNvPicPr>
            <a:picLocks noChangeAspect="1"/>
          </p:cNvPicPr>
          <p:nvPr/>
        </p:nvPicPr>
        <p:blipFill>
          <a:blip r:embed="rId4"/>
          <a:stretch>
            <a:fillRect/>
          </a:stretch>
        </p:blipFill>
        <p:spPr>
          <a:xfrm>
            <a:off x="1051560" y="11091672"/>
            <a:ext cx="356616" cy="356616"/>
          </a:xfrm>
          <a:prstGeom prst="rect">
            <a:avLst/>
          </a:prstGeom>
        </p:spPr>
      </p:pic>
      <p:sp>
        <p:nvSpPr>
          <p:cNvPr id="43" name="TextBox 42"/>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Chaos engineering: breaking things on purpose so they don't break by accident. A fire drill, with more YAML.</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Hands-on</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3D9BC8"/>
                </a:solidFill>
              </a:rPr>
              <a:t>REAL-WORLD QUESTIONS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Questions 7 &amp; 8 — straight from the field</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74</a:t>
            </a:r>
          </a:p>
        </p:txBody>
      </p:sp>
      <p:sp>
        <p:nvSpPr>
          <p:cNvPr id="6" name="Rounded Rectangle 5"/>
          <p:cNvSpPr/>
          <p:nvPr/>
        </p:nvSpPr>
        <p:spPr>
          <a:xfrm>
            <a:off x="612648" y="2926080"/>
            <a:ext cx="11247120" cy="7498079"/>
          </a:xfrm>
          <a:prstGeom prst="roundRect">
            <a:avLst>
              <a:gd name="adj" fmla="val 4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86968" y="3154680"/>
            <a:ext cx="1005840" cy="100584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3154680"/>
            <a:ext cx="1005840" cy="1005840"/>
          </a:xfrm>
          <a:prstGeom prst="rect">
            <a:avLst/>
          </a:prstGeom>
          <a:noFill/>
        </p:spPr>
        <p:txBody>
          <a:bodyPr wrap="square" lIns="0" rIns="0" tIns="18288" bIns="18288" anchor="ctr">
            <a:noAutofit/>
          </a:bodyPr>
          <a:lstStyle/>
          <a:p>
            <a:pPr algn="ctr">
              <a:lnSpc>
                <a:spcPct val="100000"/>
              </a:lnSpc>
              <a:spcBef>
                <a:spcPts val="0"/>
              </a:spcBef>
              <a:spcAft>
                <a:spcPts val="0"/>
              </a:spcAft>
            </a:pPr>
            <a:r>
              <a:rPr sz="2200" b="1" i="0">
                <a:solidFill>
                  <a:srgbClr val="FFFFFF"/>
                </a:solidFill>
              </a:rPr>
              <a:t>Q7</a:t>
            </a:r>
          </a:p>
        </p:txBody>
      </p:sp>
      <p:sp>
        <p:nvSpPr>
          <p:cNvPr id="9" name="TextBox 8"/>
          <p:cNvSpPr txBox="1"/>
          <p:nvPr/>
        </p:nvSpPr>
        <p:spPr>
          <a:xfrm>
            <a:off x="2121408" y="3108960"/>
            <a:ext cx="950976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1" i="0">
                <a:solidFill>
                  <a:srgbClr val="192B37"/>
                </a:solidFill>
              </a:rPr>
              <a:t>Can I use production data in tests?</a:t>
            </a:r>
          </a:p>
        </p:txBody>
      </p:sp>
      <p:sp>
        <p:nvSpPr>
          <p:cNvPr id="10" name="Rounded Rectangle 9"/>
          <p:cNvSpPr/>
          <p:nvPr/>
        </p:nvSpPr>
        <p:spPr>
          <a:xfrm>
            <a:off x="88696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24127"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729A00"/>
                </a:solidFill>
                <a:latin typeface="+mj-lt"/>
              </a:rPr>
              <a:t>0</a:t>
            </a:r>
          </a:p>
        </p:txBody>
      </p:sp>
      <p:sp>
        <p:nvSpPr>
          <p:cNvPr id="12" name="TextBox 11"/>
          <p:cNvSpPr txBox="1"/>
          <p:nvPr/>
        </p:nvSpPr>
        <p:spPr>
          <a:xfrm>
            <a:off x="106984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real people in a test environment</a:t>
            </a:r>
          </a:p>
        </p:txBody>
      </p:sp>
      <p:sp>
        <p:nvSpPr>
          <p:cNvPr id="13" name="Rounded Rectangle 12"/>
          <p:cNvSpPr/>
          <p:nvPr/>
        </p:nvSpPr>
        <p:spPr>
          <a:xfrm>
            <a:off x="449884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63600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729A00"/>
                </a:solidFill>
                <a:latin typeface="+mj-lt"/>
              </a:rPr>
              <a:t>2</a:t>
            </a:r>
          </a:p>
        </p:txBody>
      </p:sp>
      <p:sp>
        <p:nvSpPr>
          <p:cNvPr id="15" name="TextBox 14"/>
          <p:cNvSpPr txBox="1"/>
          <p:nvPr/>
        </p:nvSpPr>
        <p:spPr>
          <a:xfrm>
            <a:off x="468172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kinds of synthetic data: partial &amp; full</a:t>
            </a:r>
          </a:p>
        </p:txBody>
      </p:sp>
      <p:sp>
        <p:nvSpPr>
          <p:cNvPr id="16" name="Rounded Rectangle 15"/>
          <p:cNvSpPr/>
          <p:nvPr/>
        </p:nvSpPr>
        <p:spPr>
          <a:xfrm>
            <a:off x="811072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4788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729A00"/>
                </a:solidFill>
                <a:latin typeface="+mj-lt"/>
              </a:rPr>
              <a:t>ICO</a:t>
            </a:r>
          </a:p>
        </p:txBody>
      </p:sp>
      <p:sp>
        <p:nvSpPr>
          <p:cNvPr id="18" name="TextBox 17"/>
          <p:cNvSpPr txBox="1"/>
          <p:nvPr/>
        </p:nvSpPr>
        <p:spPr>
          <a:xfrm>
            <a:off x="829360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synthetic ≠ automatically anonymous</a:t>
            </a:r>
          </a:p>
        </p:txBody>
      </p:sp>
      <p:sp>
        <p:nvSpPr>
          <p:cNvPr id="19" name="Oval 18"/>
          <p:cNvSpPr/>
          <p:nvPr/>
        </p:nvSpPr>
        <p:spPr>
          <a:xfrm>
            <a:off x="886968" y="7543800"/>
            <a:ext cx="685800" cy="68580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uLightbulb.png"/>
          <p:cNvPicPr>
            <a:picLocks noChangeAspect="1"/>
          </p:cNvPicPr>
          <p:nvPr/>
        </p:nvPicPr>
        <p:blipFill>
          <a:blip r:embed="rId3"/>
          <a:stretch>
            <a:fillRect/>
          </a:stretch>
        </p:blipFill>
        <p:spPr>
          <a:xfrm>
            <a:off x="1051560" y="7708392"/>
            <a:ext cx="356616" cy="356616"/>
          </a:xfrm>
          <a:prstGeom prst="rect">
            <a:avLst/>
          </a:prstGeom>
        </p:spPr>
      </p:pic>
      <p:sp>
        <p:nvSpPr>
          <p:cNvPr id="21" name="TextBox 20"/>
          <p:cNvSpPr txBox="1"/>
          <p:nvPr/>
        </p:nvSpPr>
        <p:spPr>
          <a:xfrm>
            <a:off x="1755648" y="7452360"/>
            <a:ext cx="9829800" cy="2103120"/>
          </a:xfrm>
          <a:prstGeom prst="rect">
            <a:avLst/>
          </a:prstGeom>
          <a:noFill/>
        </p:spPr>
        <p:txBody>
          <a:bodyPr wrap="square" lIns="0" rIns="0" tIns="18288" bIns="18288" anchor="t">
            <a:noAutofit/>
          </a:bodyPr>
          <a:lstStyle/>
          <a:p>
            <a:pPr algn="l">
              <a:lnSpc>
                <a:spcPct val="100000"/>
              </a:lnSpc>
              <a:spcBef>
                <a:spcPts val="0"/>
              </a:spcBef>
              <a:spcAft>
                <a:spcPts val="0"/>
              </a:spcAft>
            </a:pPr>
            <a:r>
              <a:rPr sz="2000" b="0" i="0">
                <a:solidFill>
                  <a:srgbClr val="192B37"/>
                </a:solidFill>
              </a:rPr>
              <a:t>Avoid it. Use synthetic data (Faker, our factories) — and remember even synthetic data can leak the original if built carelessly.</a:t>
            </a:r>
          </a:p>
        </p:txBody>
      </p:sp>
      <p:sp>
        <p:nvSpPr>
          <p:cNvPr id="22" name="TextBox 21"/>
          <p:cNvSpPr txBox="1"/>
          <p:nvPr/>
        </p:nvSpPr>
        <p:spPr>
          <a:xfrm>
            <a:off x="886968" y="9646920"/>
            <a:ext cx="1069848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1300" b="0" i="1">
                <a:solidFill>
                  <a:srgbClr val="5E6A73"/>
                </a:solidFill>
              </a:rPr>
              <a:t>Sources: UK ICO — privacy-enhancing technologies: synthetic data · fakerjs.dev</a:t>
            </a:r>
          </a:p>
        </p:txBody>
      </p:sp>
      <p:sp>
        <p:nvSpPr>
          <p:cNvPr id="23" name="Rounded Rectangle 22"/>
          <p:cNvSpPr/>
          <p:nvPr/>
        </p:nvSpPr>
        <p:spPr>
          <a:xfrm>
            <a:off x="12225528" y="2926080"/>
            <a:ext cx="11247120" cy="7498079"/>
          </a:xfrm>
          <a:prstGeom prst="roundRect">
            <a:avLst>
              <a:gd name="adj" fmla="val 4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2499848" y="3154680"/>
            <a:ext cx="1005840" cy="100584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499848" y="3154680"/>
            <a:ext cx="1005840" cy="1005840"/>
          </a:xfrm>
          <a:prstGeom prst="rect">
            <a:avLst/>
          </a:prstGeom>
          <a:noFill/>
        </p:spPr>
        <p:txBody>
          <a:bodyPr wrap="square" lIns="0" rIns="0" tIns="18288" bIns="18288" anchor="ctr">
            <a:noAutofit/>
          </a:bodyPr>
          <a:lstStyle/>
          <a:p>
            <a:pPr algn="ctr">
              <a:lnSpc>
                <a:spcPct val="100000"/>
              </a:lnSpc>
              <a:spcBef>
                <a:spcPts val="0"/>
              </a:spcBef>
              <a:spcAft>
                <a:spcPts val="0"/>
              </a:spcAft>
            </a:pPr>
            <a:r>
              <a:rPr sz="2200" b="1" i="0">
                <a:solidFill>
                  <a:srgbClr val="FFFFFF"/>
                </a:solidFill>
              </a:rPr>
              <a:t>Q8</a:t>
            </a:r>
          </a:p>
        </p:txBody>
      </p:sp>
      <p:sp>
        <p:nvSpPr>
          <p:cNvPr id="26" name="TextBox 25"/>
          <p:cNvSpPr txBox="1"/>
          <p:nvPr/>
        </p:nvSpPr>
        <p:spPr>
          <a:xfrm>
            <a:off x="13734288" y="3108960"/>
            <a:ext cx="950976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1" i="0">
                <a:solidFill>
                  <a:srgbClr val="192B37"/>
                </a:solidFill>
              </a:rPr>
              <a:t>Why bother testing accessibility?</a:t>
            </a:r>
          </a:p>
        </p:txBody>
      </p:sp>
      <p:sp>
        <p:nvSpPr>
          <p:cNvPr id="27" name="Rounded Rectangle 26"/>
          <p:cNvSpPr/>
          <p:nvPr/>
        </p:nvSpPr>
        <p:spPr>
          <a:xfrm>
            <a:off x="1249984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263700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8683C3"/>
                </a:solidFill>
                <a:latin typeface="+mj-lt"/>
              </a:rPr>
              <a:t>95.9%</a:t>
            </a:r>
          </a:p>
        </p:txBody>
      </p:sp>
      <p:sp>
        <p:nvSpPr>
          <p:cNvPr id="29" name="TextBox 28"/>
          <p:cNvSpPr txBox="1"/>
          <p:nvPr/>
        </p:nvSpPr>
        <p:spPr>
          <a:xfrm>
            <a:off x="1268272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of top 1M home pages fail WCAG checks</a:t>
            </a:r>
          </a:p>
        </p:txBody>
      </p:sp>
      <p:sp>
        <p:nvSpPr>
          <p:cNvPr id="30" name="Rounded Rectangle 29"/>
          <p:cNvSpPr/>
          <p:nvPr/>
        </p:nvSpPr>
        <p:spPr>
          <a:xfrm>
            <a:off x="1611172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624888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8683C3"/>
                </a:solidFill>
                <a:latin typeface="+mj-lt"/>
              </a:rPr>
              <a:t>56.1</a:t>
            </a:r>
          </a:p>
        </p:txBody>
      </p:sp>
      <p:sp>
        <p:nvSpPr>
          <p:cNvPr id="32" name="TextBox 31"/>
          <p:cNvSpPr txBox="1"/>
          <p:nvPr/>
        </p:nvSpPr>
        <p:spPr>
          <a:xfrm>
            <a:off x="1629460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errors per page on average</a:t>
            </a:r>
          </a:p>
        </p:txBody>
      </p:sp>
      <p:sp>
        <p:nvSpPr>
          <p:cNvPr id="33" name="Rounded Rectangle 32"/>
          <p:cNvSpPr/>
          <p:nvPr/>
        </p:nvSpPr>
        <p:spPr>
          <a:xfrm>
            <a:off x="1972360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986076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8683C3"/>
                </a:solidFill>
                <a:latin typeface="+mj-lt"/>
              </a:rPr>
              <a:t>57%</a:t>
            </a:r>
          </a:p>
        </p:txBody>
      </p:sp>
      <p:sp>
        <p:nvSpPr>
          <p:cNvPr id="35" name="TextBox 34"/>
          <p:cNvSpPr txBox="1"/>
          <p:nvPr/>
        </p:nvSpPr>
        <p:spPr>
          <a:xfrm>
            <a:off x="1990648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of issues found by axe automatically</a:t>
            </a:r>
          </a:p>
        </p:txBody>
      </p:sp>
      <p:sp>
        <p:nvSpPr>
          <p:cNvPr id="36" name="Oval 35"/>
          <p:cNvSpPr/>
          <p:nvPr/>
        </p:nvSpPr>
        <p:spPr>
          <a:xfrm>
            <a:off x="12499848" y="7543800"/>
            <a:ext cx="685800" cy="68580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LuLightbulb.png"/>
          <p:cNvPicPr>
            <a:picLocks noChangeAspect="1"/>
          </p:cNvPicPr>
          <p:nvPr/>
        </p:nvPicPr>
        <p:blipFill>
          <a:blip r:embed="rId3"/>
          <a:stretch>
            <a:fillRect/>
          </a:stretch>
        </p:blipFill>
        <p:spPr>
          <a:xfrm>
            <a:off x="12664440" y="7708392"/>
            <a:ext cx="356616" cy="356616"/>
          </a:xfrm>
          <a:prstGeom prst="rect">
            <a:avLst/>
          </a:prstGeom>
        </p:spPr>
      </p:pic>
      <p:sp>
        <p:nvSpPr>
          <p:cNvPr id="38" name="TextBox 37"/>
          <p:cNvSpPr txBox="1"/>
          <p:nvPr/>
        </p:nvSpPr>
        <p:spPr>
          <a:xfrm>
            <a:off x="13368528" y="7452360"/>
            <a:ext cx="9829800" cy="2103120"/>
          </a:xfrm>
          <a:prstGeom prst="rect">
            <a:avLst/>
          </a:prstGeom>
          <a:noFill/>
        </p:spPr>
        <p:txBody>
          <a:bodyPr wrap="square" lIns="0" rIns="0" tIns="18288" bIns="18288" anchor="t">
            <a:noAutofit/>
          </a:bodyPr>
          <a:lstStyle/>
          <a:p>
            <a:pPr algn="l">
              <a:lnSpc>
                <a:spcPct val="100000"/>
              </a:lnSpc>
              <a:spcBef>
                <a:spcPts val="0"/>
              </a:spcBef>
              <a:spcAft>
                <a:spcPts val="0"/>
              </a:spcAft>
            </a:pPr>
            <a:r>
              <a:rPr sz="2000" b="0" i="0">
                <a:solidFill>
                  <a:srgbClr val="192B37"/>
                </a:solidFill>
              </a:rPr>
              <a:t>Because almost everyone gets it wrong — including our app (A11Y-01…04). Automate the 57%, test the rest with keyboard and screen reader.</a:t>
            </a:r>
          </a:p>
        </p:txBody>
      </p:sp>
      <p:sp>
        <p:nvSpPr>
          <p:cNvPr id="39" name="TextBox 38"/>
          <p:cNvSpPr txBox="1"/>
          <p:nvPr/>
        </p:nvSpPr>
        <p:spPr>
          <a:xfrm>
            <a:off x="12499848" y="9646920"/>
            <a:ext cx="1069848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1300" b="0" i="1">
                <a:solidFill>
                  <a:srgbClr val="5E6A73"/>
                </a:solidFill>
              </a:rPr>
              <a:t>Sources: WebAIM Million 2026 · github.com/dequelabs/axe-core</a:t>
            </a:r>
          </a:p>
        </p:txBody>
      </p:sp>
      <p:sp>
        <p:nvSpPr>
          <p:cNvPr id="40" name="Rounded Rectangle 39"/>
          <p:cNvSpPr/>
          <p:nvPr/>
        </p:nvSpPr>
        <p:spPr>
          <a:xfrm>
            <a:off x="612648" y="10789920"/>
            <a:ext cx="22860000" cy="960120"/>
          </a:xfrm>
          <a:prstGeom prst="roundRect">
            <a:avLst>
              <a:gd name="adj" fmla="val 1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886968" y="10927080"/>
            <a:ext cx="685800" cy="6858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LuLaugh.png"/>
          <p:cNvPicPr>
            <a:picLocks noChangeAspect="1"/>
          </p:cNvPicPr>
          <p:nvPr/>
        </p:nvPicPr>
        <p:blipFill>
          <a:blip r:embed="rId4"/>
          <a:stretch>
            <a:fillRect/>
          </a:stretch>
        </p:blipFill>
        <p:spPr>
          <a:xfrm>
            <a:off x="1051560" y="11091672"/>
            <a:ext cx="356616" cy="356616"/>
          </a:xfrm>
          <a:prstGeom prst="rect">
            <a:avLst/>
          </a:prstGeom>
        </p:spPr>
      </p:pic>
      <p:sp>
        <p:nvSpPr>
          <p:cNvPr id="43" name="TextBox 42"/>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Testing with production data is like rehearsing a magic trick with the audience's real wallets.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Hands-on</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3D9BC8"/>
                </a:solidFill>
              </a:rPr>
              <a:t>REAL-WORLD QUESTIONS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Questions 9 &amp; 10 — straight from the field</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75</a:t>
            </a:r>
          </a:p>
        </p:txBody>
      </p:sp>
      <p:sp>
        <p:nvSpPr>
          <p:cNvPr id="6" name="Rounded Rectangle 5"/>
          <p:cNvSpPr/>
          <p:nvPr/>
        </p:nvSpPr>
        <p:spPr>
          <a:xfrm>
            <a:off x="612648" y="2926080"/>
            <a:ext cx="11247120" cy="7498079"/>
          </a:xfrm>
          <a:prstGeom prst="roundRect">
            <a:avLst>
              <a:gd name="adj" fmla="val 4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86968" y="3154680"/>
            <a:ext cx="1005840" cy="100584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3154680"/>
            <a:ext cx="1005840" cy="1005840"/>
          </a:xfrm>
          <a:prstGeom prst="rect">
            <a:avLst/>
          </a:prstGeom>
          <a:noFill/>
        </p:spPr>
        <p:txBody>
          <a:bodyPr wrap="square" lIns="0" rIns="0" tIns="18288" bIns="18288" anchor="ctr">
            <a:noAutofit/>
          </a:bodyPr>
          <a:lstStyle/>
          <a:p>
            <a:pPr algn="ctr">
              <a:lnSpc>
                <a:spcPct val="100000"/>
              </a:lnSpc>
              <a:spcBef>
                <a:spcPts val="0"/>
              </a:spcBef>
              <a:spcAft>
                <a:spcPts val="0"/>
              </a:spcAft>
            </a:pPr>
            <a:r>
              <a:rPr sz="2200" b="1" i="0">
                <a:solidFill>
                  <a:srgbClr val="FFFFFF"/>
                </a:solidFill>
              </a:rPr>
              <a:t>Q9</a:t>
            </a:r>
          </a:p>
        </p:txBody>
      </p:sp>
      <p:sp>
        <p:nvSpPr>
          <p:cNvPr id="9" name="TextBox 8"/>
          <p:cNvSpPr txBox="1"/>
          <p:nvPr/>
        </p:nvSpPr>
        <p:spPr>
          <a:xfrm>
            <a:off x="2121408" y="3108960"/>
            <a:ext cx="950976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1" i="0">
                <a:solidFill>
                  <a:srgbClr val="192B37"/>
                </a:solidFill>
              </a:rPr>
              <a:t>How do APIs actually get breached?</a:t>
            </a:r>
          </a:p>
        </p:txBody>
      </p:sp>
      <p:sp>
        <p:nvSpPr>
          <p:cNvPr id="10" name="Rounded Rectangle 9"/>
          <p:cNvSpPr/>
          <p:nvPr/>
        </p:nvSpPr>
        <p:spPr>
          <a:xfrm>
            <a:off x="88696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24127"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3D9BC8"/>
                </a:solidFill>
                <a:latin typeface="+mj-lt"/>
              </a:rPr>
              <a:t>#1</a:t>
            </a:r>
          </a:p>
        </p:txBody>
      </p:sp>
      <p:sp>
        <p:nvSpPr>
          <p:cNvPr id="12" name="TextBox 11"/>
          <p:cNvSpPr txBox="1"/>
          <p:nvPr/>
        </p:nvSpPr>
        <p:spPr>
          <a:xfrm>
            <a:off x="106984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OWASP API risk: Broken Object Level Auth</a:t>
            </a:r>
          </a:p>
        </p:txBody>
      </p:sp>
      <p:sp>
        <p:nvSpPr>
          <p:cNvPr id="13" name="Rounded Rectangle 12"/>
          <p:cNvSpPr/>
          <p:nvPr/>
        </p:nvSpPr>
        <p:spPr>
          <a:xfrm>
            <a:off x="449884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63600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3D9BC8"/>
                </a:solidFill>
                <a:latin typeface="+mj-lt"/>
              </a:rPr>
              <a:t>9.5M</a:t>
            </a:r>
          </a:p>
        </p:txBody>
      </p:sp>
      <p:sp>
        <p:nvSpPr>
          <p:cNvPr id="15" name="TextBox 14"/>
          <p:cNvSpPr txBox="1"/>
          <p:nvPr/>
        </p:nvSpPr>
        <p:spPr>
          <a:xfrm>
            <a:off x="468172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Optus customers' records (alleged)</a:t>
            </a:r>
          </a:p>
        </p:txBody>
      </p:sp>
      <p:sp>
        <p:nvSpPr>
          <p:cNvPr id="16" name="Rounded Rectangle 15"/>
          <p:cNvSpPr/>
          <p:nvPr/>
        </p:nvSpPr>
        <p:spPr>
          <a:xfrm>
            <a:off x="811072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4788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3D9BC8"/>
                </a:solidFill>
                <a:latin typeface="+mj-lt"/>
              </a:rPr>
              <a:t>KI-04</a:t>
            </a:r>
          </a:p>
        </p:txBody>
      </p:sp>
      <p:sp>
        <p:nvSpPr>
          <p:cNvPr id="18" name="TextBox 17"/>
          <p:cNvSpPr txBox="1"/>
          <p:nvPr/>
        </p:nvSpPr>
        <p:spPr>
          <a:xfrm>
            <a:off x="829360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our own IDOR — found by tests</a:t>
            </a:r>
          </a:p>
        </p:txBody>
      </p:sp>
      <p:sp>
        <p:nvSpPr>
          <p:cNvPr id="19" name="Oval 18"/>
          <p:cNvSpPr/>
          <p:nvPr/>
        </p:nvSpPr>
        <p:spPr>
          <a:xfrm>
            <a:off x="886968" y="7543800"/>
            <a:ext cx="685800" cy="6858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uLightbulb.png"/>
          <p:cNvPicPr>
            <a:picLocks noChangeAspect="1"/>
          </p:cNvPicPr>
          <p:nvPr/>
        </p:nvPicPr>
        <p:blipFill>
          <a:blip r:embed="rId3"/>
          <a:stretch>
            <a:fillRect/>
          </a:stretch>
        </p:blipFill>
        <p:spPr>
          <a:xfrm>
            <a:off x="1051560" y="7708392"/>
            <a:ext cx="356616" cy="356616"/>
          </a:xfrm>
          <a:prstGeom prst="rect">
            <a:avLst/>
          </a:prstGeom>
        </p:spPr>
      </p:pic>
      <p:sp>
        <p:nvSpPr>
          <p:cNvPr id="21" name="TextBox 20"/>
          <p:cNvSpPr txBox="1"/>
          <p:nvPr/>
        </p:nvSpPr>
        <p:spPr>
          <a:xfrm>
            <a:off x="1755648" y="7452360"/>
            <a:ext cx="9829800" cy="2103120"/>
          </a:xfrm>
          <a:prstGeom prst="rect">
            <a:avLst/>
          </a:prstGeom>
          <a:noFill/>
        </p:spPr>
        <p:txBody>
          <a:bodyPr wrap="square" lIns="0" rIns="0" tIns="18288" bIns="18288" anchor="t">
            <a:noAutofit/>
          </a:bodyPr>
          <a:lstStyle/>
          <a:p>
            <a:pPr algn="l">
              <a:lnSpc>
                <a:spcPct val="100000"/>
              </a:lnSpc>
              <a:spcBef>
                <a:spcPts val="0"/>
              </a:spcBef>
              <a:spcAft>
                <a:spcPts val="0"/>
              </a:spcAft>
            </a:pPr>
            <a:r>
              <a:rPr sz="2000" b="0" i="0">
                <a:solidFill>
                  <a:srgbClr val="192B37"/>
                </a:solidFill>
              </a:rPr>
              <a:t>Change an id, get someone else's data. Test every endpoint as user A against user B's objects — exactly our G-04 matrix.</a:t>
            </a:r>
          </a:p>
        </p:txBody>
      </p:sp>
      <p:sp>
        <p:nvSpPr>
          <p:cNvPr id="22" name="TextBox 21"/>
          <p:cNvSpPr txBox="1"/>
          <p:nvPr/>
        </p:nvSpPr>
        <p:spPr>
          <a:xfrm>
            <a:off x="886968" y="9646920"/>
            <a:ext cx="1069848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1300" b="0" i="1">
                <a:solidFill>
                  <a:srgbClr val="5E6A73"/>
                </a:solidFill>
              </a:rPr>
              <a:t>Sources: OWASP API Security Top 10 2023 · CSO Online (ACMA allegations)</a:t>
            </a:r>
          </a:p>
        </p:txBody>
      </p:sp>
      <p:sp>
        <p:nvSpPr>
          <p:cNvPr id="23" name="Rounded Rectangle 22"/>
          <p:cNvSpPr/>
          <p:nvPr/>
        </p:nvSpPr>
        <p:spPr>
          <a:xfrm>
            <a:off x="12225528" y="2926080"/>
            <a:ext cx="11247120" cy="7498079"/>
          </a:xfrm>
          <a:prstGeom prst="roundRect">
            <a:avLst>
              <a:gd name="adj" fmla="val 4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2499848" y="3154680"/>
            <a:ext cx="1005840" cy="100584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499848" y="3154680"/>
            <a:ext cx="1005840" cy="1005840"/>
          </a:xfrm>
          <a:prstGeom prst="rect">
            <a:avLst/>
          </a:prstGeom>
          <a:noFill/>
        </p:spPr>
        <p:txBody>
          <a:bodyPr wrap="square" lIns="0" rIns="0" tIns="18288" bIns="18288" anchor="ctr">
            <a:noAutofit/>
          </a:bodyPr>
          <a:lstStyle/>
          <a:p>
            <a:pPr algn="ctr">
              <a:lnSpc>
                <a:spcPct val="100000"/>
              </a:lnSpc>
              <a:spcBef>
                <a:spcPts val="0"/>
              </a:spcBef>
              <a:spcAft>
                <a:spcPts val="0"/>
              </a:spcAft>
            </a:pPr>
            <a:r>
              <a:rPr sz="1900" b="1" i="0">
                <a:solidFill>
                  <a:srgbClr val="FFFFFF"/>
                </a:solidFill>
              </a:rPr>
              <a:t>Q10</a:t>
            </a:r>
          </a:p>
        </p:txBody>
      </p:sp>
      <p:sp>
        <p:nvSpPr>
          <p:cNvPr id="26" name="TextBox 25"/>
          <p:cNvSpPr txBox="1"/>
          <p:nvPr/>
        </p:nvSpPr>
        <p:spPr>
          <a:xfrm>
            <a:off x="13734288" y="3108960"/>
            <a:ext cx="9509760" cy="109728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1" i="0">
                <a:solidFill>
                  <a:srgbClr val="192B37"/>
                </a:solidFill>
              </a:rPr>
              <a:t>Do AI agents make mistakes? Why review?</a:t>
            </a:r>
          </a:p>
        </p:txBody>
      </p:sp>
      <p:sp>
        <p:nvSpPr>
          <p:cNvPr id="27" name="Rounded Rectangle 26"/>
          <p:cNvSpPr/>
          <p:nvPr/>
        </p:nvSpPr>
        <p:spPr>
          <a:xfrm>
            <a:off x="1249984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263700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00A859"/>
                </a:solidFill>
                <a:latin typeface="+mj-lt"/>
              </a:rPr>
              <a:t>+24%</a:t>
            </a:r>
          </a:p>
        </p:txBody>
      </p:sp>
      <p:sp>
        <p:nvSpPr>
          <p:cNvPr id="29" name="TextBox 28"/>
          <p:cNvSpPr txBox="1"/>
          <p:nvPr/>
        </p:nvSpPr>
        <p:spPr>
          <a:xfrm>
            <a:off x="1268272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speed-up developers expected</a:t>
            </a:r>
          </a:p>
        </p:txBody>
      </p:sp>
      <p:sp>
        <p:nvSpPr>
          <p:cNvPr id="30" name="Rounded Rectangle 29"/>
          <p:cNvSpPr/>
          <p:nvPr/>
        </p:nvSpPr>
        <p:spPr>
          <a:xfrm>
            <a:off x="1611172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624888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00A859"/>
                </a:solidFill>
                <a:latin typeface="+mj-lt"/>
              </a:rPr>
              <a:t>+20%</a:t>
            </a:r>
          </a:p>
        </p:txBody>
      </p:sp>
      <p:sp>
        <p:nvSpPr>
          <p:cNvPr id="32" name="TextBox 31"/>
          <p:cNvSpPr txBox="1"/>
          <p:nvPr/>
        </p:nvSpPr>
        <p:spPr>
          <a:xfrm>
            <a:off x="1629460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speed-up they felt</a:t>
            </a:r>
          </a:p>
        </p:txBody>
      </p:sp>
      <p:sp>
        <p:nvSpPr>
          <p:cNvPr id="33" name="Rounded Rectangle 32"/>
          <p:cNvSpPr/>
          <p:nvPr/>
        </p:nvSpPr>
        <p:spPr>
          <a:xfrm>
            <a:off x="19723608" y="4434840"/>
            <a:ext cx="3429000" cy="2788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9860768" y="4526280"/>
            <a:ext cx="3154680" cy="1234440"/>
          </a:xfrm>
          <a:prstGeom prst="rect">
            <a:avLst/>
          </a:prstGeom>
          <a:noFill/>
        </p:spPr>
        <p:txBody>
          <a:bodyPr wrap="square" lIns="0" rIns="0" tIns="18288" bIns="18288" anchor="ctr">
            <a:noAutofit/>
          </a:bodyPr>
          <a:lstStyle/>
          <a:p>
            <a:pPr algn="ctr">
              <a:lnSpc>
                <a:spcPct val="100000"/>
              </a:lnSpc>
              <a:spcBef>
                <a:spcPts val="0"/>
              </a:spcBef>
              <a:spcAft>
                <a:spcPts val="0"/>
              </a:spcAft>
            </a:pPr>
            <a:r>
              <a:rPr sz="4000" b="0" i="0">
                <a:solidFill>
                  <a:srgbClr val="00A859"/>
                </a:solidFill>
                <a:latin typeface="+mj-lt"/>
              </a:rPr>
              <a:t>−19%</a:t>
            </a:r>
          </a:p>
        </p:txBody>
      </p:sp>
      <p:sp>
        <p:nvSpPr>
          <p:cNvPr id="35" name="TextBox 34"/>
          <p:cNvSpPr txBox="1"/>
          <p:nvPr/>
        </p:nvSpPr>
        <p:spPr>
          <a:xfrm>
            <a:off x="19906488" y="5806440"/>
            <a:ext cx="3063240" cy="1325880"/>
          </a:xfrm>
          <a:prstGeom prst="rect">
            <a:avLst/>
          </a:prstGeom>
          <a:noFill/>
        </p:spPr>
        <p:txBody>
          <a:bodyPr wrap="square" lIns="0" rIns="0" tIns="18288" bIns="18288" anchor="t">
            <a:noAutofit/>
          </a:bodyPr>
          <a:lstStyle/>
          <a:p>
            <a:pPr algn="ctr">
              <a:lnSpc>
                <a:spcPct val="100000"/>
              </a:lnSpc>
              <a:spcBef>
                <a:spcPts val="0"/>
              </a:spcBef>
              <a:spcAft>
                <a:spcPts val="0"/>
              </a:spcAft>
            </a:pPr>
            <a:r>
              <a:rPr sz="1600" b="1" i="0">
                <a:solidFill>
                  <a:srgbClr val="192B37"/>
                </a:solidFill>
              </a:rPr>
              <a:t>what was measured (METR 2025)</a:t>
            </a:r>
          </a:p>
        </p:txBody>
      </p:sp>
      <p:sp>
        <p:nvSpPr>
          <p:cNvPr id="36" name="Oval 35"/>
          <p:cNvSpPr/>
          <p:nvPr/>
        </p:nvSpPr>
        <p:spPr>
          <a:xfrm>
            <a:off x="12499848" y="7543800"/>
            <a:ext cx="685800" cy="6858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LuLightbulb.png"/>
          <p:cNvPicPr>
            <a:picLocks noChangeAspect="1"/>
          </p:cNvPicPr>
          <p:nvPr/>
        </p:nvPicPr>
        <p:blipFill>
          <a:blip r:embed="rId3"/>
          <a:stretch>
            <a:fillRect/>
          </a:stretch>
        </p:blipFill>
        <p:spPr>
          <a:xfrm>
            <a:off x="12664440" y="7708392"/>
            <a:ext cx="356616" cy="356616"/>
          </a:xfrm>
          <a:prstGeom prst="rect">
            <a:avLst/>
          </a:prstGeom>
        </p:spPr>
      </p:pic>
      <p:sp>
        <p:nvSpPr>
          <p:cNvPr id="38" name="TextBox 37"/>
          <p:cNvSpPr txBox="1"/>
          <p:nvPr/>
        </p:nvSpPr>
        <p:spPr>
          <a:xfrm>
            <a:off x="13368528" y="7452360"/>
            <a:ext cx="9829800" cy="2103120"/>
          </a:xfrm>
          <a:prstGeom prst="rect">
            <a:avLst/>
          </a:prstGeom>
          <a:noFill/>
        </p:spPr>
        <p:txBody>
          <a:bodyPr wrap="square" lIns="0" rIns="0" tIns="18288" bIns="18288" anchor="t">
            <a:noAutofit/>
          </a:bodyPr>
          <a:lstStyle/>
          <a:p>
            <a:pPr algn="l">
              <a:lnSpc>
                <a:spcPct val="100000"/>
              </a:lnSpc>
              <a:spcBef>
                <a:spcPts val="0"/>
              </a:spcBef>
              <a:spcAft>
                <a:spcPts val="0"/>
              </a:spcAft>
            </a:pPr>
            <a:r>
              <a:rPr sz="2000" b="0" i="0">
                <a:solidFill>
                  <a:srgbClr val="192B37"/>
                </a:solidFill>
              </a:rPr>
              <a:t>Yes — and we're bad at noticing. Small study, early-2025 tools, but the lesson holds: if you can't verify it, don't ship it.</a:t>
            </a:r>
          </a:p>
        </p:txBody>
      </p:sp>
      <p:sp>
        <p:nvSpPr>
          <p:cNvPr id="39" name="TextBox 38"/>
          <p:cNvSpPr txBox="1"/>
          <p:nvPr/>
        </p:nvSpPr>
        <p:spPr>
          <a:xfrm>
            <a:off x="12499848" y="9646920"/>
            <a:ext cx="10698480" cy="594360"/>
          </a:xfrm>
          <a:prstGeom prst="rect">
            <a:avLst/>
          </a:prstGeom>
          <a:noFill/>
        </p:spPr>
        <p:txBody>
          <a:bodyPr wrap="square" lIns="0" rIns="0" tIns="18288" bIns="18288" anchor="t">
            <a:noAutofit/>
          </a:bodyPr>
          <a:lstStyle/>
          <a:p>
            <a:pPr algn="l">
              <a:lnSpc>
                <a:spcPct val="100000"/>
              </a:lnSpc>
              <a:spcBef>
                <a:spcPts val="0"/>
              </a:spcBef>
              <a:spcAft>
                <a:spcPts val="0"/>
              </a:spcAft>
            </a:pPr>
            <a:r>
              <a:rPr sz="1300" b="0" i="1">
                <a:solidFill>
                  <a:srgbClr val="5E6A73"/>
                </a:solidFill>
              </a:rPr>
              <a:t>Sources: metr.org 2025 &amp; 2026 update · code.claude.com best practices</a:t>
            </a:r>
          </a:p>
        </p:txBody>
      </p:sp>
      <p:sp>
        <p:nvSpPr>
          <p:cNvPr id="40" name="Rounded Rectangle 39"/>
          <p:cNvSpPr/>
          <p:nvPr/>
        </p:nvSpPr>
        <p:spPr>
          <a:xfrm>
            <a:off x="612648" y="10789920"/>
            <a:ext cx="22860000" cy="960120"/>
          </a:xfrm>
          <a:prstGeom prst="roundRect">
            <a:avLst>
              <a:gd name="adj" fmla="val 15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886968" y="10927080"/>
            <a:ext cx="685800" cy="68580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LuLaugh.png"/>
          <p:cNvPicPr>
            <a:picLocks noChangeAspect="1"/>
          </p:cNvPicPr>
          <p:nvPr/>
        </p:nvPicPr>
        <p:blipFill>
          <a:blip r:embed="rId4"/>
          <a:stretch>
            <a:fillRect/>
          </a:stretch>
        </p:blipFill>
        <p:spPr>
          <a:xfrm>
            <a:off x="1051560" y="11091672"/>
            <a:ext cx="356616" cy="356616"/>
          </a:xfrm>
          <a:prstGeom prst="rect">
            <a:avLst/>
          </a:prstGeom>
        </p:spPr>
      </p:pic>
      <p:sp>
        <p:nvSpPr>
          <p:cNvPr id="43" name="TextBox 42"/>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AI won't replace testers. Testers who use AI might replace testers who say “it's probably fine.”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Homework &amp; study kit</a:t>
            </a:r>
          </a:p>
        </p:txBody>
      </p:sp>
      <p:sp>
        <p:nvSpPr>
          <p:cNvPr id="3" name="Text Placeholder 2"/>
          <p:cNvSpPr>
            <a:spLocks noGrp="1"/>
          </p:cNvSpPr>
          <p:nvPr>
            <p:ph type="body" idx="21" sz="quarter"/>
          </p:nvPr>
        </p:nvSpPr>
        <p:spPr/>
        <p:txBody>
          <a:bodyPr/>
          <a:lstStyle/>
          <a:p>
            <a:r>
              <a:t>08</a:t>
            </a:r>
          </a:p>
        </p:txBody>
      </p:sp>
      <p:sp>
        <p:nvSpPr>
          <p:cNvPr id="4" name="Text Placeholder 3"/>
          <p:cNvSpPr>
            <a:spLocks noGrp="1"/>
          </p:cNvSpPr>
          <p:nvPr>
            <p:ph type="body" idx="22" sz="quarter"/>
          </p:nvPr>
        </p:nvSpPr>
        <p:spPr/>
        <p:txBody>
          <a:bodyPr/>
          <a:lstStyle/>
          <a:p>
            <a:r>
              <a:t>Eight tasks due Friday 23.10.2026 — plus validated resources</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76</a:t>
            </a:r>
          </a:p>
        </p:txBody>
      </p:sp>
      <p:sp>
        <p:nvSpPr>
          <p:cNvPr id="6" name="Rounded Rectangle 5"/>
          <p:cNvSpPr/>
          <p:nvPr/>
        </p:nvSpPr>
        <p:spPr>
          <a:xfrm>
            <a:off x="5303520" y="7086600"/>
            <a:ext cx="17007840" cy="1143000"/>
          </a:xfrm>
          <a:prstGeom prst="roundRect">
            <a:avLst>
              <a:gd name="adj" fmla="val 20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532120" y="7287768"/>
            <a:ext cx="731520" cy="73152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Laugh.png"/>
          <p:cNvPicPr>
            <a:picLocks noChangeAspect="1"/>
          </p:cNvPicPr>
          <p:nvPr/>
        </p:nvPicPr>
        <p:blipFill>
          <a:blip r:embed="rId3"/>
          <a:stretch>
            <a:fillRect/>
          </a:stretch>
        </p:blipFill>
        <p:spPr>
          <a:xfrm>
            <a:off x="5707684" y="7463332"/>
            <a:ext cx="380390" cy="380390"/>
          </a:xfrm>
          <a:prstGeom prst="rect">
            <a:avLst/>
          </a:prstGeom>
        </p:spPr>
      </p:pic>
      <p:sp>
        <p:nvSpPr>
          <p:cNvPr id="9" name="TextBox 8"/>
          <p:cNvSpPr txBox="1"/>
          <p:nvPr/>
        </p:nvSpPr>
        <p:spPr>
          <a:xfrm>
            <a:off x="6492240" y="7086600"/>
            <a:ext cx="15636240" cy="1143000"/>
          </a:xfrm>
          <a:prstGeom prst="rect">
            <a:avLst/>
          </a:prstGeom>
          <a:noFill/>
        </p:spPr>
        <p:txBody>
          <a:bodyPr wrap="square" lIns="0" rIns="0" tIns="18288" bIns="18288" anchor="ctr">
            <a:noAutofit/>
          </a:bodyPr>
          <a:lstStyle/>
          <a:p>
            <a:pPr algn="l">
              <a:lnSpc>
                <a:spcPct val="100000"/>
              </a:lnSpc>
              <a:spcBef>
                <a:spcPts val="0"/>
              </a:spcBef>
              <a:spcAft>
                <a:spcPts val="0"/>
              </a:spcAft>
            </a:pPr>
            <a:r>
              <a:rPr sz="2400" b="0" i="1">
                <a:solidFill>
                  <a:srgbClr val="192B37"/>
                </a:solidFill>
              </a:rPr>
              <a:t>Homework: the only deliverable with a deadline AND a pun quota.</a:t>
            </a:r>
          </a:p>
        </p:txBody>
      </p:sp>
      <p:sp>
        <p:nvSpPr>
          <p:cNvPr id="10" name="TextBox 9"/>
          <p:cNvSpPr txBox="1"/>
          <p:nvPr/>
        </p:nvSpPr>
        <p:spPr>
          <a:xfrm>
            <a:off x="5303520" y="8915400"/>
            <a:ext cx="9144000" cy="457200"/>
          </a:xfrm>
          <a:prstGeom prst="rect">
            <a:avLst/>
          </a:prstGeom>
          <a:noFill/>
        </p:spPr>
        <p:txBody>
          <a:bodyPr wrap="square" lIns="0" rIns="0" tIns="18288" bIns="18288" anchor="t">
            <a:noAutofit/>
          </a:bodyPr>
          <a:lstStyle/>
          <a:p>
            <a:pPr algn="l">
              <a:lnSpc>
                <a:spcPct val="100000"/>
              </a:lnSpc>
              <a:spcBef>
                <a:spcPts val="0"/>
              </a:spcBef>
              <a:spcAft>
                <a:spcPts val="0"/>
              </a:spcAft>
            </a:pPr>
            <a:r>
              <a:rPr sz="1600" b="1" i="0">
                <a:solidFill>
                  <a:srgbClr val="00A859"/>
                </a:solidFill>
              </a:rPr>
              <a:t>IN THIS CHAPTER</a:t>
            </a:r>
          </a:p>
        </p:txBody>
      </p:sp>
      <p:sp>
        <p:nvSpPr>
          <p:cNvPr id="11" name="Rounded Rectangle 10"/>
          <p:cNvSpPr/>
          <p:nvPr/>
        </p:nvSpPr>
        <p:spPr>
          <a:xfrm>
            <a:off x="5303520" y="9464040"/>
            <a:ext cx="2962656" cy="640080"/>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94959" y="9464040"/>
            <a:ext cx="2779776"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8 homework tasks</a:t>
            </a:r>
          </a:p>
        </p:txBody>
      </p:sp>
      <p:sp>
        <p:nvSpPr>
          <p:cNvPr id="13" name="Rounded Rectangle 12"/>
          <p:cNvSpPr/>
          <p:nvPr/>
        </p:nvSpPr>
        <p:spPr>
          <a:xfrm>
            <a:off x="8540496" y="9464040"/>
            <a:ext cx="2811780" cy="640080"/>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631936" y="9464040"/>
            <a:ext cx="2628900"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Study resources</a:t>
            </a:r>
          </a:p>
        </p:txBody>
      </p:sp>
      <p:sp>
        <p:nvSpPr>
          <p:cNvPr id="15" name="Rounded Rectangle 14"/>
          <p:cNvSpPr/>
          <p:nvPr/>
        </p:nvSpPr>
        <p:spPr>
          <a:xfrm>
            <a:off x="11626596" y="9464040"/>
            <a:ext cx="1001268" cy="640080"/>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718036" y="9464040"/>
            <a:ext cx="818388" cy="640080"/>
          </a:xfrm>
          <a:prstGeom prst="rect">
            <a:avLst/>
          </a:prstGeom>
          <a:noFill/>
        </p:spPr>
        <p:txBody>
          <a:bodyPr wrap="square" lIns="0" rIns="0" tIns="18288" bIns="18288" anchor="ctr">
            <a:noAutofit/>
          </a:bodyPr>
          <a:lstStyle/>
          <a:p>
            <a:pPr algn="ctr">
              <a:lnSpc>
                <a:spcPct val="100000"/>
              </a:lnSpc>
              <a:spcBef>
                <a:spcPts val="0"/>
              </a:spcBef>
              <a:spcAft>
                <a:spcPts val="0"/>
              </a:spcAft>
            </a:pPr>
            <a:r>
              <a:rPr sz="1700" b="0" i="0">
                <a:solidFill>
                  <a:srgbClr val="192B37"/>
                </a:solidFill>
              </a:rPr>
              <a:t>Q&amp;A</a:t>
            </a:r>
          </a:p>
        </p:txBody>
      </p:sp>
      <p:sp>
        <p:nvSpPr>
          <p:cNvPr id="17" name="Oval 16"/>
          <p:cNvSpPr/>
          <p:nvPr/>
        </p:nvSpPr>
        <p:spPr>
          <a:xfrm>
            <a:off x="20162520" y="8915400"/>
            <a:ext cx="731520" cy="73152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1122640" y="8915400"/>
            <a:ext cx="731520" cy="731520"/>
          </a:xfrm>
          <a:prstGeom prst="ellipse">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2082760" y="8915400"/>
            <a:ext cx="731520" cy="73152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0162520" y="9875520"/>
            <a:ext cx="731520" cy="731520"/>
          </a:xfrm>
          <a:prstGeom prst="ellipse">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1122640" y="9875520"/>
            <a:ext cx="731520" cy="73152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2082760" y="9875520"/>
            <a:ext cx="731520" cy="731520"/>
          </a:xfrm>
          <a:prstGeom prst="ellipse">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Homework</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00A859"/>
                </a:solidFill>
              </a:rPr>
              <a:t>HOMEWORK · DUE FRIDAY 23.10.2026</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Eight tasks, one branch each, all green twice</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77</a:t>
            </a:r>
          </a:p>
        </p:txBody>
      </p:sp>
      <p:sp>
        <p:nvSpPr>
          <p:cNvPr id="6" name="Rounded Rectangle 5"/>
          <p:cNvSpPr/>
          <p:nvPr/>
        </p:nvSpPr>
        <p:spPr>
          <a:xfrm>
            <a:off x="612648" y="2926080"/>
            <a:ext cx="5532120" cy="3611880"/>
          </a:xfrm>
          <a:prstGeom prst="roundRect">
            <a:avLst>
              <a:gd name="adj" fmla="val 7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86968" y="3200400"/>
            <a:ext cx="868680" cy="86868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uServer.png"/>
          <p:cNvPicPr>
            <a:picLocks noChangeAspect="1"/>
          </p:cNvPicPr>
          <p:nvPr/>
        </p:nvPicPr>
        <p:blipFill>
          <a:blip r:embed="rId3"/>
          <a:stretch>
            <a:fillRect/>
          </a:stretch>
        </p:blipFill>
        <p:spPr>
          <a:xfrm>
            <a:off x="1095451" y="3408883"/>
            <a:ext cx="451713" cy="451713"/>
          </a:xfrm>
          <a:prstGeom prst="rect">
            <a:avLst/>
          </a:prstGeom>
        </p:spPr>
      </p:pic>
      <p:sp>
        <p:nvSpPr>
          <p:cNvPr id="9" name="Rounded Rectangle 8"/>
          <p:cNvSpPr/>
          <p:nvPr/>
        </p:nvSpPr>
        <p:spPr>
          <a:xfrm>
            <a:off x="1938528" y="3337560"/>
            <a:ext cx="1170432" cy="566928"/>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029968" y="3337560"/>
            <a:ext cx="987552"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00A859"/>
                </a:solidFill>
              </a:rPr>
              <a:t>API</a:t>
            </a:r>
          </a:p>
        </p:txBody>
      </p:sp>
      <p:sp>
        <p:nvSpPr>
          <p:cNvPr id="11" name="TextBox 10"/>
          <p:cNvSpPr txBox="1"/>
          <p:nvPr/>
        </p:nvSpPr>
        <p:spPr>
          <a:xfrm>
            <a:off x="4818888" y="3127248"/>
            <a:ext cx="109728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00A859"/>
                </a:solidFill>
                <a:latin typeface="+mj-lt"/>
              </a:rPr>
              <a:t>01</a:t>
            </a:r>
          </a:p>
        </p:txBody>
      </p:sp>
      <p:sp>
        <p:nvSpPr>
          <p:cNvPr id="12" name="TextBox 11"/>
          <p:cNvSpPr txBox="1"/>
          <p:nvPr/>
        </p:nvSpPr>
        <p:spPr>
          <a:xfrm>
            <a:off x="886968" y="4251960"/>
            <a:ext cx="502920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2100" b="1" i="0">
                <a:solidFill>
                  <a:srgbClr val="192B37"/>
                </a:solidFill>
              </a:rPr>
              <a:t>Reject must not move money</a:t>
            </a:r>
          </a:p>
        </p:txBody>
      </p:sp>
      <p:sp>
        <p:nvSpPr>
          <p:cNvPr id="13" name="TextBox 12"/>
          <p:cNvSpPr txBox="1"/>
          <p:nvPr/>
        </p:nvSpPr>
        <p:spPr>
          <a:xfrm>
            <a:off x="886968" y="5074920"/>
            <a:ext cx="5029200" cy="14173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0" i="0">
                <a:solidFill>
                  <a:srgbClr val="192B37"/>
                </a:solidFill>
              </a:rPr>
              <a:t>G-01 · assert both balances unchanged under </a:t>
            </a:r>
            <a:r>
              <a:rPr sz="1656" b="0" i="0">
                <a:solidFill>
                  <a:srgbClr val="B4471D"/>
                </a:solidFill>
                <a:latin typeface="Consolas"/>
              </a:rPr>
              <a:t>test.fail('KI-05')</a:t>
            </a:r>
          </a:p>
        </p:txBody>
      </p:sp>
      <p:sp>
        <p:nvSpPr>
          <p:cNvPr id="14" name="Rounded Rectangle 13"/>
          <p:cNvSpPr/>
          <p:nvPr/>
        </p:nvSpPr>
        <p:spPr>
          <a:xfrm>
            <a:off x="6373368" y="2926080"/>
            <a:ext cx="5532120" cy="3611880"/>
          </a:xfrm>
          <a:prstGeom prst="roundRect">
            <a:avLst>
              <a:gd name="adj" fmla="val 7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647688" y="3200400"/>
            <a:ext cx="868680" cy="86868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uBug.png"/>
          <p:cNvPicPr>
            <a:picLocks noChangeAspect="1"/>
          </p:cNvPicPr>
          <p:nvPr/>
        </p:nvPicPr>
        <p:blipFill>
          <a:blip r:embed="rId4"/>
          <a:stretch>
            <a:fillRect/>
          </a:stretch>
        </p:blipFill>
        <p:spPr>
          <a:xfrm>
            <a:off x="6856171" y="3408883"/>
            <a:ext cx="451713" cy="451713"/>
          </a:xfrm>
          <a:prstGeom prst="rect">
            <a:avLst/>
          </a:prstGeom>
        </p:spPr>
      </p:pic>
      <p:sp>
        <p:nvSpPr>
          <p:cNvPr id="17" name="Rounded Rectangle 16"/>
          <p:cNvSpPr/>
          <p:nvPr/>
        </p:nvSpPr>
        <p:spPr>
          <a:xfrm>
            <a:off x="7699248" y="3337560"/>
            <a:ext cx="1170432" cy="566928"/>
          </a:xfrm>
          <a:prstGeom prst="roundRect">
            <a:avLst>
              <a:gd name="adj" fmla="val 50000"/>
            </a:avLst>
          </a:prstGeom>
          <a:solidFill>
            <a:srgbClr val="FFFFFF"/>
          </a:solidFill>
          <a:ln w="12700">
            <a:solidFill>
              <a:srgbClr val="FF56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790688" y="3337560"/>
            <a:ext cx="987552"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FF5640"/>
                </a:solidFill>
              </a:rPr>
              <a:t>Bug</a:t>
            </a:r>
          </a:p>
        </p:txBody>
      </p:sp>
      <p:sp>
        <p:nvSpPr>
          <p:cNvPr id="19" name="TextBox 18"/>
          <p:cNvSpPr txBox="1"/>
          <p:nvPr/>
        </p:nvSpPr>
        <p:spPr>
          <a:xfrm>
            <a:off x="10579608" y="3127248"/>
            <a:ext cx="109728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FF5640"/>
                </a:solidFill>
                <a:latin typeface="+mj-lt"/>
              </a:rPr>
              <a:t>02</a:t>
            </a:r>
          </a:p>
        </p:txBody>
      </p:sp>
      <p:sp>
        <p:nvSpPr>
          <p:cNvPr id="20" name="TextBox 19"/>
          <p:cNvSpPr txBox="1"/>
          <p:nvPr/>
        </p:nvSpPr>
        <p:spPr>
          <a:xfrm>
            <a:off x="6647688" y="4251960"/>
            <a:ext cx="502920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2100" b="1" i="0">
                <a:solidFill>
                  <a:srgbClr val="192B37"/>
                </a:solidFill>
              </a:rPr>
              <a:t>Report KI-01 like a pro</a:t>
            </a:r>
          </a:p>
        </p:txBody>
      </p:sp>
      <p:sp>
        <p:nvSpPr>
          <p:cNvPr id="21" name="TextBox 20"/>
          <p:cNvSpPr txBox="1"/>
          <p:nvPr/>
        </p:nvSpPr>
        <p:spPr>
          <a:xfrm>
            <a:off x="6647688" y="5074920"/>
            <a:ext cx="5029200" cy="1417320"/>
          </a:xfrm>
          <a:prstGeom prst="rect">
            <a:avLst/>
          </a:prstGeom>
          <a:noFill/>
        </p:spPr>
        <p:txBody>
          <a:bodyPr wrap="square" lIns="0" rIns="0" tIns="18288" bIns="18288" anchor="t">
            <a:noAutofit/>
          </a:bodyPr>
          <a:lstStyle/>
          <a:p>
            <a:pPr algn="l">
              <a:lnSpc>
                <a:spcPct val="100000"/>
              </a:lnSpc>
              <a:spcBef>
                <a:spcPts val="0"/>
              </a:spcBef>
              <a:spcAft>
                <a:spcPts val="0"/>
              </a:spcAft>
            </a:pPr>
            <a:r>
              <a:rPr sz="1656" b="0" i="0">
                <a:solidFill>
                  <a:srgbClr val="B4471D"/>
                </a:solidFill>
                <a:latin typeface="Consolas"/>
              </a:rPr>
              <a:t>/tap-bug</a:t>
            </a:r>
            <a:r>
              <a:rPr sz="1800" b="0" i="0">
                <a:solidFill>
                  <a:srgbClr val="192B37"/>
                </a:solidFill>
              </a:rPr>
              <a:t> + failing API test for DELETE /contacts/{unknown}</a:t>
            </a:r>
          </a:p>
        </p:txBody>
      </p:sp>
      <p:sp>
        <p:nvSpPr>
          <p:cNvPr id="22" name="Rounded Rectangle 21"/>
          <p:cNvSpPr/>
          <p:nvPr/>
        </p:nvSpPr>
        <p:spPr>
          <a:xfrm>
            <a:off x="12134088" y="2926080"/>
            <a:ext cx="5532120" cy="3611880"/>
          </a:xfrm>
          <a:prstGeom prst="roundRect">
            <a:avLst>
              <a:gd name="adj" fmla="val 7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2408408" y="3200400"/>
            <a:ext cx="868680" cy="86868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LuMonitor.png"/>
          <p:cNvPicPr>
            <a:picLocks noChangeAspect="1"/>
          </p:cNvPicPr>
          <p:nvPr/>
        </p:nvPicPr>
        <p:blipFill>
          <a:blip r:embed="rId5"/>
          <a:stretch>
            <a:fillRect/>
          </a:stretch>
        </p:blipFill>
        <p:spPr>
          <a:xfrm>
            <a:off x="12616891" y="3408883"/>
            <a:ext cx="451713" cy="451713"/>
          </a:xfrm>
          <a:prstGeom prst="rect">
            <a:avLst/>
          </a:prstGeom>
        </p:spPr>
      </p:pic>
      <p:sp>
        <p:nvSpPr>
          <p:cNvPr id="25" name="Rounded Rectangle 24"/>
          <p:cNvSpPr/>
          <p:nvPr/>
        </p:nvSpPr>
        <p:spPr>
          <a:xfrm>
            <a:off x="13459967" y="3337560"/>
            <a:ext cx="1024128" cy="566928"/>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3551407" y="3337560"/>
            <a:ext cx="841248"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3D9BC8"/>
                </a:solidFill>
              </a:rPr>
              <a:t>UI</a:t>
            </a:r>
          </a:p>
        </p:txBody>
      </p:sp>
      <p:sp>
        <p:nvSpPr>
          <p:cNvPr id="27" name="TextBox 26"/>
          <p:cNvSpPr txBox="1"/>
          <p:nvPr/>
        </p:nvSpPr>
        <p:spPr>
          <a:xfrm>
            <a:off x="16340327" y="3127248"/>
            <a:ext cx="109728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3D9BC8"/>
                </a:solidFill>
                <a:latin typeface="+mj-lt"/>
              </a:rPr>
              <a:t>03</a:t>
            </a:r>
          </a:p>
        </p:txBody>
      </p:sp>
      <p:sp>
        <p:nvSpPr>
          <p:cNvPr id="28" name="TextBox 27"/>
          <p:cNvSpPr txBox="1"/>
          <p:nvPr/>
        </p:nvSpPr>
        <p:spPr>
          <a:xfrm>
            <a:off x="12408408" y="4251960"/>
            <a:ext cx="502920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2100" b="1" i="0">
                <a:solidFill>
                  <a:srgbClr val="192B37"/>
                </a:solidFill>
              </a:rPr>
              <a:t>Failed payment shows an error</a:t>
            </a:r>
          </a:p>
        </p:txBody>
      </p:sp>
      <p:sp>
        <p:nvSpPr>
          <p:cNvPr id="29" name="TextBox 28"/>
          <p:cNvSpPr txBox="1"/>
          <p:nvPr/>
        </p:nvSpPr>
        <p:spPr>
          <a:xfrm>
            <a:off x="12408408" y="5074920"/>
            <a:ext cx="5029200" cy="14173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0" i="0">
                <a:solidFill>
                  <a:srgbClr val="192B37"/>
                </a:solidFill>
              </a:rPr>
              <a:t>G-11 · </a:t>
            </a:r>
            <a:r>
              <a:rPr sz="1656" b="0" i="0">
                <a:solidFill>
                  <a:srgbClr val="B4471D"/>
                </a:solidFill>
                <a:latin typeface="Consolas"/>
              </a:rPr>
              <a:t>stubApi</a:t>
            </a:r>
            <a:r>
              <a:rPr sz="1800" b="0" i="0">
                <a:solidFill>
                  <a:srgbClr val="192B37"/>
                </a:solidFill>
              </a:rPr>
              <a:t> 500 on POST /transactions · </a:t>
            </a:r>
            <a:r>
              <a:rPr sz="1656" b="0" i="0">
                <a:solidFill>
                  <a:srgbClr val="B4471D"/>
                </a:solidFill>
                <a:latin typeface="Consolas"/>
              </a:rPr>
              <a:t>test.fail('KI-31')</a:t>
            </a:r>
          </a:p>
        </p:txBody>
      </p:sp>
      <p:sp>
        <p:nvSpPr>
          <p:cNvPr id="30" name="Rounded Rectangle 29"/>
          <p:cNvSpPr/>
          <p:nvPr/>
        </p:nvSpPr>
        <p:spPr>
          <a:xfrm>
            <a:off x="17894808" y="2926080"/>
            <a:ext cx="5532120" cy="3611880"/>
          </a:xfrm>
          <a:prstGeom prst="roundRect">
            <a:avLst>
              <a:gd name="adj" fmla="val 7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18169128" y="3200400"/>
            <a:ext cx="868680" cy="868680"/>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LuAccessibility.png"/>
          <p:cNvPicPr>
            <a:picLocks noChangeAspect="1"/>
          </p:cNvPicPr>
          <p:nvPr/>
        </p:nvPicPr>
        <p:blipFill>
          <a:blip r:embed="rId6"/>
          <a:stretch>
            <a:fillRect/>
          </a:stretch>
        </p:blipFill>
        <p:spPr>
          <a:xfrm>
            <a:off x="18377611" y="3408883"/>
            <a:ext cx="451713" cy="451713"/>
          </a:xfrm>
          <a:prstGeom prst="rect">
            <a:avLst/>
          </a:prstGeom>
        </p:spPr>
      </p:pic>
      <p:sp>
        <p:nvSpPr>
          <p:cNvPr id="33" name="Rounded Rectangle 32"/>
          <p:cNvSpPr/>
          <p:nvPr/>
        </p:nvSpPr>
        <p:spPr>
          <a:xfrm>
            <a:off x="19220688" y="3337560"/>
            <a:ext cx="1316736" cy="566928"/>
          </a:xfrm>
          <a:prstGeom prst="roundRect">
            <a:avLst>
              <a:gd name="adj" fmla="val 50000"/>
            </a:avLst>
          </a:prstGeom>
          <a:solidFill>
            <a:srgbClr val="FFFFFF"/>
          </a:solidFill>
          <a:ln w="12700">
            <a:solidFill>
              <a:srgbClr val="8683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9312128" y="3337560"/>
            <a:ext cx="1133856"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8683C3"/>
                </a:solidFill>
              </a:rPr>
              <a:t>a11y</a:t>
            </a:r>
          </a:p>
        </p:txBody>
      </p:sp>
      <p:sp>
        <p:nvSpPr>
          <p:cNvPr id="35" name="TextBox 34"/>
          <p:cNvSpPr txBox="1"/>
          <p:nvPr/>
        </p:nvSpPr>
        <p:spPr>
          <a:xfrm>
            <a:off x="22101048" y="3127248"/>
            <a:ext cx="109728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8683C3"/>
                </a:solidFill>
                <a:latin typeface="+mj-lt"/>
              </a:rPr>
              <a:t>04</a:t>
            </a:r>
          </a:p>
        </p:txBody>
      </p:sp>
      <p:sp>
        <p:nvSpPr>
          <p:cNvPr id="36" name="TextBox 35"/>
          <p:cNvSpPr txBox="1"/>
          <p:nvPr/>
        </p:nvSpPr>
        <p:spPr>
          <a:xfrm>
            <a:off x="18169128" y="4251960"/>
            <a:ext cx="502920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2100" b="1" i="0">
                <a:solidFill>
                  <a:srgbClr val="192B37"/>
                </a:solidFill>
              </a:rPr>
              <a:t>Audit notifications</a:t>
            </a:r>
          </a:p>
        </p:txBody>
      </p:sp>
      <p:sp>
        <p:nvSpPr>
          <p:cNvPr id="37" name="TextBox 36"/>
          <p:cNvSpPr txBox="1"/>
          <p:nvPr/>
        </p:nvSpPr>
        <p:spPr>
          <a:xfrm>
            <a:off x="18169128" y="5074920"/>
            <a:ext cx="5029200" cy="1417320"/>
          </a:xfrm>
          <a:prstGeom prst="rect">
            <a:avLst/>
          </a:prstGeom>
          <a:noFill/>
        </p:spPr>
        <p:txBody>
          <a:bodyPr wrap="square" lIns="0" rIns="0" tIns="18288" bIns="18288" anchor="t">
            <a:noAutofit/>
          </a:bodyPr>
          <a:lstStyle/>
          <a:p>
            <a:pPr algn="l">
              <a:lnSpc>
                <a:spcPct val="100000"/>
              </a:lnSpc>
              <a:spcBef>
                <a:spcPts val="0"/>
              </a:spcBef>
              <a:spcAft>
                <a:spcPts val="0"/>
              </a:spcAft>
            </a:pPr>
            <a:r>
              <a:rPr sz="1656" b="0" i="0">
                <a:solidFill>
                  <a:srgbClr val="B4471D"/>
                </a:solidFill>
                <a:latin typeface="Consolas"/>
              </a:rPr>
              <a:t>/tap-a11y</a:t>
            </a:r>
            <a:r>
              <a:rPr sz="1800" b="0" i="0">
                <a:solidFill>
                  <a:srgbClr val="192B37"/>
                </a:solidFill>
              </a:rPr>
              <a:t> → propose a fix for A11Y-02 link-name</a:t>
            </a:r>
          </a:p>
        </p:txBody>
      </p:sp>
      <p:sp>
        <p:nvSpPr>
          <p:cNvPr id="38" name="Rounded Rectangle 37"/>
          <p:cNvSpPr/>
          <p:nvPr/>
        </p:nvSpPr>
        <p:spPr>
          <a:xfrm>
            <a:off x="612648" y="6766560"/>
            <a:ext cx="5532120" cy="3611880"/>
          </a:xfrm>
          <a:prstGeom prst="roundRect">
            <a:avLst>
              <a:gd name="adj" fmla="val 7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886968" y="7040880"/>
            <a:ext cx="868680" cy="86868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LuDatabase.png"/>
          <p:cNvPicPr>
            <a:picLocks noChangeAspect="1"/>
          </p:cNvPicPr>
          <p:nvPr/>
        </p:nvPicPr>
        <p:blipFill>
          <a:blip r:embed="rId7"/>
          <a:stretch>
            <a:fillRect/>
          </a:stretch>
        </p:blipFill>
        <p:spPr>
          <a:xfrm>
            <a:off x="1095451" y="7249363"/>
            <a:ext cx="451713" cy="451713"/>
          </a:xfrm>
          <a:prstGeom prst="rect">
            <a:avLst/>
          </a:prstGeom>
        </p:spPr>
      </p:pic>
      <p:sp>
        <p:nvSpPr>
          <p:cNvPr id="41" name="Rounded Rectangle 40"/>
          <p:cNvSpPr/>
          <p:nvPr/>
        </p:nvSpPr>
        <p:spPr>
          <a:xfrm>
            <a:off x="1938528" y="7178040"/>
            <a:ext cx="1316736" cy="566928"/>
          </a:xfrm>
          <a:prstGeom prst="roundRect">
            <a:avLst>
              <a:gd name="adj" fmla="val 50000"/>
            </a:avLst>
          </a:prstGeom>
          <a:solidFill>
            <a:srgbClr val="FFFFFF"/>
          </a:solidFill>
          <a:ln w="12700">
            <a:solidFill>
              <a:srgbClr val="DB7D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2029968" y="7178040"/>
            <a:ext cx="1133856"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DB7D00"/>
                </a:solidFill>
              </a:rPr>
              <a:t>Data</a:t>
            </a:r>
          </a:p>
        </p:txBody>
      </p:sp>
      <p:sp>
        <p:nvSpPr>
          <p:cNvPr id="43" name="TextBox 42"/>
          <p:cNvSpPr txBox="1"/>
          <p:nvPr/>
        </p:nvSpPr>
        <p:spPr>
          <a:xfrm>
            <a:off x="4818888" y="6967728"/>
            <a:ext cx="109728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DB7D00"/>
                </a:solidFill>
                <a:latin typeface="+mj-lt"/>
              </a:rPr>
              <a:t>05</a:t>
            </a:r>
          </a:p>
        </p:txBody>
      </p:sp>
      <p:sp>
        <p:nvSpPr>
          <p:cNvPr id="44" name="TextBox 43"/>
          <p:cNvSpPr txBox="1"/>
          <p:nvPr/>
        </p:nvSpPr>
        <p:spPr>
          <a:xfrm>
            <a:off x="886968" y="8092440"/>
            <a:ext cx="502920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2100" b="1" i="0">
                <a:solidFill>
                  <a:srgbClr val="192B37"/>
                </a:solidFill>
              </a:rPr>
              <a:t>Empty bank accounts state</a:t>
            </a:r>
          </a:p>
        </p:txBody>
      </p:sp>
      <p:sp>
        <p:nvSpPr>
          <p:cNvPr id="45" name="TextBox 44"/>
          <p:cNvSpPr txBox="1"/>
          <p:nvPr/>
        </p:nvSpPr>
        <p:spPr>
          <a:xfrm>
            <a:off x="886968" y="8915400"/>
            <a:ext cx="5029200" cy="14173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0" i="0">
                <a:solidFill>
                  <a:srgbClr val="192B37"/>
                </a:solidFill>
              </a:rPr>
              <a:t>factory + </a:t>
            </a:r>
            <a:r>
              <a:rPr sz="1656" b="0" i="0">
                <a:solidFill>
                  <a:srgbClr val="B4471D"/>
                </a:solidFill>
                <a:latin typeface="Consolas"/>
              </a:rPr>
              <a:t>stubApi</a:t>
            </a:r>
            <a:r>
              <a:rPr sz="1800" b="0" i="0">
                <a:solidFill>
                  <a:srgbClr val="192B37"/>
                </a:solidFill>
              </a:rPr>
              <a:t> → assert the empty state in both viewports</a:t>
            </a:r>
          </a:p>
        </p:txBody>
      </p:sp>
      <p:sp>
        <p:nvSpPr>
          <p:cNvPr id="46" name="Rounded Rectangle 45"/>
          <p:cNvSpPr/>
          <p:nvPr/>
        </p:nvSpPr>
        <p:spPr>
          <a:xfrm>
            <a:off x="6373368" y="6766560"/>
            <a:ext cx="5532120" cy="3611880"/>
          </a:xfrm>
          <a:prstGeom prst="roundRect">
            <a:avLst>
              <a:gd name="adj" fmla="val 7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6647688" y="7040880"/>
            <a:ext cx="868680" cy="868680"/>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LuUsers.png"/>
          <p:cNvPicPr>
            <a:picLocks noChangeAspect="1"/>
          </p:cNvPicPr>
          <p:nvPr/>
        </p:nvPicPr>
        <p:blipFill>
          <a:blip r:embed="rId8"/>
          <a:stretch>
            <a:fillRect/>
          </a:stretch>
        </p:blipFill>
        <p:spPr>
          <a:xfrm>
            <a:off x="6856171" y="7249363"/>
            <a:ext cx="451713" cy="451713"/>
          </a:xfrm>
          <a:prstGeom prst="rect">
            <a:avLst/>
          </a:prstGeom>
        </p:spPr>
      </p:pic>
      <p:sp>
        <p:nvSpPr>
          <p:cNvPr id="49" name="Rounded Rectangle 48"/>
          <p:cNvSpPr/>
          <p:nvPr/>
        </p:nvSpPr>
        <p:spPr>
          <a:xfrm>
            <a:off x="7699248" y="7178040"/>
            <a:ext cx="2194560" cy="566928"/>
          </a:xfrm>
          <a:prstGeom prst="roundRect">
            <a:avLst>
              <a:gd name="adj" fmla="val 50000"/>
            </a:avLst>
          </a:prstGeom>
          <a:solidFill>
            <a:srgbClr val="FFFFFF"/>
          </a:solidFill>
          <a:ln w="12700">
            <a:solidFill>
              <a:srgbClr val="729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7790688" y="7178040"/>
            <a:ext cx="2011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729A00"/>
                </a:solidFill>
              </a:rPr>
              <a:t>Multi-user</a:t>
            </a:r>
          </a:p>
        </p:txBody>
      </p:sp>
      <p:sp>
        <p:nvSpPr>
          <p:cNvPr id="51" name="TextBox 50"/>
          <p:cNvSpPr txBox="1"/>
          <p:nvPr/>
        </p:nvSpPr>
        <p:spPr>
          <a:xfrm>
            <a:off x="10579608" y="6967728"/>
            <a:ext cx="109728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729A00"/>
                </a:solidFill>
                <a:latin typeface="+mj-lt"/>
              </a:rPr>
              <a:t>06</a:t>
            </a:r>
          </a:p>
        </p:txBody>
      </p:sp>
      <p:sp>
        <p:nvSpPr>
          <p:cNvPr id="52" name="TextBox 51"/>
          <p:cNvSpPr txBox="1"/>
          <p:nvPr/>
        </p:nvSpPr>
        <p:spPr>
          <a:xfrm>
            <a:off x="6647688" y="8092440"/>
            <a:ext cx="502920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2100" b="1" i="0">
                <a:solidFill>
                  <a:srgbClr val="192B37"/>
                </a:solidFill>
              </a:rPr>
              <a:t>Bob sees Alice's payment live</a:t>
            </a:r>
          </a:p>
        </p:txBody>
      </p:sp>
      <p:sp>
        <p:nvSpPr>
          <p:cNvPr id="53" name="TextBox 52"/>
          <p:cNvSpPr txBox="1"/>
          <p:nvPr/>
        </p:nvSpPr>
        <p:spPr>
          <a:xfrm>
            <a:off x="6647688" y="8915400"/>
            <a:ext cx="5029200" cy="14173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0" i="0">
                <a:solidFill>
                  <a:srgbClr val="192B37"/>
                </a:solidFill>
              </a:rPr>
              <a:t>two browser contexts in one test (the sketch from chapter 04)</a:t>
            </a:r>
          </a:p>
        </p:txBody>
      </p:sp>
      <p:sp>
        <p:nvSpPr>
          <p:cNvPr id="54" name="Rounded Rectangle 53"/>
          <p:cNvSpPr/>
          <p:nvPr/>
        </p:nvSpPr>
        <p:spPr>
          <a:xfrm>
            <a:off x="12134088" y="6766560"/>
            <a:ext cx="5532120" cy="3611880"/>
          </a:xfrm>
          <a:prstGeom prst="roundRect">
            <a:avLst>
              <a:gd name="adj" fmla="val 7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12408408" y="7040880"/>
            <a:ext cx="868680" cy="86868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LuTablet.png"/>
          <p:cNvPicPr>
            <a:picLocks noChangeAspect="1"/>
          </p:cNvPicPr>
          <p:nvPr/>
        </p:nvPicPr>
        <p:blipFill>
          <a:blip r:embed="rId9"/>
          <a:stretch>
            <a:fillRect/>
          </a:stretch>
        </p:blipFill>
        <p:spPr>
          <a:xfrm>
            <a:off x="12616891" y="7249363"/>
            <a:ext cx="451713" cy="451713"/>
          </a:xfrm>
          <a:prstGeom prst="rect">
            <a:avLst/>
          </a:prstGeom>
        </p:spPr>
      </p:pic>
      <p:sp>
        <p:nvSpPr>
          <p:cNvPr id="57" name="Rounded Rectangle 56"/>
          <p:cNvSpPr/>
          <p:nvPr/>
        </p:nvSpPr>
        <p:spPr>
          <a:xfrm>
            <a:off x="13459967" y="7178040"/>
            <a:ext cx="2194560" cy="566928"/>
          </a:xfrm>
          <a:prstGeom prst="roundRect">
            <a:avLst>
              <a:gd name="adj" fmla="val 50000"/>
            </a:avLst>
          </a:prstGeom>
          <a:solidFill>
            <a:srgbClr val="FFFFFF"/>
          </a:solidFill>
          <a:ln w="12700">
            <a:solidFill>
              <a:srgbClr val="3D9B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13551407" y="7178040"/>
            <a:ext cx="2011679"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3D9BC8"/>
                </a:solidFill>
              </a:rPr>
              <a:t>Responsive</a:t>
            </a:r>
          </a:p>
        </p:txBody>
      </p:sp>
      <p:sp>
        <p:nvSpPr>
          <p:cNvPr id="59" name="TextBox 58"/>
          <p:cNvSpPr txBox="1"/>
          <p:nvPr/>
        </p:nvSpPr>
        <p:spPr>
          <a:xfrm>
            <a:off x="16340327" y="6967728"/>
            <a:ext cx="109728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3D9BC8"/>
                </a:solidFill>
                <a:latin typeface="+mj-lt"/>
              </a:rPr>
              <a:t>07</a:t>
            </a:r>
          </a:p>
        </p:txBody>
      </p:sp>
      <p:sp>
        <p:nvSpPr>
          <p:cNvPr id="60" name="TextBox 59"/>
          <p:cNvSpPr txBox="1"/>
          <p:nvPr/>
        </p:nvSpPr>
        <p:spPr>
          <a:xfrm>
            <a:off x="12408408" y="8092440"/>
            <a:ext cx="502920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2100" b="1" i="0">
                <a:solidFill>
                  <a:srgbClr val="192B37"/>
                </a:solidFill>
              </a:rPr>
              <a:t>Add a ui-tablet project</a:t>
            </a:r>
          </a:p>
        </p:txBody>
      </p:sp>
      <p:sp>
        <p:nvSpPr>
          <p:cNvPr id="61" name="TextBox 60"/>
          <p:cNvSpPr txBox="1"/>
          <p:nvPr/>
        </p:nvSpPr>
        <p:spPr>
          <a:xfrm>
            <a:off x="12408408" y="8915400"/>
            <a:ext cx="5029200" cy="1417320"/>
          </a:xfrm>
          <a:prstGeom prst="rect">
            <a:avLst/>
          </a:prstGeom>
          <a:noFill/>
        </p:spPr>
        <p:txBody>
          <a:bodyPr wrap="square" lIns="0" rIns="0" tIns="18288" bIns="18288" anchor="t">
            <a:noAutofit/>
          </a:bodyPr>
          <a:lstStyle/>
          <a:p>
            <a:pPr algn="l">
              <a:lnSpc>
                <a:spcPct val="100000"/>
              </a:lnSpc>
              <a:spcBef>
                <a:spcPts val="0"/>
              </a:spcBef>
              <a:spcAft>
                <a:spcPts val="0"/>
              </a:spcAft>
            </a:pPr>
            <a:r>
              <a:rPr sz="1800" b="0" i="0">
                <a:solidFill>
                  <a:srgbClr val="192B37"/>
                </a:solidFill>
              </a:rPr>
              <a:t>G-14 · 500×800 viewport — what breaks? report it</a:t>
            </a:r>
          </a:p>
        </p:txBody>
      </p:sp>
      <p:sp>
        <p:nvSpPr>
          <p:cNvPr id="62" name="Rounded Rectangle 61"/>
          <p:cNvSpPr/>
          <p:nvPr/>
        </p:nvSpPr>
        <p:spPr>
          <a:xfrm>
            <a:off x="17894808" y="6766560"/>
            <a:ext cx="5532120" cy="3611880"/>
          </a:xfrm>
          <a:prstGeom prst="roundRect">
            <a:avLst>
              <a:gd name="adj" fmla="val 7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Oval 62"/>
          <p:cNvSpPr/>
          <p:nvPr/>
        </p:nvSpPr>
        <p:spPr>
          <a:xfrm>
            <a:off x="18169128" y="7040880"/>
            <a:ext cx="868680" cy="86868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LuSprout.png"/>
          <p:cNvPicPr>
            <a:picLocks noChangeAspect="1"/>
          </p:cNvPicPr>
          <p:nvPr/>
        </p:nvPicPr>
        <p:blipFill>
          <a:blip r:embed="rId10"/>
          <a:stretch>
            <a:fillRect/>
          </a:stretch>
        </p:blipFill>
        <p:spPr>
          <a:xfrm>
            <a:off x="18377611" y="7249363"/>
            <a:ext cx="451713" cy="451713"/>
          </a:xfrm>
          <a:prstGeom prst="rect">
            <a:avLst/>
          </a:prstGeom>
        </p:spPr>
      </p:pic>
      <p:sp>
        <p:nvSpPr>
          <p:cNvPr id="65" name="Rounded Rectangle 64"/>
          <p:cNvSpPr/>
          <p:nvPr/>
        </p:nvSpPr>
        <p:spPr>
          <a:xfrm>
            <a:off x="19220688" y="7178040"/>
            <a:ext cx="1609343" cy="566928"/>
          </a:xfrm>
          <a:prstGeom prst="roundRect">
            <a:avLst>
              <a:gd name="adj" fmla="val 50000"/>
            </a:avLst>
          </a:prstGeom>
          <a:solidFill>
            <a:srgbClr val="FFFFFF"/>
          </a:solidFill>
          <a:ln w="12700">
            <a:solidFill>
              <a:srgbClr val="00A8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19312128" y="7178040"/>
            <a:ext cx="1426463"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400" b="1" i="0">
                <a:solidFill>
                  <a:srgbClr val="00A859"/>
                </a:solidFill>
              </a:rPr>
              <a:t>Agents</a:t>
            </a:r>
          </a:p>
        </p:txBody>
      </p:sp>
      <p:sp>
        <p:nvSpPr>
          <p:cNvPr id="67" name="TextBox 66"/>
          <p:cNvSpPr txBox="1"/>
          <p:nvPr/>
        </p:nvSpPr>
        <p:spPr>
          <a:xfrm>
            <a:off x="22101048" y="6967728"/>
            <a:ext cx="1097280" cy="731520"/>
          </a:xfrm>
          <a:prstGeom prst="rect">
            <a:avLst/>
          </a:prstGeom>
          <a:noFill/>
        </p:spPr>
        <p:txBody>
          <a:bodyPr wrap="square" lIns="0" rIns="0" tIns="18288" bIns="18288" anchor="t">
            <a:noAutofit/>
          </a:bodyPr>
          <a:lstStyle/>
          <a:p>
            <a:pPr algn="r">
              <a:lnSpc>
                <a:spcPct val="100000"/>
              </a:lnSpc>
              <a:spcBef>
                <a:spcPts val="0"/>
              </a:spcBef>
              <a:spcAft>
                <a:spcPts val="0"/>
              </a:spcAft>
            </a:pPr>
            <a:r>
              <a:rPr sz="3000" b="0" i="0">
                <a:solidFill>
                  <a:srgbClr val="00A859"/>
                </a:solidFill>
                <a:latin typeface="+mj-lt"/>
              </a:rPr>
              <a:t>08</a:t>
            </a:r>
          </a:p>
        </p:txBody>
      </p:sp>
      <p:sp>
        <p:nvSpPr>
          <p:cNvPr id="68" name="TextBox 67"/>
          <p:cNvSpPr txBox="1"/>
          <p:nvPr/>
        </p:nvSpPr>
        <p:spPr>
          <a:xfrm>
            <a:off x="18169128" y="8092440"/>
            <a:ext cx="502920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2100" b="1" i="0">
                <a:solidFill>
                  <a:srgbClr val="192B37"/>
                </a:solidFill>
              </a:rPr>
              <a:t>Retro + one evolution</a:t>
            </a:r>
          </a:p>
        </p:txBody>
      </p:sp>
      <p:sp>
        <p:nvSpPr>
          <p:cNvPr id="69" name="TextBox 68"/>
          <p:cNvSpPr txBox="1"/>
          <p:nvPr/>
        </p:nvSpPr>
        <p:spPr>
          <a:xfrm>
            <a:off x="18169128" y="8915400"/>
            <a:ext cx="5029200" cy="1417320"/>
          </a:xfrm>
          <a:prstGeom prst="rect">
            <a:avLst/>
          </a:prstGeom>
          <a:noFill/>
        </p:spPr>
        <p:txBody>
          <a:bodyPr wrap="square" lIns="0" rIns="0" tIns="18288" bIns="18288" anchor="t">
            <a:noAutofit/>
          </a:bodyPr>
          <a:lstStyle/>
          <a:p>
            <a:pPr algn="l">
              <a:lnSpc>
                <a:spcPct val="100000"/>
              </a:lnSpc>
              <a:spcBef>
                <a:spcPts val="0"/>
              </a:spcBef>
              <a:spcAft>
                <a:spcPts val="0"/>
              </a:spcAft>
            </a:pPr>
            <a:r>
              <a:rPr sz="1656" b="0" i="0">
                <a:solidFill>
                  <a:srgbClr val="B4471D"/>
                </a:solidFill>
                <a:latin typeface="Consolas"/>
              </a:rPr>
              <a:t>/tap-retro</a:t>
            </a:r>
            <a:r>
              <a:rPr sz="1800" b="0" i="0">
                <a:solidFill>
                  <a:srgbClr val="192B37"/>
                </a:solidFill>
              </a:rPr>
              <a:t> on your week · </a:t>
            </a:r>
            <a:r>
              <a:rPr sz="1656" b="0" i="0">
                <a:solidFill>
                  <a:srgbClr val="B4471D"/>
                </a:solidFill>
                <a:latin typeface="Consolas"/>
              </a:rPr>
              <a:t>/tap-evolve propose</a:t>
            </a:r>
            <a:r>
              <a:rPr sz="1800" b="0" i="0">
                <a:solidFill>
                  <a:srgbClr val="192B37"/>
                </a:solidFill>
              </a:rPr>
              <a:t> one improvement</a:t>
            </a:r>
          </a:p>
        </p:txBody>
      </p:sp>
      <p:sp>
        <p:nvSpPr>
          <p:cNvPr id="70" name="Rounded Rectangle 69"/>
          <p:cNvSpPr/>
          <p:nvPr/>
        </p:nvSpPr>
        <p:spPr>
          <a:xfrm>
            <a:off x="612648" y="10789920"/>
            <a:ext cx="22860000" cy="960120"/>
          </a:xfrm>
          <a:prstGeom prst="roundRect">
            <a:avLst>
              <a:gd name="adj" fmla="val 1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Oval 70"/>
          <p:cNvSpPr/>
          <p:nvPr/>
        </p:nvSpPr>
        <p:spPr>
          <a:xfrm>
            <a:off x="886968" y="10927080"/>
            <a:ext cx="685800" cy="6858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Picture 71" descr="LuLaugh.png"/>
          <p:cNvPicPr>
            <a:picLocks noChangeAspect="1"/>
          </p:cNvPicPr>
          <p:nvPr/>
        </p:nvPicPr>
        <p:blipFill>
          <a:blip r:embed="rId11"/>
          <a:stretch>
            <a:fillRect/>
          </a:stretch>
        </p:blipFill>
        <p:spPr>
          <a:xfrm>
            <a:off x="1051560" y="11091672"/>
            <a:ext cx="356616" cy="356616"/>
          </a:xfrm>
          <a:prstGeom prst="rect">
            <a:avLst/>
          </a:prstGeom>
        </p:spPr>
      </p:pic>
      <p:sp>
        <p:nvSpPr>
          <p:cNvPr id="73" name="TextBox 72"/>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Due next Friday. Yes, “the agent ate my homework” has been tried — the change ledger knows.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Homework</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00A859"/>
                </a:solidFill>
              </a:rPr>
              <a:t>STUDY RESOURCES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Playwright, Cypress, TypeScript and testing</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78</a:t>
            </a:r>
          </a:p>
        </p:txBody>
      </p:sp>
      <p:sp>
        <p:nvSpPr>
          <p:cNvPr id="6" name="Rounded Rectangle 5"/>
          <p:cNvSpPr/>
          <p:nvPr/>
        </p:nvSpPr>
        <p:spPr>
          <a:xfrm>
            <a:off x="612648" y="2926080"/>
            <a:ext cx="7406640" cy="7498079"/>
          </a:xfrm>
          <a:prstGeom prst="roundRect">
            <a:avLst>
              <a:gd name="adj" fmla="val 4000"/>
            </a:avLst>
          </a:prstGeom>
          <a:solidFill>
            <a:srgbClr val="FC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86968" y="3017520"/>
            <a:ext cx="6858000" cy="640080"/>
          </a:xfrm>
          <a:prstGeom prst="rect">
            <a:avLst/>
          </a:prstGeom>
          <a:noFill/>
        </p:spPr>
        <p:txBody>
          <a:bodyPr wrap="square" lIns="0" rIns="0" tIns="18288" bIns="18288" anchor="ctr">
            <a:noAutofit/>
          </a:bodyPr>
          <a:lstStyle/>
          <a:p>
            <a:pPr algn="l">
              <a:lnSpc>
                <a:spcPct val="100000"/>
              </a:lnSpc>
              <a:spcBef>
                <a:spcPts val="0"/>
              </a:spcBef>
              <a:spcAft>
                <a:spcPts val="0"/>
              </a:spcAft>
            </a:pPr>
            <a:r>
              <a:rPr sz="2100" b="1" i="0">
                <a:solidFill>
                  <a:srgbClr val="192B37"/>
                </a:solidFill>
              </a:rPr>
              <a:t>Playwright</a:t>
            </a:r>
          </a:p>
        </p:txBody>
      </p:sp>
      <p:sp>
        <p:nvSpPr>
          <p:cNvPr id="8" name="Rounded Rectangle 7"/>
          <p:cNvSpPr/>
          <p:nvPr/>
        </p:nvSpPr>
        <p:spPr>
          <a:xfrm>
            <a:off x="841248" y="3749039"/>
            <a:ext cx="6949440" cy="72009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32688" y="3825621"/>
            <a:ext cx="566928" cy="566928"/>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uFileText.png"/>
          <p:cNvPicPr>
            <a:picLocks noChangeAspect="1"/>
          </p:cNvPicPr>
          <p:nvPr/>
        </p:nvPicPr>
        <p:blipFill>
          <a:blip r:embed="rId3"/>
          <a:stretch>
            <a:fillRect/>
          </a:stretch>
        </p:blipFill>
        <p:spPr>
          <a:xfrm>
            <a:off x="1068750" y="3961683"/>
            <a:ext cx="294802" cy="294802"/>
          </a:xfrm>
          <a:prstGeom prst="rect">
            <a:avLst/>
          </a:prstGeom>
        </p:spPr>
      </p:pic>
      <p:sp>
        <p:nvSpPr>
          <p:cNvPr id="11" name="TextBox 10"/>
          <p:cNvSpPr txBox="1"/>
          <p:nvPr/>
        </p:nvSpPr>
        <p:spPr>
          <a:xfrm>
            <a:off x="1618488" y="3767327"/>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Installation / Intro</a:t>
            </a:r>
          </a:p>
        </p:txBody>
      </p:sp>
      <p:sp>
        <p:nvSpPr>
          <p:cNvPr id="12" name="TextBox 11"/>
          <p:cNvSpPr txBox="1"/>
          <p:nvPr/>
        </p:nvSpPr>
        <p:spPr>
          <a:xfrm>
            <a:off x="1618488" y="4142231"/>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playwright.dev/docs/intro</a:t>
            </a:r>
          </a:p>
        </p:txBody>
      </p:sp>
      <p:sp>
        <p:nvSpPr>
          <p:cNvPr id="13" name="Rounded Rectangle 12"/>
          <p:cNvSpPr/>
          <p:nvPr/>
        </p:nvSpPr>
        <p:spPr>
          <a:xfrm>
            <a:off x="841248" y="4560570"/>
            <a:ext cx="6949440" cy="72009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932688" y="4637151"/>
            <a:ext cx="566928" cy="566928"/>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LuFileText.png"/>
          <p:cNvPicPr>
            <a:picLocks noChangeAspect="1"/>
          </p:cNvPicPr>
          <p:nvPr/>
        </p:nvPicPr>
        <p:blipFill>
          <a:blip r:embed="rId3"/>
          <a:stretch>
            <a:fillRect/>
          </a:stretch>
        </p:blipFill>
        <p:spPr>
          <a:xfrm>
            <a:off x="1068750" y="4773213"/>
            <a:ext cx="294802" cy="294802"/>
          </a:xfrm>
          <a:prstGeom prst="rect">
            <a:avLst/>
          </a:prstGeom>
        </p:spPr>
      </p:pic>
      <p:sp>
        <p:nvSpPr>
          <p:cNvPr id="16" name="TextBox 15"/>
          <p:cNvSpPr txBox="1"/>
          <p:nvPr/>
        </p:nvSpPr>
        <p:spPr>
          <a:xfrm>
            <a:off x="1618488" y="4578857"/>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Best Practices — read first</a:t>
            </a:r>
          </a:p>
        </p:txBody>
      </p:sp>
      <p:sp>
        <p:nvSpPr>
          <p:cNvPr id="17" name="TextBox 16"/>
          <p:cNvSpPr txBox="1"/>
          <p:nvPr/>
        </p:nvSpPr>
        <p:spPr>
          <a:xfrm>
            <a:off x="1618488" y="4953762"/>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playwright.dev/docs/best-practices</a:t>
            </a:r>
          </a:p>
        </p:txBody>
      </p:sp>
      <p:sp>
        <p:nvSpPr>
          <p:cNvPr id="18" name="Rounded Rectangle 17"/>
          <p:cNvSpPr/>
          <p:nvPr/>
        </p:nvSpPr>
        <p:spPr>
          <a:xfrm>
            <a:off x="841248" y="5372100"/>
            <a:ext cx="6949440" cy="72009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932688" y="5448681"/>
            <a:ext cx="566928" cy="566928"/>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uFileText.png"/>
          <p:cNvPicPr>
            <a:picLocks noChangeAspect="1"/>
          </p:cNvPicPr>
          <p:nvPr/>
        </p:nvPicPr>
        <p:blipFill>
          <a:blip r:embed="rId3"/>
          <a:stretch>
            <a:fillRect/>
          </a:stretch>
        </p:blipFill>
        <p:spPr>
          <a:xfrm>
            <a:off x="1068750" y="5584743"/>
            <a:ext cx="294802" cy="294802"/>
          </a:xfrm>
          <a:prstGeom prst="rect">
            <a:avLst/>
          </a:prstGeom>
        </p:spPr>
      </p:pic>
      <p:sp>
        <p:nvSpPr>
          <p:cNvPr id="21" name="TextBox 20"/>
          <p:cNvSpPr txBox="1"/>
          <p:nvPr/>
        </p:nvSpPr>
        <p:spPr>
          <a:xfrm>
            <a:off x="1618488" y="5390388"/>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Fixtures</a:t>
            </a:r>
          </a:p>
        </p:txBody>
      </p:sp>
      <p:sp>
        <p:nvSpPr>
          <p:cNvPr id="22" name="TextBox 21"/>
          <p:cNvSpPr txBox="1"/>
          <p:nvPr/>
        </p:nvSpPr>
        <p:spPr>
          <a:xfrm>
            <a:off x="1618488" y="5765292"/>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playwright.dev/docs/test-fixtures</a:t>
            </a:r>
          </a:p>
        </p:txBody>
      </p:sp>
      <p:sp>
        <p:nvSpPr>
          <p:cNvPr id="23" name="Rounded Rectangle 22"/>
          <p:cNvSpPr/>
          <p:nvPr/>
        </p:nvSpPr>
        <p:spPr>
          <a:xfrm>
            <a:off x="841248" y="6183629"/>
            <a:ext cx="6949440" cy="72009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932688" y="6260211"/>
            <a:ext cx="566928" cy="566928"/>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uFileText.png"/>
          <p:cNvPicPr>
            <a:picLocks noChangeAspect="1"/>
          </p:cNvPicPr>
          <p:nvPr/>
        </p:nvPicPr>
        <p:blipFill>
          <a:blip r:embed="rId3"/>
          <a:stretch>
            <a:fillRect/>
          </a:stretch>
        </p:blipFill>
        <p:spPr>
          <a:xfrm>
            <a:off x="1068750" y="6396273"/>
            <a:ext cx="294802" cy="294802"/>
          </a:xfrm>
          <a:prstGeom prst="rect">
            <a:avLst/>
          </a:prstGeom>
        </p:spPr>
      </p:pic>
      <p:sp>
        <p:nvSpPr>
          <p:cNvPr id="26" name="TextBox 25"/>
          <p:cNvSpPr txBox="1"/>
          <p:nvPr/>
        </p:nvSpPr>
        <p:spPr>
          <a:xfrm>
            <a:off x="1618488" y="6201917"/>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Trace viewer</a:t>
            </a:r>
          </a:p>
        </p:txBody>
      </p:sp>
      <p:sp>
        <p:nvSpPr>
          <p:cNvPr id="27" name="TextBox 26"/>
          <p:cNvSpPr txBox="1"/>
          <p:nvPr/>
        </p:nvSpPr>
        <p:spPr>
          <a:xfrm>
            <a:off x="1618488" y="6576821"/>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playwright.dev/docs/trace-viewer</a:t>
            </a:r>
          </a:p>
        </p:txBody>
      </p:sp>
      <p:sp>
        <p:nvSpPr>
          <p:cNvPr id="28" name="Rounded Rectangle 27"/>
          <p:cNvSpPr/>
          <p:nvPr/>
        </p:nvSpPr>
        <p:spPr>
          <a:xfrm>
            <a:off x="841248" y="6995159"/>
            <a:ext cx="6949440" cy="72009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932688" y="7071741"/>
            <a:ext cx="566928" cy="566928"/>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LuFileText.png"/>
          <p:cNvPicPr>
            <a:picLocks noChangeAspect="1"/>
          </p:cNvPicPr>
          <p:nvPr/>
        </p:nvPicPr>
        <p:blipFill>
          <a:blip r:embed="rId3"/>
          <a:stretch>
            <a:fillRect/>
          </a:stretch>
        </p:blipFill>
        <p:spPr>
          <a:xfrm>
            <a:off x="1068750" y="7207803"/>
            <a:ext cx="294802" cy="294802"/>
          </a:xfrm>
          <a:prstGeom prst="rect">
            <a:avLst/>
          </a:prstGeom>
        </p:spPr>
      </p:pic>
      <p:sp>
        <p:nvSpPr>
          <p:cNvPr id="31" name="TextBox 30"/>
          <p:cNvSpPr txBox="1"/>
          <p:nvPr/>
        </p:nvSpPr>
        <p:spPr>
          <a:xfrm>
            <a:off x="1618488" y="7013447"/>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API testing</a:t>
            </a:r>
          </a:p>
        </p:txBody>
      </p:sp>
      <p:sp>
        <p:nvSpPr>
          <p:cNvPr id="32" name="TextBox 31"/>
          <p:cNvSpPr txBox="1"/>
          <p:nvPr/>
        </p:nvSpPr>
        <p:spPr>
          <a:xfrm>
            <a:off x="1618488" y="7388352"/>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playwright.dev/docs/api-testing</a:t>
            </a:r>
          </a:p>
        </p:txBody>
      </p:sp>
      <p:sp>
        <p:nvSpPr>
          <p:cNvPr id="33" name="Rounded Rectangle 32"/>
          <p:cNvSpPr/>
          <p:nvPr/>
        </p:nvSpPr>
        <p:spPr>
          <a:xfrm>
            <a:off x="841248" y="7806690"/>
            <a:ext cx="6949440" cy="72009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932688" y="7883271"/>
            <a:ext cx="566928" cy="566928"/>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LuFileText.png"/>
          <p:cNvPicPr>
            <a:picLocks noChangeAspect="1"/>
          </p:cNvPicPr>
          <p:nvPr/>
        </p:nvPicPr>
        <p:blipFill>
          <a:blip r:embed="rId3"/>
          <a:stretch>
            <a:fillRect/>
          </a:stretch>
        </p:blipFill>
        <p:spPr>
          <a:xfrm>
            <a:off x="1068750" y="8019333"/>
            <a:ext cx="294802" cy="294802"/>
          </a:xfrm>
          <a:prstGeom prst="rect">
            <a:avLst/>
          </a:prstGeom>
        </p:spPr>
      </p:pic>
      <p:sp>
        <p:nvSpPr>
          <p:cNvPr id="36" name="TextBox 35"/>
          <p:cNvSpPr txBox="1"/>
          <p:nvPr/>
        </p:nvSpPr>
        <p:spPr>
          <a:xfrm>
            <a:off x="1618488" y="7824977"/>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Codegen</a:t>
            </a:r>
          </a:p>
        </p:txBody>
      </p:sp>
      <p:sp>
        <p:nvSpPr>
          <p:cNvPr id="37" name="TextBox 36"/>
          <p:cNvSpPr txBox="1"/>
          <p:nvPr/>
        </p:nvSpPr>
        <p:spPr>
          <a:xfrm>
            <a:off x="1618488" y="8199881"/>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playwright.dev/docs/codegen</a:t>
            </a:r>
          </a:p>
        </p:txBody>
      </p:sp>
      <p:sp>
        <p:nvSpPr>
          <p:cNvPr id="38" name="Rounded Rectangle 37"/>
          <p:cNvSpPr/>
          <p:nvPr/>
        </p:nvSpPr>
        <p:spPr>
          <a:xfrm>
            <a:off x="841248" y="8618219"/>
            <a:ext cx="6949440" cy="72009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32688" y="8694801"/>
            <a:ext cx="566928" cy="566928"/>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LuFileText.png"/>
          <p:cNvPicPr>
            <a:picLocks noChangeAspect="1"/>
          </p:cNvPicPr>
          <p:nvPr/>
        </p:nvPicPr>
        <p:blipFill>
          <a:blip r:embed="rId3"/>
          <a:stretch>
            <a:fillRect/>
          </a:stretch>
        </p:blipFill>
        <p:spPr>
          <a:xfrm>
            <a:off x="1068750" y="8830863"/>
            <a:ext cx="294802" cy="294802"/>
          </a:xfrm>
          <a:prstGeom prst="rect">
            <a:avLst/>
          </a:prstGeom>
        </p:spPr>
      </p:pic>
      <p:sp>
        <p:nvSpPr>
          <p:cNvPr id="41" name="TextBox 40"/>
          <p:cNvSpPr txBox="1"/>
          <p:nvPr/>
        </p:nvSpPr>
        <p:spPr>
          <a:xfrm>
            <a:off x="1618488" y="8636507"/>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VS Code extension</a:t>
            </a:r>
          </a:p>
        </p:txBody>
      </p:sp>
      <p:sp>
        <p:nvSpPr>
          <p:cNvPr id="42" name="TextBox 41"/>
          <p:cNvSpPr txBox="1"/>
          <p:nvPr/>
        </p:nvSpPr>
        <p:spPr>
          <a:xfrm>
            <a:off x="1618488" y="9011411"/>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playwright.dev/docs/getting-started-vscode</a:t>
            </a:r>
          </a:p>
        </p:txBody>
      </p:sp>
      <p:sp>
        <p:nvSpPr>
          <p:cNvPr id="43" name="Rounded Rectangle 42"/>
          <p:cNvSpPr/>
          <p:nvPr/>
        </p:nvSpPr>
        <p:spPr>
          <a:xfrm>
            <a:off x="841248" y="9429750"/>
            <a:ext cx="6949440" cy="72009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932688" y="9506331"/>
            <a:ext cx="566928" cy="566928"/>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LuVideo.png"/>
          <p:cNvPicPr>
            <a:picLocks noChangeAspect="1"/>
          </p:cNvPicPr>
          <p:nvPr/>
        </p:nvPicPr>
        <p:blipFill>
          <a:blip r:embed="rId4"/>
          <a:stretch>
            <a:fillRect/>
          </a:stretch>
        </p:blipFill>
        <p:spPr>
          <a:xfrm>
            <a:off x="1068750" y="9642393"/>
            <a:ext cx="294802" cy="294802"/>
          </a:xfrm>
          <a:prstGeom prst="rect">
            <a:avLst/>
          </a:prstGeom>
        </p:spPr>
      </p:pic>
      <p:sp>
        <p:nvSpPr>
          <p:cNvPr id="46" name="TextBox 45"/>
          <p:cNvSpPr txBox="1"/>
          <p:nvPr/>
        </p:nvSpPr>
        <p:spPr>
          <a:xfrm>
            <a:off x="1618488" y="9448038"/>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Playwright on YouTube</a:t>
            </a:r>
          </a:p>
        </p:txBody>
      </p:sp>
      <p:sp>
        <p:nvSpPr>
          <p:cNvPr id="47" name="TextBox 46"/>
          <p:cNvSpPr txBox="1"/>
          <p:nvPr/>
        </p:nvSpPr>
        <p:spPr>
          <a:xfrm>
            <a:off x="1618488" y="9822942"/>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youtube.com/@Playwrightdev</a:t>
            </a:r>
          </a:p>
        </p:txBody>
      </p:sp>
      <p:sp>
        <p:nvSpPr>
          <p:cNvPr id="48" name="Rounded Rectangle 47"/>
          <p:cNvSpPr/>
          <p:nvPr/>
        </p:nvSpPr>
        <p:spPr>
          <a:xfrm>
            <a:off x="8293608" y="2926080"/>
            <a:ext cx="7406640" cy="7498079"/>
          </a:xfrm>
          <a:prstGeom prst="roundRect">
            <a:avLst>
              <a:gd name="adj" fmla="val 4000"/>
            </a:avLst>
          </a:prstGeom>
          <a:solidFill>
            <a:srgbClr val="E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8567928" y="3017520"/>
            <a:ext cx="6858000" cy="640080"/>
          </a:xfrm>
          <a:prstGeom prst="rect">
            <a:avLst/>
          </a:prstGeom>
          <a:noFill/>
        </p:spPr>
        <p:txBody>
          <a:bodyPr wrap="square" lIns="0" rIns="0" tIns="18288" bIns="18288" anchor="ctr">
            <a:noAutofit/>
          </a:bodyPr>
          <a:lstStyle/>
          <a:p>
            <a:pPr algn="l">
              <a:lnSpc>
                <a:spcPct val="100000"/>
              </a:lnSpc>
              <a:spcBef>
                <a:spcPts val="0"/>
              </a:spcBef>
              <a:spcAft>
                <a:spcPts val="0"/>
              </a:spcAft>
            </a:pPr>
            <a:r>
              <a:rPr sz="2100" b="1" i="0">
                <a:solidFill>
                  <a:srgbClr val="192B37"/>
                </a:solidFill>
              </a:rPr>
              <a:t>Cypress</a:t>
            </a:r>
          </a:p>
        </p:txBody>
      </p:sp>
      <p:sp>
        <p:nvSpPr>
          <p:cNvPr id="50" name="Rounded Rectangle 49"/>
          <p:cNvSpPr/>
          <p:nvPr/>
        </p:nvSpPr>
        <p:spPr>
          <a:xfrm>
            <a:off x="8522208" y="3749039"/>
            <a:ext cx="6949440"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8613648" y="3877055"/>
            <a:ext cx="566928" cy="566928"/>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LuFileText.png"/>
          <p:cNvPicPr>
            <a:picLocks noChangeAspect="1"/>
          </p:cNvPicPr>
          <p:nvPr/>
        </p:nvPicPr>
        <p:blipFill>
          <a:blip r:embed="rId3"/>
          <a:stretch>
            <a:fillRect/>
          </a:stretch>
        </p:blipFill>
        <p:spPr>
          <a:xfrm>
            <a:off x="8749710" y="4013118"/>
            <a:ext cx="294802" cy="294802"/>
          </a:xfrm>
          <a:prstGeom prst="rect">
            <a:avLst/>
          </a:prstGeom>
        </p:spPr>
      </p:pic>
      <p:sp>
        <p:nvSpPr>
          <p:cNvPr id="53" name="TextBox 52"/>
          <p:cNvSpPr txBox="1"/>
          <p:nvPr/>
        </p:nvSpPr>
        <p:spPr>
          <a:xfrm>
            <a:off x="9299448" y="3767327"/>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Why Cypress?</a:t>
            </a:r>
          </a:p>
        </p:txBody>
      </p:sp>
      <p:sp>
        <p:nvSpPr>
          <p:cNvPr id="54" name="TextBox 53"/>
          <p:cNvSpPr txBox="1"/>
          <p:nvPr/>
        </p:nvSpPr>
        <p:spPr>
          <a:xfrm>
            <a:off x="9299448" y="4142231"/>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docs.cypress.io/app/get-started/why-cypress</a:t>
            </a:r>
          </a:p>
        </p:txBody>
      </p:sp>
      <p:sp>
        <p:nvSpPr>
          <p:cNvPr id="55" name="Rounded Rectangle 54"/>
          <p:cNvSpPr/>
          <p:nvPr/>
        </p:nvSpPr>
        <p:spPr>
          <a:xfrm>
            <a:off x="8522208" y="4663440"/>
            <a:ext cx="6949440"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Oval 55"/>
          <p:cNvSpPr/>
          <p:nvPr/>
        </p:nvSpPr>
        <p:spPr>
          <a:xfrm>
            <a:off x="8613648" y="4791455"/>
            <a:ext cx="566928" cy="566928"/>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LuFileText.png"/>
          <p:cNvPicPr>
            <a:picLocks noChangeAspect="1"/>
          </p:cNvPicPr>
          <p:nvPr/>
        </p:nvPicPr>
        <p:blipFill>
          <a:blip r:embed="rId3"/>
          <a:stretch>
            <a:fillRect/>
          </a:stretch>
        </p:blipFill>
        <p:spPr>
          <a:xfrm>
            <a:off x="8749710" y="4927518"/>
            <a:ext cx="294802" cy="294802"/>
          </a:xfrm>
          <a:prstGeom prst="rect">
            <a:avLst/>
          </a:prstGeom>
        </p:spPr>
      </p:pic>
      <p:sp>
        <p:nvSpPr>
          <p:cNvPr id="58" name="TextBox 57"/>
          <p:cNvSpPr txBox="1"/>
          <p:nvPr/>
        </p:nvSpPr>
        <p:spPr>
          <a:xfrm>
            <a:off x="9299448" y="4681727"/>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Best practices</a:t>
            </a:r>
          </a:p>
        </p:txBody>
      </p:sp>
      <p:sp>
        <p:nvSpPr>
          <p:cNvPr id="59" name="TextBox 58"/>
          <p:cNvSpPr txBox="1"/>
          <p:nvPr/>
        </p:nvSpPr>
        <p:spPr>
          <a:xfrm>
            <a:off x="9299448" y="5056631"/>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docs.cypress.io/app/core-concepts/best-practices</a:t>
            </a:r>
          </a:p>
        </p:txBody>
      </p:sp>
      <p:sp>
        <p:nvSpPr>
          <p:cNvPr id="60" name="Rounded Rectangle 59"/>
          <p:cNvSpPr/>
          <p:nvPr/>
        </p:nvSpPr>
        <p:spPr>
          <a:xfrm>
            <a:off x="8522208" y="5577840"/>
            <a:ext cx="6949440"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Oval 60"/>
          <p:cNvSpPr/>
          <p:nvPr/>
        </p:nvSpPr>
        <p:spPr>
          <a:xfrm>
            <a:off x="8613648" y="5705855"/>
            <a:ext cx="566928" cy="566928"/>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2" name="Picture 61" descr="LuFileText.png"/>
          <p:cNvPicPr>
            <a:picLocks noChangeAspect="1"/>
          </p:cNvPicPr>
          <p:nvPr/>
        </p:nvPicPr>
        <p:blipFill>
          <a:blip r:embed="rId3"/>
          <a:stretch>
            <a:fillRect/>
          </a:stretch>
        </p:blipFill>
        <p:spPr>
          <a:xfrm>
            <a:off x="8749710" y="5841918"/>
            <a:ext cx="294802" cy="294802"/>
          </a:xfrm>
          <a:prstGeom prst="rect">
            <a:avLst/>
          </a:prstGeom>
        </p:spPr>
      </p:pic>
      <p:sp>
        <p:nvSpPr>
          <p:cNvPr id="63" name="TextBox 62"/>
          <p:cNvSpPr txBox="1"/>
          <p:nvPr/>
        </p:nvSpPr>
        <p:spPr>
          <a:xfrm>
            <a:off x="9299448" y="5596127"/>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Trade-offs (its own limits)</a:t>
            </a:r>
          </a:p>
        </p:txBody>
      </p:sp>
      <p:sp>
        <p:nvSpPr>
          <p:cNvPr id="64" name="TextBox 63"/>
          <p:cNvSpPr txBox="1"/>
          <p:nvPr/>
        </p:nvSpPr>
        <p:spPr>
          <a:xfrm>
            <a:off x="9299448" y="5971031"/>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docs.cypress.io/app/references/trade-offs</a:t>
            </a:r>
          </a:p>
        </p:txBody>
      </p:sp>
      <p:sp>
        <p:nvSpPr>
          <p:cNvPr id="65" name="Rounded Rectangle 64"/>
          <p:cNvSpPr/>
          <p:nvPr/>
        </p:nvSpPr>
        <p:spPr>
          <a:xfrm>
            <a:off x="8522208" y="6492240"/>
            <a:ext cx="6949440"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Oval 65"/>
          <p:cNvSpPr/>
          <p:nvPr/>
        </p:nvSpPr>
        <p:spPr>
          <a:xfrm>
            <a:off x="8613648" y="6620255"/>
            <a:ext cx="566928" cy="566928"/>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LuFileText.png"/>
          <p:cNvPicPr>
            <a:picLocks noChangeAspect="1"/>
          </p:cNvPicPr>
          <p:nvPr/>
        </p:nvPicPr>
        <p:blipFill>
          <a:blip r:embed="rId3"/>
          <a:stretch>
            <a:fillRect/>
          </a:stretch>
        </p:blipFill>
        <p:spPr>
          <a:xfrm>
            <a:off x="8749710" y="6756318"/>
            <a:ext cx="294802" cy="294802"/>
          </a:xfrm>
          <a:prstGeom prst="rect">
            <a:avLst/>
          </a:prstGeom>
        </p:spPr>
      </p:pic>
      <p:sp>
        <p:nvSpPr>
          <p:cNvPr id="68" name="TextBox 67"/>
          <p:cNvSpPr txBox="1"/>
          <p:nvPr/>
        </p:nvSpPr>
        <p:spPr>
          <a:xfrm>
            <a:off x="9299448" y="6510527"/>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Network requests</a:t>
            </a:r>
          </a:p>
        </p:txBody>
      </p:sp>
      <p:sp>
        <p:nvSpPr>
          <p:cNvPr id="69" name="TextBox 68"/>
          <p:cNvSpPr txBox="1"/>
          <p:nvPr/>
        </p:nvSpPr>
        <p:spPr>
          <a:xfrm>
            <a:off x="9299448" y="6885431"/>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docs.cypress.io/app/guides/network-requests</a:t>
            </a:r>
          </a:p>
        </p:txBody>
      </p:sp>
      <p:sp>
        <p:nvSpPr>
          <p:cNvPr id="70" name="Rounded Rectangle 69"/>
          <p:cNvSpPr/>
          <p:nvPr/>
        </p:nvSpPr>
        <p:spPr>
          <a:xfrm>
            <a:off x="8522208" y="7406640"/>
            <a:ext cx="6949440"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Oval 70"/>
          <p:cNvSpPr/>
          <p:nvPr/>
        </p:nvSpPr>
        <p:spPr>
          <a:xfrm>
            <a:off x="8613648" y="7534656"/>
            <a:ext cx="566928" cy="566928"/>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Picture 71" descr="LuGithub.png"/>
          <p:cNvPicPr>
            <a:picLocks noChangeAspect="1"/>
          </p:cNvPicPr>
          <p:nvPr/>
        </p:nvPicPr>
        <p:blipFill>
          <a:blip r:embed="rId5"/>
          <a:stretch>
            <a:fillRect/>
          </a:stretch>
        </p:blipFill>
        <p:spPr>
          <a:xfrm>
            <a:off x="8749710" y="7670718"/>
            <a:ext cx="294802" cy="294802"/>
          </a:xfrm>
          <a:prstGeom prst="rect">
            <a:avLst/>
          </a:prstGeom>
        </p:spPr>
      </p:pic>
      <p:sp>
        <p:nvSpPr>
          <p:cNvPr id="73" name="TextBox 72"/>
          <p:cNvSpPr txBox="1"/>
          <p:nvPr/>
        </p:nvSpPr>
        <p:spPr>
          <a:xfrm>
            <a:off x="9299448" y="7424927"/>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Real World App (our app)</a:t>
            </a:r>
          </a:p>
        </p:txBody>
      </p:sp>
      <p:sp>
        <p:nvSpPr>
          <p:cNvPr id="74" name="TextBox 73"/>
          <p:cNvSpPr txBox="1"/>
          <p:nvPr/>
        </p:nvSpPr>
        <p:spPr>
          <a:xfrm>
            <a:off x="9299448" y="7799831"/>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github.com/cypress-io/cypress-realworld-app</a:t>
            </a:r>
          </a:p>
        </p:txBody>
      </p:sp>
      <p:sp>
        <p:nvSpPr>
          <p:cNvPr id="75" name="Rounded Rectangle 74"/>
          <p:cNvSpPr/>
          <p:nvPr/>
        </p:nvSpPr>
        <p:spPr>
          <a:xfrm>
            <a:off x="15974568" y="2926080"/>
            <a:ext cx="7498079" cy="7498079"/>
          </a:xfrm>
          <a:prstGeom prst="roundRect">
            <a:avLst>
              <a:gd name="adj" fmla="val 4000"/>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16248888" y="3017520"/>
            <a:ext cx="6949440" cy="640080"/>
          </a:xfrm>
          <a:prstGeom prst="rect">
            <a:avLst/>
          </a:prstGeom>
          <a:noFill/>
        </p:spPr>
        <p:txBody>
          <a:bodyPr wrap="square" lIns="0" rIns="0" tIns="18288" bIns="18288" anchor="ctr">
            <a:noAutofit/>
          </a:bodyPr>
          <a:lstStyle/>
          <a:p>
            <a:pPr algn="l">
              <a:lnSpc>
                <a:spcPct val="100000"/>
              </a:lnSpc>
              <a:spcBef>
                <a:spcPts val="0"/>
              </a:spcBef>
              <a:spcAft>
                <a:spcPts val="0"/>
              </a:spcAft>
            </a:pPr>
            <a:r>
              <a:rPr sz="2100" b="1" i="0">
                <a:solidFill>
                  <a:srgbClr val="192B37"/>
                </a:solidFill>
              </a:rPr>
              <a:t>TypeScript · FP · testing</a:t>
            </a:r>
          </a:p>
        </p:txBody>
      </p:sp>
      <p:sp>
        <p:nvSpPr>
          <p:cNvPr id="77" name="Rounded Rectangle 76"/>
          <p:cNvSpPr/>
          <p:nvPr/>
        </p:nvSpPr>
        <p:spPr>
          <a:xfrm>
            <a:off x="16203168" y="3749039"/>
            <a:ext cx="7040879"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Oval 77"/>
          <p:cNvSpPr/>
          <p:nvPr/>
        </p:nvSpPr>
        <p:spPr>
          <a:xfrm>
            <a:off x="16294608" y="3877055"/>
            <a:ext cx="566928" cy="566928"/>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9" name="Picture 78" descr="LuFileText.png"/>
          <p:cNvPicPr>
            <a:picLocks noChangeAspect="1"/>
          </p:cNvPicPr>
          <p:nvPr/>
        </p:nvPicPr>
        <p:blipFill>
          <a:blip r:embed="rId3"/>
          <a:stretch>
            <a:fillRect/>
          </a:stretch>
        </p:blipFill>
        <p:spPr>
          <a:xfrm>
            <a:off x="16430670" y="4013118"/>
            <a:ext cx="294802" cy="294802"/>
          </a:xfrm>
          <a:prstGeom prst="rect">
            <a:avLst/>
          </a:prstGeom>
        </p:spPr>
      </p:pic>
      <p:sp>
        <p:nvSpPr>
          <p:cNvPr id="80" name="TextBox 79"/>
          <p:cNvSpPr txBox="1"/>
          <p:nvPr/>
        </p:nvSpPr>
        <p:spPr>
          <a:xfrm>
            <a:off x="16980408" y="3767327"/>
            <a:ext cx="617219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TypeScript Handbook</a:t>
            </a:r>
          </a:p>
        </p:txBody>
      </p:sp>
      <p:sp>
        <p:nvSpPr>
          <p:cNvPr id="81" name="TextBox 80"/>
          <p:cNvSpPr txBox="1"/>
          <p:nvPr/>
        </p:nvSpPr>
        <p:spPr>
          <a:xfrm>
            <a:off x="16980408" y="4142231"/>
            <a:ext cx="617219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typescriptlang.org/docs/handbook</a:t>
            </a:r>
          </a:p>
        </p:txBody>
      </p:sp>
      <p:sp>
        <p:nvSpPr>
          <p:cNvPr id="82" name="Rounded Rectangle 81"/>
          <p:cNvSpPr/>
          <p:nvPr/>
        </p:nvSpPr>
        <p:spPr>
          <a:xfrm>
            <a:off x="16203168" y="4663440"/>
            <a:ext cx="7040879"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Oval 82"/>
          <p:cNvSpPr/>
          <p:nvPr/>
        </p:nvSpPr>
        <p:spPr>
          <a:xfrm>
            <a:off x="16294608" y="4791455"/>
            <a:ext cx="566928" cy="566928"/>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4" name="Picture 83" descr="LuBookOpen.png"/>
          <p:cNvPicPr>
            <a:picLocks noChangeAspect="1"/>
          </p:cNvPicPr>
          <p:nvPr/>
        </p:nvPicPr>
        <p:blipFill>
          <a:blip r:embed="rId6"/>
          <a:stretch>
            <a:fillRect/>
          </a:stretch>
        </p:blipFill>
        <p:spPr>
          <a:xfrm>
            <a:off x="16430670" y="4927518"/>
            <a:ext cx="294802" cy="294802"/>
          </a:xfrm>
          <a:prstGeom prst="rect">
            <a:avLst/>
          </a:prstGeom>
        </p:spPr>
      </p:pic>
      <p:sp>
        <p:nvSpPr>
          <p:cNvPr id="85" name="TextBox 84"/>
          <p:cNvSpPr txBox="1"/>
          <p:nvPr/>
        </p:nvSpPr>
        <p:spPr>
          <a:xfrm>
            <a:off x="16980408" y="4681727"/>
            <a:ext cx="617219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Mostly Adequate Guide to FP</a:t>
            </a:r>
          </a:p>
        </p:txBody>
      </p:sp>
      <p:sp>
        <p:nvSpPr>
          <p:cNvPr id="86" name="TextBox 85"/>
          <p:cNvSpPr txBox="1"/>
          <p:nvPr/>
        </p:nvSpPr>
        <p:spPr>
          <a:xfrm>
            <a:off x="16980408" y="5056631"/>
            <a:ext cx="617219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github.com/MostlyAdequate/mostly-adequate-guide</a:t>
            </a:r>
          </a:p>
        </p:txBody>
      </p:sp>
      <p:sp>
        <p:nvSpPr>
          <p:cNvPr id="87" name="Rounded Rectangle 86"/>
          <p:cNvSpPr/>
          <p:nvPr/>
        </p:nvSpPr>
        <p:spPr>
          <a:xfrm>
            <a:off x="16203168" y="5577840"/>
            <a:ext cx="7040879"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Oval 87"/>
          <p:cNvSpPr/>
          <p:nvPr/>
        </p:nvSpPr>
        <p:spPr>
          <a:xfrm>
            <a:off x="16294608" y="5705855"/>
            <a:ext cx="566928" cy="566928"/>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9" name="Picture 88" descr="LuNewspaper.png"/>
          <p:cNvPicPr>
            <a:picLocks noChangeAspect="1"/>
          </p:cNvPicPr>
          <p:nvPr/>
        </p:nvPicPr>
        <p:blipFill>
          <a:blip r:embed="rId7"/>
          <a:stretch>
            <a:fillRect/>
          </a:stretch>
        </p:blipFill>
        <p:spPr>
          <a:xfrm>
            <a:off x="16430670" y="5841918"/>
            <a:ext cx="294802" cy="294802"/>
          </a:xfrm>
          <a:prstGeom prst="rect">
            <a:avLst/>
          </a:prstGeom>
        </p:spPr>
      </p:pic>
      <p:sp>
        <p:nvSpPr>
          <p:cNvPr id="90" name="TextBox 89"/>
          <p:cNvSpPr txBox="1"/>
          <p:nvPr/>
        </p:nvSpPr>
        <p:spPr>
          <a:xfrm>
            <a:off x="16980408" y="5596127"/>
            <a:ext cx="617219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The Practical Test Pyramid</a:t>
            </a:r>
          </a:p>
        </p:txBody>
      </p:sp>
      <p:sp>
        <p:nvSpPr>
          <p:cNvPr id="91" name="TextBox 90"/>
          <p:cNvSpPr txBox="1"/>
          <p:nvPr/>
        </p:nvSpPr>
        <p:spPr>
          <a:xfrm>
            <a:off x="16980408" y="5971031"/>
            <a:ext cx="617219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martinfowler.com/articles/practical-test-pyramid.html</a:t>
            </a:r>
          </a:p>
        </p:txBody>
      </p:sp>
      <p:sp>
        <p:nvSpPr>
          <p:cNvPr id="92" name="Rounded Rectangle 91"/>
          <p:cNvSpPr/>
          <p:nvPr/>
        </p:nvSpPr>
        <p:spPr>
          <a:xfrm>
            <a:off x="16203168" y="6492240"/>
            <a:ext cx="7040879"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Oval 92"/>
          <p:cNvSpPr/>
          <p:nvPr/>
        </p:nvSpPr>
        <p:spPr>
          <a:xfrm>
            <a:off x="16294608" y="6620255"/>
            <a:ext cx="566928" cy="566928"/>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4" name="Picture 93" descr="LuNewspaper.png"/>
          <p:cNvPicPr>
            <a:picLocks noChangeAspect="1"/>
          </p:cNvPicPr>
          <p:nvPr/>
        </p:nvPicPr>
        <p:blipFill>
          <a:blip r:embed="rId7"/>
          <a:stretch>
            <a:fillRect/>
          </a:stretch>
        </p:blipFill>
        <p:spPr>
          <a:xfrm>
            <a:off x="16430670" y="6756318"/>
            <a:ext cx="294802" cy="294802"/>
          </a:xfrm>
          <a:prstGeom prst="rect">
            <a:avLst/>
          </a:prstGeom>
        </p:spPr>
      </p:pic>
      <p:sp>
        <p:nvSpPr>
          <p:cNvPr id="95" name="TextBox 94"/>
          <p:cNvSpPr txBox="1"/>
          <p:nvPr/>
        </p:nvSpPr>
        <p:spPr>
          <a:xfrm>
            <a:off x="16980408" y="6510527"/>
            <a:ext cx="617219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Flaky Tests at Google</a:t>
            </a:r>
          </a:p>
        </p:txBody>
      </p:sp>
      <p:sp>
        <p:nvSpPr>
          <p:cNvPr id="96" name="TextBox 95"/>
          <p:cNvSpPr txBox="1"/>
          <p:nvPr/>
        </p:nvSpPr>
        <p:spPr>
          <a:xfrm>
            <a:off x="16980408" y="6885431"/>
            <a:ext cx="617219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testing.googleblog.com (2016)</a:t>
            </a:r>
          </a:p>
        </p:txBody>
      </p:sp>
      <p:sp>
        <p:nvSpPr>
          <p:cNvPr id="97" name="Rounded Rectangle 96"/>
          <p:cNvSpPr/>
          <p:nvPr/>
        </p:nvSpPr>
        <p:spPr>
          <a:xfrm>
            <a:off x="16203168" y="7406640"/>
            <a:ext cx="7040879"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Oval 97"/>
          <p:cNvSpPr/>
          <p:nvPr/>
        </p:nvSpPr>
        <p:spPr>
          <a:xfrm>
            <a:off x="16294608" y="7534656"/>
            <a:ext cx="566928" cy="566928"/>
          </a:xfrm>
          <a:prstGeom prst="ellipse">
            <a:avLst/>
          </a:prstGeom>
          <a:solidFill>
            <a:srgbClr val="868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9" name="Picture 98" descr="LuGraduationCap.png"/>
          <p:cNvPicPr>
            <a:picLocks noChangeAspect="1"/>
          </p:cNvPicPr>
          <p:nvPr/>
        </p:nvPicPr>
        <p:blipFill>
          <a:blip r:embed="rId8"/>
          <a:stretch>
            <a:fillRect/>
          </a:stretch>
        </p:blipFill>
        <p:spPr>
          <a:xfrm>
            <a:off x="16430670" y="7670718"/>
            <a:ext cx="294802" cy="294802"/>
          </a:xfrm>
          <a:prstGeom prst="rect">
            <a:avLst/>
          </a:prstGeom>
        </p:spPr>
      </p:pic>
      <p:sp>
        <p:nvSpPr>
          <p:cNvPr id="100" name="TextBox 99"/>
          <p:cNvSpPr txBox="1"/>
          <p:nvPr/>
        </p:nvSpPr>
        <p:spPr>
          <a:xfrm>
            <a:off x="16980408" y="7424927"/>
            <a:ext cx="617219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ISTQB CTFL v4.0</a:t>
            </a:r>
          </a:p>
        </p:txBody>
      </p:sp>
      <p:sp>
        <p:nvSpPr>
          <p:cNvPr id="101" name="TextBox 100"/>
          <p:cNvSpPr txBox="1"/>
          <p:nvPr/>
        </p:nvSpPr>
        <p:spPr>
          <a:xfrm>
            <a:off x="16980408" y="7799831"/>
            <a:ext cx="617219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istqb.org/certifications</a:t>
            </a:r>
          </a:p>
        </p:txBody>
      </p:sp>
      <p:sp>
        <p:nvSpPr>
          <p:cNvPr id="102" name="Rounded Rectangle 101"/>
          <p:cNvSpPr/>
          <p:nvPr/>
        </p:nvSpPr>
        <p:spPr>
          <a:xfrm>
            <a:off x="612648" y="10789920"/>
            <a:ext cx="22860000" cy="960120"/>
          </a:xfrm>
          <a:prstGeom prst="roundRect">
            <a:avLst>
              <a:gd name="adj" fmla="val 1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Oval 102"/>
          <p:cNvSpPr/>
          <p:nvPr/>
        </p:nvSpPr>
        <p:spPr>
          <a:xfrm>
            <a:off x="886968" y="10927080"/>
            <a:ext cx="685800" cy="6858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4" name="Picture 103" descr="LuLaugh.png"/>
          <p:cNvPicPr>
            <a:picLocks noChangeAspect="1"/>
          </p:cNvPicPr>
          <p:nvPr/>
        </p:nvPicPr>
        <p:blipFill>
          <a:blip r:embed="rId9"/>
          <a:stretch>
            <a:fillRect/>
          </a:stretch>
        </p:blipFill>
        <p:spPr>
          <a:xfrm>
            <a:off x="1051560" y="11091672"/>
            <a:ext cx="356616" cy="356616"/>
          </a:xfrm>
          <a:prstGeom prst="rect">
            <a:avLst/>
          </a:prstGeom>
        </p:spPr>
      </p:pic>
      <p:sp>
        <p:nvSpPr>
          <p:cNvPr id="105" name="TextBox 104"/>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Read the docs before you need them. It's like an umbrella — useless to buy in the middle of the storm.</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a:r>
              <a:t>Homework</a:t>
            </a:r>
          </a:p>
        </p:txBody>
      </p:sp>
      <p:sp>
        <p:nvSpPr>
          <p:cNvPr id="3" name="TextBox 2"/>
          <p:cNvSpPr txBox="1"/>
          <p:nvPr/>
        </p:nvSpPr>
        <p:spPr>
          <a:xfrm>
            <a:off x="612648" y="1325880"/>
            <a:ext cx="18288000"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800" b="1" i="0">
                <a:solidFill>
                  <a:srgbClr val="00A859"/>
                </a:solidFill>
              </a:rPr>
              <a:t>STUDY RESOURCES</a:t>
            </a:r>
          </a:p>
        </p:txBody>
      </p:sp>
      <p:sp>
        <p:nvSpPr>
          <p:cNvPr id="4" name="TextBox 3"/>
          <p:cNvSpPr txBox="1"/>
          <p:nvPr/>
        </p:nvSpPr>
        <p:spPr>
          <a:xfrm>
            <a:off x="612648" y="1737360"/>
            <a:ext cx="23134320" cy="822960"/>
          </a:xfrm>
          <a:prstGeom prst="rect">
            <a:avLst/>
          </a:prstGeom>
          <a:noFill/>
        </p:spPr>
        <p:txBody>
          <a:bodyPr wrap="square" lIns="0" rIns="0" tIns="18288" bIns="18288" anchor="t">
            <a:noAutofit/>
          </a:bodyPr>
          <a:lstStyle/>
          <a:p>
            <a:pPr algn="l">
              <a:lnSpc>
                <a:spcPct val="100000"/>
              </a:lnSpc>
              <a:spcBef>
                <a:spcPts val="0"/>
              </a:spcBef>
              <a:spcAft>
                <a:spcPts val="0"/>
              </a:spcAft>
            </a:pPr>
            <a:r>
              <a:rPr sz="4400" b="0" i="0">
                <a:solidFill>
                  <a:srgbClr val="192B37"/>
                </a:solidFill>
                <a:latin typeface="+mj-lt"/>
              </a:rPr>
              <a:t>API, accessibility, docs, agents and delivery</a:t>
            </a:r>
          </a:p>
        </p:txBody>
      </p:sp>
      <p:sp>
        <p:nvSpPr>
          <p:cNvPr id="5" name="TextBox 4"/>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79</a:t>
            </a:r>
          </a:p>
        </p:txBody>
      </p:sp>
      <p:sp>
        <p:nvSpPr>
          <p:cNvPr id="6" name="Rounded Rectangle 5"/>
          <p:cNvSpPr/>
          <p:nvPr/>
        </p:nvSpPr>
        <p:spPr>
          <a:xfrm>
            <a:off x="612648" y="2926080"/>
            <a:ext cx="7406640" cy="7498079"/>
          </a:xfrm>
          <a:prstGeom prst="roundRect">
            <a:avLst>
              <a:gd name="adj" fmla="val 4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86968" y="3017520"/>
            <a:ext cx="6858000" cy="640080"/>
          </a:xfrm>
          <a:prstGeom prst="rect">
            <a:avLst/>
          </a:prstGeom>
          <a:noFill/>
        </p:spPr>
        <p:txBody>
          <a:bodyPr wrap="square" lIns="0" rIns="0" tIns="18288" bIns="18288" anchor="ctr">
            <a:noAutofit/>
          </a:bodyPr>
          <a:lstStyle/>
          <a:p>
            <a:pPr algn="l">
              <a:lnSpc>
                <a:spcPct val="100000"/>
              </a:lnSpc>
              <a:spcBef>
                <a:spcPts val="0"/>
              </a:spcBef>
              <a:spcAft>
                <a:spcPts val="0"/>
              </a:spcAft>
            </a:pPr>
            <a:r>
              <a:rPr sz="2100" b="1" i="0">
                <a:solidFill>
                  <a:srgbClr val="192B37"/>
                </a:solidFill>
              </a:rPr>
              <a:t>API · a11y · docs</a:t>
            </a:r>
          </a:p>
        </p:txBody>
      </p:sp>
      <p:sp>
        <p:nvSpPr>
          <p:cNvPr id="8" name="Rounded Rectangle 7"/>
          <p:cNvSpPr/>
          <p:nvPr/>
        </p:nvSpPr>
        <p:spPr>
          <a:xfrm>
            <a:off x="841248" y="3749039"/>
            <a:ext cx="6949440"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32688" y="3877055"/>
            <a:ext cx="566928" cy="566928"/>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uFileCode.png"/>
          <p:cNvPicPr>
            <a:picLocks noChangeAspect="1"/>
          </p:cNvPicPr>
          <p:nvPr/>
        </p:nvPicPr>
        <p:blipFill>
          <a:blip r:embed="rId3"/>
          <a:stretch>
            <a:fillRect/>
          </a:stretch>
        </p:blipFill>
        <p:spPr>
          <a:xfrm>
            <a:off x="1068750" y="4013118"/>
            <a:ext cx="294802" cy="294802"/>
          </a:xfrm>
          <a:prstGeom prst="rect">
            <a:avLst/>
          </a:prstGeom>
        </p:spPr>
      </p:pic>
      <p:sp>
        <p:nvSpPr>
          <p:cNvPr id="11" name="TextBox 10"/>
          <p:cNvSpPr txBox="1"/>
          <p:nvPr/>
        </p:nvSpPr>
        <p:spPr>
          <a:xfrm>
            <a:off x="1618488" y="3767327"/>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OpenAPI Initiative (OAS 3.2.1)</a:t>
            </a:r>
          </a:p>
        </p:txBody>
      </p:sp>
      <p:sp>
        <p:nvSpPr>
          <p:cNvPr id="12" name="TextBox 11"/>
          <p:cNvSpPr txBox="1"/>
          <p:nvPr/>
        </p:nvSpPr>
        <p:spPr>
          <a:xfrm>
            <a:off x="1618488" y="4142231"/>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openapis.org</a:t>
            </a:r>
          </a:p>
        </p:txBody>
      </p:sp>
      <p:sp>
        <p:nvSpPr>
          <p:cNvPr id="13" name="Rounded Rectangle 12"/>
          <p:cNvSpPr/>
          <p:nvPr/>
        </p:nvSpPr>
        <p:spPr>
          <a:xfrm>
            <a:off x="841248" y="4663440"/>
            <a:ext cx="6949440"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932688" y="4791455"/>
            <a:ext cx="566928" cy="566928"/>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LuFileText.png"/>
          <p:cNvPicPr>
            <a:picLocks noChangeAspect="1"/>
          </p:cNvPicPr>
          <p:nvPr/>
        </p:nvPicPr>
        <p:blipFill>
          <a:blip r:embed="rId4"/>
          <a:stretch>
            <a:fillRect/>
          </a:stretch>
        </p:blipFill>
        <p:spPr>
          <a:xfrm>
            <a:off x="1068750" y="4927518"/>
            <a:ext cx="294802" cy="294802"/>
          </a:xfrm>
          <a:prstGeom prst="rect">
            <a:avLst/>
          </a:prstGeom>
        </p:spPr>
      </p:pic>
      <p:sp>
        <p:nvSpPr>
          <p:cNvPr id="16" name="TextBox 15"/>
          <p:cNvSpPr txBox="1"/>
          <p:nvPr/>
        </p:nvSpPr>
        <p:spPr>
          <a:xfrm>
            <a:off x="1618488" y="4681727"/>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Swagger UI installation</a:t>
            </a:r>
          </a:p>
        </p:txBody>
      </p:sp>
      <p:sp>
        <p:nvSpPr>
          <p:cNvPr id="17" name="TextBox 16"/>
          <p:cNvSpPr txBox="1"/>
          <p:nvPr/>
        </p:nvSpPr>
        <p:spPr>
          <a:xfrm>
            <a:off x="1618488" y="5056631"/>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swagger.io/docs/open-source-tools/swagger-ui</a:t>
            </a:r>
          </a:p>
        </p:txBody>
      </p:sp>
      <p:sp>
        <p:nvSpPr>
          <p:cNvPr id="18" name="Rounded Rectangle 17"/>
          <p:cNvSpPr/>
          <p:nvPr/>
        </p:nvSpPr>
        <p:spPr>
          <a:xfrm>
            <a:off x="841248" y="5577840"/>
            <a:ext cx="6949440"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932688" y="5705855"/>
            <a:ext cx="566928" cy="566928"/>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uBadgeCheck.png"/>
          <p:cNvPicPr>
            <a:picLocks noChangeAspect="1"/>
          </p:cNvPicPr>
          <p:nvPr/>
        </p:nvPicPr>
        <p:blipFill>
          <a:blip r:embed="rId5"/>
          <a:stretch>
            <a:fillRect/>
          </a:stretch>
        </p:blipFill>
        <p:spPr>
          <a:xfrm>
            <a:off x="1068750" y="5841918"/>
            <a:ext cx="294802" cy="294802"/>
          </a:xfrm>
          <a:prstGeom prst="rect">
            <a:avLst/>
          </a:prstGeom>
        </p:spPr>
      </p:pic>
      <p:sp>
        <p:nvSpPr>
          <p:cNvPr id="21" name="TextBox 20"/>
          <p:cNvSpPr txBox="1"/>
          <p:nvPr/>
        </p:nvSpPr>
        <p:spPr>
          <a:xfrm>
            <a:off x="1618488" y="5596127"/>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OWASP API Security Top 10 2023</a:t>
            </a:r>
          </a:p>
        </p:txBody>
      </p:sp>
      <p:sp>
        <p:nvSpPr>
          <p:cNvPr id="22" name="TextBox 21"/>
          <p:cNvSpPr txBox="1"/>
          <p:nvPr/>
        </p:nvSpPr>
        <p:spPr>
          <a:xfrm>
            <a:off x="1618488" y="5971031"/>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owasp.org/API-Security</a:t>
            </a:r>
          </a:p>
        </p:txBody>
      </p:sp>
      <p:sp>
        <p:nvSpPr>
          <p:cNvPr id="23" name="Rounded Rectangle 22"/>
          <p:cNvSpPr/>
          <p:nvPr/>
        </p:nvSpPr>
        <p:spPr>
          <a:xfrm>
            <a:off x="841248" y="6492240"/>
            <a:ext cx="6949440"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932688" y="6620255"/>
            <a:ext cx="566928" cy="566928"/>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uBadgeCheck.png"/>
          <p:cNvPicPr>
            <a:picLocks noChangeAspect="1"/>
          </p:cNvPicPr>
          <p:nvPr/>
        </p:nvPicPr>
        <p:blipFill>
          <a:blip r:embed="rId5"/>
          <a:stretch>
            <a:fillRect/>
          </a:stretch>
        </p:blipFill>
        <p:spPr>
          <a:xfrm>
            <a:off x="1068750" y="6756318"/>
            <a:ext cx="294802" cy="294802"/>
          </a:xfrm>
          <a:prstGeom prst="rect">
            <a:avLst/>
          </a:prstGeom>
        </p:spPr>
      </p:pic>
      <p:sp>
        <p:nvSpPr>
          <p:cNvPr id="26" name="TextBox 25"/>
          <p:cNvSpPr txBox="1"/>
          <p:nvPr/>
        </p:nvSpPr>
        <p:spPr>
          <a:xfrm>
            <a:off x="1618488" y="6510527"/>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WCAG 2.2 Quick Reference</a:t>
            </a:r>
          </a:p>
        </p:txBody>
      </p:sp>
      <p:sp>
        <p:nvSpPr>
          <p:cNvPr id="27" name="TextBox 26"/>
          <p:cNvSpPr txBox="1"/>
          <p:nvPr/>
        </p:nvSpPr>
        <p:spPr>
          <a:xfrm>
            <a:off x="1618488" y="6885431"/>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w3.org/WAI/WCAG22/quickref</a:t>
            </a:r>
          </a:p>
        </p:txBody>
      </p:sp>
      <p:sp>
        <p:nvSpPr>
          <p:cNvPr id="28" name="Rounded Rectangle 27"/>
          <p:cNvSpPr/>
          <p:nvPr/>
        </p:nvSpPr>
        <p:spPr>
          <a:xfrm>
            <a:off x="841248" y="7406640"/>
            <a:ext cx="6949440"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932688" y="7534656"/>
            <a:ext cx="566928" cy="566928"/>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LuWrench.png"/>
          <p:cNvPicPr>
            <a:picLocks noChangeAspect="1"/>
          </p:cNvPicPr>
          <p:nvPr/>
        </p:nvPicPr>
        <p:blipFill>
          <a:blip r:embed="rId6"/>
          <a:stretch>
            <a:fillRect/>
          </a:stretch>
        </p:blipFill>
        <p:spPr>
          <a:xfrm>
            <a:off x="1068750" y="7670718"/>
            <a:ext cx="294802" cy="294802"/>
          </a:xfrm>
          <a:prstGeom prst="rect">
            <a:avLst/>
          </a:prstGeom>
        </p:spPr>
      </p:pic>
      <p:sp>
        <p:nvSpPr>
          <p:cNvPr id="31" name="TextBox 30"/>
          <p:cNvSpPr txBox="1"/>
          <p:nvPr/>
        </p:nvSpPr>
        <p:spPr>
          <a:xfrm>
            <a:off x="1618488" y="7424927"/>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axe-core (Deque)</a:t>
            </a:r>
          </a:p>
        </p:txBody>
      </p:sp>
      <p:sp>
        <p:nvSpPr>
          <p:cNvPr id="32" name="TextBox 31"/>
          <p:cNvSpPr txBox="1"/>
          <p:nvPr/>
        </p:nvSpPr>
        <p:spPr>
          <a:xfrm>
            <a:off x="1618488" y="7799831"/>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github.com/dequelabs/axe-core</a:t>
            </a:r>
          </a:p>
        </p:txBody>
      </p:sp>
      <p:sp>
        <p:nvSpPr>
          <p:cNvPr id="33" name="Rounded Rectangle 32"/>
          <p:cNvSpPr/>
          <p:nvPr/>
        </p:nvSpPr>
        <p:spPr>
          <a:xfrm>
            <a:off x="841248" y="8321040"/>
            <a:ext cx="6949440"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932688" y="8449056"/>
            <a:ext cx="566928" cy="566928"/>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LuLayers.png"/>
          <p:cNvPicPr>
            <a:picLocks noChangeAspect="1"/>
          </p:cNvPicPr>
          <p:nvPr/>
        </p:nvPicPr>
        <p:blipFill>
          <a:blip r:embed="rId7"/>
          <a:stretch>
            <a:fillRect/>
          </a:stretch>
        </p:blipFill>
        <p:spPr>
          <a:xfrm>
            <a:off x="1068750" y="8585118"/>
            <a:ext cx="294802" cy="294802"/>
          </a:xfrm>
          <a:prstGeom prst="rect">
            <a:avLst/>
          </a:prstGeom>
        </p:spPr>
      </p:pic>
      <p:sp>
        <p:nvSpPr>
          <p:cNvPr id="36" name="TextBox 35"/>
          <p:cNvSpPr txBox="1"/>
          <p:nvPr/>
        </p:nvSpPr>
        <p:spPr>
          <a:xfrm>
            <a:off x="1618488" y="8339327"/>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Diátaxis documentation</a:t>
            </a:r>
          </a:p>
        </p:txBody>
      </p:sp>
      <p:sp>
        <p:nvSpPr>
          <p:cNvPr id="37" name="TextBox 36"/>
          <p:cNvSpPr txBox="1"/>
          <p:nvPr/>
        </p:nvSpPr>
        <p:spPr>
          <a:xfrm>
            <a:off x="1618488" y="8714232"/>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diataxis.fr</a:t>
            </a:r>
          </a:p>
        </p:txBody>
      </p:sp>
      <p:sp>
        <p:nvSpPr>
          <p:cNvPr id="38" name="Rounded Rectangle 37"/>
          <p:cNvSpPr/>
          <p:nvPr/>
        </p:nvSpPr>
        <p:spPr>
          <a:xfrm>
            <a:off x="8293608" y="2926080"/>
            <a:ext cx="7406640" cy="7498079"/>
          </a:xfrm>
          <a:prstGeom prst="roundRect">
            <a:avLst>
              <a:gd name="adj" fmla="val 4000"/>
            </a:avLst>
          </a:prstGeom>
          <a:solidFill>
            <a:srgbClr val="FFE9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567928" y="3017520"/>
            <a:ext cx="6858000" cy="640080"/>
          </a:xfrm>
          <a:prstGeom prst="rect">
            <a:avLst/>
          </a:prstGeom>
          <a:noFill/>
        </p:spPr>
        <p:txBody>
          <a:bodyPr wrap="square" lIns="0" rIns="0" tIns="18288" bIns="18288" anchor="ctr">
            <a:noAutofit/>
          </a:bodyPr>
          <a:lstStyle/>
          <a:p>
            <a:pPr algn="l">
              <a:lnSpc>
                <a:spcPct val="100000"/>
              </a:lnSpc>
              <a:spcBef>
                <a:spcPts val="0"/>
              </a:spcBef>
              <a:spcAft>
                <a:spcPts val="0"/>
              </a:spcAft>
            </a:pPr>
            <a:r>
              <a:rPr sz="2100" b="1" i="0">
                <a:solidFill>
                  <a:srgbClr val="192B37"/>
                </a:solidFill>
              </a:rPr>
              <a:t>Agents &amp; Claude Code</a:t>
            </a:r>
          </a:p>
        </p:txBody>
      </p:sp>
      <p:sp>
        <p:nvSpPr>
          <p:cNvPr id="40" name="Rounded Rectangle 39"/>
          <p:cNvSpPr/>
          <p:nvPr/>
        </p:nvSpPr>
        <p:spPr>
          <a:xfrm>
            <a:off x="8522208" y="3749039"/>
            <a:ext cx="6949440"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8613648" y="3877055"/>
            <a:ext cx="566928" cy="566928"/>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LuNewspaper.png"/>
          <p:cNvPicPr>
            <a:picLocks noChangeAspect="1"/>
          </p:cNvPicPr>
          <p:nvPr/>
        </p:nvPicPr>
        <p:blipFill>
          <a:blip r:embed="rId8"/>
          <a:stretch>
            <a:fillRect/>
          </a:stretch>
        </p:blipFill>
        <p:spPr>
          <a:xfrm>
            <a:off x="8749710" y="4013118"/>
            <a:ext cx="294802" cy="294802"/>
          </a:xfrm>
          <a:prstGeom prst="rect">
            <a:avLst/>
          </a:prstGeom>
        </p:spPr>
      </p:pic>
      <p:sp>
        <p:nvSpPr>
          <p:cNvPr id="43" name="TextBox 42"/>
          <p:cNvSpPr txBox="1"/>
          <p:nvPr/>
        </p:nvSpPr>
        <p:spPr>
          <a:xfrm>
            <a:off x="9299448" y="3767327"/>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Building effective agents</a:t>
            </a:r>
          </a:p>
        </p:txBody>
      </p:sp>
      <p:sp>
        <p:nvSpPr>
          <p:cNvPr id="44" name="TextBox 43"/>
          <p:cNvSpPr txBox="1"/>
          <p:nvPr/>
        </p:nvSpPr>
        <p:spPr>
          <a:xfrm>
            <a:off x="9299448" y="4142231"/>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anthropic.com/engineering/building-effective-agents</a:t>
            </a:r>
          </a:p>
        </p:txBody>
      </p:sp>
      <p:sp>
        <p:nvSpPr>
          <p:cNvPr id="45" name="Rounded Rectangle 44"/>
          <p:cNvSpPr/>
          <p:nvPr/>
        </p:nvSpPr>
        <p:spPr>
          <a:xfrm>
            <a:off x="8522208" y="4663440"/>
            <a:ext cx="6949440"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8613648" y="4791455"/>
            <a:ext cx="566928" cy="566928"/>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LuFileText.png"/>
          <p:cNvPicPr>
            <a:picLocks noChangeAspect="1"/>
          </p:cNvPicPr>
          <p:nvPr/>
        </p:nvPicPr>
        <p:blipFill>
          <a:blip r:embed="rId4"/>
          <a:stretch>
            <a:fillRect/>
          </a:stretch>
        </p:blipFill>
        <p:spPr>
          <a:xfrm>
            <a:off x="8749710" y="4927518"/>
            <a:ext cx="294802" cy="294802"/>
          </a:xfrm>
          <a:prstGeom prst="rect">
            <a:avLst/>
          </a:prstGeom>
        </p:spPr>
      </p:pic>
      <p:sp>
        <p:nvSpPr>
          <p:cNvPr id="48" name="TextBox 47"/>
          <p:cNvSpPr txBox="1"/>
          <p:nvPr/>
        </p:nvSpPr>
        <p:spPr>
          <a:xfrm>
            <a:off x="9299448" y="4681727"/>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Claude Code overview</a:t>
            </a:r>
          </a:p>
        </p:txBody>
      </p:sp>
      <p:sp>
        <p:nvSpPr>
          <p:cNvPr id="49" name="TextBox 48"/>
          <p:cNvSpPr txBox="1"/>
          <p:nvPr/>
        </p:nvSpPr>
        <p:spPr>
          <a:xfrm>
            <a:off x="9299448" y="5056631"/>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code.claude.com/docs/en/overview</a:t>
            </a:r>
          </a:p>
        </p:txBody>
      </p:sp>
      <p:sp>
        <p:nvSpPr>
          <p:cNvPr id="50" name="Rounded Rectangle 49"/>
          <p:cNvSpPr/>
          <p:nvPr/>
        </p:nvSpPr>
        <p:spPr>
          <a:xfrm>
            <a:off x="8522208" y="5577840"/>
            <a:ext cx="6949440"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8613648" y="5705855"/>
            <a:ext cx="566928" cy="566928"/>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LuFileText.png"/>
          <p:cNvPicPr>
            <a:picLocks noChangeAspect="1"/>
          </p:cNvPicPr>
          <p:nvPr/>
        </p:nvPicPr>
        <p:blipFill>
          <a:blip r:embed="rId4"/>
          <a:stretch>
            <a:fillRect/>
          </a:stretch>
        </p:blipFill>
        <p:spPr>
          <a:xfrm>
            <a:off x="8749710" y="5841918"/>
            <a:ext cx="294802" cy="294802"/>
          </a:xfrm>
          <a:prstGeom prst="rect">
            <a:avLst/>
          </a:prstGeom>
        </p:spPr>
      </p:pic>
      <p:sp>
        <p:nvSpPr>
          <p:cNvPr id="53" name="TextBox 52"/>
          <p:cNvSpPr txBox="1"/>
          <p:nvPr/>
        </p:nvSpPr>
        <p:spPr>
          <a:xfrm>
            <a:off x="9299448" y="5596127"/>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Subagents</a:t>
            </a:r>
          </a:p>
        </p:txBody>
      </p:sp>
      <p:sp>
        <p:nvSpPr>
          <p:cNvPr id="54" name="TextBox 53"/>
          <p:cNvSpPr txBox="1"/>
          <p:nvPr/>
        </p:nvSpPr>
        <p:spPr>
          <a:xfrm>
            <a:off x="9299448" y="5971031"/>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code.claude.com/docs/en/sub-agents</a:t>
            </a:r>
          </a:p>
        </p:txBody>
      </p:sp>
      <p:sp>
        <p:nvSpPr>
          <p:cNvPr id="55" name="Rounded Rectangle 54"/>
          <p:cNvSpPr/>
          <p:nvPr/>
        </p:nvSpPr>
        <p:spPr>
          <a:xfrm>
            <a:off x="8522208" y="6492240"/>
            <a:ext cx="6949440"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Oval 55"/>
          <p:cNvSpPr/>
          <p:nvPr/>
        </p:nvSpPr>
        <p:spPr>
          <a:xfrm>
            <a:off x="8613648" y="6620255"/>
            <a:ext cx="566928" cy="566928"/>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LuFileText.png"/>
          <p:cNvPicPr>
            <a:picLocks noChangeAspect="1"/>
          </p:cNvPicPr>
          <p:nvPr/>
        </p:nvPicPr>
        <p:blipFill>
          <a:blip r:embed="rId4"/>
          <a:stretch>
            <a:fillRect/>
          </a:stretch>
        </p:blipFill>
        <p:spPr>
          <a:xfrm>
            <a:off x="8749710" y="6756318"/>
            <a:ext cx="294802" cy="294802"/>
          </a:xfrm>
          <a:prstGeom prst="rect">
            <a:avLst/>
          </a:prstGeom>
        </p:spPr>
      </p:pic>
      <p:sp>
        <p:nvSpPr>
          <p:cNvPr id="58" name="TextBox 57"/>
          <p:cNvSpPr txBox="1"/>
          <p:nvPr/>
        </p:nvSpPr>
        <p:spPr>
          <a:xfrm>
            <a:off x="9299448" y="6510527"/>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Skills</a:t>
            </a:r>
          </a:p>
        </p:txBody>
      </p:sp>
      <p:sp>
        <p:nvSpPr>
          <p:cNvPr id="59" name="TextBox 58"/>
          <p:cNvSpPr txBox="1"/>
          <p:nvPr/>
        </p:nvSpPr>
        <p:spPr>
          <a:xfrm>
            <a:off x="9299448" y="6885431"/>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code.claude.com/docs/en/skills</a:t>
            </a:r>
          </a:p>
        </p:txBody>
      </p:sp>
      <p:sp>
        <p:nvSpPr>
          <p:cNvPr id="60" name="Rounded Rectangle 59"/>
          <p:cNvSpPr/>
          <p:nvPr/>
        </p:nvSpPr>
        <p:spPr>
          <a:xfrm>
            <a:off x="8522208" y="7406640"/>
            <a:ext cx="6949440"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Oval 60"/>
          <p:cNvSpPr/>
          <p:nvPr/>
        </p:nvSpPr>
        <p:spPr>
          <a:xfrm>
            <a:off x="8613648" y="7534656"/>
            <a:ext cx="566928" cy="566928"/>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2" name="Picture 61" descr="LuFileText.png"/>
          <p:cNvPicPr>
            <a:picLocks noChangeAspect="1"/>
          </p:cNvPicPr>
          <p:nvPr/>
        </p:nvPicPr>
        <p:blipFill>
          <a:blip r:embed="rId4"/>
          <a:stretch>
            <a:fillRect/>
          </a:stretch>
        </p:blipFill>
        <p:spPr>
          <a:xfrm>
            <a:off x="8749710" y="7670718"/>
            <a:ext cx="294802" cy="294802"/>
          </a:xfrm>
          <a:prstGeom prst="rect">
            <a:avLst/>
          </a:prstGeom>
        </p:spPr>
      </p:pic>
      <p:sp>
        <p:nvSpPr>
          <p:cNvPr id="63" name="TextBox 62"/>
          <p:cNvSpPr txBox="1"/>
          <p:nvPr/>
        </p:nvSpPr>
        <p:spPr>
          <a:xfrm>
            <a:off x="9299448" y="7424927"/>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Hooks</a:t>
            </a:r>
          </a:p>
        </p:txBody>
      </p:sp>
      <p:sp>
        <p:nvSpPr>
          <p:cNvPr id="64" name="TextBox 63"/>
          <p:cNvSpPr txBox="1"/>
          <p:nvPr/>
        </p:nvSpPr>
        <p:spPr>
          <a:xfrm>
            <a:off x="9299448" y="7799831"/>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code.claude.com/docs/en/hooks-guide</a:t>
            </a:r>
          </a:p>
        </p:txBody>
      </p:sp>
      <p:sp>
        <p:nvSpPr>
          <p:cNvPr id="65" name="Rounded Rectangle 64"/>
          <p:cNvSpPr/>
          <p:nvPr/>
        </p:nvSpPr>
        <p:spPr>
          <a:xfrm>
            <a:off x="8522208" y="8321040"/>
            <a:ext cx="6949440"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Oval 65"/>
          <p:cNvSpPr/>
          <p:nvPr/>
        </p:nvSpPr>
        <p:spPr>
          <a:xfrm>
            <a:off x="8613648" y="8449056"/>
            <a:ext cx="566928" cy="566928"/>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LuFileText.png"/>
          <p:cNvPicPr>
            <a:picLocks noChangeAspect="1"/>
          </p:cNvPicPr>
          <p:nvPr/>
        </p:nvPicPr>
        <p:blipFill>
          <a:blip r:embed="rId4"/>
          <a:stretch>
            <a:fillRect/>
          </a:stretch>
        </p:blipFill>
        <p:spPr>
          <a:xfrm>
            <a:off x="8749710" y="8585118"/>
            <a:ext cx="294802" cy="294802"/>
          </a:xfrm>
          <a:prstGeom prst="rect">
            <a:avLst/>
          </a:prstGeom>
        </p:spPr>
      </p:pic>
      <p:sp>
        <p:nvSpPr>
          <p:cNvPr id="68" name="TextBox 67"/>
          <p:cNvSpPr txBox="1"/>
          <p:nvPr/>
        </p:nvSpPr>
        <p:spPr>
          <a:xfrm>
            <a:off x="9299448" y="8339327"/>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Claude Code in VS Code</a:t>
            </a:r>
          </a:p>
        </p:txBody>
      </p:sp>
      <p:sp>
        <p:nvSpPr>
          <p:cNvPr id="69" name="TextBox 68"/>
          <p:cNvSpPr txBox="1"/>
          <p:nvPr/>
        </p:nvSpPr>
        <p:spPr>
          <a:xfrm>
            <a:off x="9299448" y="8714232"/>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code.claude.com/docs/en/vs-code</a:t>
            </a:r>
          </a:p>
        </p:txBody>
      </p:sp>
      <p:sp>
        <p:nvSpPr>
          <p:cNvPr id="70" name="Rounded Rectangle 69"/>
          <p:cNvSpPr/>
          <p:nvPr/>
        </p:nvSpPr>
        <p:spPr>
          <a:xfrm>
            <a:off x="8522208" y="9235440"/>
            <a:ext cx="6949440"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Oval 70"/>
          <p:cNvSpPr/>
          <p:nvPr/>
        </p:nvSpPr>
        <p:spPr>
          <a:xfrm>
            <a:off x="8613648" y="9363456"/>
            <a:ext cx="566928" cy="566928"/>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Picture 71" descr="LuSchool.png"/>
          <p:cNvPicPr>
            <a:picLocks noChangeAspect="1"/>
          </p:cNvPicPr>
          <p:nvPr/>
        </p:nvPicPr>
        <p:blipFill>
          <a:blip r:embed="rId9"/>
          <a:stretch>
            <a:fillRect/>
          </a:stretch>
        </p:blipFill>
        <p:spPr>
          <a:xfrm>
            <a:off x="8749710" y="9499518"/>
            <a:ext cx="294802" cy="294802"/>
          </a:xfrm>
          <a:prstGeom prst="rect">
            <a:avLst/>
          </a:prstGeom>
        </p:spPr>
      </p:pic>
      <p:sp>
        <p:nvSpPr>
          <p:cNvPr id="73" name="TextBox 72"/>
          <p:cNvSpPr txBox="1"/>
          <p:nvPr/>
        </p:nvSpPr>
        <p:spPr>
          <a:xfrm>
            <a:off x="9299448" y="9253728"/>
            <a:ext cx="608075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Claude Code 101 (Academy)</a:t>
            </a:r>
          </a:p>
        </p:txBody>
      </p:sp>
      <p:sp>
        <p:nvSpPr>
          <p:cNvPr id="74" name="TextBox 73"/>
          <p:cNvSpPr txBox="1"/>
          <p:nvPr/>
        </p:nvSpPr>
        <p:spPr>
          <a:xfrm>
            <a:off x="9299448" y="9628632"/>
            <a:ext cx="608075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academy.claude.com/courses/claude-code-101</a:t>
            </a:r>
          </a:p>
        </p:txBody>
      </p:sp>
      <p:sp>
        <p:nvSpPr>
          <p:cNvPr id="75" name="Rounded Rectangle 74"/>
          <p:cNvSpPr/>
          <p:nvPr/>
        </p:nvSpPr>
        <p:spPr>
          <a:xfrm>
            <a:off x="15974568" y="2926080"/>
            <a:ext cx="7498079" cy="7498079"/>
          </a:xfrm>
          <a:prstGeom prst="roundRect">
            <a:avLst>
              <a:gd name="adj" fmla="val 4000"/>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16248888" y="3017520"/>
            <a:ext cx="6949440" cy="640080"/>
          </a:xfrm>
          <a:prstGeom prst="rect">
            <a:avLst/>
          </a:prstGeom>
          <a:noFill/>
        </p:spPr>
        <p:txBody>
          <a:bodyPr wrap="square" lIns="0" rIns="0" tIns="18288" bIns="18288" anchor="ctr">
            <a:noAutofit/>
          </a:bodyPr>
          <a:lstStyle/>
          <a:p>
            <a:pPr algn="l">
              <a:lnSpc>
                <a:spcPct val="100000"/>
              </a:lnSpc>
              <a:spcBef>
                <a:spcPts val="0"/>
              </a:spcBef>
              <a:spcAft>
                <a:spcPts val="0"/>
              </a:spcAft>
            </a:pPr>
            <a:r>
              <a:rPr sz="2100" b="1" i="0">
                <a:solidFill>
                  <a:srgbClr val="192B37"/>
                </a:solidFill>
              </a:rPr>
              <a:t>Research · delivery · Git</a:t>
            </a:r>
          </a:p>
        </p:txBody>
      </p:sp>
      <p:sp>
        <p:nvSpPr>
          <p:cNvPr id="77" name="Rounded Rectangle 76"/>
          <p:cNvSpPr/>
          <p:nvPr/>
        </p:nvSpPr>
        <p:spPr>
          <a:xfrm>
            <a:off x="16203168" y="3749039"/>
            <a:ext cx="7040879"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Oval 77"/>
          <p:cNvSpPr/>
          <p:nvPr/>
        </p:nvSpPr>
        <p:spPr>
          <a:xfrm>
            <a:off x="16294608" y="3877055"/>
            <a:ext cx="566928" cy="566928"/>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9" name="Picture 78" descr="LuScroll.png"/>
          <p:cNvPicPr>
            <a:picLocks noChangeAspect="1"/>
          </p:cNvPicPr>
          <p:nvPr/>
        </p:nvPicPr>
        <p:blipFill>
          <a:blip r:embed="rId10"/>
          <a:stretch>
            <a:fillRect/>
          </a:stretch>
        </p:blipFill>
        <p:spPr>
          <a:xfrm>
            <a:off x="16430670" y="4013118"/>
            <a:ext cx="294802" cy="294802"/>
          </a:xfrm>
          <a:prstGeom prst="rect">
            <a:avLst/>
          </a:prstGeom>
        </p:spPr>
      </p:pic>
      <p:sp>
        <p:nvSpPr>
          <p:cNvPr id="80" name="TextBox 79"/>
          <p:cNvSpPr txBox="1"/>
          <p:nvPr/>
        </p:nvSpPr>
        <p:spPr>
          <a:xfrm>
            <a:off x="16980408" y="3767327"/>
            <a:ext cx="617219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SWE-bench (Jimenez et al.)</a:t>
            </a:r>
          </a:p>
        </p:txBody>
      </p:sp>
      <p:sp>
        <p:nvSpPr>
          <p:cNvPr id="81" name="TextBox 80"/>
          <p:cNvSpPr txBox="1"/>
          <p:nvPr/>
        </p:nvSpPr>
        <p:spPr>
          <a:xfrm>
            <a:off x="16980408" y="4142231"/>
            <a:ext cx="617219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arxiv.org/abs/2310.06770</a:t>
            </a:r>
          </a:p>
        </p:txBody>
      </p:sp>
      <p:sp>
        <p:nvSpPr>
          <p:cNvPr id="82" name="Rounded Rectangle 81"/>
          <p:cNvSpPr/>
          <p:nvPr/>
        </p:nvSpPr>
        <p:spPr>
          <a:xfrm>
            <a:off x="16203168" y="4663440"/>
            <a:ext cx="7040879"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Oval 82"/>
          <p:cNvSpPr/>
          <p:nvPr/>
        </p:nvSpPr>
        <p:spPr>
          <a:xfrm>
            <a:off x="16294608" y="4791455"/>
            <a:ext cx="566928" cy="566928"/>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4" name="Picture 83" descr="LuFileText.png"/>
          <p:cNvPicPr>
            <a:picLocks noChangeAspect="1"/>
          </p:cNvPicPr>
          <p:nvPr/>
        </p:nvPicPr>
        <p:blipFill>
          <a:blip r:embed="rId4"/>
          <a:stretch>
            <a:fillRect/>
          </a:stretch>
        </p:blipFill>
        <p:spPr>
          <a:xfrm>
            <a:off x="16430670" y="4927518"/>
            <a:ext cx="294802" cy="294802"/>
          </a:xfrm>
          <a:prstGeom prst="rect">
            <a:avLst/>
          </a:prstGeom>
        </p:spPr>
      </p:pic>
      <p:sp>
        <p:nvSpPr>
          <p:cNvPr id="85" name="TextBox 84"/>
          <p:cNvSpPr txBox="1"/>
          <p:nvPr/>
        </p:nvSpPr>
        <p:spPr>
          <a:xfrm>
            <a:off x="16980408" y="4681727"/>
            <a:ext cx="617219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Playwright test agents</a:t>
            </a:r>
          </a:p>
        </p:txBody>
      </p:sp>
      <p:sp>
        <p:nvSpPr>
          <p:cNvPr id="86" name="TextBox 85"/>
          <p:cNvSpPr txBox="1"/>
          <p:nvPr/>
        </p:nvSpPr>
        <p:spPr>
          <a:xfrm>
            <a:off x="16980408" y="5056631"/>
            <a:ext cx="617219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playwright.dev/docs/test-agents</a:t>
            </a:r>
          </a:p>
        </p:txBody>
      </p:sp>
      <p:sp>
        <p:nvSpPr>
          <p:cNvPr id="87" name="Rounded Rectangle 86"/>
          <p:cNvSpPr/>
          <p:nvPr/>
        </p:nvSpPr>
        <p:spPr>
          <a:xfrm>
            <a:off x="16203168" y="5577840"/>
            <a:ext cx="7040879"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Oval 87"/>
          <p:cNvSpPr/>
          <p:nvPr/>
        </p:nvSpPr>
        <p:spPr>
          <a:xfrm>
            <a:off x="16294608" y="5705855"/>
            <a:ext cx="566928" cy="566928"/>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9" name="Picture 88" descr="LuFileText.png"/>
          <p:cNvPicPr>
            <a:picLocks noChangeAspect="1"/>
          </p:cNvPicPr>
          <p:nvPr/>
        </p:nvPicPr>
        <p:blipFill>
          <a:blip r:embed="rId4"/>
          <a:stretch>
            <a:fillRect/>
          </a:stretch>
        </p:blipFill>
        <p:spPr>
          <a:xfrm>
            <a:off x="16430670" y="5841918"/>
            <a:ext cx="294802" cy="294802"/>
          </a:xfrm>
          <a:prstGeom prst="rect">
            <a:avLst/>
          </a:prstGeom>
        </p:spPr>
      </p:pic>
      <p:sp>
        <p:nvSpPr>
          <p:cNvPr id="90" name="TextBox 89"/>
          <p:cNvSpPr txBox="1"/>
          <p:nvPr/>
        </p:nvSpPr>
        <p:spPr>
          <a:xfrm>
            <a:off x="16980408" y="5596127"/>
            <a:ext cx="617219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MCP introduction</a:t>
            </a:r>
          </a:p>
        </p:txBody>
      </p:sp>
      <p:sp>
        <p:nvSpPr>
          <p:cNvPr id="91" name="TextBox 90"/>
          <p:cNvSpPr txBox="1"/>
          <p:nvPr/>
        </p:nvSpPr>
        <p:spPr>
          <a:xfrm>
            <a:off x="16980408" y="5971031"/>
            <a:ext cx="617219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modelcontextprotocol.io/docs/getting-started/intro</a:t>
            </a:r>
          </a:p>
        </p:txBody>
      </p:sp>
      <p:sp>
        <p:nvSpPr>
          <p:cNvPr id="92" name="Rounded Rectangle 91"/>
          <p:cNvSpPr/>
          <p:nvPr/>
        </p:nvSpPr>
        <p:spPr>
          <a:xfrm>
            <a:off x="16203168" y="6492240"/>
            <a:ext cx="7040879"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Oval 92"/>
          <p:cNvSpPr/>
          <p:nvPr/>
        </p:nvSpPr>
        <p:spPr>
          <a:xfrm>
            <a:off x="16294608" y="6620255"/>
            <a:ext cx="566928" cy="566928"/>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4" name="Picture 93" descr="LuBookOpen.png"/>
          <p:cNvPicPr>
            <a:picLocks noChangeAspect="1"/>
          </p:cNvPicPr>
          <p:nvPr/>
        </p:nvPicPr>
        <p:blipFill>
          <a:blip r:embed="rId11"/>
          <a:stretch>
            <a:fillRect/>
          </a:stretch>
        </p:blipFill>
        <p:spPr>
          <a:xfrm>
            <a:off x="16430670" y="6756318"/>
            <a:ext cx="294802" cy="294802"/>
          </a:xfrm>
          <a:prstGeom prst="rect">
            <a:avLst/>
          </a:prstGeom>
        </p:spPr>
      </p:pic>
      <p:sp>
        <p:nvSpPr>
          <p:cNvPr id="95" name="TextBox 94"/>
          <p:cNvSpPr txBox="1"/>
          <p:nvPr/>
        </p:nvSpPr>
        <p:spPr>
          <a:xfrm>
            <a:off x="16980408" y="6510527"/>
            <a:ext cx="617219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SWE at Google · Testing</a:t>
            </a:r>
          </a:p>
        </p:txBody>
      </p:sp>
      <p:sp>
        <p:nvSpPr>
          <p:cNvPr id="96" name="TextBox 95"/>
          <p:cNvSpPr txBox="1"/>
          <p:nvPr/>
        </p:nvSpPr>
        <p:spPr>
          <a:xfrm>
            <a:off x="16980408" y="6885431"/>
            <a:ext cx="617219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abseil.io/resources/swe-book/html/ch11.html</a:t>
            </a:r>
          </a:p>
        </p:txBody>
      </p:sp>
      <p:sp>
        <p:nvSpPr>
          <p:cNvPr id="97" name="Rounded Rectangle 96"/>
          <p:cNvSpPr/>
          <p:nvPr/>
        </p:nvSpPr>
        <p:spPr>
          <a:xfrm>
            <a:off x="16203168" y="7406640"/>
            <a:ext cx="7040879"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Oval 97"/>
          <p:cNvSpPr/>
          <p:nvPr/>
        </p:nvSpPr>
        <p:spPr>
          <a:xfrm>
            <a:off x="16294608" y="7534656"/>
            <a:ext cx="566928" cy="566928"/>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9" name="Picture 98" descr="LuChartBar.png"/>
          <p:cNvPicPr>
            <a:picLocks noChangeAspect="1"/>
          </p:cNvPicPr>
          <p:nvPr/>
        </p:nvPicPr>
        <p:blipFill>
          <a:blip r:embed="rId12"/>
          <a:stretch>
            <a:fillRect/>
          </a:stretch>
        </p:blipFill>
        <p:spPr>
          <a:xfrm>
            <a:off x="16430670" y="7670718"/>
            <a:ext cx="294802" cy="294802"/>
          </a:xfrm>
          <a:prstGeom prst="rect">
            <a:avLst/>
          </a:prstGeom>
        </p:spPr>
      </p:pic>
      <p:sp>
        <p:nvSpPr>
          <p:cNvPr id="100" name="TextBox 99"/>
          <p:cNvSpPr txBox="1"/>
          <p:nvPr/>
        </p:nvSpPr>
        <p:spPr>
          <a:xfrm>
            <a:off x="16980408" y="7424927"/>
            <a:ext cx="617219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DORA metrics guide</a:t>
            </a:r>
          </a:p>
        </p:txBody>
      </p:sp>
      <p:sp>
        <p:nvSpPr>
          <p:cNvPr id="101" name="TextBox 100"/>
          <p:cNvSpPr txBox="1"/>
          <p:nvPr/>
        </p:nvSpPr>
        <p:spPr>
          <a:xfrm>
            <a:off x="16980408" y="7799831"/>
            <a:ext cx="617219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dora.dev/guides/dora-metrics</a:t>
            </a:r>
          </a:p>
        </p:txBody>
      </p:sp>
      <p:sp>
        <p:nvSpPr>
          <p:cNvPr id="102" name="Rounded Rectangle 101"/>
          <p:cNvSpPr/>
          <p:nvPr/>
        </p:nvSpPr>
        <p:spPr>
          <a:xfrm>
            <a:off x="16203168" y="8321040"/>
            <a:ext cx="7040879"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Oval 102"/>
          <p:cNvSpPr/>
          <p:nvPr/>
        </p:nvSpPr>
        <p:spPr>
          <a:xfrm>
            <a:off x="16294608" y="8449056"/>
            <a:ext cx="566928" cy="566928"/>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4" name="Picture 103" descr="LuFileCode.png"/>
          <p:cNvPicPr>
            <a:picLocks noChangeAspect="1"/>
          </p:cNvPicPr>
          <p:nvPr/>
        </p:nvPicPr>
        <p:blipFill>
          <a:blip r:embed="rId3"/>
          <a:stretch>
            <a:fillRect/>
          </a:stretch>
        </p:blipFill>
        <p:spPr>
          <a:xfrm>
            <a:off x="16430670" y="8585118"/>
            <a:ext cx="294802" cy="294802"/>
          </a:xfrm>
          <a:prstGeom prst="rect">
            <a:avLst/>
          </a:prstGeom>
        </p:spPr>
      </p:pic>
      <p:sp>
        <p:nvSpPr>
          <p:cNvPr id="105" name="TextBox 104"/>
          <p:cNvSpPr txBox="1"/>
          <p:nvPr/>
        </p:nvSpPr>
        <p:spPr>
          <a:xfrm>
            <a:off x="16980408" y="8339327"/>
            <a:ext cx="617219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Conventional Commits 1.0.0</a:t>
            </a:r>
          </a:p>
        </p:txBody>
      </p:sp>
      <p:sp>
        <p:nvSpPr>
          <p:cNvPr id="106" name="TextBox 105"/>
          <p:cNvSpPr txBox="1"/>
          <p:nvPr/>
        </p:nvSpPr>
        <p:spPr>
          <a:xfrm>
            <a:off x="16980408" y="8714232"/>
            <a:ext cx="617219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conventionalcommits.org</a:t>
            </a:r>
          </a:p>
        </p:txBody>
      </p:sp>
      <p:sp>
        <p:nvSpPr>
          <p:cNvPr id="107" name="Rounded Rectangle 106"/>
          <p:cNvSpPr/>
          <p:nvPr/>
        </p:nvSpPr>
        <p:spPr>
          <a:xfrm>
            <a:off x="16203168" y="9235440"/>
            <a:ext cx="7040879" cy="82296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Oval 107"/>
          <p:cNvSpPr/>
          <p:nvPr/>
        </p:nvSpPr>
        <p:spPr>
          <a:xfrm>
            <a:off x="16294608" y="9363456"/>
            <a:ext cx="566928" cy="566928"/>
          </a:xfrm>
          <a:prstGeom prst="ellipse">
            <a:avLst/>
          </a:prstGeom>
          <a:solidFill>
            <a:srgbClr val="72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9" name="Picture 108" descr="LuBookOpen.png"/>
          <p:cNvPicPr>
            <a:picLocks noChangeAspect="1"/>
          </p:cNvPicPr>
          <p:nvPr/>
        </p:nvPicPr>
        <p:blipFill>
          <a:blip r:embed="rId11"/>
          <a:stretch>
            <a:fillRect/>
          </a:stretch>
        </p:blipFill>
        <p:spPr>
          <a:xfrm>
            <a:off x="16430670" y="9499518"/>
            <a:ext cx="294802" cy="294802"/>
          </a:xfrm>
          <a:prstGeom prst="rect">
            <a:avLst/>
          </a:prstGeom>
        </p:spPr>
      </p:pic>
      <p:sp>
        <p:nvSpPr>
          <p:cNvPr id="110" name="TextBox 109"/>
          <p:cNvSpPr txBox="1"/>
          <p:nvPr/>
        </p:nvSpPr>
        <p:spPr>
          <a:xfrm>
            <a:off x="16980408" y="9253728"/>
            <a:ext cx="6172199" cy="411480"/>
          </a:xfrm>
          <a:prstGeom prst="rect">
            <a:avLst/>
          </a:prstGeom>
          <a:noFill/>
        </p:spPr>
        <p:txBody>
          <a:bodyPr wrap="square" lIns="0" rIns="0" tIns="18288" bIns="18288" anchor="t">
            <a:noAutofit/>
          </a:bodyPr>
          <a:lstStyle/>
          <a:p>
            <a:pPr algn="l">
              <a:lnSpc>
                <a:spcPct val="100000"/>
              </a:lnSpc>
              <a:spcBef>
                <a:spcPts val="0"/>
              </a:spcBef>
              <a:spcAft>
                <a:spcPts val="0"/>
              </a:spcAft>
            </a:pPr>
            <a:r>
              <a:rPr sz="1500" b="1" i="0">
                <a:solidFill>
                  <a:srgbClr val="192B37"/>
                </a:solidFill>
              </a:rPr>
              <a:t>Pro Git (free)</a:t>
            </a:r>
          </a:p>
        </p:txBody>
      </p:sp>
      <p:sp>
        <p:nvSpPr>
          <p:cNvPr id="111" name="TextBox 110"/>
          <p:cNvSpPr txBox="1"/>
          <p:nvPr/>
        </p:nvSpPr>
        <p:spPr>
          <a:xfrm>
            <a:off x="16980408" y="9628632"/>
            <a:ext cx="6172199" cy="365760"/>
          </a:xfrm>
          <a:prstGeom prst="rect">
            <a:avLst/>
          </a:prstGeom>
          <a:noFill/>
        </p:spPr>
        <p:txBody>
          <a:bodyPr wrap="square" lIns="0" rIns="0" tIns="18288" bIns="18288" anchor="t">
            <a:noAutofit/>
          </a:bodyPr>
          <a:lstStyle/>
          <a:p>
            <a:pPr algn="l">
              <a:lnSpc>
                <a:spcPct val="100000"/>
              </a:lnSpc>
              <a:spcBef>
                <a:spcPts val="0"/>
              </a:spcBef>
              <a:spcAft>
                <a:spcPts val="0"/>
              </a:spcAft>
            </a:pPr>
            <a:r>
              <a:rPr sz="1150" b="0" i="0">
                <a:solidFill>
                  <a:srgbClr val="5E6A73"/>
                </a:solidFill>
              </a:rPr>
              <a:t>git-scm.com/book/en/v2</a:t>
            </a:r>
          </a:p>
        </p:txBody>
      </p:sp>
      <p:sp>
        <p:nvSpPr>
          <p:cNvPr id="112" name="Rounded Rectangle 111"/>
          <p:cNvSpPr/>
          <p:nvPr/>
        </p:nvSpPr>
        <p:spPr>
          <a:xfrm>
            <a:off x="612648" y="10789920"/>
            <a:ext cx="22860000" cy="960120"/>
          </a:xfrm>
          <a:prstGeom prst="roundRect">
            <a:avLst>
              <a:gd name="adj" fmla="val 15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Oval 112"/>
          <p:cNvSpPr/>
          <p:nvPr/>
        </p:nvSpPr>
        <p:spPr>
          <a:xfrm>
            <a:off x="886968" y="10927080"/>
            <a:ext cx="685800" cy="685800"/>
          </a:xfrm>
          <a:prstGeom prst="ellipse">
            <a:avLst/>
          </a:prstGeom>
          <a:solidFill>
            <a:srgbClr val="00A8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4" name="Picture 113" descr="LuLaugh.png"/>
          <p:cNvPicPr>
            <a:picLocks noChangeAspect="1"/>
          </p:cNvPicPr>
          <p:nvPr/>
        </p:nvPicPr>
        <p:blipFill>
          <a:blip r:embed="rId13"/>
          <a:stretch>
            <a:fillRect/>
          </a:stretch>
        </p:blipFill>
        <p:spPr>
          <a:xfrm>
            <a:off x="1051560" y="11091672"/>
            <a:ext cx="356616" cy="356616"/>
          </a:xfrm>
          <a:prstGeom prst="rect">
            <a:avLst/>
          </a:prstGeom>
        </p:spPr>
      </p:pic>
      <p:sp>
        <p:nvSpPr>
          <p:cNvPr id="115" name="TextBox 114"/>
          <p:cNvSpPr txBox="1"/>
          <p:nvPr/>
        </p:nvSpPr>
        <p:spPr>
          <a:xfrm>
            <a:off x="1847088" y="10789920"/>
            <a:ext cx="21305520" cy="960120"/>
          </a:xfrm>
          <a:prstGeom prst="rect">
            <a:avLst/>
          </a:prstGeom>
          <a:noFill/>
        </p:spPr>
        <p:txBody>
          <a:bodyPr wrap="square" lIns="0" rIns="0" tIns="18288" bIns="18288" anchor="ctr">
            <a:noAutofit/>
          </a:bodyPr>
          <a:lstStyle/>
          <a:p>
            <a:pPr algn="l">
              <a:lnSpc>
                <a:spcPct val="100000"/>
              </a:lnSpc>
              <a:spcBef>
                <a:spcPts val="0"/>
              </a:spcBef>
              <a:spcAft>
                <a:spcPts val="0"/>
              </a:spcAft>
            </a:pPr>
            <a:r>
              <a:rPr sz="2000" b="0" i="1">
                <a:solidFill>
                  <a:srgbClr val="192B37"/>
                </a:solidFill>
              </a:rPr>
              <a:t>Study tip: one paper, one video, one doc per day. Like vitamins, but for your pull requests.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8000"/>
              <a:t>Thank you!</a:t>
            </a:r>
            <a:br/>
            <a:r>
              <a:rPr sz="8000"/>
              <a:t>Questions?</a:t>
            </a:r>
          </a:p>
        </p:txBody>
      </p:sp>
      <p:sp>
        <p:nvSpPr>
          <p:cNvPr id="3" name="TextBox 2"/>
          <p:cNvSpPr txBox="1"/>
          <p:nvPr/>
        </p:nvSpPr>
        <p:spPr>
          <a:xfrm>
            <a:off x="23189184" y="13103352"/>
            <a:ext cx="704088" cy="320040"/>
          </a:xfrm>
          <a:prstGeom prst="rect">
            <a:avLst/>
          </a:prstGeom>
          <a:noFill/>
        </p:spPr>
        <p:txBody>
          <a:bodyPr wrap="square" lIns="0" rIns="0" tIns="18288" bIns="18288" anchor="t">
            <a:noAutofit/>
          </a:bodyPr>
          <a:lstStyle/>
          <a:p>
            <a:pPr algn="r">
              <a:lnSpc>
                <a:spcPct val="100000"/>
              </a:lnSpc>
              <a:spcBef>
                <a:spcPts val="0"/>
              </a:spcBef>
              <a:spcAft>
                <a:spcPts val="0"/>
              </a:spcAft>
            </a:pPr>
            <a:r>
              <a:rPr sz="1200" b="0" i="0">
                <a:solidFill>
                  <a:srgbClr val="192B37"/>
                </a:solidFill>
              </a:rPr>
              <a:t>80</a:t>
            </a:r>
          </a:p>
        </p:txBody>
      </p:sp>
      <p:sp>
        <p:nvSpPr>
          <p:cNvPr id="4" name="TextBox 3"/>
          <p:cNvSpPr txBox="1"/>
          <p:nvPr/>
        </p:nvSpPr>
        <p:spPr>
          <a:xfrm>
            <a:off x="2606040" y="10744200"/>
            <a:ext cx="192024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400" b="0" i="0">
                <a:solidFill>
                  <a:srgbClr val="5E6A73"/>
                </a:solidFill>
              </a:rPr>
              <a:t>TAP26 Juniors · Scripting Session · 16.10.2026 · Alex Pandi</a:t>
            </a:r>
          </a:p>
        </p:txBody>
      </p:sp>
      <p:sp>
        <p:nvSpPr>
          <p:cNvPr id="5" name="TextBox 4"/>
          <p:cNvSpPr txBox="1"/>
          <p:nvPr/>
        </p:nvSpPr>
        <p:spPr>
          <a:xfrm>
            <a:off x="2606040" y="11384280"/>
            <a:ext cx="19202400" cy="548640"/>
          </a:xfrm>
          <a:prstGeom prst="rect">
            <a:avLst/>
          </a:prstGeom>
          <a:noFill/>
        </p:spPr>
        <p:txBody>
          <a:bodyPr wrap="square" lIns="0" rIns="0" tIns="18288" bIns="18288" anchor="t">
            <a:noAutofit/>
          </a:bodyPr>
          <a:lstStyle/>
          <a:p>
            <a:pPr algn="l">
              <a:lnSpc>
                <a:spcPct val="100000"/>
              </a:lnSpc>
              <a:spcBef>
                <a:spcPts val="0"/>
              </a:spcBef>
              <a:spcAft>
                <a:spcPts val="0"/>
              </a:spcAft>
            </a:pPr>
            <a:r>
              <a:rPr sz="2000" b="1" i="0">
                <a:solidFill>
                  <a:srgbClr val="FF5640"/>
                </a:solidFill>
              </a:rPr>
              <a:t>223 tests passed · 35/35 endpoints in sync · 24 agents · 31 skills · 37 known issues · 1 skipped (on purpose)</a:t>
            </a:r>
          </a:p>
        </p:txBody>
      </p:sp>
      <p:sp>
        <p:nvSpPr>
          <p:cNvPr id="6" name="Oval 5"/>
          <p:cNvSpPr/>
          <p:nvPr/>
        </p:nvSpPr>
        <p:spPr>
          <a:xfrm>
            <a:off x="17647920" y="1737360"/>
            <a:ext cx="1097280" cy="1097280"/>
          </a:xfrm>
          <a:prstGeom prst="ellipse">
            <a:avLst/>
          </a:prstGeom>
          <a:solidFill>
            <a:srgbClr val="3D9B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9065240" y="1737360"/>
            <a:ext cx="1097280" cy="1097280"/>
          </a:xfrm>
          <a:prstGeom prst="ellipse">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0482560" y="1737360"/>
            <a:ext cx="1097280" cy="1097280"/>
          </a:xfrm>
          <a:prstGeom prst="ellipse">
            <a:avLst/>
          </a:prstGeom>
          <a:solidFill>
            <a:srgbClr val="FF5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7647920" y="3154679"/>
            <a:ext cx="1097280" cy="1097280"/>
          </a:xfrm>
          <a:prstGeom prst="ellipse">
            <a:avLst/>
          </a:prstGeom>
          <a:solidFill>
            <a:srgbClr val="EC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065240" y="3154679"/>
            <a:ext cx="1097280" cy="1097280"/>
          </a:xfrm>
          <a:prstGeom prst="ellipse">
            <a:avLst/>
          </a:prstGeom>
          <a:solidFill>
            <a:srgbClr val="DB7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0482560" y="3154679"/>
            <a:ext cx="1097280" cy="1097280"/>
          </a:xfrm>
          <a:prstGeom prst="ellipse">
            <a:avLst/>
          </a:prstGeom>
          <a:solidFill>
            <a:srgbClr val="EE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606040" y="12115800"/>
            <a:ext cx="15544800" cy="566928"/>
          </a:xfrm>
          <a:prstGeom prst="roundRect">
            <a:avLst>
              <a:gd name="adj" fmla="val 50000"/>
            </a:avLst>
          </a:prstGeom>
          <a:solidFill>
            <a:srgbClr val="E2F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97480" y="12115800"/>
            <a:ext cx="15361920" cy="566928"/>
          </a:xfrm>
          <a:prstGeom prst="rect">
            <a:avLst/>
          </a:prstGeom>
          <a:noFill/>
        </p:spPr>
        <p:txBody>
          <a:bodyPr wrap="square" lIns="0" rIns="0" tIns="18288" bIns="18288" anchor="ctr">
            <a:noAutofit/>
          </a:bodyPr>
          <a:lstStyle/>
          <a:p>
            <a:pPr algn="ctr">
              <a:lnSpc>
                <a:spcPct val="100000"/>
              </a:lnSpc>
              <a:spcBef>
                <a:spcPts val="0"/>
              </a:spcBef>
              <a:spcAft>
                <a:spcPts val="0"/>
              </a:spcAft>
            </a:pPr>
            <a:r>
              <a:rPr sz="1600" b="0" i="0">
                <a:solidFill>
                  <a:srgbClr val="192B37"/>
                </a:solidFill>
              </a:rPr>
              <a:t>No questions? Then </a:t>
            </a:r>
            <a:r>
              <a:rPr sz="1472" b="0" i="0">
                <a:solidFill>
                  <a:srgbClr val="C2410C"/>
                </a:solidFill>
                <a:latin typeface="Consolas"/>
              </a:rPr>
              <a:t>expect(audience).toHaveUnderstood()</a:t>
            </a:r>
            <a:r>
              <a:rPr sz="1600" b="0" i="0">
                <a:solidFill>
                  <a:srgbClr val="192B37"/>
                </a:solidFill>
              </a:rPr>
              <a:t> passed on the first try. Suspicious.</a:t>
            </a:r>
          </a:p>
        </p:txBody>
      </p:sp>
    </p:spTree>
  </p:cSld>
  <p:clrMapOvr>
    <a:masterClrMapping/>
  </p:clrMapOvr>
</p:sld>
</file>

<file path=ppt/theme/theme1.xml><?xml version="1.0" encoding="utf-8"?>
<a:theme xmlns:a="http://schemas.openxmlformats.org/drawingml/2006/main" name="White">
  <a:themeElements>
    <a:clrScheme name="Endava 1">
      <a:dk1>
        <a:srgbClr val="122B38"/>
      </a:dk1>
      <a:lt1>
        <a:srgbClr val="FF422F"/>
      </a:lt1>
      <a:dk2>
        <a:srgbClr val="122B38"/>
      </a:dk2>
      <a:lt2>
        <a:srgbClr val="FEFFFF"/>
      </a:lt2>
      <a:accent1>
        <a:srgbClr val="00A859"/>
      </a:accent1>
      <a:accent2>
        <a:srgbClr val="3D9BC8"/>
      </a:accent2>
      <a:accent3>
        <a:srgbClr val="FF4231"/>
      </a:accent3>
      <a:accent4>
        <a:srgbClr val="DB7D00"/>
      </a:accent4>
      <a:accent5>
        <a:srgbClr val="8683C3"/>
      </a:accent5>
      <a:accent6>
        <a:srgbClr val="729A00"/>
      </a:accent6>
      <a:hlink>
        <a:srgbClr val="FF422F"/>
      </a:hlink>
      <a:folHlink>
        <a:srgbClr val="FF422F"/>
      </a:folHlink>
    </a:clrScheme>
    <a:fontScheme name="DavaSans">
      <a:majorFont>
        <a:latin typeface="Dava Sans Med"/>
        <a:ea typeface=""/>
        <a:cs typeface=""/>
      </a:majorFont>
      <a:minorFont>
        <a:latin typeface="Dava Sans"/>
        <a:ea typeface=""/>
        <a:cs typefac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1600" b="0" i="0" u="none" strike="noStrike" cap="none" spc="0" normalizeH="0" baseline="0">
            <a:ln>
              <a:noFill/>
            </a:ln>
            <a:solidFill>
              <a:srgbClr val="192B37"/>
            </a:solidFill>
            <a:effectLst/>
            <a:uFillTx/>
            <a:latin typeface="+mn-lt"/>
            <a:ea typeface="+mn-ea"/>
            <a:cs typeface="+mn-cs"/>
            <a:sym typeface="Poppins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Poppins Medium"/>
        <a:ea typeface="Poppins Medium"/>
        <a:cs typeface="Poppins Medium"/>
      </a:majorFont>
      <a:minorFont>
        <a:latin typeface="Poppins Regular"/>
        <a:ea typeface="Poppins Regular"/>
        <a:cs typeface="Poppins Regular"/>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1600" b="0" i="0" u="none" strike="noStrike" cap="none" spc="0" normalizeH="0" baseline="0">
            <a:ln>
              <a:noFill/>
            </a:ln>
            <a:solidFill>
              <a:srgbClr val="192B37"/>
            </a:solidFill>
            <a:effectLst/>
            <a:uFillTx/>
            <a:latin typeface="+mn-lt"/>
            <a:ea typeface="+mn-ea"/>
            <a:cs typeface="+mn-cs"/>
            <a:sym typeface="Poppins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0E1A3AB7BB67645ADF34C3F66D16019" ma:contentTypeVersion="13" ma:contentTypeDescription="Create a new document." ma:contentTypeScope="" ma:versionID="38158e6181360e893f6f080a5dc4da15">
  <xsd:schema xmlns:xsd="http://www.w3.org/2001/XMLSchema" xmlns:xs="http://www.w3.org/2001/XMLSchema" xmlns:p="http://schemas.microsoft.com/office/2006/metadata/properties" xmlns:ns1="http://schemas.microsoft.com/sharepoint/v3" xmlns:ns2="d2f16b87-0624-477d-ba0a-750d221ab23c" xmlns:ns3="8168535b-5d60-42ad-a65e-bf2e941e3ec4" targetNamespace="http://schemas.microsoft.com/office/2006/metadata/properties" ma:root="true" ma:fieldsID="f97f9ccdd36212ae9f5c407e34103b46" ns1:_="" ns2:_="" ns3:_="">
    <xsd:import namespace="http://schemas.microsoft.com/sharepoint/v3"/>
    <xsd:import namespace="d2f16b87-0624-477d-ba0a-750d221ab23c"/>
    <xsd:import namespace="8168535b-5d60-42ad-a65e-bf2e941e3ec4"/>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2f16b87-0624-477d-ba0a-750d221ab23c"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cda9fbb2-20ec-4b38-b475-624b7129167d"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168535b-5d60-42ad-a65e-bf2e941e3ec4"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cc2d09db-f028-4af3-897f-09bcaa6006ba}" ma:internalName="TaxCatchAll" ma:showField="CatchAllData" ma:web="8168535b-5d60-42ad-a65e-bf2e941e3e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2f16b87-0624-477d-ba0a-750d221ab23c">
      <Terms xmlns="http://schemas.microsoft.com/office/infopath/2007/PartnerControls"/>
    </lcf76f155ced4ddcb4097134ff3c332f>
    <TaxCatchAll xmlns="8168535b-5d60-42ad-a65e-bf2e941e3ec4"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3B5E1030-3369-416A-9345-CF0BFA8409E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2f16b87-0624-477d-ba0a-750d221ab23c"/>
    <ds:schemaRef ds:uri="8168535b-5d60-42ad-a65e-bf2e941e3e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54546E5-6158-445B-86FA-D0CB17A6BF05}">
  <ds:schemaRefs>
    <ds:schemaRef ds:uri="http://schemas.microsoft.com/sharepoint/v3/contenttype/forms"/>
  </ds:schemaRefs>
</ds:datastoreItem>
</file>

<file path=customXml/itemProps3.xml><?xml version="1.0" encoding="utf-8"?>
<ds:datastoreItem xmlns:ds="http://schemas.openxmlformats.org/officeDocument/2006/customXml" ds:itemID="{2F3AC3B7-1DF3-4C6B-ACF9-D9E0163D9FAF}">
  <ds:schemaRefs>
    <ds:schemaRef ds:uri="http://schemas.microsoft.com/office/2006/metadata/properties"/>
    <ds:schemaRef ds:uri="http://schemas.microsoft.com/office/infopath/2007/PartnerControls"/>
    <ds:schemaRef ds:uri="d2f16b87-0624-477d-ba0a-750d221ab23c"/>
    <ds:schemaRef ds:uri="8168535b-5d60-42ad-a65e-bf2e941e3ec4"/>
    <ds:schemaRef ds:uri="http://schemas.microsoft.com/sharepoint/v3"/>
  </ds:schemaRefs>
</ds:datastoreItem>
</file>

<file path=docMetadata/LabelInfo.xml><?xml version="1.0" encoding="utf-8"?>
<clbl:labelList xmlns:clbl="http://schemas.microsoft.com/office/2020/mipLabelMetadata">
  <clbl:label id="{63de93b7-8949-4e3d-a08b-0d778f7f5cab}" enabled="1" method="Standard" siteId="{0b3fc178-b730-4e8b-9843-e81259237b77}" removed="0"/>
</clbl:labelList>
</file>

<file path=docProps/app.xml><?xml version="1.0" encoding="utf-8"?>
<Properties xmlns="http://schemas.openxmlformats.org/officeDocument/2006/extended-properties" xmlns:vt="http://schemas.openxmlformats.org/officeDocument/2006/docPropsVTypes">
  <Template/>
  <TotalTime>21565</TotalTime>
  <Words>9698</Words>
  <Application>Microsoft Office PowerPoint</Application>
  <PresentationFormat>Custom</PresentationFormat>
  <Paragraphs>1836</Paragraphs>
  <Slides>60</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60</vt:i4>
      </vt:variant>
    </vt:vector>
  </HeadingPairs>
  <TitlesOfParts>
    <vt:vector size="65" baseType="lpstr">
      <vt:lpstr>Arial</vt:lpstr>
      <vt:lpstr>Calibri</vt:lpstr>
      <vt:lpstr>Dava Sans Med</vt:lpstr>
      <vt:lpstr>Dava Sans</vt:lpstr>
      <vt:lpstr>White</vt:lpstr>
      <vt:lpstr>QA Assessment  &amp; Improvement Plan</vt:lpstr>
      <vt:lpstr>PowerPoint Presentation</vt:lpstr>
      <vt:lpstr>PowerPoint Presentation</vt:lpstr>
      <vt:lpstr>PowerPoint Presentation</vt:lpstr>
      <vt:lpstr>PowerPoint Presentation</vt:lpstr>
      <vt:lpstr>PowerPoint Presentation</vt:lpstr>
      <vt:lpstr>As-Is State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Improvements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Roadmap &amp; decisions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Alexandru Pandi</cp:lastModifiedBy>
  <cp:revision>4</cp:revision>
  <dcterms:modified xsi:type="dcterms:W3CDTF">2026-09-25T13:28:58Z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0x01010060E1A3AB7BB67645ADF34C3F66D16019</vt:lpwstr>
  </property>
  <property fmtid="{D5CDD505-2E9C-101B-9397-08002B2CF9AE}" pid="3" name="MediaServiceImageTags">
    <vt:lpwstr/>
  </property>
</Properties>
</file>